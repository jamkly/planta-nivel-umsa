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4.xml"/>
  <Override ContentType="application/vnd.ms-office.chartcolorstyle+xml" PartName="/ppt/charts/colors1.xml"/>
  <Override ContentType="application/vnd.ms-office.chartcolorstyle+xml" PartName="/ppt/charts/colors2.xml"/>
  <Override ContentType="application/vnd.ms-office.chartcolorstyle+xml" PartName="/ppt/charts/colors3.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8.xml"/>
  <Override ContentType="application/vnd.openxmlformats-officedocument.drawingml.chart+xml" PartName="/ppt/charts/chart2.xml"/>
  <Override ContentType="application/vnd.openxmlformats-officedocument.drawingml.chart+xml" PartName="/ppt/charts/chart7.xml"/>
  <Override ContentType="application/vnd.openxmlformats-officedocument.drawingml.chart+xml" PartName="/ppt/charts/chart5.xml"/>
  <Override ContentType="application/vnd.openxmlformats-officedocument.drawingml.chart+xml" PartName="/ppt/charts/chart4.xml"/>
  <Override ContentType="application/vnd.openxmlformats-officedocument.drawingml.chart+xml" PartName="/ppt/charts/chart6.xml"/>
  <Override ContentType="application/vnd.openxmlformats-officedocument.drawingml.chart+xml" PartName="/ppt/charts/chart1.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3.xml"/>
  <Override ContentType="application/vnd.ms-office.chartstyle+xml" PartName="/ppt/charts/style4.xml"/>
  <Override ContentType="application/vnd.ms-office.chartstyle+xml" PartName="/ppt/charts/style1.xml"/>
  <Override ContentType="application/vnd.ms-office.chartstyle+xml" PartName="/ppt/charts/style2.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Lst>
  <p:sldSz cy="6858000" cx="12192000"/>
  <p:notesSz cx="6858000" cy="9144000"/>
  <p:embeddedFontLst>
    <p:embeddedFont>
      <p:font typeface="Garamond"/>
      <p:regular r:id="rId125"/>
      <p:bold r:id="rId126"/>
      <p:italic r:id="rId127"/>
      <p:boldItalic r:id="rId128"/>
    </p:embeddedFont>
    <p:embeddedFont>
      <p:font typeface="Hind"/>
      <p:regular r:id="rId129"/>
      <p:bold r:id="rId130"/>
    </p:embeddedFont>
    <p:embeddedFont>
      <p:font typeface="Libre Baskerville"/>
      <p:regular r:id="rId131"/>
      <p:bold r:id="rId132"/>
      <p:italic r:id="rId133"/>
    </p:embeddedFont>
    <p:embeddedFont>
      <p:font typeface="PT Sans"/>
      <p:regular r:id="rId134"/>
      <p:bold r:id="rId135"/>
      <p:italic r:id="rId136"/>
      <p:boldItalic r:id="rId137"/>
    </p:embeddedFont>
    <p:embeddedFont>
      <p:font typeface="Gill Sans"/>
      <p:regular r:id="rId138"/>
      <p:bold r:id="rId1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0" roundtripDataSignature="AMtx7mgxeVboK4n5nAFIgH0eqhVkb1P9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E6C668-0F20-4F89-BB21-B2DCD401F9CD}">
  <a:tblStyle styleId="{3AE6C668-0F20-4F89-BB21-B2DCD401F9CD}" styleName="Table_0">
    <a:wholeTbl>
      <a:tcTxStyle b="off" i="off">
        <a:font>
          <a:latin typeface="Garamond"/>
          <a:ea typeface="Garamond"/>
          <a:cs typeface="Garamond"/>
        </a:font>
        <a:schemeClr val="dk1"/>
      </a:tcTxStyle>
      <a:tcStyle>
        <a:tcBdr>
          <a:left>
            <a:ln cap="flat" cmpd="sng" w="12700">
              <a:solidFill>
                <a:schemeClr val="accent5"/>
              </a:solidFill>
              <a:prstDash val="solid"/>
              <a:round/>
              <a:headEnd len="sm" w="sm" type="none"/>
              <a:tailEnd len="sm" w="sm" type="none"/>
            </a:ln>
          </a:left>
          <a:right>
            <a:ln cap="flat" cmpd="sng" w="12700">
              <a:solidFill>
                <a:schemeClr val="accent5"/>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12700">
              <a:solidFill>
                <a:schemeClr val="accent5"/>
              </a:solidFill>
              <a:prstDash val="solid"/>
              <a:round/>
              <a:headEnd len="sm" w="sm" type="none"/>
              <a:tailEnd len="sm" w="sm" type="none"/>
            </a:ln>
          </a:insideH>
          <a:insideV>
            <a:ln cap="flat" cmpd="sng" w="12700">
              <a:solidFill>
                <a:schemeClr val="accent5"/>
              </a:solidFill>
              <a:prstDash val="solid"/>
              <a:round/>
              <a:headEnd len="sm" w="sm" type="none"/>
              <a:tailEnd len="sm" w="sm" type="none"/>
            </a:ln>
          </a:insideV>
        </a:tcBdr>
        <a:fill>
          <a:solidFill>
            <a:srgbClr val="ECF0EF"/>
          </a:solidFill>
        </a:fill>
      </a:tcStyle>
    </a:wholeTbl>
    <a:band1H>
      <a:tcTxStyle/>
      <a:tcStyle>
        <a:fill>
          <a:solidFill>
            <a:srgbClr val="D6E1DE"/>
          </a:solidFill>
        </a:fill>
      </a:tcStyle>
    </a:band1H>
    <a:band2H>
      <a:tcTxStyle/>
    </a:band2H>
    <a:band1V>
      <a:tcTxStyle/>
      <a:tcStyle>
        <a:fill>
          <a:solidFill>
            <a:srgbClr val="D6E1DE"/>
          </a:solidFill>
        </a:fill>
      </a:tcStyle>
    </a:band1V>
    <a:band2V>
      <a:tcTxStyle/>
    </a:band2V>
    <a:lastCol>
      <a:tcTxStyle b="on" i="off"/>
    </a:lastCol>
    <a:firstCol>
      <a:tcTxStyle b="on" i="off"/>
    </a:firstCol>
    <a:lastRow>
      <a:tcTxStyle b="on" i="off"/>
      <a:tcStyle>
        <a:tcBdr>
          <a:top>
            <a:ln cap="flat" cmpd="sng" w="25400">
              <a:solidFill>
                <a:schemeClr val="accent5"/>
              </a:solidFill>
              <a:prstDash val="solid"/>
              <a:round/>
              <a:headEnd len="sm" w="sm" type="none"/>
              <a:tailEnd len="sm" w="sm" type="none"/>
            </a:ln>
          </a:top>
        </a:tcBdr>
        <a:fill>
          <a:solidFill>
            <a:srgbClr val="ECF0EF"/>
          </a:solidFill>
        </a:fill>
      </a:tcStyle>
    </a:lastRow>
    <a:seCell>
      <a:tcTxStyle/>
    </a:seCell>
    <a:swCell>
      <a:tcTxStyle/>
    </a:swCell>
    <a:firstRow>
      <a:tcTxStyle b="on" i="off"/>
      <a:tcStyle>
        <a:fill>
          <a:solidFill>
            <a:srgbClr val="ECF0EF"/>
          </a:solidFill>
        </a:fill>
      </a:tcStyle>
    </a:firstRow>
    <a:neCell>
      <a:tcTxStyle/>
    </a:neCell>
    <a:nwCell>
      <a:tcTxStyle/>
    </a:nwCell>
  </a:tblStyle>
  <a:tblStyle styleId="{BC709364-A7B2-4693-9990-78690F8EEA3F}" styleName="Table_1">
    <a:wholeTbl>
      <a:tcTxStyle b="off" i="off">
        <a:font>
          <a:latin typeface="Garamond"/>
          <a:ea typeface="Garamond"/>
          <a:cs typeface="Garamond"/>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EF2F5"/>
          </a:solidFill>
        </a:fill>
      </a:tcStyle>
    </a:wholeTbl>
    <a:band1H>
      <a:tcTxStyle/>
      <a:tcStyle>
        <a:fill>
          <a:solidFill>
            <a:srgbClr val="DBE3EB"/>
          </a:solidFill>
        </a:fill>
      </a:tcStyle>
    </a:band1H>
    <a:band2H>
      <a:tcTxStyle/>
    </a:band2H>
    <a:band1V>
      <a:tcTxStyle/>
      <a:tcStyle>
        <a:fill>
          <a:solidFill>
            <a:srgbClr val="DBE3EB"/>
          </a:solidFill>
        </a:fill>
      </a:tcStyle>
    </a:band1V>
    <a:band2V>
      <a:tcTxStyle/>
    </a:band2V>
    <a:lastCol>
      <a:tcTxStyle b="on" i="off">
        <a:font>
          <a:latin typeface="Garamond"/>
          <a:ea typeface="Garamond"/>
          <a:cs typeface="Garamond"/>
        </a:font>
        <a:schemeClr val="lt1"/>
      </a:tcTxStyle>
      <a:tcStyle>
        <a:fill>
          <a:solidFill>
            <a:schemeClr val="accent1"/>
          </a:solidFill>
        </a:fill>
      </a:tcStyle>
    </a:lastCol>
    <a:firstCol>
      <a:tcTxStyle b="on" i="off">
        <a:font>
          <a:latin typeface="Garamond"/>
          <a:ea typeface="Garamond"/>
          <a:cs typeface="Garamond"/>
        </a:font>
        <a:schemeClr val="lt1"/>
      </a:tcTxStyle>
      <a:tcStyle>
        <a:fill>
          <a:solidFill>
            <a:schemeClr val="accent1"/>
          </a:solidFill>
        </a:fill>
      </a:tcStyle>
    </a:firstCol>
    <a:lastRow>
      <a:tcTxStyle b="on" i="off">
        <a:font>
          <a:latin typeface="Garamond"/>
          <a:ea typeface="Garamond"/>
          <a:cs typeface="Garamond"/>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Garamond"/>
          <a:ea typeface="Garamond"/>
          <a:cs typeface="Garamond"/>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E9B0015F-6B1D-432F-86ED-4B0E651A7965}" styleName="Table_2">
    <a:wholeTbl>
      <a:tcTxStyle b="off" i="off">
        <a:font>
          <a:latin typeface="Garamond"/>
          <a:ea typeface="Garamond"/>
          <a:cs typeface="Garamond"/>
        </a:font>
        <a:schemeClr val="dk1"/>
      </a:tcTxStyle>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chemeClr val="accent4"/>
              </a:solidFill>
              <a:prstDash val="solid"/>
              <a:round/>
              <a:headEnd len="sm" w="sm" type="none"/>
              <a:tailEnd len="sm" w="sm" type="none"/>
            </a:ln>
          </a:insideH>
          <a:insideV>
            <a:ln cap="flat" cmpd="sng" w="9525">
              <a:solidFill>
                <a:schemeClr val="accent4"/>
              </a:solidFill>
              <a:prstDash val="solid"/>
              <a:round/>
              <a:headEnd len="sm" w="sm" type="none"/>
              <a:tailEnd len="sm" w="sm" type="none"/>
            </a:ln>
          </a:insideV>
        </a:tcBdr>
        <a:fill>
          <a:solidFill>
            <a:srgbClr val="FFFFFF">
              <a:alpha val="0"/>
            </a:srgbClr>
          </a:solidFill>
        </a:fill>
      </a:tcStyle>
    </a:wholeTbl>
    <a:band1H>
      <a:tcTxStyle/>
      <a:tcStyle>
        <a:fill>
          <a:solidFill>
            <a:schemeClr val="accent4">
              <a:alpha val="40000"/>
            </a:schemeClr>
          </a:solidFill>
        </a:fill>
      </a:tcStyle>
    </a:band1H>
    <a:band2H>
      <a:tcTxStyle/>
    </a:band2H>
    <a:band1V>
      <a:tcTxStyle/>
      <a:tcStyle>
        <a:tcBdr>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tcBdr>
        <a:fill>
          <a:solidFill>
            <a:schemeClr val="accent4">
              <a:alpha val="40000"/>
            </a:schemeClr>
          </a:solidFill>
        </a:fill>
      </a:tcStyle>
    </a:band1V>
    <a:band2V>
      <a:tcTxStyle/>
    </a:band2V>
    <a:lastCol>
      <a:tcTxStyle b="on" i="off"/>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chemeClr val="accent4"/>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chemeClr val="accent4"/>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Garamond"/>
          <a:ea typeface="Garamond"/>
          <a:cs typeface="Garamond"/>
        </a:font>
        <a:schemeClr val="lt1"/>
      </a:tcTxStyle>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4"/>
          </a:solidFill>
        </a:fill>
      </a:tcStyle>
    </a:firstRow>
    <a:neCell>
      <a:tcTxStyle/>
    </a:neCell>
    <a:nwCell>
      <a:tcTxStyle/>
    </a:nwCell>
  </a:tblStyle>
  <a:tblStyle styleId="{FED3901C-BD32-45E1-A63A-D77DC48EF9AD}" styleName="Table_3">
    <a:wholeTbl>
      <a:tcTxStyle b="off" i="off">
        <a:font>
          <a:latin typeface="Garamond"/>
          <a:ea typeface="Garamond"/>
          <a:cs typeface="Garamond"/>
        </a:font>
        <a:schemeClr val="dk1"/>
      </a:tcTxStyle>
      <a:tcStyle>
        <a:tcBdr>
          <a:left>
            <a:ln cap="flat" cmpd="sng" w="12700">
              <a:solidFill>
                <a:schemeClr val="accent5"/>
              </a:solidFill>
              <a:prstDash val="solid"/>
              <a:round/>
              <a:headEnd len="sm" w="sm" type="none"/>
              <a:tailEnd len="sm" w="sm" type="none"/>
            </a:ln>
          </a:left>
          <a:right>
            <a:ln cap="flat" cmpd="sng" w="12700">
              <a:solidFill>
                <a:schemeClr val="accent5"/>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12700">
              <a:solidFill>
                <a:schemeClr val="accent5"/>
              </a:solidFill>
              <a:prstDash val="solid"/>
              <a:round/>
              <a:headEnd len="sm" w="sm" type="none"/>
              <a:tailEnd len="sm" w="sm" type="none"/>
            </a:ln>
          </a:insideH>
          <a:insideV>
            <a:ln cap="flat" cmpd="sng" w="12700">
              <a:solidFill>
                <a:schemeClr val="accent5"/>
              </a:solidFill>
              <a:prstDash val="solid"/>
              <a:round/>
              <a:headEnd len="sm" w="sm" type="none"/>
              <a:tailEnd len="sm" w="sm" type="none"/>
            </a:ln>
          </a:insideV>
        </a:tcBdr>
        <a:fill>
          <a:solidFill>
            <a:srgbClr val="FFFFFF">
              <a:alpha val="0"/>
            </a:srgbClr>
          </a:solidFill>
        </a:fill>
      </a:tcStyle>
    </a:wholeTbl>
    <a:band1H>
      <a:tcTxStyle/>
      <a:tcStyle>
        <a:fill>
          <a:solidFill>
            <a:schemeClr val="accent5">
              <a:alpha val="20000"/>
            </a:schemeClr>
          </a:solidFill>
        </a:fill>
      </a:tcStyle>
    </a:band1H>
    <a:band2H>
      <a:tcTxStyle/>
    </a:band2H>
    <a:band1V>
      <a:tcTxStyle/>
      <a:tcStyle>
        <a:fill>
          <a:solidFill>
            <a:schemeClr val="accent5">
              <a:alpha val="20000"/>
            </a:schemeClr>
          </a:solidFill>
        </a:fill>
      </a:tcStyle>
    </a:band1V>
    <a:band2V>
      <a:tcTxStyle/>
    </a:band2V>
    <a:lastCol>
      <a:tcTxStyle b="on" i="off"/>
    </a:lastCol>
    <a:firstCol>
      <a:tcTxStyle b="on" i="off"/>
    </a:firstCol>
    <a:lastRow>
      <a:tcTxStyle b="on" i="off"/>
      <a:tcStyle>
        <a:tcBdr>
          <a:top>
            <a:ln cap="flat" cmpd="sng" w="50800">
              <a:solidFill>
                <a:schemeClr val="accent5"/>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5"/>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BF081ABF-AAE9-469E-924C-236F48C9CE28}" styleName="Table_4">
    <a:wholeTbl>
      <a:tcTxStyle b="off" i="off">
        <a:font>
          <a:latin typeface="Garamond"/>
          <a:ea typeface="Garamond"/>
          <a:cs typeface="Garamond"/>
        </a:font>
        <a:schemeClr val="dk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chemeClr val="accent2"/>
              </a:solidFill>
              <a:prstDash val="solid"/>
              <a:round/>
              <a:headEnd len="sm" w="sm" type="none"/>
              <a:tailEnd len="sm" w="sm" type="none"/>
            </a:ln>
          </a:insideV>
        </a:tcBdr>
        <a:fill>
          <a:solidFill>
            <a:srgbClr val="FFFFFF">
              <a:alpha val="0"/>
            </a:srgbClr>
          </a:solidFill>
        </a:fill>
      </a:tcStyle>
    </a:wholeTbl>
    <a:band1H>
      <a:tcTxStyle/>
      <a:tcStyle>
        <a:fill>
          <a:solidFill>
            <a:schemeClr val="accent2">
              <a:alpha val="40000"/>
            </a:schemeClr>
          </a:solidFill>
        </a:fill>
      </a:tcStyle>
    </a:band1H>
    <a:band2H>
      <a:tcTxStyle/>
    </a:band2H>
    <a:band1V>
      <a:tcTxStyle/>
      <a:tcStyle>
        <a:tcBdr>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tcBdr>
        <a:fill>
          <a:solidFill>
            <a:schemeClr val="accent2">
              <a:alpha val="40000"/>
            </a:schemeClr>
          </a:solidFill>
        </a:fill>
      </a:tcStyle>
    </a:band1V>
    <a:band2V>
      <a:tcTxStyle/>
    </a:band2V>
    <a:lastCol>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Garamond"/>
          <a:ea typeface="Garamond"/>
          <a:cs typeface="Garamond"/>
        </a:font>
        <a:schemeClr val="lt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2"/>
          </a:solidFill>
        </a:fill>
      </a:tcStyle>
    </a:firstRow>
    <a:neCell>
      <a:tcTxStyle/>
    </a:neCell>
    <a:nwCell>
      <a:tcTxStyle/>
    </a:nwCell>
  </a:tblStyle>
  <a:tblStyle styleId="{BF1B9074-187F-4A2A-9032-47A855C516E1}" styleName="Table_5">
    <a:wholeTbl>
      <a:tcTxStyle b="off" i="off">
        <a:font>
          <a:latin typeface="Garamond"/>
          <a:ea typeface="Garamond"/>
          <a:cs typeface="Garamond"/>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AECE8"/>
          </a:solidFill>
        </a:fill>
      </a:tcStyle>
    </a:wholeTbl>
    <a:band1H>
      <a:tcTxStyle/>
      <a:tcStyle>
        <a:fill>
          <a:solidFill>
            <a:srgbClr val="F4D6CD"/>
          </a:solidFill>
        </a:fill>
      </a:tcStyle>
    </a:band1H>
    <a:band2H>
      <a:tcTxStyle/>
    </a:band2H>
    <a:band1V>
      <a:tcTxStyle/>
      <a:tcStyle>
        <a:fill>
          <a:solidFill>
            <a:srgbClr val="F4D6CD"/>
          </a:solidFill>
        </a:fill>
      </a:tcStyle>
    </a:band1V>
    <a:band2V>
      <a:tcTxStyle/>
    </a:band2V>
    <a:lastCol>
      <a:tcTxStyle b="on" i="off">
        <a:font>
          <a:latin typeface="Garamond"/>
          <a:ea typeface="Garamond"/>
          <a:cs typeface="Garamond"/>
        </a:font>
        <a:schemeClr val="lt1"/>
      </a:tcTxStyle>
      <a:tcStyle>
        <a:fill>
          <a:solidFill>
            <a:schemeClr val="accent2"/>
          </a:solidFill>
        </a:fill>
      </a:tcStyle>
    </a:lastCol>
    <a:firstCol>
      <a:tcTxStyle b="on" i="off">
        <a:font>
          <a:latin typeface="Garamond"/>
          <a:ea typeface="Garamond"/>
          <a:cs typeface="Garamond"/>
        </a:font>
        <a:schemeClr val="lt1"/>
      </a:tcTxStyle>
      <a:tcStyle>
        <a:fill>
          <a:solidFill>
            <a:schemeClr val="accent2"/>
          </a:solidFill>
        </a:fill>
      </a:tcStyle>
    </a:firstCol>
    <a:lastRow>
      <a:tcTxStyle b="on" i="off">
        <a:font>
          <a:latin typeface="Garamond"/>
          <a:ea typeface="Garamond"/>
          <a:cs typeface="Garamond"/>
        </a:font>
        <a:schemeClr val="lt1"/>
      </a:tcTxStyle>
      <a:tcStyle>
        <a:tcBdr>
          <a:top>
            <a:ln cap="flat" cmpd="sng" w="38100">
              <a:solidFill>
                <a:schemeClr val="lt1"/>
              </a:solidFill>
              <a:prstDash val="solid"/>
              <a:round/>
              <a:headEnd len="sm" w="sm" type="none"/>
              <a:tailEnd len="sm" w="sm" type="none"/>
            </a:ln>
          </a:top>
        </a:tcBdr>
        <a:fill>
          <a:solidFill>
            <a:schemeClr val="accent2"/>
          </a:solidFill>
        </a:fill>
      </a:tcStyle>
    </a:lastRow>
    <a:seCell>
      <a:tcTxStyle/>
    </a:seCell>
    <a:swCell>
      <a:tcTxStyle/>
    </a:swCell>
    <a:firstRow>
      <a:tcTxStyle b="on" i="off">
        <a:font>
          <a:latin typeface="Garamond"/>
          <a:ea typeface="Garamond"/>
          <a:cs typeface="Garamond"/>
        </a:font>
        <a:schemeClr val="lt1"/>
      </a:tcTxStyle>
      <a:tcStyle>
        <a:tcBdr>
          <a:bottom>
            <a:ln cap="flat" cmpd="sng" w="38100">
              <a:solidFill>
                <a:schemeClr val="lt1"/>
              </a:solidFill>
              <a:prstDash val="solid"/>
              <a:round/>
              <a:headEnd len="sm" w="sm" type="none"/>
              <a:tailEnd len="sm" w="sm" type="none"/>
            </a:ln>
          </a:bottom>
        </a:tcBdr>
        <a:fill>
          <a:solidFill>
            <a:schemeClr val="accent2"/>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font" Target="fonts/Hind-regular.fntdata"/><Relationship Id="rId128" Type="http://schemas.openxmlformats.org/officeDocument/2006/relationships/font" Target="fonts/Garamond-boldItalic.fntdata"/><Relationship Id="rId127" Type="http://schemas.openxmlformats.org/officeDocument/2006/relationships/font" Target="fonts/Garamond-italic.fntdata"/><Relationship Id="rId126" Type="http://schemas.openxmlformats.org/officeDocument/2006/relationships/font" Target="fonts/Garamond-bold.fntdata"/><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font" Target="fonts/Garamond-regular.fntdata"/><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0"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font" Target="fonts/GillSans-bold.fntdata"/><Relationship Id="rId138" Type="http://schemas.openxmlformats.org/officeDocument/2006/relationships/font" Target="fonts/GillSans-regular.fntdata"/><Relationship Id="rId137" Type="http://schemas.openxmlformats.org/officeDocument/2006/relationships/font" Target="fonts/PTSans-boldItalic.fntdata"/><Relationship Id="rId132" Type="http://schemas.openxmlformats.org/officeDocument/2006/relationships/font" Target="fonts/LibreBaskerville-bold.fntdata"/><Relationship Id="rId131" Type="http://schemas.openxmlformats.org/officeDocument/2006/relationships/font" Target="fonts/LibreBaskerville-regular.fntdata"/><Relationship Id="rId130" Type="http://schemas.openxmlformats.org/officeDocument/2006/relationships/font" Target="fonts/Hind-bold.fntdata"/><Relationship Id="rId136" Type="http://schemas.openxmlformats.org/officeDocument/2006/relationships/font" Target="fonts/PTSans-italic.fntdata"/><Relationship Id="rId135" Type="http://schemas.openxmlformats.org/officeDocument/2006/relationships/font" Target="fonts/PTSans-bold.fntdata"/><Relationship Id="rId134" Type="http://schemas.openxmlformats.org/officeDocument/2006/relationships/font" Target="fonts/PTSans-regular.fntdata"/><Relationship Id="rId133" Type="http://schemas.openxmlformats.org/officeDocument/2006/relationships/font" Target="fonts/LibreBaskerville-italic.fntdata"/><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oleObject" Target="file:///A:\DESCARGAS%20Chromme\altura%20sensor%20ultrasonico%20(3).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A:\DESCARGAS%20Chromme\altura%20sensor%20ultrasonico%20(3).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A:\DESCARGAS%20Chromme\altura%20sensor%20ultrasonico%20(3).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A:\DESCARGAS%20Chromme\altura%20sensor%20ultrasonico%20(3).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A:\DESCARGAS%20Chromme\altura%20sensor%20ultrasonico%20(3).xlsx" TargetMode="External"/></Relationships>
</file>

<file path=ppt/charts/_rels/chart6.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A:\DESCARGAS%20Chromme\altura%20sensor%20ultrasonico%20(1).xlsx" TargetMode="External"/></Relationships>
</file>

<file path=ppt/charts/_rels/chart7.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A:\DESCARGAS%20Chromme\altura%20sensor%20ultrasonico%20(1).xlsx" TargetMode="External"/></Relationships>
</file>

<file path=ppt/charts/_rels/chart8.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file:///A:\DESCARGAS%20Chromme\altura%20sensor%20ultrasonico%20(3).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0">
              <a:defRPr b="0">
                <a:solidFill>
                  <a:srgbClr val="757575"/>
                </a:solidFill>
                <a:latin typeface="+mn-lt"/>
              </a:defRPr>
            </a:pPr>
            <a:r>
              <a:rPr lang="en-US" b="0">
                <a:solidFill>
                  <a:srgbClr val="757575"/>
                </a:solidFill>
                <a:latin typeface="+mn-lt"/>
              </a:rPr>
              <a:t>VOLTAJE frente a FRECUENCIA</a:t>
            </a:r>
          </a:p>
        </c:rich>
      </c:tx>
      <c:overlay val="0"/>
    </c:title>
    <c:autoTitleDeleted val="0"/>
    <c:plotArea>
      <c:layout/>
      <c:scatterChart>
        <c:scatterStyle val="lineMarker"/>
        <c:varyColors val="0"/>
        <c:ser>
          <c:idx val="0"/>
          <c:order val="0"/>
          <c:spPr>
            <a:ln>
              <a:noFill/>
            </a:ln>
          </c:spPr>
          <c:marker>
            <c:symbol val="circle"/>
            <c:size val="7"/>
            <c:spPr>
              <a:solidFill>
                <a:schemeClr val="accent1"/>
              </a:solidFill>
              <a:ln cmpd="sng">
                <a:solidFill>
                  <a:schemeClr val="accent1"/>
                </a:solidFill>
              </a:ln>
            </c:spPr>
          </c:marker>
          <c:xVal>
            <c:numRef>
              <c:f>'[altura sensor ultrasonico (3).xlsx]Hoja1'!$A$130:$A$140</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xVal>
          <c:yVal>
            <c:numRef>
              <c:f>'[altura sensor ultrasonico (3).xlsx]Hoja1'!$B$130:$B$140</c:f>
              <c:numCache>
                <c:formatCode>General</c:formatCode>
                <c:ptCount val="11"/>
                <c:pt idx="0">
                  <c:v>0</c:v>
                </c:pt>
                <c:pt idx="1">
                  <c:v>38.799999999999997</c:v>
                </c:pt>
                <c:pt idx="2">
                  <c:v>57.5</c:v>
                </c:pt>
                <c:pt idx="3">
                  <c:v>77.3</c:v>
                </c:pt>
                <c:pt idx="4">
                  <c:v>98.1</c:v>
                </c:pt>
                <c:pt idx="5">
                  <c:v>119.3</c:v>
                </c:pt>
                <c:pt idx="6">
                  <c:v>144.4</c:v>
                </c:pt>
                <c:pt idx="7">
                  <c:v>170</c:v>
                </c:pt>
                <c:pt idx="8">
                  <c:v>195.1</c:v>
                </c:pt>
                <c:pt idx="9">
                  <c:v>219.9</c:v>
                </c:pt>
                <c:pt idx="10">
                  <c:v>229.9</c:v>
                </c:pt>
              </c:numCache>
            </c:numRef>
          </c:yVal>
          <c:smooth val="1"/>
          <c:extLst>
            <c:ext xmlns:c16="http://schemas.microsoft.com/office/drawing/2014/chart" uri="{C3380CC4-5D6E-409C-BE32-E72D297353CC}">
              <c16:uniqueId val="{00000000-D5B7-47F3-87FD-E38F98716D19}"/>
            </c:ext>
          </c:extLst>
        </c:ser>
        <c:dLbls>
          <c:showLegendKey val="0"/>
          <c:showVal val="0"/>
          <c:showCatName val="0"/>
          <c:showSerName val="0"/>
          <c:showPercent val="0"/>
          <c:showBubbleSize val="0"/>
        </c:dLbls>
        <c:axId val="1547704586"/>
        <c:axId val="674124355"/>
      </c:scatterChart>
      <c:valAx>
        <c:axId val="1547704586"/>
        <c:scaling>
          <c:orientation val="minMax"/>
        </c:scaling>
        <c:delete val="0"/>
        <c:axPos val="b"/>
        <c:majorGridlines>
          <c:spPr>
            <a:ln>
              <a:solidFill>
                <a:srgbClr val="B7B7B7"/>
              </a:solidFill>
            </a:ln>
          </c:spPr>
        </c:majorGridlines>
        <c:minorGridlines>
          <c:spPr>
            <a:ln>
              <a:solidFill>
                <a:srgbClr val="CCCCCC">
                  <a:alpha val="0"/>
                </a:srgbClr>
              </a:solidFill>
            </a:ln>
          </c:spPr>
        </c:minorGridlines>
        <c:title>
          <c:tx>
            <c:rich>
              <a:bodyPr/>
              <a:lstStyle/>
              <a:p>
                <a:pPr lvl="0">
                  <a:defRPr b="0">
                    <a:solidFill>
                      <a:srgbClr val="000000"/>
                    </a:solidFill>
                    <a:latin typeface="+mn-lt"/>
                  </a:defRPr>
                </a:pPr>
                <a:r>
                  <a:rPr lang="en-US" b="0">
                    <a:solidFill>
                      <a:srgbClr val="000000"/>
                    </a:solidFill>
                    <a:latin typeface="+mn-lt"/>
                  </a:rPr>
                  <a:t>FRECUENCIA</a:t>
                </a:r>
              </a:p>
            </c:rich>
          </c:tx>
          <c:overlay val="0"/>
        </c:title>
        <c:numFmt formatCode="General" sourceLinked="1"/>
        <c:majorTickMark val="none"/>
        <c:minorTickMark val="none"/>
        <c:tickLblPos val="nextTo"/>
        <c:spPr>
          <a:ln/>
        </c:spPr>
        <c:txPr>
          <a:bodyPr/>
          <a:lstStyle/>
          <a:p>
            <a:pPr lvl="0">
              <a:defRPr b="0">
                <a:solidFill>
                  <a:srgbClr val="000000"/>
                </a:solidFill>
                <a:latin typeface="+mn-lt"/>
              </a:defRPr>
            </a:pPr>
            <a:endParaRPr lang="es-BO"/>
          </a:p>
        </c:txPr>
        <c:crossAx val="674124355"/>
        <c:crosses val="autoZero"/>
        <c:crossBetween val="midCat"/>
      </c:valAx>
      <c:valAx>
        <c:axId val="674124355"/>
        <c:scaling>
          <c:orientation val="minMax"/>
        </c:scaling>
        <c:delete val="0"/>
        <c:axPos val="l"/>
        <c:majorGridlines>
          <c:spPr>
            <a:ln>
              <a:solidFill>
                <a:srgbClr val="B7B7B7"/>
              </a:solidFill>
            </a:ln>
          </c:spPr>
        </c:majorGridlines>
        <c:minorGridlines>
          <c:spPr>
            <a:ln>
              <a:solidFill>
                <a:srgbClr val="CCCCCC">
                  <a:alpha val="0"/>
                </a:srgbClr>
              </a:solidFill>
            </a:ln>
          </c:spPr>
        </c:minorGridlines>
        <c:title>
          <c:tx>
            <c:rich>
              <a:bodyPr/>
              <a:lstStyle/>
              <a:p>
                <a:pPr lvl="0">
                  <a:defRPr b="0">
                    <a:solidFill>
                      <a:srgbClr val="000000"/>
                    </a:solidFill>
                    <a:latin typeface="+mn-lt"/>
                  </a:defRPr>
                </a:pPr>
                <a:r>
                  <a:rPr lang="en-US" b="0">
                    <a:solidFill>
                      <a:srgbClr val="000000"/>
                    </a:solidFill>
                    <a:latin typeface="+mn-lt"/>
                  </a:rPr>
                  <a:t>VOLTAJE</a:t>
                </a:r>
              </a:p>
            </c:rich>
          </c:tx>
          <c:overlay val="0"/>
        </c:title>
        <c:numFmt formatCode="General" sourceLinked="1"/>
        <c:majorTickMark val="none"/>
        <c:minorTickMark val="none"/>
        <c:tickLblPos val="nextTo"/>
        <c:spPr>
          <a:ln/>
        </c:spPr>
        <c:txPr>
          <a:bodyPr/>
          <a:lstStyle/>
          <a:p>
            <a:pPr lvl="0">
              <a:defRPr b="0">
                <a:solidFill>
                  <a:srgbClr val="000000"/>
                </a:solidFill>
                <a:latin typeface="+mn-lt"/>
              </a:defRPr>
            </a:pPr>
            <a:endParaRPr lang="es-BO"/>
          </a:p>
        </c:txPr>
        <c:crossAx val="1547704586"/>
        <c:crosses val="autoZero"/>
        <c:crossBetween val="midCat"/>
      </c:valAx>
    </c:plotArea>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0">
              <a:defRPr b="0">
                <a:solidFill>
                  <a:srgbClr val="757575"/>
                </a:solidFill>
                <a:latin typeface="+mn-lt"/>
              </a:defRPr>
            </a:pPr>
            <a:r>
              <a:rPr lang="en-US" b="0">
                <a:solidFill>
                  <a:srgbClr val="757575"/>
                </a:solidFill>
                <a:latin typeface="+mn-lt"/>
              </a:rPr>
              <a:t>CORRIENTE(SIN AGUA) frente a FRECUENCIA</a:t>
            </a:r>
          </a:p>
        </c:rich>
      </c:tx>
      <c:overlay val="0"/>
    </c:title>
    <c:autoTitleDeleted val="0"/>
    <c:plotArea>
      <c:layout/>
      <c:scatterChart>
        <c:scatterStyle val="lineMarker"/>
        <c:varyColors val="0"/>
        <c:ser>
          <c:idx val="0"/>
          <c:order val="0"/>
          <c:spPr>
            <a:ln>
              <a:noFill/>
            </a:ln>
          </c:spPr>
          <c:marker>
            <c:symbol val="circle"/>
            <c:size val="7"/>
            <c:spPr>
              <a:solidFill>
                <a:schemeClr val="accent1"/>
              </a:solidFill>
              <a:ln cmpd="sng">
                <a:solidFill>
                  <a:schemeClr val="accent1"/>
                </a:solidFill>
              </a:ln>
            </c:spPr>
          </c:marker>
          <c:xVal>
            <c:numRef>
              <c:f>'[altura sensor ultrasonico (3).xlsx]Hoja1'!$A$105:$A$115</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xVal>
          <c:yVal>
            <c:numRef>
              <c:f>'[altura sensor ultrasonico (3).xlsx]Hoja1'!$B$105:$B$115</c:f>
              <c:numCache>
                <c:formatCode>General</c:formatCode>
                <c:ptCount val="11"/>
                <c:pt idx="0">
                  <c:v>0.9</c:v>
                </c:pt>
                <c:pt idx="1">
                  <c:v>1.68</c:v>
                </c:pt>
                <c:pt idx="2">
                  <c:v>1.79</c:v>
                </c:pt>
                <c:pt idx="3">
                  <c:v>1.82</c:v>
                </c:pt>
                <c:pt idx="4">
                  <c:v>1.85</c:v>
                </c:pt>
                <c:pt idx="5">
                  <c:v>1.93</c:v>
                </c:pt>
                <c:pt idx="6">
                  <c:v>2.08</c:v>
                </c:pt>
                <c:pt idx="7">
                  <c:v>2.2599999999999998</c:v>
                </c:pt>
                <c:pt idx="8">
                  <c:v>2.4700000000000002</c:v>
                </c:pt>
                <c:pt idx="9">
                  <c:v>2.75</c:v>
                </c:pt>
                <c:pt idx="10">
                  <c:v>2.95</c:v>
                </c:pt>
              </c:numCache>
            </c:numRef>
          </c:yVal>
          <c:smooth val="1"/>
          <c:extLst>
            <c:ext xmlns:c16="http://schemas.microsoft.com/office/drawing/2014/chart" uri="{C3380CC4-5D6E-409C-BE32-E72D297353CC}">
              <c16:uniqueId val="{00000000-C3C1-47F3-85A8-631F0B73E2E6}"/>
            </c:ext>
          </c:extLst>
        </c:ser>
        <c:dLbls>
          <c:showLegendKey val="0"/>
          <c:showVal val="0"/>
          <c:showCatName val="0"/>
          <c:showSerName val="0"/>
          <c:showPercent val="0"/>
          <c:showBubbleSize val="0"/>
        </c:dLbls>
        <c:axId val="583169680"/>
        <c:axId val="583171360"/>
      </c:scatterChart>
      <c:valAx>
        <c:axId val="583169680"/>
        <c:scaling>
          <c:orientation val="minMax"/>
        </c:scaling>
        <c:delete val="0"/>
        <c:axPos val="b"/>
        <c:majorGridlines>
          <c:spPr>
            <a:ln>
              <a:solidFill>
                <a:srgbClr val="B7B7B7"/>
              </a:solidFill>
            </a:ln>
          </c:spPr>
        </c:majorGridlines>
        <c:minorGridlines>
          <c:spPr>
            <a:ln>
              <a:solidFill>
                <a:srgbClr val="CCCCCC">
                  <a:alpha val="0"/>
                </a:srgbClr>
              </a:solidFill>
            </a:ln>
          </c:spPr>
        </c:minorGridlines>
        <c:title>
          <c:tx>
            <c:rich>
              <a:bodyPr/>
              <a:lstStyle/>
              <a:p>
                <a:pPr lvl="0">
                  <a:defRPr b="0">
                    <a:solidFill>
                      <a:srgbClr val="000000"/>
                    </a:solidFill>
                    <a:latin typeface="+mn-lt"/>
                  </a:defRPr>
                </a:pPr>
                <a:r>
                  <a:rPr lang="en-US" b="0">
                    <a:solidFill>
                      <a:srgbClr val="000000"/>
                    </a:solidFill>
                    <a:latin typeface="+mn-lt"/>
                  </a:rPr>
                  <a:t>FRECUENCIA</a:t>
                </a:r>
              </a:p>
            </c:rich>
          </c:tx>
          <c:overlay val="0"/>
        </c:title>
        <c:numFmt formatCode="General" sourceLinked="1"/>
        <c:majorTickMark val="none"/>
        <c:minorTickMark val="none"/>
        <c:tickLblPos val="nextTo"/>
        <c:spPr>
          <a:ln/>
        </c:spPr>
        <c:txPr>
          <a:bodyPr/>
          <a:lstStyle/>
          <a:p>
            <a:pPr lvl="0">
              <a:defRPr b="0">
                <a:solidFill>
                  <a:srgbClr val="000000"/>
                </a:solidFill>
                <a:latin typeface="+mn-lt"/>
              </a:defRPr>
            </a:pPr>
            <a:endParaRPr lang="es-BO"/>
          </a:p>
        </c:txPr>
        <c:crossAx val="583171360"/>
        <c:crosses val="autoZero"/>
        <c:crossBetween val="midCat"/>
      </c:valAx>
      <c:valAx>
        <c:axId val="583171360"/>
        <c:scaling>
          <c:orientation val="minMax"/>
        </c:scaling>
        <c:delete val="0"/>
        <c:axPos val="l"/>
        <c:majorGridlines>
          <c:spPr>
            <a:ln>
              <a:solidFill>
                <a:srgbClr val="B7B7B7"/>
              </a:solidFill>
            </a:ln>
          </c:spPr>
        </c:majorGridlines>
        <c:minorGridlines>
          <c:spPr>
            <a:ln>
              <a:solidFill>
                <a:srgbClr val="CCCCCC">
                  <a:alpha val="0"/>
                </a:srgbClr>
              </a:solidFill>
            </a:ln>
          </c:spPr>
        </c:minorGridlines>
        <c:title>
          <c:tx>
            <c:rich>
              <a:bodyPr/>
              <a:lstStyle/>
              <a:p>
                <a:pPr lvl="0">
                  <a:defRPr b="0">
                    <a:solidFill>
                      <a:srgbClr val="000000"/>
                    </a:solidFill>
                    <a:latin typeface="+mn-lt"/>
                  </a:defRPr>
                </a:pPr>
                <a:r>
                  <a:rPr lang="en-US" b="0">
                    <a:solidFill>
                      <a:srgbClr val="000000"/>
                    </a:solidFill>
                    <a:latin typeface="+mn-lt"/>
                  </a:rPr>
                  <a:t>CORRIENTE(SIN AGUA)</a:t>
                </a:r>
              </a:p>
            </c:rich>
          </c:tx>
          <c:overlay val="0"/>
        </c:title>
        <c:numFmt formatCode="General" sourceLinked="1"/>
        <c:majorTickMark val="none"/>
        <c:minorTickMark val="none"/>
        <c:tickLblPos val="nextTo"/>
        <c:spPr>
          <a:ln/>
        </c:spPr>
        <c:txPr>
          <a:bodyPr/>
          <a:lstStyle/>
          <a:p>
            <a:pPr lvl="0">
              <a:defRPr b="0">
                <a:solidFill>
                  <a:srgbClr val="000000"/>
                </a:solidFill>
                <a:latin typeface="+mn-lt"/>
              </a:defRPr>
            </a:pPr>
            <a:endParaRPr lang="es-BO"/>
          </a:p>
        </c:txPr>
        <c:crossAx val="583169680"/>
        <c:crosses val="autoZero"/>
        <c:crossBetween val="midCat"/>
      </c:valAx>
    </c:plotArea>
    <c:legend>
      <c:legendPos val="r"/>
      <c:overlay val="0"/>
      <c:txPr>
        <a:bodyPr/>
        <a:lstStyle/>
        <a:p>
          <a:pPr lvl="0">
            <a:defRPr b="0">
              <a:solidFill>
                <a:srgbClr val="1A1A1A"/>
              </a:solidFill>
              <a:latin typeface="+mn-lt"/>
            </a:defRPr>
          </a:pPr>
          <a:endParaRPr lang="es-BO"/>
        </a:p>
      </c:txPr>
    </c:legend>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BO"/>
        </a:p>
      </c:txPr>
    </c:title>
    <c:autoTitleDeleted val="0"/>
    <c:plotArea>
      <c:layout/>
      <c:scatterChart>
        <c:scatterStyle val="smoothMarker"/>
        <c:varyColors val="0"/>
        <c:ser>
          <c:idx val="0"/>
          <c:order val="0"/>
          <c:tx>
            <c:strRef>
              <c:f>'[altura sensor ultrasonico (3).xlsx]Hoja1'!$B$40</c:f>
              <c:strCache>
                <c:ptCount val="1"/>
                <c:pt idx="0">
                  <c:v>CORRIENTE[Ma]</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trendlineLbl>
          </c:trendline>
          <c:xVal>
            <c:numRef>
              <c:f>'[altura sensor ultrasonico (3).xlsx]Hoja1'!$A$41:$A$49</c:f>
              <c:numCache>
                <c:formatCode>General</c:formatCode>
                <c:ptCount val="9"/>
                <c:pt idx="0">
                  <c:v>0</c:v>
                </c:pt>
                <c:pt idx="1">
                  <c:v>5</c:v>
                </c:pt>
                <c:pt idx="2">
                  <c:v>10</c:v>
                </c:pt>
                <c:pt idx="3">
                  <c:v>15</c:v>
                </c:pt>
                <c:pt idx="4">
                  <c:v>20</c:v>
                </c:pt>
                <c:pt idx="5">
                  <c:v>25</c:v>
                </c:pt>
                <c:pt idx="6">
                  <c:v>30</c:v>
                </c:pt>
                <c:pt idx="7">
                  <c:v>35</c:v>
                </c:pt>
                <c:pt idx="8">
                  <c:v>40</c:v>
                </c:pt>
              </c:numCache>
            </c:numRef>
          </c:xVal>
          <c:yVal>
            <c:numRef>
              <c:f>'[altura sensor ultrasonico (3).xlsx]Hoja1'!$B$41:$B$49</c:f>
              <c:numCache>
                <c:formatCode>General</c:formatCode>
                <c:ptCount val="9"/>
                <c:pt idx="0">
                  <c:v>3.8</c:v>
                </c:pt>
                <c:pt idx="1">
                  <c:v>4.2</c:v>
                </c:pt>
                <c:pt idx="2">
                  <c:v>4.2</c:v>
                </c:pt>
                <c:pt idx="3">
                  <c:v>4.7</c:v>
                </c:pt>
                <c:pt idx="4">
                  <c:v>5.19</c:v>
                </c:pt>
                <c:pt idx="5">
                  <c:v>5.4</c:v>
                </c:pt>
                <c:pt idx="6">
                  <c:v>5.8</c:v>
                </c:pt>
                <c:pt idx="7">
                  <c:v>6.3</c:v>
                </c:pt>
                <c:pt idx="8">
                  <c:v>6.72</c:v>
                </c:pt>
              </c:numCache>
            </c:numRef>
          </c:yVal>
          <c:smooth val="1"/>
          <c:extLst>
            <c:ext xmlns:c16="http://schemas.microsoft.com/office/drawing/2014/chart" uri="{C3380CC4-5D6E-409C-BE32-E72D297353CC}">
              <c16:uniqueId val="{00000000-229E-4ABB-99FE-56B7C0E16DD9}"/>
            </c:ext>
          </c:extLst>
        </c:ser>
        <c:dLbls>
          <c:showLegendKey val="0"/>
          <c:showVal val="0"/>
          <c:showCatName val="0"/>
          <c:showSerName val="0"/>
          <c:showPercent val="0"/>
          <c:showBubbleSize val="0"/>
        </c:dLbls>
        <c:axId val="470858528"/>
        <c:axId val="470857216"/>
      </c:scatterChart>
      <c:valAx>
        <c:axId val="470858528"/>
        <c:scaling>
          <c:orientation val="minMax"/>
        </c:scaling>
        <c:delete val="0"/>
        <c:axPos val="b"/>
        <c:title>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470857216"/>
        <c:crosses val="autoZero"/>
        <c:crossBetween val="midCat"/>
      </c:valAx>
      <c:valAx>
        <c:axId val="47085721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47085852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BO"/>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s-BO" dirty="0"/>
              <a:t>TC</a:t>
            </a:r>
          </a:p>
        </c:rich>
      </c:tx>
      <c:overlay val="0"/>
    </c:title>
    <c:autoTitleDeleted val="0"/>
    <c:plotArea>
      <c:layout/>
      <c:scatterChart>
        <c:scatterStyle val="lineMarker"/>
        <c:varyColors val="0"/>
        <c:ser>
          <c:idx val="0"/>
          <c:order val="0"/>
          <c:spPr>
            <a:ln>
              <a:noFill/>
            </a:ln>
          </c:spPr>
          <c:marker>
            <c:symbol val="circle"/>
            <c:size val="7"/>
            <c:spPr>
              <a:solidFill>
                <a:schemeClr val="accent1"/>
              </a:solidFill>
              <a:ln cmpd="sng">
                <a:solidFill>
                  <a:schemeClr val="accent1"/>
                </a:solidFill>
              </a:ln>
            </c:spPr>
          </c:marker>
          <c:trendline>
            <c:trendlineType val="linear"/>
            <c:dispRSqr val="1"/>
            <c:dispEq val="1"/>
            <c:trendlineLbl>
              <c:numFmt formatCode="General" sourceLinked="0"/>
            </c:trendlineLbl>
          </c:trendline>
          <c:xVal>
            <c:numRef>
              <c:f>'[altura sensor ultrasonico (3).xlsx]Hoja1'!$B$68:$B$81</c:f>
              <c:numCache>
                <c:formatCode>General</c:formatCode>
                <c:ptCount val="14"/>
                <c:pt idx="0">
                  <c:v>26</c:v>
                </c:pt>
                <c:pt idx="1">
                  <c:v>30</c:v>
                </c:pt>
                <c:pt idx="2">
                  <c:v>46</c:v>
                </c:pt>
                <c:pt idx="3">
                  <c:v>64</c:v>
                </c:pt>
                <c:pt idx="4">
                  <c:v>78</c:v>
                </c:pt>
                <c:pt idx="5">
                  <c:v>97</c:v>
                </c:pt>
                <c:pt idx="6">
                  <c:v>109</c:v>
                </c:pt>
                <c:pt idx="7">
                  <c:v>124</c:v>
                </c:pt>
                <c:pt idx="8">
                  <c:v>137</c:v>
                </c:pt>
                <c:pt idx="9">
                  <c:v>150</c:v>
                </c:pt>
                <c:pt idx="10">
                  <c:v>172</c:v>
                </c:pt>
                <c:pt idx="11">
                  <c:v>182</c:v>
                </c:pt>
                <c:pt idx="12">
                  <c:v>190</c:v>
                </c:pt>
                <c:pt idx="13">
                  <c:v>200</c:v>
                </c:pt>
              </c:numCache>
            </c:numRef>
          </c:xVal>
          <c:yVal>
            <c:numRef>
              <c:f>'[altura sensor ultrasonico (3).xlsx]Hoja1'!$C$68:$C$81</c:f>
              <c:numCache>
                <c:formatCode>General</c:formatCode>
                <c:ptCount val="14"/>
                <c:pt idx="0">
                  <c:v>0</c:v>
                </c:pt>
                <c:pt idx="1">
                  <c:v>0.1</c:v>
                </c:pt>
                <c:pt idx="2">
                  <c:v>0.1</c:v>
                </c:pt>
                <c:pt idx="3">
                  <c:v>0.3</c:v>
                </c:pt>
                <c:pt idx="4">
                  <c:v>0.6</c:v>
                </c:pt>
                <c:pt idx="5">
                  <c:v>0.8</c:v>
                </c:pt>
                <c:pt idx="6">
                  <c:v>1</c:v>
                </c:pt>
                <c:pt idx="7">
                  <c:v>1.3</c:v>
                </c:pt>
                <c:pt idx="8">
                  <c:v>1.4</c:v>
                </c:pt>
                <c:pt idx="9">
                  <c:v>1.7</c:v>
                </c:pt>
                <c:pt idx="10">
                  <c:v>2.2000000000000002</c:v>
                </c:pt>
                <c:pt idx="11">
                  <c:v>2.2999999999999998</c:v>
                </c:pt>
                <c:pt idx="12">
                  <c:v>2.4</c:v>
                </c:pt>
                <c:pt idx="13">
                  <c:v>2.5</c:v>
                </c:pt>
              </c:numCache>
            </c:numRef>
          </c:yVal>
          <c:smooth val="1"/>
          <c:extLst>
            <c:ext xmlns:c16="http://schemas.microsoft.com/office/drawing/2014/chart" uri="{C3380CC4-5D6E-409C-BE32-E72D297353CC}">
              <c16:uniqueId val="{00000000-DB32-4ED8-BFC8-8C53D267FB84}"/>
            </c:ext>
          </c:extLst>
        </c:ser>
        <c:dLbls>
          <c:showLegendKey val="0"/>
          <c:showVal val="0"/>
          <c:showCatName val="0"/>
          <c:showSerName val="0"/>
          <c:showPercent val="0"/>
          <c:showBubbleSize val="0"/>
        </c:dLbls>
        <c:axId val="410791568"/>
        <c:axId val="471543864"/>
      </c:scatterChart>
      <c:valAx>
        <c:axId val="410791568"/>
        <c:scaling>
          <c:orientation val="minMax"/>
        </c:scaling>
        <c:delete val="0"/>
        <c:axPos val="b"/>
        <c:title>
          <c:tx>
            <c:rich>
              <a:bodyPr/>
              <a:lstStyle/>
              <a:p>
                <a:pPr lvl="0">
                  <a:defRPr b="0">
                    <a:solidFill>
                      <a:srgbClr val="000000"/>
                    </a:solidFill>
                    <a:latin typeface="+mn-lt"/>
                  </a:defRPr>
                </a:pPr>
                <a:endParaRPr lang="en-US"/>
              </a:p>
            </c:rich>
          </c:tx>
          <c:overlay val="0"/>
        </c:title>
        <c:numFmt formatCode="General" sourceLinked="1"/>
        <c:majorTickMark val="out"/>
        <c:minorTickMark val="none"/>
        <c:tickLblPos val="nextTo"/>
        <c:spPr>
          <a:ln/>
        </c:spPr>
        <c:txPr>
          <a:bodyPr/>
          <a:lstStyle/>
          <a:p>
            <a:pPr lvl="0">
              <a:defRPr b="0">
                <a:solidFill>
                  <a:srgbClr val="000000"/>
                </a:solidFill>
                <a:latin typeface="+mn-lt"/>
              </a:defRPr>
            </a:pPr>
            <a:endParaRPr lang="es-BO"/>
          </a:p>
        </c:txPr>
        <c:crossAx val="471543864"/>
        <c:crosses val="autoZero"/>
        <c:crossBetween val="midCat"/>
      </c:valAx>
      <c:valAx>
        <c:axId val="471543864"/>
        <c:scaling>
          <c:orientation val="minMax"/>
        </c:scaling>
        <c:delete val="0"/>
        <c:axPos val="l"/>
        <c:majorGridlines>
          <c:spPr>
            <a:ln>
              <a:solidFill>
                <a:srgbClr val="B7B7B7"/>
              </a:solidFill>
            </a:ln>
          </c:spPr>
        </c:majorGridlines>
        <c:minorGridlines/>
        <c:title>
          <c:tx>
            <c:rich>
              <a:bodyPr/>
              <a:lstStyle/>
              <a:p>
                <a:pPr lvl="0">
                  <a:defRPr b="0">
                    <a:solidFill>
                      <a:srgbClr val="000000"/>
                    </a:solidFill>
                    <a:latin typeface="+mn-lt"/>
                  </a:defRPr>
                </a:pPr>
                <a:endParaRPr lang="en-US"/>
              </a:p>
            </c:rich>
          </c:tx>
          <c:overlay val="0"/>
        </c:title>
        <c:numFmt formatCode="General" sourceLinked="1"/>
        <c:majorTickMark val="out"/>
        <c:minorTickMark val="none"/>
        <c:tickLblPos val="nextTo"/>
        <c:spPr>
          <a:ln/>
        </c:spPr>
        <c:txPr>
          <a:bodyPr/>
          <a:lstStyle/>
          <a:p>
            <a:pPr lvl="0">
              <a:defRPr b="0">
                <a:solidFill>
                  <a:srgbClr val="000000"/>
                </a:solidFill>
                <a:latin typeface="+mn-lt"/>
              </a:defRPr>
            </a:pPr>
            <a:endParaRPr lang="es-BO"/>
          </a:p>
        </c:txPr>
        <c:crossAx val="410791568"/>
        <c:crosses val="autoZero"/>
        <c:crossBetween val="midCat"/>
      </c:valAx>
    </c:plotArea>
    <c:plotVisOnly val="1"/>
    <c:dispBlanksAs val="zero"/>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s-BO" dirty="0"/>
              <a:t>RTD</a:t>
            </a:r>
          </a:p>
        </c:rich>
      </c:tx>
      <c:overlay val="0"/>
    </c:title>
    <c:autoTitleDeleted val="0"/>
    <c:plotArea>
      <c:layout/>
      <c:scatterChart>
        <c:scatterStyle val="lineMarker"/>
        <c:varyColors val="0"/>
        <c:ser>
          <c:idx val="0"/>
          <c:order val="0"/>
          <c:spPr>
            <a:ln>
              <a:noFill/>
            </a:ln>
          </c:spPr>
          <c:marker>
            <c:symbol val="circle"/>
            <c:size val="7"/>
            <c:spPr>
              <a:solidFill>
                <a:schemeClr val="accent1"/>
              </a:solidFill>
              <a:ln cmpd="sng">
                <a:solidFill>
                  <a:schemeClr val="accent1"/>
                </a:solidFill>
              </a:ln>
            </c:spPr>
          </c:marker>
          <c:trendline>
            <c:trendlineType val="linear"/>
            <c:dispRSqr val="1"/>
            <c:dispEq val="1"/>
            <c:trendlineLbl>
              <c:layout>
                <c:manualLayout>
                  <c:x val="-2.9369395643408694E-2"/>
                  <c:y val="-4.2124322512474582E-2"/>
                </c:manualLayout>
              </c:layout>
              <c:numFmt formatCode="General" sourceLinked="0"/>
            </c:trendlineLbl>
          </c:trendline>
          <c:xVal>
            <c:numRef>
              <c:f>'[altura sensor ultrasonico (3).xlsx]Hoja1'!$E$68:$E$82</c:f>
              <c:numCache>
                <c:formatCode>General</c:formatCode>
                <c:ptCount val="15"/>
                <c:pt idx="0">
                  <c:v>44</c:v>
                </c:pt>
                <c:pt idx="1">
                  <c:v>71.400000000000006</c:v>
                </c:pt>
                <c:pt idx="2">
                  <c:v>87.5</c:v>
                </c:pt>
                <c:pt idx="3">
                  <c:v>92.9</c:v>
                </c:pt>
                <c:pt idx="4">
                  <c:v>98.7</c:v>
                </c:pt>
                <c:pt idx="5">
                  <c:v>104.1</c:v>
                </c:pt>
                <c:pt idx="6">
                  <c:v>110.8</c:v>
                </c:pt>
                <c:pt idx="7">
                  <c:v>131.80000000000001</c:v>
                </c:pt>
                <c:pt idx="8">
                  <c:v>134.5</c:v>
                </c:pt>
                <c:pt idx="9">
                  <c:v>150.1</c:v>
                </c:pt>
                <c:pt idx="10">
                  <c:v>154.9</c:v>
                </c:pt>
                <c:pt idx="11">
                  <c:v>159.30000000000001</c:v>
                </c:pt>
                <c:pt idx="12">
                  <c:v>167.7</c:v>
                </c:pt>
                <c:pt idx="13">
                  <c:v>170.5</c:v>
                </c:pt>
                <c:pt idx="14">
                  <c:v>179.1</c:v>
                </c:pt>
              </c:numCache>
            </c:numRef>
          </c:xVal>
          <c:yVal>
            <c:numRef>
              <c:f>'[altura sensor ultrasonico (3).xlsx]Hoja1'!$F$68:$F$82</c:f>
              <c:numCache>
                <c:formatCode>General</c:formatCode>
                <c:ptCount val="15"/>
                <c:pt idx="0">
                  <c:v>118</c:v>
                </c:pt>
                <c:pt idx="1">
                  <c:v>127.8</c:v>
                </c:pt>
                <c:pt idx="2">
                  <c:v>134.6</c:v>
                </c:pt>
                <c:pt idx="3">
                  <c:v>136.4</c:v>
                </c:pt>
                <c:pt idx="4">
                  <c:v>138.6</c:v>
                </c:pt>
                <c:pt idx="5">
                  <c:v>141</c:v>
                </c:pt>
                <c:pt idx="6">
                  <c:v>142.80000000000001</c:v>
                </c:pt>
                <c:pt idx="7">
                  <c:v>150.9</c:v>
                </c:pt>
                <c:pt idx="8">
                  <c:v>151.6</c:v>
                </c:pt>
                <c:pt idx="9">
                  <c:v>157.69999999999999</c:v>
                </c:pt>
                <c:pt idx="10">
                  <c:v>158.9</c:v>
                </c:pt>
                <c:pt idx="11">
                  <c:v>160.19999999999999</c:v>
                </c:pt>
                <c:pt idx="12">
                  <c:v>163.69999999999999</c:v>
                </c:pt>
                <c:pt idx="13">
                  <c:v>164</c:v>
                </c:pt>
                <c:pt idx="14">
                  <c:v>168.7</c:v>
                </c:pt>
              </c:numCache>
            </c:numRef>
          </c:yVal>
          <c:smooth val="1"/>
          <c:extLst>
            <c:ext xmlns:c16="http://schemas.microsoft.com/office/drawing/2014/chart" uri="{C3380CC4-5D6E-409C-BE32-E72D297353CC}">
              <c16:uniqueId val="{00000000-BDCA-47EE-9266-5E842A86AAD0}"/>
            </c:ext>
          </c:extLst>
        </c:ser>
        <c:dLbls>
          <c:showLegendKey val="0"/>
          <c:showVal val="0"/>
          <c:showCatName val="0"/>
          <c:showSerName val="0"/>
          <c:showPercent val="0"/>
          <c:showBubbleSize val="0"/>
        </c:dLbls>
        <c:axId val="1302641363"/>
        <c:axId val="968169829"/>
      </c:scatterChart>
      <c:valAx>
        <c:axId val="1302641363"/>
        <c:scaling>
          <c:orientation val="minMax"/>
        </c:scaling>
        <c:delete val="0"/>
        <c:axPos val="b"/>
        <c:title>
          <c:tx>
            <c:rich>
              <a:bodyPr/>
              <a:lstStyle/>
              <a:p>
                <a:pPr>
                  <a:defRPr/>
                </a:pPr>
                <a:r>
                  <a:rPr lang="es-BO" dirty="0"/>
                  <a:t>Temperatura °C</a:t>
                </a:r>
              </a:p>
            </c:rich>
          </c:tx>
          <c:overlay val="0"/>
        </c:title>
        <c:numFmt formatCode="General" sourceLinked="1"/>
        <c:majorTickMark val="out"/>
        <c:minorTickMark val="none"/>
        <c:tickLblPos val="nextTo"/>
        <c:spPr>
          <a:ln/>
        </c:spPr>
        <c:txPr>
          <a:bodyPr/>
          <a:lstStyle/>
          <a:p>
            <a:pPr lvl="0">
              <a:defRPr b="0">
                <a:solidFill>
                  <a:srgbClr val="000000"/>
                </a:solidFill>
                <a:latin typeface="+mn-lt"/>
              </a:defRPr>
            </a:pPr>
            <a:endParaRPr lang="es-BO"/>
          </a:p>
        </c:txPr>
        <c:crossAx val="968169829"/>
        <c:crosses val="autoZero"/>
        <c:crossBetween val="midCat"/>
      </c:valAx>
      <c:valAx>
        <c:axId val="968169829"/>
        <c:scaling>
          <c:orientation val="minMax"/>
        </c:scaling>
        <c:delete val="0"/>
        <c:axPos val="l"/>
        <c:majorGridlines>
          <c:spPr>
            <a:ln>
              <a:solidFill>
                <a:srgbClr val="B7B7B7"/>
              </a:solidFill>
            </a:ln>
          </c:spPr>
        </c:majorGridlines>
        <c:minorGridlines>
          <c:spPr>
            <a:ln>
              <a:solidFill>
                <a:srgbClr val="CCCCCC">
                  <a:alpha val="0"/>
                </a:srgbClr>
              </a:solidFill>
            </a:ln>
          </c:spPr>
        </c:minorGridlines>
        <c:title>
          <c:tx>
            <c:rich>
              <a:bodyPr/>
              <a:lstStyle/>
              <a:p>
                <a:pPr>
                  <a:defRPr/>
                </a:pPr>
                <a:r>
                  <a:rPr lang="es-BO" dirty="0"/>
                  <a:t>Resistencia</a:t>
                </a:r>
                <a:r>
                  <a:rPr lang="es-BO" baseline="0" dirty="0"/>
                  <a:t> [</a:t>
                </a:r>
                <a:r>
                  <a:rPr lang="el-GR" sz="1000" b="1" i="0" u="none" strike="noStrike" kern="1200" baseline="0" dirty="0">
                    <a:solidFill>
                      <a:srgbClr val="000000"/>
                    </a:solidFill>
                    <a:effectLst/>
                  </a:rPr>
                  <a:t>Ω</a:t>
                </a:r>
                <a:r>
                  <a:rPr lang="es-BO" baseline="0" dirty="0"/>
                  <a:t>]</a:t>
                </a:r>
                <a:endParaRPr lang="es-BO" dirty="0"/>
              </a:p>
            </c:rich>
          </c:tx>
          <c:overlay val="0"/>
        </c:title>
        <c:numFmt formatCode="General" sourceLinked="1"/>
        <c:majorTickMark val="out"/>
        <c:minorTickMark val="none"/>
        <c:tickLblPos val="nextTo"/>
        <c:spPr>
          <a:ln/>
        </c:spPr>
        <c:txPr>
          <a:bodyPr/>
          <a:lstStyle/>
          <a:p>
            <a:pPr lvl="0">
              <a:defRPr b="0">
                <a:solidFill>
                  <a:srgbClr val="000000"/>
                </a:solidFill>
                <a:latin typeface="+mn-lt"/>
              </a:defRPr>
            </a:pPr>
            <a:endParaRPr lang="es-BO"/>
          </a:p>
        </c:txPr>
        <c:crossAx val="1302641363"/>
        <c:crosses val="autoZero"/>
        <c:crossBetween val="midCat"/>
      </c:valAx>
    </c:plotArea>
    <c:plotVisOnly val="1"/>
    <c:dispBlanksAs val="zero"/>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BO"/>
        </a:p>
      </c:txPr>
    </c:title>
    <c:autoTitleDeleted val="0"/>
    <c:plotArea>
      <c:layout/>
      <c:scatterChart>
        <c:scatterStyle val="smoothMarker"/>
        <c:varyColors val="0"/>
        <c:ser>
          <c:idx val="0"/>
          <c:order val="0"/>
          <c:tx>
            <c:strRef>
              <c:f>'[altura sensor ultrasonico (1).xlsx]Hoja1'!$C$3</c:f>
              <c:strCache>
                <c:ptCount val="1"/>
                <c:pt idx="0">
                  <c:v>corriente</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trendlineLbl>
          </c:trendline>
          <c:xVal>
            <c:numRef>
              <c:f>'[altura sensor ultrasonico (1).xlsx]Hoja1'!$B$4:$B$11</c:f>
              <c:numCache>
                <c:formatCode>General</c:formatCode>
                <c:ptCount val="8"/>
                <c:pt idx="0">
                  <c:v>20</c:v>
                </c:pt>
                <c:pt idx="1">
                  <c:v>25</c:v>
                </c:pt>
                <c:pt idx="2">
                  <c:v>30</c:v>
                </c:pt>
                <c:pt idx="3">
                  <c:v>35</c:v>
                </c:pt>
                <c:pt idx="4">
                  <c:v>40</c:v>
                </c:pt>
                <c:pt idx="5">
                  <c:v>45</c:v>
                </c:pt>
                <c:pt idx="6">
                  <c:v>50</c:v>
                </c:pt>
                <c:pt idx="7">
                  <c:v>55</c:v>
                </c:pt>
              </c:numCache>
            </c:numRef>
          </c:xVal>
          <c:yVal>
            <c:numRef>
              <c:f>'[altura sensor ultrasonico (1).xlsx]Hoja1'!$C$4:$C$11</c:f>
              <c:numCache>
                <c:formatCode>General</c:formatCode>
                <c:ptCount val="8"/>
                <c:pt idx="0">
                  <c:v>19.100000000000001</c:v>
                </c:pt>
                <c:pt idx="1">
                  <c:v>17.100000000000001</c:v>
                </c:pt>
                <c:pt idx="2">
                  <c:v>15.1</c:v>
                </c:pt>
                <c:pt idx="3">
                  <c:v>13</c:v>
                </c:pt>
                <c:pt idx="4">
                  <c:v>10.9</c:v>
                </c:pt>
                <c:pt idx="5">
                  <c:v>8.8000000000000007</c:v>
                </c:pt>
                <c:pt idx="6">
                  <c:v>6.8</c:v>
                </c:pt>
                <c:pt idx="7">
                  <c:v>4.8</c:v>
                </c:pt>
              </c:numCache>
            </c:numRef>
          </c:yVal>
          <c:smooth val="1"/>
          <c:extLst>
            <c:ext xmlns:c16="http://schemas.microsoft.com/office/drawing/2014/chart" uri="{C3380CC4-5D6E-409C-BE32-E72D297353CC}">
              <c16:uniqueId val="{00000000-7B53-4D58-B789-587A3CA91148}"/>
            </c:ext>
          </c:extLst>
        </c:ser>
        <c:dLbls>
          <c:showLegendKey val="0"/>
          <c:showVal val="0"/>
          <c:showCatName val="0"/>
          <c:showSerName val="0"/>
          <c:showPercent val="0"/>
          <c:showBubbleSize val="0"/>
        </c:dLbls>
        <c:axId val="515411584"/>
        <c:axId val="515410272"/>
      </c:scatterChart>
      <c:valAx>
        <c:axId val="515411584"/>
        <c:scaling>
          <c:orientation val="minMax"/>
        </c:scaling>
        <c:delete val="0"/>
        <c:axPos val="b"/>
        <c:title>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515410272"/>
        <c:crosses val="autoZero"/>
        <c:crossBetween val="midCat"/>
      </c:valAx>
      <c:valAx>
        <c:axId val="51541027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51541158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BO"/>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199504255175785"/>
          <c:y val="4.8036999148950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BO"/>
        </a:p>
      </c:txPr>
    </c:title>
    <c:autoTitleDeleted val="0"/>
    <c:plotArea>
      <c:layout/>
      <c:scatterChart>
        <c:scatterStyle val="smooth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0"/>
            <c:dispEq val="1"/>
            <c:trendlineLbl>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trendlineLbl>
          </c:trendline>
          <c:xVal>
            <c:numRef>
              <c:f>'[altura sensor ultrasonico (1).xlsx]Hoja1'!$A$23:$A$33</c:f>
              <c:numCache>
                <c:formatCode>General</c:formatCode>
                <c:ptCount val="11"/>
                <c:pt idx="0">
                  <c:v>0</c:v>
                </c:pt>
                <c:pt idx="1">
                  <c:v>5</c:v>
                </c:pt>
                <c:pt idx="2">
                  <c:v>10</c:v>
                </c:pt>
                <c:pt idx="3">
                  <c:v>15</c:v>
                </c:pt>
                <c:pt idx="4">
                  <c:v>20</c:v>
                </c:pt>
                <c:pt idx="5">
                  <c:v>25</c:v>
                </c:pt>
                <c:pt idx="6">
                  <c:v>30</c:v>
                </c:pt>
                <c:pt idx="7">
                  <c:v>35</c:v>
                </c:pt>
                <c:pt idx="8">
                  <c:v>40</c:v>
                </c:pt>
                <c:pt idx="9">
                  <c:v>45</c:v>
                </c:pt>
              </c:numCache>
            </c:numRef>
          </c:xVal>
          <c:yVal>
            <c:numRef>
              <c:f>'[altura sensor ultrasonico (1).xlsx]Hoja1'!$B$23:$B$33</c:f>
              <c:numCache>
                <c:formatCode>General</c:formatCode>
                <c:ptCount val="11"/>
                <c:pt idx="0">
                  <c:v>3.7</c:v>
                </c:pt>
                <c:pt idx="1">
                  <c:v>5.3</c:v>
                </c:pt>
                <c:pt idx="2">
                  <c:v>7.1</c:v>
                </c:pt>
                <c:pt idx="3">
                  <c:v>9</c:v>
                </c:pt>
                <c:pt idx="4">
                  <c:v>11</c:v>
                </c:pt>
                <c:pt idx="5">
                  <c:v>12.8</c:v>
                </c:pt>
                <c:pt idx="6">
                  <c:v>14.7</c:v>
                </c:pt>
                <c:pt idx="7">
                  <c:v>16.5</c:v>
                </c:pt>
                <c:pt idx="8">
                  <c:v>18.399999999999999</c:v>
                </c:pt>
                <c:pt idx="9">
                  <c:v>19.3</c:v>
                </c:pt>
              </c:numCache>
            </c:numRef>
          </c:yVal>
          <c:smooth val="1"/>
          <c:extLst>
            <c:ext xmlns:c16="http://schemas.microsoft.com/office/drawing/2014/chart" uri="{C3380CC4-5D6E-409C-BE32-E72D297353CC}">
              <c16:uniqueId val="{00000002-0202-4F43-A368-29DE78370CD1}"/>
            </c:ext>
          </c:extLst>
        </c:ser>
        <c:dLbls>
          <c:showLegendKey val="0"/>
          <c:showVal val="0"/>
          <c:showCatName val="0"/>
          <c:showSerName val="0"/>
          <c:showPercent val="0"/>
          <c:showBubbleSize val="0"/>
        </c:dLbls>
        <c:axId val="22542223"/>
        <c:axId val="23893647"/>
      </c:scatterChart>
      <c:valAx>
        <c:axId val="2254222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23893647"/>
        <c:crosses val="autoZero"/>
        <c:crossBetween val="midCat"/>
      </c:valAx>
      <c:valAx>
        <c:axId val="238936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22542223"/>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BO"/>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dirty="0"/>
              <a:t>CAUDAL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BO"/>
        </a:p>
      </c:txPr>
    </c:title>
    <c:autoTitleDeleted val="0"/>
    <c:plotArea>
      <c:layout/>
      <c:scatterChart>
        <c:scatterStyle val="smoothMarker"/>
        <c:varyColors val="0"/>
        <c:ser>
          <c:idx val="0"/>
          <c:order val="0"/>
          <c:tx>
            <c:strRef>
              <c:f>'[altura sensor ultrasonico (3).xlsx]Hoja1'!$B$54</c:f>
              <c:strCache>
                <c:ptCount val="1"/>
                <c:pt idx="0">
                  <c:v>caudal</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trendlineLbl>
          </c:trendline>
          <c:xVal>
            <c:numRef>
              <c:f>'[altura sensor ultrasonico (3).xlsx]Hoja1'!$A$55:$A$64</c:f>
              <c:numCache>
                <c:formatCode>General</c:formatCode>
                <c:ptCount val="10"/>
                <c:pt idx="0">
                  <c:v>99.7</c:v>
                </c:pt>
                <c:pt idx="1">
                  <c:v>110.5</c:v>
                </c:pt>
                <c:pt idx="2">
                  <c:v>120.1</c:v>
                </c:pt>
                <c:pt idx="3">
                  <c:v>130</c:v>
                </c:pt>
                <c:pt idx="4">
                  <c:v>141.1</c:v>
                </c:pt>
                <c:pt idx="5">
                  <c:v>151.19999999999999</c:v>
                </c:pt>
                <c:pt idx="6">
                  <c:v>160</c:v>
                </c:pt>
                <c:pt idx="7">
                  <c:v>170.8</c:v>
                </c:pt>
                <c:pt idx="8">
                  <c:v>179.4</c:v>
                </c:pt>
                <c:pt idx="9">
                  <c:v>190.9</c:v>
                </c:pt>
              </c:numCache>
            </c:numRef>
          </c:xVal>
          <c:yVal>
            <c:numRef>
              <c:f>'[altura sensor ultrasonico (3).xlsx]Hoja1'!$B$55:$B$64</c:f>
              <c:numCache>
                <c:formatCode>General</c:formatCode>
                <c:ptCount val="10"/>
                <c:pt idx="0">
                  <c:v>0.14799999999999999</c:v>
                </c:pt>
                <c:pt idx="1">
                  <c:v>0.193</c:v>
                </c:pt>
                <c:pt idx="2">
                  <c:v>0.248</c:v>
                </c:pt>
                <c:pt idx="3">
                  <c:v>0.254</c:v>
                </c:pt>
                <c:pt idx="4">
                  <c:v>0.29199999999999998</c:v>
                </c:pt>
                <c:pt idx="5">
                  <c:v>0.32</c:v>
                </c:pt>
                <c:pt idx="6">
                  <c:v>0.34200000000000003</c:v>
                </c:pt>
                <c:pt idx="7">
                  <c:v>0.38900000000000001</c:v>
                </c:pt>
                <c:pt idx="8">
                  <c:v>0.41399999999999998</c:v>
                </c:pt>
                <c:pt idx="9">
                  <c:v>0.44700000000000001</c:v>
                </c:pt>
              </c:numCache>
            </c:numRef>
          </c:yVal>
          <c:smooth val="1"/>
          <c:extLst>
            <c:ext xmlns:c16="http://schemas.microsoft.com/office/drawing/2014/chart" uri="{C3380CC4-5D6E-409C-BE32-E72D297353CC}">
              <c16:uniqueId val="{00000000-4F08-46C4-BCEF-1941C0C719F0}"/>
            </c:ext>
          </c:extLst>
        </c:ser>
        <c:dLbls>
          <c:showLegendKey val="0"/>
          <c:showVal val="0"/>
          <c:showCatName val="0"/>
          <c:showSerName val="0"/>
          <c:showPercent val="0"/>
          <c:showBubbleSize val="0"/>
        </c:dLbls>
        <c:axId val="473528688"/>
        <c:axId val="473532296"/>
      </c:scatterChart>
      <c:valAx>
        <c:axId val="473528688"/>
        <c:scaling>
          <c:orientation val="minMax"/>
        </c:scaling>
        <c:delete val="0"/>
        <c:axPos val="b"/>
        <c:title>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473532296"/>
        <c:crosses val="autoZero"/>
        <c:crossBetween val="midCat"/>
      </c:valAx>
      <c:valAx>
        <c:axId val="47353229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47352868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B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BO"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Controlador de temperatura: </a:t>
            </a:r>
            <a:r>
              <a:rPr lang="es-BO" sz="1800">
                <a:latin typeface="Calibri"/>
                <a:ea typeface="Calibri"/>
                <a:cs typeface="Calibri"/>
                <a:sym typeface="Calibri"/>
              </a:rPr>
              <a:t>Este controlador es utilizado como un indicador de temperatura, sin aprovechar su capacidad de realizar una acción de control.</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279" name="Google Shape;27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Variador de frecuencia:</a:t>
            </a:r>
            <a:r>
              <a:rPr lang="es-BO" sz="1800">
                <a:latin typeface="Calibri"/>
                <a:ea typeface="Calibri"/>
                <a:cs typeface="Calibri"/>
                <a:sym typeface="Calibri"/>
              </a:rPr>
              <a:t> Permite regular la velocidad de giro del motor, mediante la variación de frecuencia del mismo, de manera que se pueda bombear el líquido del tanque inferior al superior.</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03" name="Google Shape;30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Electroválvulas</a:t>
            </a:r>
            <a:r>
              <a:rPr lang="es-BO" sz="1800">
                <a:latin typeface="Calibri"/>
                <a:ea typeface="Calibri"/>
                <a:cs typeface="Calibri"/>
                <a:sym typeface="Calibri"/>
              </a:rPr>
              <a:t>: Permiten el cierre o paso del líquido por la red de cañerías.</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17" name="Google Shape;31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Flujómetro (Dosificador):</a:t>
            </a:r>
            <a:r>
              <a:rPr lang="es-BO" sz="1800">
                <a:latin typeface="Calibri"/>
                <a:ea typeface="Calibri"/>
                <a:cs typeface="Calibri"/>
                <a:sym typeface="Calibri"/>
              </a:rPr>
              <a:t> Utilizado para la medición del caudal y volumen del líquido.</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32" name="Google Shape;33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Sensor de presión:</a:t>
            </a:r>
            <a:r>
              <a:rPr lang="es-BO" sz="1800">
                <a:latin typeface="Calibri"/>
                <a:ea typeface="Calibri"/>
                <a:cs typeface="Calibri"/>
                <a:sym typeface="Calibri"/>
              </a:rPr>
              <a:t> Es utilizado para la medición de presión relativa en el tanque y también se puede usar para medir la altura del líquido teniendo como referencia la posición de este sensor.</a:t>
            </a:r>
            <a:endParaRPr/>
          </a:p>
          <a:p>
            <a:pPr indent="0" lvl="0" marL="0" marR="0" rtl="0" algn="l">
              <a:lnSpc>
                <a:spcPct val="100000"/>
              </a:lnSpc>
              <a:spcBef>
                <a:spcPts val="0"/>
              </a:spcBef>
              <a:spcAft>
                <a:spcPts val="0"/>
              </a:spcAft>
              <a:buClr>
                <a:schemeClr val="dk1"/>
              </a:buClr>
              <a:buSzPts val="1800"/>
              <a:buFont typeface="Calibri"/>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45" name="Google Shape;34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Sensores de temperatura TC/RTD</a:t>
            </a:r>
            <a:r>
              <a:rPr lang="es-BO" sz="1800">
                <a:latin typeface="Calibri"/>
                <a:ea typeface="Calibri"/>
                <a:cs typeface="Calibri"/>
                <a:sym typeface="Calibri"/>
              </a:rPr>
              <a:t>: Están conectados al controlador de temperatura para dar mediciones de la temperatura del líquido.</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58" name="Google Shape;35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2060"/>
              </a:buClr>
              <a:buSzPts val="1800"/>
              <a:buFont typeface="Calibri"/>
              <a:buNone/>
            </a:pPr>
            <a:r>
              <a:rPr b="1" lang="es-BO" sz="1800">
                <a:solidFill>
                  <a:srgbClr val="002060"/>
                </a:solidFill>
                <a:latin typeface="Calibri"/>
                <a:ea typeface="Calibri"/>
                <a:cs typeface="Calibri"/>
                <a:sym typeface="Calibri"/>
              </a:rPr>
              <a:t>PLC / Modulo de expansión</a:t>
            </a:r>
            <a:r>
              <a:rPr lang="es-BO" sz="1800">
                <a:latin typeface="Calibri"/>
                <a:ea typeface="Calibri"/>
                <a:cs typeface="Calibri"/>
                <a:sym typeface="Calibri"/>
              </a:rPr>
              <a:t>: Es el controlador del sistema de nivel de líquido, el cual recibe señales de los sensores de nivel para accionar el variador de frecuencia el cual regula la velocidad del motor.</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75" name="Google Shape;37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s-BO">
                <a:solidFill>
                  <a:srgbClr val="D1D5DB"/>
                </a:solidFill>
                <a:latin typeface="Arial"/>
                <a:ea typeface="Arial"/>
                <a:cs typeface="Arial"/>
                <a:sym typeface="Arial"/>
              </a:rPr>
              <a:t>En un entorno industrial, una baliza es un dispositivo de señalización visual que se utiliza para indicar estados de seguridad, advertencias o información importante. Por lo general, las balizas industriales son luces de gran intensidad y colores llamativos, como rojo, amarillo o verde, a menudo se colocan en lugares estratégicos para asegurar una buena visibilidad. Las balizas industriales se utilizan para indicar el estado de un proceso, la presencia de una condición peligrosa o para llamar la atención del personal en situaciones específicas.</a:t>
            </a:r>
            <a:endParaRPr/>
          </a:p>
        </p:txBody>
      </p:sp>
      <p:sp>
        <p:nvSpPr>
          <p:cNvPr id="422" name="Google Shape;42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s-BO">
                <a:solidFill>
                  <a:srgbClr val="D1D5DB"/>
                </a:solidFill>
                <a:latin typeface="Arial"/>
                <a:ea typeface="Arial"/>
                <a:cs typeface="Arial"/>
                <a:sym typeface="Arial"/>
              </a:rPr>
              <a:t>Las luces piloto en un sistema industrial suelen ser pequeñas luces que se utilizan para indicar el estado de funcionamiento de un equipo o sistema. Estas luces son de tamaño reducido y generalmente se encuentran en paneles de control, tableros de instrumentos o equipos individuales. Las luces piloto pueden tener diferentes colores. Las luces piloto proporcionan una indicación rápida y visual del estado de un sistema y son utilizadas por los operadores para monitorear y controlar los equipos.</a:t>
            </a:r>
            <a:endParaRPr/>
          </a:p>
        </p:txBody>
      </p:sp>
      <p:sp>
        <p:nvSpPr>
          <p:cNvPr id="435" name="Google Shape;43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1" name="Google Shape;621;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9" name="Google Shape;669;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8" name="Google Shape;708;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3" name="Google Shape;743;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0" name="Google Shape;750;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9" name="Google Shape;759;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6" name="Google Shape;766;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2" name="Google Shape;792;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9" name="Google Shape;799;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6" name="Google Shape;806;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3" name="Google Shape;813;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8" name="Google Shape;838;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6" name="Google Shape;846;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3" name="Google Shape;853;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1" name="Google Shape;881;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8" name="Google Shape;888;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6" name="Google Shape;896;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0" name="Google Shape;920;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8" name="Google Shape;928;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6" name="Google Shape;936;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1" name="Google Shape;941;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3" name="Google Shape;953;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9" name="Google Shape;969;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1" name="Google Shape;1021;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2" name="Google Shape;1032;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1" name="Google Shape;1041;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3" name="Google Shape;1053;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sz="1200">
                <a:latin typeface="Calibri"/>
                <a:ea typeface="Calibri"/>
                <a:cs typeface="Calibri"/>
                <a:sym typeface="Calibri"/>
              </a:rPr>
              <a:t>El módulo de expansión que utiliza el controlador es el 1762-IF20F2, el cual es un módulo analógico de voltaje/corriente con combinación de 2 canales de entrada y 2 canales de salida. Los 2 canales de entrada se utilizarán para las lecturas del sensor ultrasónico y el sensor de presión</a:t>
            </a:r>
            <a:endParaRPr/>
          </a:p>
        </p:txBody>
      </p:sp>
      <p:sp>
        <p:nvSpPr>
          <p:cNvPr id="1054" name="Google Shape;1054;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2" name="Google Shape;1062;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7" name="Google Shape;1067;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6" name="Google Shape;1076;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4" name="Google Shape;1084;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3" name="Google Shape;1103;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7" name="Google Shape;1127;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7" name="Google Shape;1137;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4" name="Google Shape;1154;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3" name="Google Shape;1163;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5" name="Google Shape;1185;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3" name="Google Shape;1193;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p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8" name="Google Shape;1198;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5" name="Google Shape;1225;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8" name="Google Shape;1258;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5" name="Google Shape;1285;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p9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0" name="Google Shape;1320;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0" name="Google Shape;1350;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p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2" name="Google Shape;1392;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2" name="Google Shape;1422;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3" name="Google Shape;1453;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6" name="Shape 1456"/>
        <p:cNvGrpSpPr/>
        <p:nvPr/>
      </p:nvGrpSpPr>
      <p:grpSpPr>
        <a:xfrm>
          <a:off x="0" y="0"/>
          <a:ext cx="0" cy="0"/>
          <a:chOff x="0" y="0"/>
          <a:chExt cx="0" cy="0"/>
        </a:xfrm>
      </p:grpSpPr>
      <p:sp>
        <p:nvSpPr>
          <p:cNvPr id="1457" name="Google Shape;1457;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8" name="Google Shape;1458;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4" name="Shape 1494"/>
        <p:cNvGrpSpPr/>
        <p:nvPr/>
      </p:nvGrpSpPr>
      <p:grpSpPr>
        <a:xfrm>
          <a:off x="0" y="0"/>
          <a:ext cx="0" cy="0"/>
          <a:chOff x="0" y="0"/>
          <a:chExt cx="0" cy="0"/>
        </a:xfrm>
      </p:grpSpPr>
      <p:sp>
        <p:nvSpPr>
          <p:cNvPr id="1495" name="Google Shape;1495;p10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6" name="Google Shape;1496;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4" name="Google Shape;1534;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0" name="Shape 1570"/>
        <p:cNvGrpSpPr/>
        <p:nvPr/>
      </p:nvGrpSpPr>
      <p:grpSpPr>
        <a:xfrm>
          <a:off x="0" y="0"/>
          <a:ext cx="0" cy="0"/>
          <a:chOff x="0" y="0"/>
          <a:chExt cx="0" cy="0"/>
        </a:xfrm>
      </p:grpSpPr>
      <p:sp>
        <p:nvSpPr>
          <p:cNvPr id="1571" name="Google Shape;1571;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2" name="Google Shape;1572;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0" name="Shape 1620"/>
        <p:cNvGrpSpPr/>
        <p:nvPr/>
      </p:nvGrpSpPr>
      <p:grpSpPr>
        <a:xfrm>
          <a:off x="0" y="0"/>
          <a:ext cx="0" cy="0"/>
          <a:chOff x="0" y="0"/>
          <a:chExt cx="0" cy="0"/>
        </a:xfrm>
      </p:grpSpPr>
      <p:sp>
        <p:nvSpPr>
          <p:cNvPr id="1621" name="Google Shape;1621;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2" name="Google Shape;1622;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8" name="Shape 1658"/>
        <p:cNvGrpSpPr/>
        <p:nvPr/>
      </p:nvGrpSpPr>
      <p:grpSpPr>
        <a:xfrm>
          <a:off x="0" y="0"/>
          <a:ext cx="0" cy="0"/>
          <a:chOff x="0" y="0"/>
          <a:chExt cx="0" cy="0"/>
        </a:xfrm>
      </p:grpSpPr>
      <p:sp>
        <p:nvSpPr>
          <p:cNvPr id="1659" name="Google Shape;1659;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0" name="Google Shape;1660;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4" name="Shape 1694"/>
        <p:cNvGrpSpPr/>
        <p:nvPr/>
      </p:nvGrpSpPr>
      <p:grpSpPr>
        <a:xfrm>
          <a:off x="0" y="0"/>
          <a:ext cx="0" cy="0"/>
          <a:chOff x="0" y="0"/>
          <a:chExt cx="0" cy="0"/>
        </a:xfrm>
      </p:grpSpPr>
      <p:sp>
        <p:nvSpPr>
          <p:cNvPr id="1695" name="Google Shape;1695;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6" name="Google Shape;1696;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0" name="Shape 1700"/>
        <p:cNvGrpSpPr/>
        <p:nvPr/>
      </p:nvGrpSpPr>
      <p:grpSpPr>
        <a:xfrm>
          <a:off x="0" y="0"/>
          <a:ext cx="0" cy="0"/>
          <a:chOff x="0" y="0"/>
          <a:chExt cx="0" cy="0"/>
        </a:xfrm>
      </p:grpSpPr>
      <p:sp>
        <p:nvSpPr>
          <p:cNvPr id="1701" name="Google Shape;1701;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2" name="Google Shape;1702;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6" name="Shape 1716"/>
        <p:cNvGrpSpPr/>
        <p:nvPr/>
      </p:nvGrpSpPr>
      <p:grpSpPr>
        <a:xfrm>
          <a:off x="0" y="0"/>
          <a:ext cx="0" cy="0"/>
          <a:chOff x="0" y="0"/>
          <a:chExt cx="0" cy="0"/>
        </a:xfrm>
      </p:grpSpPr>
      <p:sp>
        <p:nvSpPr>
          <p:cNvPr id="1717" name="Google Shape;1717;p10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8" name="Google Shape;1718;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3" name="Google Shape;1733;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9" name="Shape 1739"/>
        <p:cNvGrpSpPr/>
        <p:nvPr/>
      </p:nvGrpSpPr>
      <p:grpSpPr>
        <a:xfrm>
          <a:off x="0" y="0"/>
          <a:ext cx="0" cy="0"/>
          <a:chOff x="0" y="0"/>
          <a:chExt cx="0" cy="0"/>
        </a:xfrm>
      </p:grpSpPr>
      <p:sp>
        <p:nvSpPr>
          <p:cNvPr id="1740" name="Google Shape;1740;p1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1" name="Google Shape;1741;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6" name="Shape 1756"/>
        <p:cNvGrpSpPr/>
        <p:nvPr/>
      </p:nvGrpSpPr>
      <p:grpSpPr>
        <a:xfrm>
          <a:off x="0" y="0"/>
          <a:ext cx="0" cy="0"/>
          <a:chOff x="0" y="0"/>
          <a:chExt cx="0" cy="0"/>
        </a:xfrm>
      </p:grpSpPr>
      <p:sp>
        <p:nvSpPr>
          <p:cNvPr id="1757" name="Google Shape;1757;p1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8" name="Google Shape;1758;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0" name="Shape 1770"/>
        <p:cNvGrpSpPr/>
        <p:nvPr/>
      </p:nvGrpSpPr>
      <p:grpSpPr>
        <a:xfrm>
          <a:off x="0" y="0"/>
          <a:ext cx="0" cy="0"/>
          <a:chOff x="0" y="0"/>
          <a:chExt cx="0" cy="0"/>
        </a:xfrm>
      </p:grpSpPr>
      <p:sp>
        <p:nvSpPr>
          <p:cNvPr id="1771" name="Google Shape;1771;p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2" name="Google Shape;1772;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7" name="Shape 1777"/>
        <p:cNvGrpSpPr/>
        <p:nvPr/>
      </p:nvGrpSpPr>
      <p:grpSpPr>
        <a:xfrm>
          <a:off x="0" y="0"/>
          <a:ext cx="0" cy="0"/>
          <a:chOff x="0" y="0"/>
          <a:chExt cx="0" cy="0"/>
        </a:xfrm>
      </p:grpSpPr>
      <p:sp>
        <p:nvSpPr>
          <p:cNvPr id="1778" name="Google Shape;1778;p1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9" name="Google Shape;1779;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4" name="Shape 1784"/>
        <p:cNvGrpSpPr/>
        <p:nvPr/>
      </p:nvGrpSpPr>
      <p:grpSpPr>
        <a:xfrm>
          <a:off x="0" y="0"/>
          <a:ext cx="0" cy="0"/>
          <a:chOff x="0" y="0"/>
          <a:chExt cx="0" cy="0"/>
        </a:xfrm>
      </p:grpSpPr>
      <p:sp>
        <p:nvSpPr>
          <p:cNvPr id="1785" name="Google Shape;1785;p1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6" name="Google Shape;1786;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1" name="Shape 1791"/>
        <p:cNvGrpSpPr/>
        <p:nvPr/>
      </p:nvGrpSpPr>
      <p:grpSpPr>
        <a:xfrm>
          <a:off x="0" y="0"/>
          <a:ext cx="0" cy="0"/>
          <a:chOff x="0" y="0"/>
          <a:chExt cx="0" cy="0"/>
        </a:xfrm>
      </p:grpSpPr>
      <p:sp>
        <p:nvSpPr>
          <p:cNvPr id="1792" name="Google Shape;1792;p1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3" name="Google Shape;1793;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3" name="Shape 1803"/>
        <p:cNvGrpSpPr/>
        <p:nvPr/>
      </p:nvGrpSpPr>
      <p:grpSpPr>
        <a:xfrm>
          <a:off x="0" y="0"/>
          <a:ext cx="0" cy="0"/>
          <a:chOff x="0" y="0"/>
          <a:chExt cx="0" cy="0"/>
        </a:xfrm>
      </p:grpSpPr>
      <p:sp>
        <p:nvSpPr>
          <p:cNvPr id="1804" name="Google Shape;1804;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5" name="Google Shape;1805;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8" name="Shape 1818"/>
        <p:cNvGrpSpPr/>
        <p:nvPr/>
      </p:nvGrpSpPr>
      <p:grpSpPr>
        <a:xfrm>
          <a:off x="0" y="0"/>
          <a:ext cx="0" cy="0"/>
          <a:chOff x="0" y="0"/>
          <a:chExt cx="0" cy="0"/>
        </a:xfrm>
      </p:grpSpPr>
      <p:sp>
        <p:nvSpPr>
          <p:cNvPr id="1819" name="Google Shape;1819;p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0" name="Google Shape;1820;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2" name="Shape 1832"/>
        <p:cNvGrpSpPr/>
        <p:nvPr/>
      </p:nvGrpSpPr>
      <p:grpSpPr>
        <a:xfrm>
          <a:off x="0" y="0"/>
          <a:ext cx="0" cy="0"/>
          <a:chOff x="0" y="0"/>
          <a:chExt cx="0" cy="0"/>
        </a:xfrm>
      </p:grpSpPr>
      <p:sp>
        <p:nvSpPr>
          <p:cNvPr id="1833" name="Google Shape;1833;p1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4" name="Google Shape;1834;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2" name="Shape 1842"/>
        <p:cNvGrpSpPr/>
        <p:nvPr/>
      </p:nvGrpSpPr>
      <p:grpSpPr>
        <a:xfrm>
          <a:off x="0" y="0"/>
          <a:ext cx="0" cy="0"/>
          <a:chOff x="0" y="0"/>
          <a:chExt cx="0" cy="0"/>
        </a:xfrm>
      </p:grpSpPr>
      <p:sp>
        <p:nvSpPr>
          <p:cNvPr id="1843" name="Google Shape;1843;p1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4" name="Google Shape;1844;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bg>
      <p:bgPr>
        <a:solidFill>
          <a:schemeClr val="lt2"/>
        </a:solidFill>
      </p:bgPr>
    </p:bg>
    <p:spTree>
      <p:nvGrpSpPr>
        <p:cNvPr id="17" name="Shape 17"/>
        <p:cNvGrpSpPr/>
        <p:nvPr/>
      </p:nvGrpSpPr>
      <p:grpSpPr>
        <a:xfrm>
          <a:off x="0" y="0"/>
          <a:ext cx="0" cy="0"/>
          <a:chOff x="0" y="0"/>
          <a:chExt cx="0" cy="0"/>
        </a:xfrm>
      </p:grpSpPr>
      <p:sp>
        <p:nvSpPr>
          <p:cNvPr id="18" name="Google Shape;18;p121"/>
          <p:cNvSpPr/>
          <p:nvPr/>
        </p:nvSpPr>
        <p:spPr>
          <a:xfrm>
            <a:off x="1" y="0"/>
            <a:ext cx="12192000" cy="6858000"/>
          </a:xfrm>
          <a:prstGeom prst="rect">
            <a:avLst/>
          </a:prstGeom>
          <a:blipFill rotWithShape="1">
            <a:blip r:embed="rId2">
              <a:alphaModFix amt="40000"/>
            </a:blip>
            <a:tile algn="tl" flip="xy" tx="-133350" sx="85000" ty="330200" sy="85000"/>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21"/>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21"/>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21"/>
          <p:cNvSpPr/>
          <p:nvPr/>
        </p:nvSpPr>
        <p:spPr>
          <a:xfrm>
            <a:off x="5135880" y="1267730"/>
            <a:ext cx="1920240"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 name="Google Shape;22;p121"/>
          <p:cNvGrpSpPr/>
          <p:nvPr/>
        </p:nvGrpSpPr>
        <p:grpSpPr>
          <a:xfrm>
            <a:off x="5250180" y="1267730"/>
            <a:ext cx="1691640" cy="645295"/>
            <a:chOff x="5318306" y="1386268"/>
            <a:chExt cx="1567331" cy="645295"/>
          </a:xfrm>
        </p:grpSpPr>
        <p:cxnSp>
          <p:nvCxnSpPr>
            <p:cNvPr id="23" name="Google Shape;23;p121"/>
            <p:cNvCxnSpPr/>
            <p:nvPr/>
          </p:nvCxnSpPr>
          <p:spPr>
            <a:xfrm>
              <a:off x="5318306" y="1386268"/>
              <a:ext cx="0" cy="640080"/>
            </a:xfrm>
            <a:prstGeom prst="straightConnector1">
              <a:avLst/>
            </a:prstGeom>
            <a:solidFill>
              <a:srgbClr val="262626"/>
            </a:solidFill>
            <a:ln cap="flat" cmpd="sng" w="9525">
              <a:solidFill>
                <a:srgbClr val="262626"/>
              </a:solidFill>
              <a:prstDash val="solid"/>
              <a:miter lim="800000"/>
              <a:headEnd len="sm" w="sm" type="none"/>
              <a:tailEnd len="sm" w="sm" type="none"/>
            </a:ln>
          </p:spPr>
        </p:cxnSp>
        <p:cxnSp>
          <p:nvCxnSpPr>
            <p:cNvPr id="24" name="Google Shape;24;p121"/>
            <p:cNvCxnSpPr/>
            <p:nvPr/>
          </p:nvCxnSpPr>
          <p:spPr>
            <a:xfrm>
              <a:off x="6885637" y="1386268"/>
              <a:ext cx="0" cy="640080"/>
            </a:xfrm>
            <a:prstGeom prst="straightConnector1">
              <a:avLst/>
            </a:prstGeom>
            <a:solidFill>
              <a:srgbClr val="262626"/>
            </a:solidFill>
            <a:ln cap="flat" cmpd="sng" w="9525">
              <a:solidFill>
                <a:srgbClr val="262626"/>
              </a:solidFill>
              <a:prstDash val="solid"/>
              <a:miter lim="800000"/>
              <a:headEnd len="sm" w="sm" type="none"/>
              <a:tailEnd len="sm" w="sm" type="none"/>
            </a:ln>
          </p:spPr>
        </p:cxnSp>
        <p:cxnSp>
          <p:nvCxnSpPr>
            <p:cNvPr id="25" name="Google Shape;25;p121"/>
            <p:cNvCxnSpPr/>
            <p:nvPr/>
          </p:nvCxnSpPr>
          <p:spPr>
            <a:xfrm>
              <a:off x="5318306" y="2031563"/>
              <a:ext cx="1567331" cy="0"/>
            </a:xfrm>
            <a:prstGeom prst="straightConnector1">
              <a:avLst/>
            </a:prstGeom>
            <a:solidFill>
              <a:srgbClr val="262626"/>
            </a:solidFill>
            <a:ln cap="flat" cmpd="sng" w="9525">
              <a:solidFill>
                <a:srgbClr val="262626"/>
              </a:solidFill>
              <a:prstDash val="solid"/>
              <a:miter lim="800000"/>
              <a:headEnd len="sm" w="sm" type="none"/>
              <a:tailEnd len="sm" w="sm" type="none"/>
            </a:ln>
          </p:spPr>
        </p:cxnSp>
      </p:grpSp>
      <p:sp>
        <p:nvSpPr>
          <p:cNvPr id="26" name="Google Shape;26;p121"/>
          <p:cNvSpPr txBox="1"/>
          <p:nvPr>
            <p:ph type="ctrTitle"/>
          </p:nvPr>
        </p:nvSpPr>
        <p:spPr>
          <a:xfrm>
            <a:off x="1561708" y="2091263"/>
            <a:ext cx="9068586" cy="2590800"/>
          </a:xfrm>
          <a:prstGeom prst="rect">
            <a:avLst/>
          </a:prstGeom>
          <a:noFill/>
          <a:ln>
            <a:noFill/>
          </a:ln>
        </p:spPr>
        <p:txBody>
          <a:bodyPr anchorCtr="0" anchor="ctr" bIns="45700" lIns="91425" spcFirstLastPara="1" rIns="91425" wrap="square" tIns="45700">
            <a:noAutofit/>
          </a:bodyPr>
          <a:lstStyle>
            <a:lvl1pPr lvl="0" algn="ctr">
              <a:lnSpc>
                <a:spcPct val="83000"/>
              </a:lnSpc>
              <a:spcBef>
                <a:spcPts val="0"/>
              </a:spcBef>
              <a:spcAft>
                <a:spcPts val="0"/>
              </a:spcAft>
              <a:buClr>
                <a:srgbClr val="262626"/>
              </a:buClr>
              <a:buSzPts val="7200"/>
              <a:buFont typeface="Garamond"/>
              <a:buNone/>
              <a:defRPr b="0" sz="7200" cap="none">
                <a:solidFill>
                  <a:srgbClr val="262626"/>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21"/>
          <p:cNvSpPr txBox="1"/>
          <p:nvPr>
            <p:ph idx="1" type="subTitle"/>
          </p:nvPr>
        </p:nvSpPr>
        <p:spPr>
          <a:xfrm>
            <a:off x="1562100" y="4682062"/>
            <a:ext cx="9070848" cy="457201"/>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SzPts val="1600"/>
              <a:buNone/>
              <a:defRPr sz="1600">
                <a:solidFill>
                  <a:srgbClr val="564842"/>
                </a:solidFill>
              </a:defRPr>
            </a:lvl1pPr>
            <a:lvl2pPr lvl="1" algn="ctr">
              <a:lnSpc>
                <a:spcPct val="100000"/>
              </a:lnSpc>
              <a:spcBef>
                <a:spcPts val="500"/>
              </a:spcBef>
              <a:spcAft>
                <a:spcPts val="0"/>
              </a:spcAft>
              <a:buSzPts val="1600"/>
              <a:buNone/>
              <a:defRPr sz="1600"/>
            </a:lvl2pPr>
            <a:lvl3pPr lvl="2" algn="ctr">
              <a:lnSpc>
                <a:spcPct val="100000"/>
              </a:lnSpc>
              <a:spcBef>
                <a:spcPts val="500"/>
              </a:spcBef>
              <a:spcAft>
                <a:spcPts val="0"/>
              </a:spcAft>
              <a:buSzPts val="1600"/>
              <a:buNone/>
              <a:defRPr sz="16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100000"/>
              </a:lnSpc>
              <a:spcBef>
                <a:spcPts val="5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28" name="Google Shape;28;p121"/>
          <p:cNvSpPr txBox="1"/>
          <p:nvPr>
            <p:ph idx="10" type="dt"/>
          </p:nvPr>
        </p:nvSpPr>
        <p:spPr>
          <a:xfrm>
            <a:off x="5318760" y="1341255"/>
            <a:ext cx="1554480" cy="52721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Garamond"/>
                <a:ea typeface="Garamond"/>
                <a:cs typeface="Garamond"/>
                <a:sym typeface="Garamon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21"/>
          <p:cNvSpPr txBox="1"/>
          <p:nvPr>
            <p:ph idx="11" type="ftr"/>
          </p:nvPr>
        </p:nvSpPr>
        <p:spPr>
          <a:xfrm>
            <a:off x="1453896" y="5212080"/>
            <a:ext cx="5905500"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21"/>
          <p:cNvSpPr txBox="1"/>
          <p:nvPr>
            <p:ph idx="12" type="sldNum"/>
          </p:nvPr>
        </p:nvSpPr>
        <p:spPr>
          <a:xfrm>
            <a:off x="8606919" y="5212080"/>
            <a:ext cx="2111881"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000" u="none" cap="none" strike="noStrike">
                <a:solidFill>
                  <a:srgbClr val="3F3F3F"/>
                </a:solidFill>
                <a:latin typeface="Garamond"/>
                <a:ea typeface="Garamond"/>
                <a:cs typeface="Garamond"/>
                <a:sym typeface="Garamond"/>
              </a:defRPr>
            </a:lvl1pPr>
            <a:lvl2pPr indent="0" lvl="1" marL="0" algn="r">
              <a:spcBef>
                <a:spcPts val="0"/>
              </a:spcBef>
              <a:buNone/>
              <a:defRPr b="0" i="0" sz="1000" u="none" cap="none" strike="noStrike">
                <a:solidFill>
                  <a:srgbClr val="3F3F3F"/>
                </a:solidFill>
                <a:latin typeface="Garamond"/>
                <a:ea typeface="Garamond"/>
                <a:cs typeface="Garamond"/>
                <a:sym typeface="Garamond"/>
              </a:defRPr>
            </a:lvl2pPr>
            <a:lvl3pPr indent="0" lvl="2" marL="0" algn="r">
              <a:spcBef>
                <a:spcPts val="0"/>
              </a:spcBef>
              <a:buNone/>
              <a:defRPr b="0" i="0" sz="1000" u="none" cap="none" strike="noStrike">
                <a:solidFill>
                  <a:srgbClr val="3F3F3F"/>
                </a:solidFill>
                <a:latin typeface="Garamond"/>
                <a:ea typeface="Garamond"/>
                <a:cs typeface="Garamond"/>
                <a:sym typeface="Garamond"/>
              </a:defRPr>
            </a:lvl3pPr>
            <a:lvl4pPr indent="0" lvl="3" marL="0" algn="r">
              <a:spcBef>
                <a:spcPts val="0"/>
              </a:spcBef>
              <a:buNone/>
              <a:defRPr b="0" i="0" sz="1000" u="none" cap="none" strike="noStrike">
                <a:solidFill>
                  <a:srgbClr val="3F3F3F"/>
                </a:solidFill>
                <a:latin typeface="Garamond"/>
                <a:ea typeface="Garamond"/>
                <a:cs typeface="Garamond"/>
                <a:sym typeface="Garamond"/>
              </a:defRPr>
            </a:lvl4pPr>
            <a:lvl5pPr indent="0" lvl="4" marL="0" algn="r">
              <a:spcBef>
                <a:spcPts val="0"/>
              </a:spcBef>
              <a:buNone/>
              <a:defRPr b="0" i="0" sz="1000" u="none" cap="none" strike="noStrike">
                <a:solidFill>
                  <a:srgbClr val="3F3F3F"/>
                </a:solidFill>
                <a:latin typeface="Garamond"/>
                <a:ea typeface="Garamond"/>
                <a:cs typeface="Garamond"/>
                <a:sym typeface="Garamond"/>
              </a:defRPr>
            </a:lvl5pPr>
            <a:lvl6pPr indent="0" lvl="5" marL="0" algn="r">
              <a:spcBef>
                <a:spcPts val="0"/>
              </a:spcBef>
              <a:buNone/>
              <a:defRPr b="0" i="0" sz="1000" u="none" cap="none" strike="noStrike">
                <a:solidFill>
                  <a:srgbClr val="3F3F3F"/>
                </a:solidFill>
                <a:latin typeface="Garamond"/>
                <a:ea typeface="Garamond"/>
                <a:cs typeface="Garamond"/>
                <a:sym typeface="Garamond"/>
              </a:defRPr>
            </a:lvl6pPr>
            <a:lvl7pPr indent="0" lvl="6" marL="0" algn="r">
              <a:spcBef>
                <a:spcPts val="0"/>
              </a:spcBef>
              <a:buNone/>
              <a:defRPr b="0" i="0" sz="1000" u="none" cap="none" strike="noStrike">
                <a:solidFill>
                  <a:srgbClr val="3F3F3F"/>
                </a:solidFill>
                <a:latin typeface="Garamond"/>
                <a:ea typeface="Garamond"/>
                <a:cs typeface="Garamond"/>
                <a:sym typeface="Garamond"/>
              </a:defRPr>
            </a:lvl7pPr>
            <a:lvl8pPr indent="0" lvl="7" marL="0" algn="r">
              <a:spcBef>
                <a:spcPts val="0"/>
              </a:spcBef>
              <a:buNone/>
              <a:defRPr b="0" i="0" sz="1000" u="none" cap="none" strike="noStrike">
                <a:solidFill>
                  <a:srgbClr val="3F3F3F"/>
                </a:solidFill>
                <a:latin typeface="Garamond"/>
                <a:ea typeface="Garamond"/>
                <a:cs typeface="Garamond"/>
                <a:sym typeface="Garamond"/>
              </a:defRPr>
            </a:lvl8pPr>
            <a:lvl9pPr indent="0" lvl="8" marL="0" algn="r">
              <a:spcBef>
                <a:spcPts val="0"/>
              </a:spcBef>
              <a:buNone/>
              <a:defRPr b="0" i="0" sz="1000" u="none" cap="none" strike="noStrike">
                <a:solidFill>
                  <a:srgbClr val="3F3F3F"/>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1" name="Shape 31"/>
        <p:cNvGrpSpPr/>
        <p:nvPr/>
      </p:nvGrpSpPr>
      <p:grpSpPr>
        <a:xfrm>
          <a:off x="0" y="0"/>
          <a:ext cx="0" cy="0"/>
          <a:chOff x="0" y="0"/>
          <a:chExt cx="0" cy="0"/>
        </a:xfrm>
      </p:grpSpPr>
      <p:sp>
        <p:nvSpPr>
          <p:cNvPr id="32" name="Google Shape;32;p122"/>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22"/>
          <p:cNvSpPr txBox="1"/>
          <p:nvPr>
            <p:ph idx="1" type="body"/>
          </p:nvPr>
        </p:nvSpPr>
        <p:spPr>
          <a:xfrm>
            <a:off x="1066800" y="2103120"/>
            <a:ext cx="10058400" cy="39319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34" name="Google Shape;34;p122"/>
          <p:cNvSpPr txBox="1"/>
          <p:nvPr>
            <p:ph idx="10" type="dt"/>
          </p:nvPr>
        </p:nvSpPr>
        <p:spPr>
          <a:xfrm>
            <a:off x="389464" y="6214535"/>
            <a:ext cx="2743200" cy="25603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22"/>
          <p:cNvSpPr txBox="1"/>
          <p:nvPr>
            <p:ph idx="11" type="ftr"/>
          </p:nvPr>
        </p:nvSpPr>
        <p:spPr>
          <a:xfrm>
            <a:off x="3489960" y="6214535"/>
            <a:ext cx="5212080" cy="25603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22"/>
          <p:cNvSpPr txBox="1"/>
          <p:nvPr>
            <p:ph idx="12" type="sldNum"/>
          </p:nvPr>
        </p:nvSpPr>
        <p:spPr>
          <a:xfrm>
            <a:off x="10348535" y="6214535"/>
            <a:ext cx="1463040" cy="256032"/>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bg>
      <p:bgPr>
        <a:solidFill>
          <a:schemeClr val="lt2"/>
        </a:solidFill>
      </p:bgPr>
    </p:bg>
    <p:spTree>
      <p:nvGrpSpPr>
        <p:cNvPr id="37" name="Shape 37"/>
        <p:cNvGrpSpPr/>
        <p:nvPr/>
      </p:nvGrpSpPr>
      <p:grpSpPr>
        <a:xfrm>
          <a:off x="0" y="0"/>
          <a:ext cx="0" cy="0"/>
          <a:chOff x="0" y="0"/>
          <a:chExt cx="0" cy="0"/>
        </a:xfrm>
      </p:grpSpPr>
      <p:sp>
        <p:nvSpPr>
          <p:cNvPr id="38" name="Google Shape;38;p123"/>
          <p:cNvSpPr/>
          <p:nvPr/>
        </p:nvSpPr>
        <p:spPr>
          <a:xfrm>
            <a:off x="11784" y="0"/>
            <a:ext cx="12192000" cy="6858000"/>
          </a:xfrm>
          <a:prstGeom prst="rect">
            <a:avLst/>
          </a:prstGeom>
          <a:blipFill rotWithShape="1">
            <a:blip r:embed="rId2">
              <a:alphaModFix amt="40000"/>
            </a:blip>
            <a:tile algn="tl" flip="xy" tx="-133350" sx="85000" ty="330200" sy="85000"/>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23"/>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23"/>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23"/>
          <p:cNvSpPr/>
          <p:nvPr/>
        </p:nvSpPr>
        <p:spPr>
          <a:xfrm>
            <a:off x="5135880" y="1267730"/>
            <a:ext cx="1920240" cy="73152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123"/>
          <p:cNvGrpSpPr/>
          <p:nvPr/>
        </p:nvGrpSpPr>
        <p:grpSpPr>
          <a:xfrm>
            <a:off x="5250180" y="1267730"/>
            <a:ext cx="1691640" cy="645295"/>
            <a:chOff x="5318306" y="1386268"/>
            <a:chExt cx="1567331" cy="645295"/>
          </a:xfrm>
        </p:grpSpPr>
        <p:cxnSp>
          <p:nvCxnSpPr>
            <p:cNvPr id="43" name="Google Shape;43;p123"/>
            <p:cNvCxnSpPr/>
            <p:nvPr/>
          </p:nvCxnSpPr>
          <p:spPr>
            <a:xfrm>
              <a:off x="5318306" y="1386268"/>
              <a:ext cx="0" cy="640080"/>
            </a:xfrm>
            <a:prstGeom prst="straightConnector1">
              <a:avLst/>
            </a:prstGeom>
            <a:solidFill>
              <a:srgbClr val="262626"/>
            </a:solidFill>
            <a:ln cap="flat" cmpd="sng" w="9525">
              <a:solidFill>
                <a:srgbClr val="7D3B12"/>
              </a:solidFill>
              <a:prstDash val="solid"/>
              <a:miter lim="800000"/>
              <a:headEnd len="sm" w="sm" type="none"/>
              <a:tailEnd len="sm" w="sm" type="none"/>
            </a:ln>
          </p:spPr>
        </p:cxnSp>
        <p:cxnSp>
          <p:nvCxnSpPr>
            <p:cNvPr id="44" name="Google Shape;44;p123"/>
            <p:cNvCxnSpPr/>
            <p:nvPr/>
          </p:nvCxnSpPr>
          <p:spPr>
            <a:xfrm>
              <a:off x="6885637" y="1386268"/>
              <a:ext cx="0" cy="640080"/>
            </a:xfrm>
            <a:prstGeom prst="straightConnector1">
              <a:avLst/>
            </a:prstGeom>
            <a:solidFill>
              <a:srgbClr val="262626"/>
            </a:solidFill>
            <a:ln cap="flat" cmpd="sng" w="9525">
              <a:solidFill>
                <a:srgbClr val="7D3B12"/>
              </a:solidFill>
              <a:prstDash val="solid"/>
              <a:miter lim="800000"/>
              <a:headEnd len="sm" w="sm" type="none"/>
              <a:tailEnd len="sm" w="sm" type="none"/>
            </a:ln>
          </p:spPr>
        </p:cxnSp>
        <p:cxnSp>
          <p:nvCxnSpPr>
            <p:cNvPr id="45" name="Google Shape;45;p123"/>
            <p:cNvCxnSpPr/>
            <p:nvPr/>
          </p:nvCxnSpPr>
          <p:spPr>
            <a:xfrm>
              <a:off x="5318306" y="2031563"/>
              <a:ext cx="1567331" cy="0"/>
            </a:xfrm>
            <a:prstGeom prst="straightConnector1">
              <a:avLst/>
            </a:prstGeom>
            <a:solidFill>
              <a:srgbClr val="262626"/>
            </a:solidFill>
            <a:ln cap="flat" cmpd="sng" w="9525">
              <a:solidFill>
                <a:srgbClr val="7D3B12"/>
              </a:solidFill>
              <a:prstDash val="solid"/>
              <a:miter lim="800000"/>
              <a:headEnd len="sm" w="sm" type="none"/>
              <a:tailEnd len="sm" w="sm" type="none"/>
            </a:ln>
          </p:spPr>
        </p:cxnSp>
      </p:grpSp>
      <p:sp>
        <p:nvSpPr>
          <p:cNvPr id="46" name="Google Shape;46;p123"/>
          <p:cNvSpPr txBox="1"/>
          <p:nvPr>
            <p:ph type="title"/>
          </p:nvPr>
        </p:nvSpPr>
        <p:spPr>
          <a:xfrm>
            <a:off x="1563623" y="2094309"/>
            <a:ext cx="9070848" cy="2587752"/>
          </a:xfrm>
          <a:prstGeom prst="rect">
            <a:avLst/>
          </a:prstGeom>
          <a:noFill/>
          <a:ln>
            <a:noFill/>
          </a:ln>
        </p:spPr>
        <p:txBody>
          <a:bodyPr anchorCtr="0" anchor="ctr" bIns="45700" lIns="91425" spcFirstLastPara="1" rIns="91425" wrap="square" tIns="45700">
            <a:noAutofit/>
          </a:bodyPr>
          <a:lstStyle>
            <a:lvl1pPr lvl="0" algn="ctr">
              <a:lnSpc>
                <a:spcPct val="83000"/>
              </a:lnSpc>
              <a:spcBef>
                <a:spcPts val="0"/>
              </a:spcBef>
              <a:spcAft>
                <a:spcPts val="0"/>
              </a:spcAft>
              <a:buClr>
                <a:srgbClr val="262626"/>
              </a:buClr>
              <a:buSzPts val="7200"/>
              <a:buFont typeface="Garamond"/>
              <a:buNone/>
              <a:defRPr sz="7200" cap="none">
                <a:solidFill>
                  <a:srgbClr val="262626"/>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23"/>
          <p:cNvSpPr txBox="1"/>
          <p:nvPr>
            <p:ph idx="1" type="body"/>
          </p:nvPr>
        </p:nvSpPr>
        <p:spPr>
          <a:xfrm>
            <a:off x="1563624" y="4682062"/>
            <a:ext cx="9070848" cy="4572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900"/>
              </a:spcBef>
              <a:spcAft>
                <a:spcPts val="0"/>
              </a:spcAft>
              <a:buSzPts val="1600"/>
              <a:buNone/>
              <a:defRPr sz="1600">
                <a:solidFill>
                  <a:schemeClr val="dk2"/>
                </a:solidFill>
              </a:defRPr>
            </a:lvl1pPr>
            <a:lvl2pPr indent="-228600" lvl="1" marL="914400" algn="l">
              <a:lnSpc>
                <a:spcPct val="100000"/>
              </a:lnSpc>
              <a:spcBef>
                <a:spcPts val="500"/>
              </a:spcBef>
              <a:spcAft>
                <a:spcPts val="0"/>
              </a:spcAft>
              <a:buSzPts val="1600"/>
              <a:buNone/>
              <a:defRPr sz="1600">
                <a:solidFill>
                  <a:srgbClr val="888888"/>
                </a:solidFill>
              </a:defRPr>
            </a:lvl2pPr>
            <a:lvl3pPr indent="-228600" lvl="2" marL="1371600" algn="l">
              <a:lnSpc>
                <a:spcPct val="100000"/>
              </a:lnSpc>
              <a:spcBef>
                <a:spcPts val="500"/>
              </a:spcBef>
              <a:spcAft>
                <a:spcPts val="0"/>
              </a:spcAft>
              <a:buSzPts val="1600"/>
              <a:buNone/>
              <a:defRPr sz="1600">
                <a:solidFill>
                  <a:srgbClr val="888888"/>
                </a:solidFill>
              </a:defRPr>
            </a:lvl3pPr>
            <a:lvl4pPr indent="-228600" lvl="3" marL="1828800" algn="l">
              <a:lnSpc>
                <a:spcPct val="100000"/>
              </a:lnSpc>
              <a:spcBef>
                <a:spcPts val="500"/>
              </a:spcBef>
              <a:spcAft>
                <a:spcPts val="0"/>
              </a:spcAft>
              <a:buSzPts val="1400"/>
              <a:buNone/>
              <a:defRPr sz="1400">
                <a:solidFill>
                  <a:srgbClr val="888888"/>
                </a:solidFill>
              </a:defRPr>
            </a:lvl4pPr>
            <a:lvl5pPr indent="-228600" lvl="4" marL="2286000" algn="l">
              <a:lnSpc>
                <a:spcPct val="100000"/>
              </a:lnSpc>
              <a:spcBef>
                <a:spcPts val="500"/>
              </a:spcBef>
              <a:spcAft>
                <a:spcPts val="0"/>
              </a:spcAft>
              <a:buSzPts val="1400"/>
              <a:buNone/>
              <a:defRPr sz="1400">
                <a:solidFill>
                  <a:srgbClr val="888888"/>
                </a:solidFill>
              </a:defRPr>
            </a:lvl5pPr>
            <a:lvl6pPr indent="-228600" lvl="5" marL="2743200" algn="l">
              <a:lnSpc>
                <a:spcPct val="100000"/>
              </a:lnSpc>
              <a:spcBef>
                <a:spcPts val="500"/>
              </a:spcBef>
              <a:spcAft>
                <a:spcPts val="0"/>
              </a:spcAft>
              <a:buSzPts val="1400"/>
              <a:buNone/>
              <a:defRPr sz="1400">
                <a:solidFill>
                  <a:srgbClr val="888888"/>
                </a:solidFill>
              </a:defRPr>
            </a:lvl6pPr>
            <a:lvl7pPr indent="-228600" lvl="6" marL="3200400" algn="l">
              <a:lnSpc>
                <a:spcPct val="100000"/>
              </a:lnSpc>
              <a:spcBef>
                <a:spcPts val="500"/>
              </a:spcBef>
              <a:spcAft>
                <a:spcPts val="0"/>
              </a:spcAft>
              <a:buSzPts val="1400"/>
              <a:buNone/>
              <a:defRPr sz="1400">
                <a:solidFill>
                  <a:srgbClr val="888888"/>
                </a:solidFill>
              </a:defRPr>
            </a:lvl7pPr>
            <a:lvl8pPr indent="-228600" lvl="7" marL="3657600" algn="l">
              <a:lnSpc>
                <a:spcPct val="100000"/>
              </a:lnSpc>
              <a:spcBef>
                <a:spcPts val="500"/>
              </a:spcBef>
              <a:spcAft>
                <a:spcPts val="0"/>
              </a:spcAft>
              <a:buSzPts val="1400"/>
              <a:buNone/>
              <a:defRPr sz="1400">
                <a:solidFill>
                  <a:srgbClr val="888888"/>
                </a:solidFill>
              </a:defRPr>
            </a:lvl8pPr>
            <a:lvl9pPr indent="-228600" lvl="8" marL="4114800" algn="l">
              <a:lnSpc>
                <a:spcPct val="100000"/>
              </a:lnSpc>
              <a:spcBef>
                <a:spcPts val="500"/>
              </a:spcBef>
              <a:spcAft>
                <a:spcPts val="0"/>
              </a:spcAft>
              <a:buSzPts val="1400"/>
              <a:buNone/>
              <a:defRPr sz="1400">
                <a:solidFill>
                  <a:srgbClr val="888888"/>
                </a:solidFill>
              </a:defRPr>
            </a:lvl9pPr>
          </a:lstStyle>
          <a:p/>
        </p:txBody>
      </p:sp>
      <p:sp>
        <p:nvSpPr>
          <p:cNvPr id="48" name="Google Shape;48;p123"/>
          <p:cNvSpPr txBox="1"/>
          <p:nvPr>
            <p:ph idx="10" type="dt"/>
          </p:nvPr>
        </p:nvSpPr>
        <p:spPr>
          <a:xfrm>
            <a:off x="5321808" y="1344502"/>
            <a:ext cx="1554480" cy="53035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Garamond"/>
                <a:ea typeface="Garamond"/>
                <a:cs typeface="Garamond"/>
                <a:sym typeface="Garamon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23"/>
          <p:cNvSpPr txBox="1"/>
          <p:nvPr>
            <p:ph idx="11" type="ftr"/>
          </p:nvPr>
        </p:nvSpPr>
        <p:spPr>
          <a:xfrm>
            <a:off x="1453896" y="5212080"/>
            <a:ext cx="5907024"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23"/>
          <p:cNvSpPr txBox="1"/>
          <p:nvPr>
            <p:ph idx="12" type="sldNum"/>
          </p:nvPr>
        </p:nvSpPr>
        <p:spPr>
          <a:xfrm>
            <a:off x="8604504" y="5212080"/>
            <a:ext cx="2112264"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1" name="Shape 51"/>
        <p:cNvGrpSpPr/>
        <p:nvPr/>
      </p:nvGrpSpPr>
      <p:grpSpPr>
        <a:xfrm>
          <a:off x="0" y="0"/>
          <a:ext cx="0" cy="0"/>
          <a:chOff x="0" y="0"/>
          <a:chExt cx="0" cy="0"/>
        </a:xfrm>
      </p:grpSpPr>
      <p:sp>
        <p:nvSpPr>
          <p:cNvPr id="52" name="Google Shape;52;p124"/>
          <p:cNvSpPr txBox="1"/>
          <p:nvPr>
            <p:ph idx="10" type="dt"/>
          </p:nvPr>
        </p:nvSpPr>
        <p:spPr>
          <a:xfrm>
            <a:off x="389464" y="6214535"/>
            <a:ext cx="2743200" cy="25603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24"/>
          <p:cNvSpPr txBox="1"/>
          <p:nvPr>
            <p:ph idx="11" type="ftr"/>
          </p:nvPr>
        </p:nvSpPr>
        <p:spPr>
          <a:xfrm>
            <a:off x="3489960" y="6214535"/>
            <a:ext cx="5212080" cy="25603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24"/>
          <p:cNvSpPr txBox="1"/>
          <p:nvPr>
            <p:ph idx="12" type="sldNum"/>
          </p:nvPr>
        </p:nvSpPr>
        <p:spPr>
          <a:xfrm>
            <a:off x="10348535" y="6214535"/>
            <a:ext cx="1463040" cy="256032"/>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55" name="Shape 55"/>
        <p:cNvGrpSpPr/>
        <p:nvPr/>
      </p:nvGrpSpPr>
      <p:grpSpPr>
        <a:xfrm>
          <a:off x="0" y="0"/>
          <a:ext cx="0" cy="0"/>
          <a:chOff x="0" y="0"/>
          <a:chExt cx="0" cy="0"/>
        </a:xfrm>
      </p:grpSpPr>
      <p:sp>
        <p:nvSpPr>
          <p:cNvPr id="56" name="Google Shape;56;p125"/>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25"/>
          <p:cNvSpPr txBox="1"/>
          <p:nvPr>
            <p:ph idx="1" type="body"/>
          </p:nvPr>
        </p:nvSpPr>
        <p:spPr>
          <a:xfrm>
            <a:off x="1066800" y="2103120"/>
            <a:ext cx="475488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58" name="Google Shape;58;p125"/>
          <p:cNvSpPr txBox="1"/>
          <p:nvPr>
            <p:ph idx="2" type="body"/>
          </p:nvPr>
        </p:nvSpPr>
        <p:spPr>
          <a:xfrm>
            <a:off x="6370320" y="2103120"/>
            <a:ext cx="475488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59" name="Google Shape;59;p125"/>
          <p:cNvSpPr txBox="1"/>
          <p:nvPr>
            <p:ph idx="10" type="dt"/>
          </p:nvPr>
        </p:nvSpPr>
        <p:spPr>
          <a:xfrm>
            <a:off x="389464" y="6214535"/>
            <a:ext cx="2743200" cy="25603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25"/>
          <p:cNvSpPr txBox="1"/>
          <p:nvPr>
            <p:ph idx="11" type="ftr"/>
          </p:nvPr>
        </p:nvSpPr>
        <p:spPr>
          <a:xfrm>
            <a:off x="3489960" y="6214535"/>
            <a:ext cx="5212080" cy="25603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25"/>
          <p:cNvSpPr txBox="1"/>
          <p:nvPr>
            <p:ph idx="12" type="sldNum"/>
          </p:nvPr>
        </p:nvSpPr>
        <p:spPr>
          <a:xfrm>
            <a:off x="10348535" y="6214535"/>
            <a:ext cx="1463040" cy="256032"/>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62" name="Shape 62"/>
        <p:cNvGrpSpPr/>
        <p:nvPr/>
      </p:nvGrpSpPr>
      <p:grpSpPr>
        <a:xfrm>
          <a:off x="0" y="0"/>
          <a:ext cx="0" cy="0"/>
          <a:chOff x="0" y="0"/>
          <a:chExt cx="0" cy="0"/>
        </a:xfrm>
      </p:grpSpPr>
      <p:sp>
        <p:nvSpPr>
          <p:cNvPr id="63" name="Google Shape;63;p12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26"/>
          <p:cNvSpPr txBox="1"/>
          <p:nvPr>
            <p:ph idx="1" type="body"/>
          </p:nvPr>
        </p:nvSpPr>
        <p:spPr>
          <a:xfrm>
            <a:off x="1069848" y="2074334"/>
            <a:ext cx="4754880" cy="64008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SzPts val="1800"/>
              <a:buNone/>
              <a:defRPr b="0" sz="1800">
                <a:solidFill>
                  <a:schemeClr val="dk2"/>
                </a:solidFill>
                <a:latin typeface="Garamond"/>
                <a:ea typeface="Garamond"/>
                <a:cs typeface="Garamond"/>
                <a:sym typeface="Garamond"/>
              </a:defRPr>
            </a:lvl1pPr>
            <a:lvl2pPr indent="-228600" lvl="1" marL="914400" algn="l">
              <a:lnSpc>
                <a:spcPct val="100000"/>
              </a:lnSpc>
              <a:spcBef>
                <a:spcPts val="500"/>
              </a:spcBef>
              <a:spcAft>
                <a:spcPts val="0"/>
              </a:spcAft>
              <a:buSzPts val="1800"/>
              <a:buNone/>
              <a:defRPr b="1" sz="18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65" name="Google Shape;65;p126"/>
          <p:cNvSpPr txBox="1"/>
          <p:nvPr>
            <p:ph idx="2" type="body"/>
          </p:nvPr>
        </p:nvSpPr>
        <p:spPr>
          <a:xfrm>
            <a:off x="1069848" y="2755898"/>
            <a:ext cx="4754880" cy="3200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66" name="Google Shape;66;p126"/>
          <p:cNvSpPr txBox="1"/>
          <p:nvPr>
            <p:ph idx="3" type="body"/>
          </p:nvPr>
        </p:nvSpPr>
        <p:spPr>
          <a:xfrm>
            <a:off x="6373368" y="2074334"/>
            <a:ext cx="4754880" cy="64008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SzPts val="1800"/>
              <a:buNone/>
              <a:defRPr b="0" sz="1800">
                <a:solidFill>
                  <a:schemeClr val="dk2"/>
                </a:solidFill>
              </a:defRPr>
            </a:lvl1pPr>
            <a:lvl2pPr indent="-228600" lvl="1" marL="914400" algn="l">
              <a:lnSpc>
                <a:spcPct val="100000"/>
              </a:lnSpc>
              <a:spcBef>
                <a:spcPts val="500"/>
              </a:spcBef>
              <a:spcAft>
                <a:spcPts val="0"/>
              </a:spcAft>
              <a:buSzPts val="1800"/>
              <a:buNone/>
              <a:defRPr b="1" sz="18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67" name="Google Shape;67;p126"/>
          <p:cNvSpPr txBox="1"/>
          <p:nvPr>
            <p:ph idx="4" type="body"/>
          </p:nvPr>
        </p:nvSpPr>
        <p:spPr>
          <a:xfrm>
            <a:off x="6373368" y="2756581"/>
            <a:ext cx="4754880" cy="3200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68" name="Google Shape;68;p126"/>
          <p:cNvSpPr txBox="1"/>
          <p:nvPr>
            <p:ph idx="10" type="dt"/>
          </p:nvPr>
        </p:nvSpPr>
        <p:spPr>
          <a:xfrm>
            <a:off x="389464" y="6214535"/>
            <a:ext cx="2743200" cy="25603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26"/>
          <p:cNvSpPr txBox="1"/>
          <p:nvPr>
            <p:ph idx="11" type="ftr"/>
          </p:nvPr>
        </p:nvSpPr>
        <p:spPr>
          <a:xfrm>
            <a:off x="3489960" y="6214535"/>
            <a:ext cx="5212080" cy="25603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26"/>
          <p:cNvSpPr txBox="1"/>
          <p:nvPr>
            <p:ph idx="12" type="sldNum"/>
          </p:nvPr>
        </p:nvSpPr>
        <p:spPr>
          <a:xfrm>
            <a:off x="10348535" y="6214535"/>
            <a:ext cx="1463040" cy="256032"/>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71" name="Shape 71"/>
        <p:cNvGrpSpPr/>
        <p:nvPr/>
      </p:nvGrpSpPr>
      <p:grpSpPr>
        <a:xfrm>
          <a:off x="0" y="0"/>
          <a:ext cx="0" cy="0"/>
          <a:chOff x="0" y="0"/>
          <a:chExt cx="0" cy="0"/>
        </a:xfrm>
      </p:grpSpPr>
      <p:sp>
        <p:nvSpPr>
          <p:cNvPr id="72" name="Google Shape;72;p127"/>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27"/>
          <p:cNvSpPr txBox="1"/>
          <p:nvPr>
            <p:ph idx="10" type="dt"/>
          </p:nvPr>
        </p:nvSpPr>
        <p:spPr>
          <a:xfrm>
            <a:off x="389464" y="6214535"/>
            <a:ext cx="2743200" cy="25603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27"/>
          <p:cNvSpPr txBox="1"/>
          <p:nvPr>
            <p:ph idx="11" type="ftr"/>
          </p:nvPr>
        </p:nvSpPr>
        <p:spPr>
          <a:xfrm>
            <a:off x="3489960" y="6214535"/>
            <a:ext cx="5212080" cy="25603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27"/>
          <p:cNvSpPr txBox="1"/>
          <p:nvPr>
            <p:ph idx="12" type="sldNum"/>
          </p:nvPr>
        </p:nvSpPr>
        <p:spPr>
          <a:xfrm>
            <a:off x="10348535" y="6214535"/>
            <a:ext cx="1463040" cy="256032"/>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76" name="Shape 76"/>
        <p:cNvGrpSpPr/>
        <p:nvPr/>
      </p:nvGrpSpPr>
      <p:grpSpPr>
        <a:xfrm>
          <a:off x="0" y="0"/>
          <a:ext cx="0" cy="0"/>
          <a:chOff x="0" y="0"/>
          <a:chExt cx="0" cy="0"/>
        </a:xfrm>
      </p:grpSpPr>
      <p:sp>
        <p:nvSpPr>
          <p:cNvPr id="77" name="Google Shape;77;p128"/>
          <p:cNvSpPr/>
          <p:nvPr/>
        </p:nvSpPr>
        <p:spPr>
          <a:xfrm>
            <a:off x="9020386" y="237744"/>
            <a:ext cx="2926080" cy="6382512"/>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28"/>
          <p:cNvSpPr txBox="1"/>
          <p:nvPr>
            <p:ph type="title"/>
          </p:nvPr>
        </p:nvSpPr>
        <p:spPr>
          <a:xfrm>
            <a:off x="9296400" y="607392"/>
            <a:ext cx="2430780" cy="16459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Garamond"/>
              <a:buNone/>
              <a:defRPr b="0" sz="2800" cap="none">
                <a:solidFill>
                  <a:schemeClr val="dk1"/>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28"/>
          <p:cNvSpPr txBox="1"/>
          <p:nvPr>
            <p:ph idx="1" type="body"/>
          </p:nvPr>
        </p:nvSpPr>
        <p:spPr>
          <a:xfrm>
            <a:off x="685800" y="609600"/>
            <a:ext cx="7772400" cy="5334000"/>
          </a:xfrm>
          <a:prstGeom prst="rect">
            <a:avLst/>
          </a:prstGeom>
          <a:noFill/>
          <a:ln>
            <a:noFill/>
          </a:ln>
        </p:spPr>
        <p:txBody>
          <a:bodyPr anchorCtr="0" anchor="t" bIns="45700" lIns="91425" spcFirstLastPara="1" rIns="91425" wrap="square" tIns="45700">
            <a:normAutofit/>
          </a:bodyPr>
          <a:lstStyle>
            <a:lvl1pPr indent="-349250" lvl="0" marL="457200" algn="l">
              <a:lnSpc>
                <a:spcPct val="100000"/>
              </a:lnSpc>
              <a:spcBef>
                <a:spcPts val="900"/>
              </a:spcBef>
              <a:spcAft>
                <a:spcPts val="0"/>
              </a:spcAft>
              <a:buSzPts val="1900"/>
              <a:buChar char="◦"/>
              <a:defRPr sz="19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80" name="Google Shape;80;p128"/>
          <p:cNvSpPr txBox="1"/>
          <p:nvPr>
            <p:ph idx="2" type="body"/>
          </p:nvPr>
        </p:nvSpPr>
        <p:spPr>
          <a:xfrm>
            <a:off x="9296400" y="2286000"/>
            <a:ext cx="2430780" cy="35052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400"/>
              <a:buNone/>
              <a:defRPr sz="1400">
                <a:solidFill>
                  <a:schemeClr val="dk1"/>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
        <p:nvSpPr>
          <p:cNvPr id="81" name="Google Shape;81;p128"/>
          <p:cNvSpPr txBox="1"/>
          <p:nvPr>
            <p:ph idx="10" type="dt"/>
          </p:nvPr>
        </p:nvSpPr>
        <p:spPr>
          <a:xfrm>
            <a:off x="389464" y="6214535"/>
            <a:ext cx="2743200" cy="25603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8"/>
          <p:cNvSpPr txBox="1"/>
          <p:nvPr>
            <p:ph idx="11" type="ftr"/>
          </p:nvPr>
        </p:nvSpPr>
        <p:spPr>
          <a:xfrm>
            <a:off x="3489960" y="6214535"/>
            <a:ext cx="5212080" cy="25603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8"/>
          <p:cNvSpPr txBox="1"/>
          <p:nvPr>
            <p:ph idx="12" type="sldNum"/>
          </p:nvPr>
        </p:nvSpPr>
        <p:spPr>
          <a:xfrm>
            <a:off x="10396728" y="6227064"/>
            <a:ext cx="1463040" cy="256032"/>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
        <p:nvSpPr>
          <p:cNvPr id="84" name="Google Shape;84;p128"/>
          <p:cNvSpPr/>
          <p:nvPr/>
        </p:nvSpPr>
        <p:spPr>
          <a:xfrm>
            <a:off x="9157546" y="374904"/>
            <a:ext cx="2651760"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85" name="Shape 85"/>
        <p:cNvGrpSpPr/>
        <p:nvPr/>
      </p:nvGrpSpPr>
      <p:grpSpPr>
        <a:xfrm>
          <a:off x="0" y="0"/>
          <a:ext cx="0" cy="0"/>
          <a:chOff x="0" y="0"/>
          <a:chExt cx="0" cy="0"/>
        </a:xfrm>
      </p:grpSpPr>
      <p:sp>
        <p:nvSpPr>
          <p:cNvPr id="86" name="Google Shape;86;p129"/>
          <p:cNvSpPr/>
          <p:nvPr/>
        </p:nvSpPr>
        <p:spPr>
          <a:xfrm>
            <a:off x="9020386" y="237744"/>
            <a:ext cx="2926080" cy="6382512"/>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29"/>
          <p:cNvSpPr txBox="1"/>
          <p:nvPr>
            <p:ph type="title"/>
          </p:nvPr>
        </p:nvSpPr>
        <p:spPr>
          <a:xfrm>
            <a:off x="9296400" y="603504"/>
            <a:ext cx="2432304" cy="164592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800"/>
              <a:buFont typeface="Garamond"/>
              <a:buNone/>
              <a:defRPr b="0" sz="2800">
                <a:solidFill>
                  <a:schemeClr val="dk1"/>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29"/>
          <p:cNvSpPr/>
          <p:nvPr>
            <p:ph idx="2" type="pic"/>
          </p:nvPr>
        </p:nvSpPr>
        <p:spPr>
          <a:xfrm>
            <a:off x="228599" y="237744"/>
            <a:ext cx="8531352" cy="6382512"/>
          </a:xfrm>
          <a:prstGeom prst="rect">
            <a:avLst/>
          </a:prstGeom>
          <a:solidFill>
            <a:srgbClr val="BFB9B9"/>
          </a:solidFill>
          <a:ln>
            <a:noFill/>
          </a:ln>
        </p:spPr>
      </p:sp>
      <p:sp>
        <p:nvSpPr>
          <p:cNvPr id="89" name="Google Shape;89;p129"/>
          <p:cNvSpPr txBox="1"/>
          <p:nvPr>
            <p:ph idx="1" type="body"/>
          </p:nvPr>
        </p:nvSpPr>
        <p:spPr>
          <a:xfrm>
            <a:off x="9296400" y="2286000"/>
            <a:ext cx="2432304" cy="350215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400"/>
              <a:buNone/>
              <a:defRPr sz="1400">
                <a:solidFill>
                  <a:schemeClr val="dk1"/>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
        <p:nvSpPr>
          <p:cNvPr id="90" name="Google Shape;90;p129"/>
          <p:cNvSpPr txBox="1"/>
          <p:nvPr>
            <p:ph idx="10" type="dt"/>
          </p:nvPr>
        </p:nvSpPr>
        <p:spPr>
          <a:xfrm>
            <a:off x="389464" y="6214535"/>
            <a:ext cx="2743200" cy="25603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9"/>
          <p:cNvSpPr txBox="1"/>
          <p:nvPr>
            <p:ph idx="11" type="ftr"/>
          </p:nvPr>
        </p:nvSpPr>
        <p:spPr>
          <a:xfrm>
            <a:off x="3489960" y="6214535"/>
            <a:ext cx="5212080" cy="25603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sz="1000">
                <a:solidFill>
                  <a:srgbClr val="FFFFFF"/>
                </a:solidFill>
                <a:latin typeface="Garamond"/>
                <a:ea typeface="Garamond"/>
                <a:cs typeface="Garamond"/>
                <a:sym typeface="Garamon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29"/>
          <p:cNvSpPr txBox="1"/>
          <p:nvPr>
            <p:ph idx="12" type="sldNum"/>
          </p:nvPr>
        </p:nvSpPr>
        <p:spPr>
          <a:xfrm>
            <a:off x="10396728" y="6227064"/>
            <a:ext cx="1463040" cy="256032"/>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
        <p:nvSpPr>
          <p:cNvPr id="93" name="Google Shape;93;p129"/>
          <p:cNvSpPr/>
          <p:nvPr/>
        </p:nvSpPr>
        <p:spPr>
          <a:xfrm>
            <a:off x="9157546" y="374904"/>
            <a:ext cx="2651760"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94" name="Shape 94"/>
        <p:cNvGrpSpPr/>
        <p:nvPr/>
      </p:nvGrpSpPr>
      <p:grpSpPr>
        <a:xfrm>
          <a:off x="0" y="0"/>
          <a:ext cx="0" cy="0"/>
          <a:chOff x="0" y="0"/>
          <a:chExt cx="0" cy="0"/>
        </a:xfrm>
      </p:grpSpPr>
      <p:sp>
        <p:nvSpPr>
          <p:cNvPr id="95" name="Google Shape;95;p130"/>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30"/>
          <p:cNvSpPr txBox="1"/>
          <p:nvPr>
            <p:ph idx="1" type="body"/>
          </p:nvPr>
        </p:nvSpPr>
        <p:spPr>
          <a:xfrm rot="5400000">
            <a:off x="4130040" y="-960120"/>
            <a:ext cx="3931920" cy="10058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97" name="Google Shape;97;p130"/>
          <p:cNvSpPr txBox="1"/>
          <p:nvPr>
            <p:ph idx="10" type="dt"/>
          </p:nvPr>
        </p:nvSpPr>
        <p:spPr>
          <a:xfrm>
            <a:off x="389464" y="6214535"/>
            <a:ext cx="2743200" cy="25603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30"/>
          <p:cNvSpPr txBox="1"/>
          <p:nvPr>
            <p:ph idx="11" type="ftr"/>
          </p:nvPr>
        </p:nvSpPr>
        <p:spPr>
          <a:xfrm>
            <a:off x="3489960" y="6214535"/>
            <a:ext cx="5212080" cy="25603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30"/>
          <p:cNvSpPr txBox="1"/>
          <p:nvPr>
            <p:ph idx="12" type="sldNum"/>
          </p:nvPr>
        </p:nvSpPr>
        <p:spPr>
          <a:xfrm>
            <a:off x="10348535" y="6214535"/>
            <a:ext cx="1463040" cy="256032"/>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00" name="Shape 100"/>
        <p:cNvGrpSpPr/>
        <p:nvPr/>
      </p:nvGrpSpPr>
      <p:grpSpPr>
        <a:xfrm>
          <a:off x="0" y="0"/>
          <a:ext cx="0" cy="0"/>
          <a:chOff x="0" y="0"/>
          <a:chExt cx="0" cy="0"/>
        </a:xfrm>
      </p:grpSpPr>
      <p:sp>
        <p:nvSpPr>
          <p:cNvPr id="101" name="Google Shape;101;p131"/>
          <p:cNvSpPr txBox="1"/>
          <p:nvPr>
            <p:ph type="title"/>
          </p:nvPr>
        </p:nvSpPr>
        <p:spPr>
          <a:xfrm rot="5400000">
            <a:off x="7543800" y="2209800"/>
            <a:ext cx="5257800" cy="2362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31"/>
          <p:cNvSpPr txBox="1"/>
          <p:nvPr>
            <p:ph idx="1" type="body"/>
          </p:nvPr>
        </p:nvSpPr>
        <p:spPr>
          <a:xfrm rot="5400000">
            <a:off x="2247900" y="-647700"/>
            <a:ext cx="5257800" cy="80772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03" name="Google Shape;103;p131"/>
          <p:cNvSpPr txBox="1"/>
          <p:nvPr>
            <p:ph idx="10" type="dt"/>
          </p:nvPr>
        </p:nvSpPr>
        <p:spPr>
          <a:xfrm>
            <a:off x="389464" y="6214535"/>
            <a:ext cx="2743200" cy="25603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31"/>
          <p:cNvSpPr txBox="1"/>
          <p:nvPr>
            <p:ph idx="11" type="ftr"/>
          </p:nvPr>
        </p:nvSpPr>
        <p:spPr>
          <a:xfrm>
            <a:off x="3489960" y="6214535"/>
            <a:ext cx="5212080" cy="25603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31"/>
          <p:cNvSpPr txBox="1"/>
          <p:nvPr>
            <p:ph idx="12" type="sldNum"/>
          </p:nvPr>
        </p:nvSpPr>
        <p:spPr>
          <a:xfrm>
            <a:off x="10348535" y="6214535"/>
            <a:ext cx="1463040" cy="256032"/>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0"/>
          <p:cNvSpPr/>
          <p:nvPr/>
        </p:nvSpPr>
        <p:spPr>
          <a:xfrm>
            <a:off x="234696" y="237744"/>
            <a:ext cx="11722608" cy="6382512"/>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20"/>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62626"/>
              </a:buClr>
              <a:buSzPts val="4800"/>
              <a:buFont typeface="Garamond"/>
              <a:buNone/>
              <a:defRPr b="0" i="0" sz="4800" u="none" cap="none" strike="noStrike">
                <a:solidFill>
                  <a:srgbClr val="262626"/>
                </a:solidFill>
                <a:latin typeface="Garamond"/>
                <a:ea typeface="Garamond"/>
                <a:cs typeface="Garamond"/>
                <a:sym typeface="Garamo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20"/>
          <p:cNvSpPr txBox="1"/>
          <p:nvPr>
            <p:ph idx="1" type="body"/>
          </p:nvPr>
        </p:nvSpPr>
        <p:spPr>
          <a:xfrm>
            <a:off x="1066800" y="2103120"/>
            <a:ext cx="10058400" cy="393192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900"/>
              </a:spcBef>
              <a:spcAft>
                <a:spcPts val="0"/>
              </a:spcAft>
              <a:buClr>
                <a:srgbClr val="262626"/>
              </a:buClr>
              <a:buSzPts val="1800"/>
              <a:buFont typeface="Garamond"/>
              <a:buChar char="◦"/>
              <a:defRPr b="0" i="0" sz="1800" u="none" cap="none" strike="noStrike">
                <a:solidFill>
                  <a:schemeClr val="dk1"/>
                </a:solidFill>
                <a:latin typeface="Garamond"/>
                <a:ea typeface="Garamond"/>
                <a:cs typeface="Garamond"/>
                <a:sym typeface="Garamond"/>
              </a:defRPr>
            </a:lvl1pPr>
            <a:lvl2pPr indent="-330200" lvl="1" marL="914400" marR="0" rtl="0" algn="l">
              <a:lnSpc>
                <a:spcPct val="100000"/>
              </a:lnSpc>
              <a:spcBef>
                <a:spcPts val="500"/>
              </a:spcBef>
              <a:spcAft>
                <a:spcPts val="0"/>
              </a:spcAft>
              <a:buClr>
                <a:srgbClr val="262626"/>
              </a:buClr>
              <a:buSzPts val="1600"/>
              <a:buFont typeface="Garamond"/>
              <a:buChar char="◦"/>
              <a:defRPr b="0" i="0" sz="1600" u="none" cap="none" strike="noStrike">
                <a:solidFill>
                  <a:schemeClr val="dk1"/>
                </a:solidFill>
                <a:latin typeface="Garamond"/>
                <a:ea typeface="Garamond"/>
                <a:cs typeface="Garamond"/>
                <a:sym typeface="Garamond"/>
              </a:defRPr>
            </a:lvl2pPr>
            <a:lvl3pPr indent="-317500" lvl="2" marL="1371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3pPr>
            <a:lvl4pPr indent="-317500" lvl="3" marL="1828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4pPr>
            <a:lvl5pPr indent="-317500" lvl="4" marL="22860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5pPr>
            <a:lvl6pPr indent="-317500" lvl="5" marL="27432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6pPr>
            <a:lvl7pPr indent="-317500" lvl="6" marL="32004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7pPr>
            <a:lvl8pPr indent="-317500" lvl="7" marL="3657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8pPr>
            <a:lvl9pPr indent="-317500" lvl="8" marL="4114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9pPr>
          </a:lstStyle>
          <a:p/>
        </p:txBody>
      </p:sp>
      <p:sp>
        <p:nvSpPr>
          <p:cNvPr id="13" name="Google Shape;13;p120"/>
          <p:cNvSpPr txBox="1"/>
          <p:nvPr>
            <p:ph idx="10" type="dt"/>
          </p:nvPr>
        </p:nvSpPr>
        <p:spPr>
          <a:xfrm>
            <a:off x="389464" y="6214535"/>
            <a:ext cx="2743200" cy="256032"/>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3F3F3F"/>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4" name="Google Shape;14;p120"/>
          <p:cNvSpPr txBox="1"/>
          <p:nvPr>
            <p:ph idx="11" type="ftr"/>
          </p:nvPr>
        </p:nvSpPr>
        <p:spPr>
          <a:xfrm>
            <a:off x="3489960" y="6214535"/>
            <a:ext cx="5212080" cy="256032"/>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1000" u="none" cap="none" strike="noStrike">
                <a:solidFill>
                  <a:srgbClr val="3F3F3F"/>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5" name="Google Shape;15;p120"/>
          <p:cNvSpPr txBox="1"/>
          <p:nvPr>
            <p:ph idx="12" type="sldNum"/>
          </p:nvPr>
        </p:nvSpPr>
        <p:spPr>
          <a:xfrm>
            <a:off x="10348535" y="6214535"/>
            <a:ext cx="1463040" cy="256032"/>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1000" u="none" cap="none" strike="noStrike">
                <a:solidFill>
                  <a:srgbClr val="3F3F3F"/>
                </a:solidFill>
                <a:latin typeface="Garamond"/>
                <a:ea typeface="Garamond"/>
                <a:cs typeface="Garamond"/>
                <a:sym typeface="Garamond"/>
              </a:defRPr>
            </a:lvl1pPr>
            <a:lvl2pPr indent="0" lvl="1" marL="0" marR="0" rtl="0" algn="r">
              <a:spcBef>
                <a:spcPts val="0"/>
              </a:spcBef>
              <a:buNone/>
              <a:defRPr b="0" i="0" sz="1000" u="none" cap="none" strike="noStrike">
                <a:solidFill>
                  <a:srgbClr val="3F3F3F"/>
                </a:solidFill>
                <a:latin typeface="Garamond"/>
                <a:ea typeface="Garamond"/>
                <a:cs typeface="Garamond"/>
                <a:sym typeface="Garamond"/>
              </a:defRPr>
            </a:lvl2pPr>
            <a:lvl3pPr indent="0" lvl="2" marL="0" marR="0" rtl="0" algn="r">
              <a:spcBef>
                <a:spcPts val="0"/>
              </a:spcBef>
              <a:buNone/>
              <a:defRPr b="0" i="0" sz="1000" u="none" cap="none" strike="noStrike">
                <a:solidFill>
                  <a:srgbClr val="3F3F3F"/>
                </a:solidFill>
                <a:latin typeface="Garamond"/>
                <a:ea typeface="Garamond"/>
                <a:cs typeface="Garamond"/>
                <a:sym typeface="Garamond"/>
              </a:defRPr>
            </a:lvl3pPr>
            <a:lvl4pPr indent="0" lvl="3" marL="0" marR="0" rtl="0" algn="r">
              <a:spcBef>
                <a:spcPts val="0"/>
              </a:spcBef>
              <a:buNone/>
              <a:defRPr b="0" i="0" sz="1000" u="none" cap="none" strike="noStrike">
                <a:solidFill>
                  <a:srgbClr val="3F3F3F"/>
                </a:solidFill>
                <a:latin typeface="Garamond"/>
                <a:ea typeface="Garamond"/>
                <a:cs typeface="Garamond"/>
                <a:sym typeface="Garamond"/>
              </a:defRPr>
            </a:lvl4pPr>
            <a:lvl5pPr indent="0" lvl="4" marL="0" marR="0" rtl="0" algn="r">
              <a:spcBef>
                <a:spcPts val="0"/>
              </a:spcBef>
              <a:buNone/>
              <a:defRPr b="0" i="0" sz="1000" u="none" cap="none" strike="noStrike">
                <a:solidFill>
                  <a:srgbClr val="3F3F3F"/>
                </a:solidFill>
                <a:latin typeface="Garamond"/>
                <a:ea typeface="Garamond"/>
                <a:cs typeface="Garamond"/>
                <a:sym typeface="Garamond"/>
              </a:defRPr>
            </a:lvl5pPr>
            <a:lvl6pPr indent="0" lvl="5" marL="0" marR="0" rtl="0" algn="r">
              <a:spcBef>
                <a:spcPts val="0"/>
              </a:spcBef>
              <a:buNone/>
              <a:defRPr b="0" i="0" sz="1000" u="none" cap="none" strike="noStrike">
                <a:solidFill>
                  <a:srgbClr val="3F3F3F"/>
                </a:solidFill>
                <a:latin typeface="Garamond"/>
                <a:ea typeface="Garamond"/>
                <a:cs typeface="Garamond"/>
                <a:sym typeface="Garamond"/>
              </a:defRPr>
            </a:lvl6pPr>
            <a:lvl7pPr indent="0" lvl="6" marL="0" marR="0" rtl="0" algn="r">
              <a:spcBef>
                <a:spcPts val="0"/>
              </a:spcBef>
              <a:buNone/>
              <a:defRPr b="0" i="0" sz="1000" u="none" cap="none" strike="noStrike">
                <a:solidFill>
                  <a:srgbClr val="3F3F3F"/>
                </a:solidFill>
                <a:latin typeface="Garamond"/>
                <a:ea typeface="Garamond"/>
                <a:cs typeface="Garamond"/>
                <a:sym typeface="Garamond"/>
              </a:defRPr>
            </a:lvl7pPr>
            <a:lvl8pPr indent="0" lvl="7" marL="0" marR="0" rtl="0" algn="r">
              <a:spcBef>
                <a:spcPts val="0"/>
              </a:spcBef>
              <a:buNone/>
              <a:defRPr b="0" i="0" sz="1000" u="none" cap="none" strike="noStrike">
                <a:solidFill>
                  <a:srgbClr val="3F3F3F"/>
                </a:solidFill>
                <a:latin typeface="Garamond"/>
                <a:ea typeface="Garamond"/>
                <a:cs typeface="Garamond"/>
                <a:sym typeface="Garamond"/>
              </a:defRPr>
            </a:lvl8pPr>
            <a:lvl9pPr indent="0" lvl="8" marL="0" marR="0" rtl="0" algn="r">
              <a:spcBef>
                <a:spcPts val="0"/>
              </a:spcBef>
              <a:buNone/>
              <a:defRPr b="0" i="0" sz="1000" u="none" cap="none" strike="noStrike">
                <a:solidFill>
                  <a:srgbClr val="3F3F3F"/>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BO"/>
              <a:t>‹#›</a:t>
            </a:fld>
            <a:endParaRPr/>
          </a:p>
        </p:txBody>
      </p:sp>
      <p:sp>
        <p:nvSpPr>
          <p:cNvPr id="16" name="Google Shape;16;p120"/>
          <p:cNvSpPr/>
          <p:nvPr/>
        </p:nvSpPr>
        <p:spPr>
          <a:xfrm>
            <a:off x="371856" y="374904"/>
            <a:ext cx="11448288"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4.jpg"/><Relationship Id="rId5" Type="http://schemas.openxmlformats.org/officeDocument/2006/relationships/image" Target="../media/image7.jpg"/><Relationship Id="rId6"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jp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jp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jp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jpg"/><Relationship Id="rId4" Type="http://schemas.openxmlformats.org/officeDocument/2006/relationships/image" Target="../media/image9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1.jpg"/><Relationship Id="rId4"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2.jpg"/><Relationship Id="rId4" Type="http://schemas.openxmlformats.org/officeDocument/2006/relationships/image" Target="../media/image2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4.jpg"/><Relationship Id="rId4" Type="http://schemas.openxmlformats.org/officeDocument/2006/relationships/image" Target="../media/image1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1.jpg"/><Relationship Id="rId4"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9.jpg"/><Relationship Id="rId4"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98.jpg"/><Relationship Id="rId4" Type="http://schemas.openxmlformats.org/officeDocument/2006/relationships/image" Target="../media/image1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7.jpg"/><Relationship Id="rId4" Type="http://schemas.openxmlformats.org/officeDocument/2006/relationships/image" Target="../media/image2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3.jp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39.png"/><Relationship Id="rId4" Type="http://schemas.openxmlformats.org/officeDocument/2006/relationships/image" Target="../media/image43.png"/><Relationship Id="rId5" Type="http://schemas.openxmlformats.org/officeDocument/2006/relationships/image" Target="../media/image37.gif"/><Relationship Id="rId6"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chart" Target="../charts/char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0.png"/><Relationship Id="rId4" Type="http://schemas.openxmlformats.org/officeDocument/2006/relationships/image" Target="../media/image38.png"/><Relationship Id="rId5" Type="http://schemas.openxmlformats.org/officeDocument/2006/relationships/image" Target="../media/image41.png"/><Relationship Id="rId6" Type="http://schemas.openxmlformats.org/officeDocument/2006/relationships/image" Target="../media/image7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3.png"/><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chart" Target="../charts/char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7.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5.png"/><Relationship Id="rId4" Type="http://schemas.openxmlformats.org/officeDocument/2006/relationships/image" Target="../media/image55.png"/><Relationship Id="rId5" Type="http://schemas.openxmlformats.org/officeDocument/2006/relationships/image" Target="../media/image5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9.jpg"/><Relationship Id="rId4" Type="http://schemas.openxmlformats.org/officeDocument/2006/relationships/image" Target="../media/image58.jpg"/><Relationship Id="rId5" Type="http://schemas.openxmlformats.org/officeDocument/2006/relationships/image" Target="../media/image5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6.png"/><Relationship Id="rId4" Type="http://schemas.openxmlformats.org/officeDocument/2006/relationships/image" Target="../media/image54.png"/><Relationship Id="rId5" Type="http://schemas.openxmlformats.org/officeDocument/2006/relationships/image" Target="../media/image7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59.jpg"/><Relationship Id="rId4" Type="http://schemas.openxmlformats.org/officeDocument/2006/relationships/image" Target="../media/image91.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61.png"/><Relationship Id="rId4" Type="http://schemas.openxmlformats.org/officeDocument/2006/relationships/image" Target="../media/image6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70.gi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63.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66.png"/><Relationship Id="rId4" Type="http://schemas.openxmlformats.org/officeDocument/2006/relationships/image" Target="../media/image6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chart" Target="../charts/char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2.png"/><Relationship Id="rId4" Type="http://schemas.openxmlformats.org/officeDocument/2006/relationships/image" Target="../media/image6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8.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8.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chart" Target="../charts/char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73.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75.jpg"/><Relationship Id="rId4" Type="http://schemas.openxmlformats.org/officeDocument/2006/relationships/image" Target="../media/image76.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chart" Target="../charts/char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74.png"/><Relationship Id="rId4" Type="http://schemas.openxmlformats.org/officeDocument/2006/relationships/image" Target="../media/image82.png"/><Relationship Id="rId5" Type="http://schemas.openxmlformats.org/officeDocument/2006/relationships/image" Target="../media/image78.png"/><Relationship Id="rId6" Type="http://schemas.openxmlformats.org/officeDocument/2006/relationships/image" Target="../media/image8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88.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79.png"/><Relationship Id="rId4" Type="http://schemas.openxmlformats.org/officeDocument/2006/relationships/image" Target="../media/image8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 Id="rId3" Type="http://schemas.openxmlformats.org/officeDocument/2006/relationships/chart" Target="../charts/char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 Id="rId3" Type="http://schemas.openxmlformats.org/officeDocument/2006/relationships/chart" Target="../charts/char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8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84.jpg"/><Relationship Id="rId4" Type="http://schemas.openxmlformats.org/officeDocument/2006/relationships/image" Target="../media/image155.png"/><Relationship Id="rId5" Type="http://schemas.openxmlformats.org/officeDocument/2006/relationships/image" Target="../media/image8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8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89.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94.png"/><Relationship Id="rId4" Type="http://schemas.openxmlformats.org/officeDocument/2006/relationships/image" Target="../media/image96.png"/><Relationship Id="rId5" Type="http://schemas.openxmlformats.org/officeDocument/2006/relationships/image" Target="../media/image9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99.png"/><Relationship Id="rId4" Type="http://schemas.openxmlformats.org/officeDocument/2006/relationships/image" Target="../media/image95.png"/><Relationship Id="rId5" Type="http://schemas.openxmlformats.org/officeDocument/2006/relationships/image" Target="../media/image10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90.png"/><Relationship Id="rId4" Type="http://schemas.openxmlformats.org/officeDocument/2006/relationships/image" Target="../media/image10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105.png"/><Relationship Id="rId4" Type="http://schemas.openxmlformats.org/officeDocument/2006/relationships/image" Target="../media/image101.png"/><Relationship Id="rId5" Type="http://schemas.openxmlformats.org/officeDocument/2006/relationships/image" Target="../media/image10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107.png"/><Relationship Id="rId4" Type="http://schemas.openxmlformats.org/officeDocument/2006/relationships/image" Target="../media/image10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chart" Target="../charts/chart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49.jpg"/><Relationship Id="rId4" Type="http://schemas.openxmlformats.org/officeDocument/2006/relationships/image" Target="../media/image58.jpg"/><Relationship Id="rId5" Type="http://schemas.openxmlformats.org/officeDocument/2006/relationships/image" Target="../media/image51.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49.jpg"/><Relationship Id="rId4" Type="http://schemas.openxmlformats.org/officeDocument/2006/relationships/image" Target="../media/image58.jpg"/><Relationship Id="rId5" Type="http://schemas.openxmlformats.org/officeDocument/2006/relationships/image" Target="../media/image51.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113.jpg"/><Relationship Id="rId4" Type="http://schemas.openxmlformats.org/officeDocument/2006/relationships/image" Target="../media/image112.jpg"/><Relationship Id="rId5" Type="http://schemas.openxmlformats.org/officeDocument/2006/relationships/image" Target="../media/image110.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113.jpg"/><Relationship Id="rId4" Type="http://schemas.openxmlformats.org/officeDocument/2006/relationships/image" Target="../media/image112.jpg"/><Relationship Id="rId5" Type="http://schemas.openxmlformats.org/officeDocument/2006/relationships/image" Target="../media/image110.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119.jpg"/><Relationship Id="rId4" Type="http://schemas.openxmlformats.org/officeDocument/2006/relationships/image" Target="../media/image115.jpg"/><Relationship Id="rId5" Type="http://schemas.openxmlformats.org/officeDocument/2006/relationships/image" Target="../media/image126.jpg"/><Relationship Id="rId6" Type="http://schemas.openxmlformats.org/officeDocument/2006/relationships/image" Target="../media/image117.jpg"/><Relationship Id="rId7" Type="http://schemas.openxmlformats.org/officeDocument/2006/relationships/image" Target="../media/image124.jpg"/><Relationship Id="rId8" Type="http://schemas.openxmlformats.org/officeDocument/2006/relationships/image" Target="../media/image120.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119.jpg"/><Relationship Id="rId4" Type="http://schemas.openxmlformats.org/officeDocument/2006/relationships/image" Target="../media/image115.jpg"/><Relationship Id="rId5" Type="http://schemas.openxmlformats.org/officeDocument/2006/relationships/image" Target="../media/image126.jpg"/><Relationship Id="rId6" Type="http://schemas.openxmlformats.org/officeDocument/2006/relationships/image" Target="../media/image117.jpg"/><Relationship Id="rId7" Type="http://schemas.openxmlformats.org/officeDocument/2006/relationships/image" Target="../media/image124.jpg"/><Relationship Id="rId8" Type="http://schemas.openxmlformats.org/officeDocument/2006/relationships/image" Target="../media/image120.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119.jpg"/><Relationship Id="rId4" Type="http://schemas.openxmlformats.org/officeDocument/2006/relationships/image" Target="../media/image115.jpg"/><Relationship Id="rId5" Type="http://schemas.openxmlformats.org/officeDocument/2006/relationships/image" Target="../media/image126.jpg"/><Relationship Id="rId6" Type="http://schemas.openxmlformats.org/officeDocument/2006/relationships/image" Target="../media/image117.jpg"/><Relationship Id="rId7" Type="http://schemas.openxmlformats.org/officeDocument/2006/relationships/image" Target="../media/image124.jpg"/><Relationship Id="rId8" Type="http://schemas.openxmlformats.org/officeDocument/2006/relationships/image" Target="../media/image120.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119.jpg"/><Relationship Id="rId4" Type="http://schemas.openxmlformats.org/officeDocument/2006/relationships/image" Target="../media/image115.jpg"/><Relationship Id="rId5" Type="http://schemas.openxmlformats.org/officeDocument/2006/relationships/image" Target="../media/image126.jpg"/><Relationship Id="rId6" Type="http://schemas.openxmlformats.org/officeDocument/2006/relationships/image" Target="../media/image117.jpg"/><Relationship Id="rId7" Type="http://schemas.openxmlformats.org/officeDocument/2006/relationships/image" Target="../media/image124.jpg"/><Relationship Id="rId8" Type="http://schemas.openxmlformats.org/officeDocument/2006/relationships/image" Target="../media/image120.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1" Type="http://schemas.openxmlformats.org/officeDocument/2006/relationships/image" Target="../media/image129.jpg"/><Relationship Id="rId10" Type="http://schemas.openxmlformats.org/officeDocument/2006/relationships/image" Target="../media/image132.jpg"/><Relationship Id="rId13" Type="http://schemas.openxmlformats.org/officeDocument/2006/relationships/image" Target="../media/image139.jpg"/><Relationship Id="rId12" Type="http://schemas.openxmlformats.org/officeDocument/2006/relationships/image" Target="../media/image135.jpg"/><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133.jpg"/><Relationship Id="rId4" Type="http://schemas.openxmlformats.org/officeDocument/2006/relationships/image" Target="../media/image128.jpg"/><Relationship Id="rId9" Type="http://schemas.openxmlformats.org/officeDocument/2006/relationships/image" Target="../media/image130.jpg"/><Relationship Id="rId15" Type="http://schemas.openxmlformats.org/officeDocument/2006/relationships/image" Target="../media/image131.jpg"/><Relationship Id="rId14" Type="http://schemas.openxmlformats.org/officeDocument/2006/relationships/image" Target="../media/image136.jpg"/><Relationship Id="rId16" Type="http://schemas.openxmlformats.org/officeDocument/2006/relationships/image" Target="../media/image142.png"/><Relationship Id="rId5" Type="http://schemas.openxmlformats.org/officeDocument/2006/relationships/image" Target="../media/image143.jpg"/><Relationship Id="rId6" Type="http://schemas.openxmlformats.org/officeDocument/2006/relationships/image" Target="../media/image141.jpg"/><Relationship Id="rId7" Type="http://schemas.openxmlformats.org/officeDocument/2006/relationships/image" Target="../media/image138.jpg"/><Relationship Id="rId8" Type="http://schemas.openxmlformats.org/officeDocument/2006/relationships/image" Target="../media/image144.jpg"/></Relationships>
</file>

<file path=ppt/slides/_rels/slide101.xml.rels><?xml version="1.0" encoding="UTF-8" standalone="yes"?><Relationships xmlns="http://schemas.openxmlformats.org/package/2006/relationships"><Relationship Id="rId11" Type="http://schemas.openxmlformats.org/officeDocument/2006/relationships/image" Target="../media/image129.jpg"/><Relationship Id="rId10" Type="http://schemas.openxmlformats.org/officeDocument/2006/relationships/image" Target="../media/image132.jpg"/><Relationship Id="rId13" Type="http://schemas.openxmlformats.org/officeDocument/2006/relationships/image" Target="../media/image139.jpg"/><Relationship Id="rId12" Type="http://schemas.openxmlformats.org/officeDocument/2006/relationships/image" Target="../media/image135.jpg"/><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133.jpg"/><Relationship Id="rId4" Type="http://schemas.openxmlformats.org/officeDocument/2006/relationships/image" Target="../media/image128.jpg"/><Relationship Id="rId9" Type="http://schemas.openxmlformats.org/officeDocument/2006/relationships/image" Target="../media/image130.jpg"/><Relationship Id="rId15" Type="http://schemas.openxmlformats.org/officeDocument/2006/relationships/image" Target="../media/image131.jpg"/><Relationship Id="rId14" Type="http://schemas.openxmlformats.org/officeDocument/2006/relationships/image" Target="../media/image136.jpg"/><Relationship Id="rId16" Type="http://schemas.openxmlformats.org/officeDocument/2006/relationships/image" Target="../media/image142.png"/><Relationship Id="rId5" Type="http://schemas.openxmlformats.org/officeDocument/2006/relationships/image" Target="../media/image143.jpg"/><Relationship Id="rId6" Type="http://schemas.openxmlformats.org/officeDocument/2006/relationships/image" Target="../media/image141.jpg"/><Relationship Id="rId7" Type="http://schemas.openxmlformats.org/officeDocument/2006/relationships/image" Target="../media/image138.jpg"/><Relationship Id="rId8" Type="http://schemas.openxmlformats.org/officeDocument/2006/relationships/image" Target="../media/image144.jpg"/></Relationships>
</file>

<file path=ppt/slides/_rels/slide102.xml.rels><?xml version="1.0" encoding="UTF-8" standalone="yes"?><Relationships xmlns="http://schemas.openxmlformats.org/package/2006/relationships"><Relationship Id="rId11" Type="http://schemas.openxmlformats.org/officeDocument/2006/relationships/image" Target="../media/image129.jpg"/><Relationship Id="rId10" Type="http://schemas.openxmlformats.org/officeDocument/2006/relationships/image" Target="../media/image132.jpg"/><Relationship Id="rId13" Type="http://schemas.openxmlformats.org/officeDocument/2006/relationships/image" Target="../media/image139.jpg"/><Relationship Id="rId12" Type="http://schemas.openxmlformats.org/officeDocument/2006/relationships/image" Target="../media/image135.jpg"/><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133.jpg"/><Relationship Id="rId4" Type="http://schemas.openxmlformats.org/officeDocument/2006/relationships/image" Target="../media/image128.jpg"/><Relationship Id="rId9" Type="http://schemas.openxmlformats.org/officeDocument/2006/relationships/image" Target="../media/image130.jpg"/><Relationship Id="rId15" Type="http://schemas.openxmlformats.org/officeDocument/2006/relationships/image" Target="../media/image131.jpg"/><Relationship Id="rId14" Type="http://schemas.openxmlformats.org/officeDocument/2006/relationships/image" Target="../media/image136.jpg"/><Relationship Id="rId16" Type="http://schemas.openxmlformats.org/officeDocument/2006/relationships/image" Target="../media/image142.png"/><Relationship Id="rId5" Type="http://schemas.openxmlformats.org/officeDocument/2006/relationships/image" Target="../media/image143.jpg"/><Relationship Id="rId6" Type="http://schemas.openxmlformats.org/officeDocument/2006/relationships/image" Target="../media/image141.jpg"/><Relationship Id="rId7" Type="http://schemas.openxmlformats.org/officeDocument/2006/relationships/image" Target="../media/image138.jpg"/><Relationship Id="rId8" Type="http://schemas.openxmlformats.org/officeDocument/2006/relationships/image" Target="../media/image144.jpg"/></Relationships>
</file>

<file path=ppt/slides/_rels/slide103.xml.rels><?xml version="1.0" encoding="UTF-8" standalone="yes"?><Relationships xmlns="http://schemas.openxmlformats.org/package/2006/relationships"><Relationship Id="rId11" Type="http://schemas.openxmlformats.org/officeDocument/2006/relationships/image" Target="../media/image132.jpg"/><Relationship Id="rId10" Type="http://schemas.openxmlformats.org/officeDocument/2006/relationships/image" Target="../media/image130.jpg"/><Relationship Id="rId13" Type="http://schemas.openxmlformats.org/officeDocument/2006/relationships/image" Target="../media/image135.jpg"/><Relationship Id="rId12" Type="http://schemas.openxmlformats.org/officeDocument/2006/relationships/image" Target="../media/image129.jpg"/><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133.jpg"/><Relationship Id="rId4" Type="http://schemas.openxmlformats.org/officeDocument/2006/relationships/image" Target="../media/image163.jpg"/><Relationship Id="rId9" Type="http://schemas.openxmlformats.org/officeDocument/2006/relationships/image" Target="../media/image144.jpg"/><Relationship Id="rId15" Type="http://schemas.openxmlformats.org/officeDocument/2006/relationships/image" Target="../media/image136.jpg"/><Relationship Id="rId14" Type="http://schemas.openxmlformats.org/officeDocument/2006/relationships/image" Target="../media/image139.jpg"/><Relationship Id="rId17" Type="http://schemas.openxmlformats.org/officeDocument/2006/relationships/image" Target="../media/image156.jpg"/><Relationship Id="rId16" Type="http://schemas.openxmlformats.org/officeDocument/2006/relationships/image" Target="../media/image131.jpg"/><Relationship Id="rId5" Type="http://schemas.openxmlformats.org/officeDocument/2006/relationships/image" Target="../media/image128.jpg"/><Relationship Id="rId6" Type="http://schemas.openxmlformats.org/officeDocument/2006/relationships/image" Target="../media/image143.jpg"/><Relationship Id="rId7" Type="http://schemas.openxmlformats.org/officeDocument/2006/relationships/image" Target="../media/image141.jpg"/><Relationship Id="rId8" Type="http://schemas.openxmlformats.org/officeDocument/2006/relationships/image" Target="../media/image138.jpg"/></Relationships>
</file>

<file path=ppt/slides/_rels/slide104.xml.rels><?xml version="1.0" encoding="UTF-8" standalone="yes"?><Relationships xmlns="http://schemas.openxmlformats.org/package/2006/relationships"><Relationship Id="rId11" Type="http://schemas.openxmlformats.org/officeDocument/2006/relationships/image" Target="../media/image129.jpg"/><Relationship Id="rId10" Type="http://schemas.openxmlformats.org/officeDocument/2006/relationships/image" Target="../media/image132.jpg"/><Relationship Id="rId13" Type="http://schemas.openxmlformats.org/officeDocument/2006/relationships/image" Target="../media/image139.jpg"/><Relationship Id="rId12" Type="http://schemas.openxmlformats.org/officeDocument/2006/relationships/image" Target="../media/image135.jpg"/><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133.jpg"/><Relationship Id="rId4" Type="http://schemas.openxmlformats.org/officeDocument/2006/relationships/image" Target="../media/image128.jpg"/><Relationship Id="rId9" Type="http://schemas.openxmlformats.org/officeDocument/2006/relationships/image" Target="../media/image130.jpg"/><Relationship Id="rId15" Type="http://schemas.openxmlformats.org/officeDocument/2006/relationships/image" Target="../media/image131.jpg"/><Relationship Id="rId14" Type="http://schemas.openxmlformats.org/officeDocument/2006/relationships/image" Target="../media/image136.jpg"/><Relationship Id="rId16" Type="http://schemas.openxmlformats.org/officeDocument/2006/relationships/image" Target="../media/image142.png"/><Relationship Id="rId5" Type="http://schemas.openxmlformats.org/officeDocument/2006/relationships/image" Target="../media/image143.jpg"/><Relationship Id="rId6" Type="http://schemas.openxmlformats.org/officeDocument/2006/relationships/image" Target="../media/image141.jpg"/><Relationship Id="rId7" Type="http://schemas.openxmlformats.org/officeDocument/2006/relationships/image" Target="../media/image138.jpg"/><Relationship Id="rId8" Type="http://schemas.openxmlformats.org/officeDocument/2006/relationships/image" Target="../media/image144.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133.jpg"/><Relationship Id="rId4" Type="http://schemas.openxmlformats.org/officeDocument/2006/relationships/image" Target="../media/image128.jpg"/><Relationship Id="rId5" Type="http://schemas.openxmlformats.org/officeDocument/2006/relationships/image" Target="../media/image143.jpg"/><Relationship Id="rId6" Type="http://schemas.openxmlformats.org/officeDocument/2006/relationships/image" Target="../media/image141.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162.jpg"/><Relationship Id="rId4" Type="http://schemas.openxmlformats.org/officeDocument/2006/relationships/image" Target="../media/image158.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161.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16.png"/><Relationship Id="rId4" Type="http://schemas.openxmlformats.org/officeDocument/2006/relationships/image" Target="../media/image160.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 Id="rId3" Type="http://schemas.openxmlformats.org/officeDocument/2006/relationships/image" Target="../media/image159.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165.png"/><Relationship Id="rId4" Type="http://schemas.openxmlformats.org/officeDocument/2006/relationships/image" Target="../media/image15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166.jpg"/><Relationship Id="rId4" Type="http://schemas.openxmlformats.org/officeDocument/2006/relationships/image" Target="../media/image16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169.png"/><Relationship Id="rId4" Type="http://schemas.openxmlformats.org/officeDocument/2006/relationships/image" Target="../media/image164.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
          <p:cNvSpPr txBox="1"/>
          <p:nvPr>
            <p:ph type="ctrTitle"/>
          </p:nvPr>
        </p:nvSpPr>
        <p:spPr>
          <a:xfrm>
            <a:off x="1561708" y="2091263"/>
            <a:ext cx="9068586" cy="2590800"/>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rgbClr val="262626"/>
              </a:buClr>
              <a:buSzPts val="7200"/>
              <a:buFont typeface="Garamond"/>
              <a:buNone/>
            </a:pPr>
            <a:r>
              <a:rPr lang="es-BO"/>
              <a:t>SISTEMA DE NIVEL DE LIQUIDO</a:t>
            </a:r>
            <a:endParaRPr/>
          </a:p>
        </p:txBody>
      </p:sp>
      <p:sp>
        <p:nvSpPr>
          <p:cNvPr id="111" name="Google Shape;111;p1"/>
          <p:cNvSpPr txBox="1"/>
          <p:nvPr>
            <p:ph idx="1" type="subTitle"/>
          </p:nvPr>
        </p:nvSpPr>
        <p:spPr>
          <a:xfrm>
            <a:off x="1562100" y="4682062"/>
            <a:ext cx="9070848" cy="457201"/>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1600"/>
              <a:buNone/>
            </a:pPr>
            <a:r>
              <a:rPr lang="es-BO"/>
              <a:t>ETN-1034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
          <p:cNvSpPr txBox="1"/>
          <p:nvPr>
            <p:ph type="title"/>
          </p:nvPr>
        </p:nvSpPr>
        <p:spPr>
          <a:xfrm>
            <a:off x="1066800" y="627604"/>
            <a:ext cx="10058400" cy="46667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62626"/>
              </a:buClr>
              <a:buSzPct val="100000"/>
              <a:buFont typeface="Garamond"/>
              <a:buNone/>
            </a:pPr>
            <a:r>
              <a:rPr b="1" lang="es-BO" sz="3600"/>
              <a:t>INDICE</a:t>
            </a:r>
            <a:endParaRPr/>
          </a:p>
        </p:txBody>
      </p:sp>
      <p:sp>
        <p:nvSpPr>
          <p:cNvPr id="117" name="Google Shape;117;p2"/>
          <p:cNvSpPr txBox="1"/>
          <p:nvPr>
            <p:ph idx="1" type="body"/>
          </p:nvPr>
        </p:nvSpPr>
        <p:spPr>
          <a:xfrm>
            <a:off x="1364104" y="1109273"/>
            <a:ext cx="7390151" cy="5351488"/>
          </a:xfrm>
          <a:prstGeom prst="rect">
            <a:avLst/>
          </a:prstGeom>
          <a:noFill/>
          <a:ln>
            <a:noFill/>
          </a:ln>
        </p:spPr>
        <p:txBody>
          <a:bodyPr anchorCtr="0" anchor="t" bIns="45700" lIns="91425" spcFirstLastPara="1" rIns="91425" wrap="square" tIns="45700">
            <a:normAutofit fontScale="92500" lnSpcReduction="20000"/>
          </a:bodyPr>
          <a:lstStyle/>
          <a:p>
            <a:pPr indent="-182880" lvl="0" marL="182880" rtl="0" algn="l">
              <a:lnSpc>
                <a:spcPct val="100000"/>
              </a:lnSpc>
              <a:spcBef>
                <a:spcPts val="0"/>
              </a:spcBef>
              <a:spcAft>
                <a:spcPts val="0"/>
              </a:spcAft>
              <a:buSzPct val="100000"/>
              <a:buFont typeface="Noto Sans Symbols"/>
              <a:buChar char="⮚"/>
            </a:pPr>
            <a:r>
              <a:rPr lang="es-BO" sz="1400"/>
              <a:t>Descripción del proceso</a:t>
            </a:r>
            <a:endParaRPr/>
          </a:p>
          <a:p>
            <a:pPr indent="-182880" lvl="0" marL="182880" rtl="0" algn="l">
              <a:lnSpc>
                <a:spcPct val="100000"/>
              </a:lnSpc>
              <a:spcBef>
                <a:spcPts val="900"/>
              </a:spcBef>
              <a:spcAft>
                <a:spcPts val="0"/>
              </a:spcAft>
              <a:buSzPct val="100000"/>
              <a:buFont typeface="Noto Sans Symbols"/>
              <a:buChar char="⮚"/>
            </a:pPr>
            <a:r>
              <a:rPr lang="es-BO" sz="1400"/>
              <a:t>Dispositivos de protección</a:t>
            </a:r>
            <a:endParaRPr/>
          </a:p>
          <a:p>
            <a:pPr indent="-182880" lvl="0" marL="182880" rtl="0" algn="l">
              <a:lnSpc>
                <a:spcPct val="100000"/>
              </a:lnSpc>
              <a:spcBef>
                <a:spcPts val="900"/>
              </a:spcBef>
              <a:spcAft>
                <a:spcPts val="0"/>
              </a:spcAft>
              <a:buSzPct val="100000"/>
              <a:buFont typeface="Noto Sans Symbols"/>
              <a:buChar char="⮚"/>
            </a:pPr>
            <a:r>
              <a:rPr lang="es-BO" sz="1400"/>
              <a:t>Medidas AWG</a:t>
            </a:r>
            <a:endParaRPr/>
          </a:p>
          <a:p>
            <a:pPr indent="-182880" lvl="0" marL="182880" rtl="0" algn="l">
              <a:lnSpc>
                <a:spcPct val="100000"/>
              </a:lnSpc>
              <a:spcBef>
                <a:spcPts val="900"/>
              </a:spcBef>
              <a:spcAft>
                <a:spcPts val="0"/>
              </a:spcAft>
              <a:buSzPct val="100000"/>
              <a:buFont typeface="Noto Sans Symbols"/>
              <a:buChar char="⮚"/>
            </a:pPr>
            <a:r>
              <a:rPr lang="es-BO" sz="1400"/>
              <a:t>Diagramas P&amp;ID</a:t>
            </a:r>
            <a:endParaRPr/>
          </a:p>
          <a:p>
            <a:pPr indent="-182880" lvl="0" marL="182880" rtl="0" algn="l">
              <a:lnSpc>
                <a:spcPct val="100000"/>
              </a:lnSpc>
              <a:spcBef>
                <a:spcPts val="900"/>
              </a:spcBef>
              <a:spcAft>
                <a:spcPts val="0"/>
              </a:spcAft>
              <a:buSzPct val="100000"/>
              <a:buFont typeface="Noto Sans Symbols"/>
              <a:buChar char="⮚"/>
            </a:pPr>
            <a:r>
              <a:rPr lang="es-BO" sz="1400"/>
              <a:t>Esquema eléctrico</a:t>
            </a:r>
            <a:endParaRPr/>
          </a:p>
          <a:p>
            <a:pPr indent="-182880" lvl="0" marL="182880" rtl="0" algn="l">
              <a:lnSpc>
                <a:spcPct val="100000"/>
              </a:lnSpc>
              <a:spcBef>
                <a:spcPts val="900"/>
              </a:spcBef>
              <a:spcAft>
                <a:spcPts val="0"/>
              </a:spcAft>
              <a:buSzPct val="100000"/>
              <a:buFont typeface="Noto Sans Symbols"/>
              <a:buChar char="⮚"/>
            </a:pPr>
            <a:r>
              <a:rPr lang="es-BO" sz="1400"/>
              <a:t>Elementos del sistema</a:t>
            </a:r>
            <a:endParaRPr/>
          </a:p>
          <a:p>
            <a:pPr indent="-182880" lvl="0" marL="182880" rtl="0" algn="l">
              <a:lnSpc>
                <a:spcPct val="100000"/>
              </a:lnSpc>
              <a:spcBef>
                <a:spcPts val="900"/>
              </a:spcBef>
              <a:spcAft>
                <a:spcPts val="0"/>
              </a:spcAft>
              <a:buSzPct val="100000"/>
              <a:buFont typeface="Noto Sans Symbols"/>
              <a:buChar char="⮚"/>
            </a:pPr>
            <a:r>
              <a:rPr lang="es-BO" sz="1400"/>
              <a:t>Maqueta</a:t>
            </a:r>
            <a:endParaRPr/>
          </a:p>
          <a:p>
            <a:pPr indent="-182880" lvl="0" marL="182880" rtl="0" algn="l">
              <a:lnSpc>
                <a:spcPct val="100000"/>
              </a:lnSpc>
              <a:spcBef>
                <a:spcPts val="900"/>
              </a:spcBef>
              <a:spcAft>
                <a:spcPts val="0"/>
              </a:spcAft>
              <a:buSzPct val="100000"/>
              <a:buFont typeface="Noto Sans Symbols"/>
              <a:buChar char="⮚"/>
            </a:pPr>
            <a:r>
              <a:rPr lang="es-BO" sz="1400"/>
              <a:t>Reconocimiento y ubicación de los componentes del sistema de control</a:t>
            </a:r>
            <a:endParaRPr/>
          </a:p>
          <a:p>
            <a:pPr indent="-182880" lvl="0" marL="182880" rtl="0" algn="l">
              <a:lnSpc>
                <a:spcPct val="100000"/>
              </a:lnSpc>
              <a:spcBef>
                <a:spcPts val="900"/>
              </a:spcBef>
              <a:spcAft>
                <a:spcPts val="0"/>
              </a:spcAft>
              <a:buSzPct val="100000"/>
              <a:buFont typeface="Noto Sans Symbols"/>
              <a:buChar char="⮚"/>
            </a:pPr>
            <a:r>
              <a:rPr lang="es-BO" sz="1400"/>
              <a:t>Señalización</a:t>
            </a:r>
            <a:endParaRPr/>
          </a:p>
          <a:p>
            <a:pPr indent="-182880" lvl="0" marL="182880" rtl="0" algn="l">
              <a:lnSpc>
                <a:spcPct val="100000"/>
              </a:lnSpc>
              <a:spcBef>
                <a:spcPts val="900"/>
              </a:spcBef>
              <a:spcAft>
                <a:spcPts val="0"/>
              </a:spcAft>
              <a:buSzPct val="100000"/>
              <a:buFont typeface="Noto Sans Symbols"/>
              <a:buChar char="⮚"/>
            </a:pPr>
            <a:r>
              <a:rPr lang="es-BO" sz="1400"/>
              <a:t>Caracterización de los componentes</a:t>
            </a:r>
            <a:endParaRPr/>
          </a:p>
          <a:p>
            <a:pPr indent="-182880" lvl="0" marL="182880" rtl="0" algn="l">
              <a:lnSpc>
                <a:spcPct val="100000"/>
              </a:lnSpc>
              <a:spcBef>
                <a:spcPts val="900"/>
              </a:spcBef>
              <a:spcAft>
                <a:spcPts val="0"/>
              </a:spcAft>
              <a:buSzPct val="100000"/>
              <a:buFont typeface="Noto Sans Symbols"/>
              <a:buChar char="⮚"/>
            </a:pPr>
            <a:r>
              <a:rPr lang="es-BO" sz="1400"/>
              <a:t>Principio de funcionamiento</a:t>
            </a:r>
            <a:endParaRPr/>
          </a:p>
          <a:p>
            <a:pPr indent="-182880" lvl="0" marL="182880" rtl="0" algn="l">
              <a:lnSpc>
                <a:spcPct val="100000"/>
              </a:lnSpc>
              <a:spcBef>
                <a:spcPts val="900"/>
              </a:spcBef>
              <a:spcAft>
                <a:spcPts val="0"/>
              </a:spcAft>
              <a:buSzPct val="100000"/>
              <a:buFont typeface="Noto Sans Symbols"/>
              <a:buChar char="⮚"/>
            </a:pPr>
            <a:r>
              <a:rPr lang="es-BO" sz="1400"/>
              <a:t>Esquema</a:t>
            </a:r>
            <a:endParaRPr/>
          </a:p>
          <a:p>
            <a:pPr indent="-182880" lvl="0" marL="182880" rtl="0" algn="l">
              <a:lnSpc>
                <a:spcPct val="100000"/>
              </a:lnSpc>
              <a:spcBef>
                <a:spcPts val="900"/>
              </a:spcBef>
              <a:spcAft>
                <a:spcPts val="0"/>
              </a:spcAft>
              <a:buSzPct val="100000"/>
              <a:buFont typeface="Noto Sans Symbols"/>
              <a:buChar char="⮚"/>
            </a:pPr>
            <a:r>
              <a:rPr lang="es-BO" sz="1400"/>
              <a:t>Características</a:t>
            </a:r>
            <a:endParaRPr/>
          </a:p>
          <a:p>
            <a:pPr indent="-182880" lvl="0" marL="182880" rtl="0" algn="l">
              <a:lnSpc>
                <a:spcPct val="100000"/>
              </a:lnSpc>
              <a:spcBef>
                <a:spcPts val="900"/>
              </a:spcBef>
              <a:spcAft>
                <a:spcPts val="0"/>
              </a:spcAft>
              <a:buSzPct val="100000"/>
              <a:buFont typeface="Noto Sans Symbols"/>
              <a:buChar char="⮚"/>
            </a:pPr>
            <a:r>
              <a:rPr lang="es-BO" sz="1400"/>
              <a:t>Curva de datos</a:t>
            </a:r>
            <a:endParaRPr/>
          </a:p>
          <a:p>
            <a:pPr indent="-182880" lvl="0" marL="182880" rtl="0" algn="l">
              <a:lnSpc>
                <a:spcPct val="100000"/>
              </a:lnSpc>
              <a:spcBef>
                <a:spcPts val="900"/>
              </a:spcBef>
              <a:spcAft>
                <a:spcPts val="0"/>
              </a:spcAft>
              <a:buSzPct val="100000"/>
              <a:buFont typeface="Noto Sans Symbols"/>
              <a:buChar char="⮚"/>
            </a:pPr>
            <a:r>
              <a:rPr lang="es-BO" sz="1400"/>
              <a:t>Autómata</a:t>
            </a:r>
            <a:endParaRPr/>
          </a:p>
          <a:p>
            <a:pPr indent="-182880" lvl="0" marL="182880" rtl="0" algn="l">
              <a:lnSpc>
                <a:spcPct val="100000"/>
              </a:lnSpc>
              <a:spcBef>
                <a:spcPts val="900"/>
              </a:spcBef>
              <a:spcAft>
                <a:spcPts val="0"/>
              </a:spcAft>
              <a:buSzPct val="100000"/>
              <a:buFont typeface="Noto Sans Symbols"/>
              <a:buChar char="⮚"/>
            </a:pPr>
            <a:r>
              <a:rPr lang="es-BO" sz="1400"/>
              <a:t>Arreglos</a:t>
            </a:r>
            <a:endParaRPr/>
          </a:p>
          <a:p>
            <a:pPr indent="-182880" lvl="0" marL="182880" rtl="0" algn="l">
              <a:lnSpc>
                <a:spcPct val="100000"/>
              </a:lnSpc>
              <a:spcBef>
                <a:spcPts val="900"/>
              </a:spcBef>
              <a:spcAft>
                <a:spcPts val="0"/>
              </a:spcAft>
              <a:buSzPct val="100000"/>
              <a:buFont typeface="Noto Sans Symbols"/>
              <a:buChar char="⮚"/>
            </a:pPr>
            <a:r>
              <a:rPr lang="es-BO" sz="1400"/>
              <a:t>Modificación del sistema</a:t>
            </a:r>
            <a:endParaRPr/>
          </a:p>
          <a:p>
            <a:pPr indent="-182880" lvl="0" marL="182880" rtl="0" algn="l">
              <a:lnSpc>
                <a:spcPct val="100000"/>
              </a:lnSpc>
              <a:spcBef>
                <a:spcPts val="900"/>
              </a:spcBef>
              <a:spcAft>
                <a:spcPts val="0"/>
              </a:spcAft>
              <a:buSzPct val="100000"/>
              <a:buFont typeface="Noto Sans Symbols"/>
              <a:buChar char="⮚"/>
            </a:pPr>
            <a:r>
              <a:rPr lang="es-BO" sz="1400"/>
              <a:t>Programación PLC</a:t>
            </a:r>
            <a:endParaRPr/>
          </a:p>
          <a:p>
            <a:pPr indent="-182880" lvl="0" marL="182880" rtl="0" algn="l">
              <a:lnSpc>
                <a:spcPct val="100000"/>
              </a:lnSpc>
              <a:spcBef>
                <a:spcPts val="900"/>
              </a:spcBef>
              <a:spcAft>
                <a:spcPts val="0"/>
              </a:spcAft>
              <a:buSzPct val="100000"/>
              <a:buFont typeface="Noto Sans Symbols"/>
              <a:buChar char="⮚"/>
            </a:pPr>
            <a:r>
              <a:rPr lang="es-BO" sz="1400"/>
              <a:t>Conclusiones</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3"/>
          <p:cNvSpPr txBox="1"/>
          <p:nvPr>
            <p:ph type="title"/>
          </p:nvPr>
        </p:nvSpPr>
        <p:spPr>
          <a:xfrm>
            <a:off x="5318091" y="754951"/>
            <a:ext cx="6278825" cy="89224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262626"/>
              </a:buClr>
              <a:buSzPct val="100000"/>
              <a:buFont typeface="Garamond"/>
              <a:buNone/>
            </a:pPr>
            <a:r>
              <a:rPr b="1" lang="es-BO"/>
              <a:t>Descripción del proceso</a:t>
            </a:r>
            <a:endParaRPr/>
          </a:p>
        </p:txBody>
      </p:sp>
      <p:sp>
        <p:nvSpPr>
          <p:cNvPr id="123" name="Google Shape;123;p3"/>
          <p:cNvSpPr txBox="1"/>
          <p:nvPr/>
        </p:nvSpPr>
        <p:spPr>
          <a:xfrm>
            <a:off x="5617211" y="1707364"/>
            <a:ext cx="5770810" cy="4439036"/>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s-BO" sz="1800" u="none" cap="none" strike="noStrike">
                <a:solidFill>
                  <a:schemeClr val="dk1"/>
                </a:solidFill>
                <a:latin typeface="Garamond"/>
                <a:ea typeface="Garamond"/>
                <a:cs typeface="Garamond"/>
                <a:sym typeface="Garamond"/>
              </a:rPr>
              <a:t>El sistema de nivel de líquido tiene como propósito medir la cantidad de líquido en un recipiente o tanque. Esto es importante en muchas aplicaciones industriales y de ingeniería, donde la cantidad precisa de líquido en un proceso es crítica para su eficiencia y seguridad.</a:t>
            </a:r>
            <a:endParaRPr/>
          </a:p>
          <a:p>
            <a:pPr indent="0" lvl="0" marL="0" marR="0" rtl="0" algn="just">
              <a:lnSpc>
                <a:spcPct val="150000"/>
              </a:lnSpc>
              <a:spcBef>
                <a:spcPts val="0"/>
              </a:spcBef>
              <a:spcAft>
                <a:spcPts val="0"/>
              </a:spcAft>
              <a:buNone/>
            </a:pPr>
            <a:r>
              <a:t/>
            </a:r>
            <a:endParaRPr b="0" i="0" sz="600" u="none" cap="none" strike="noStrike">
              <a:solidFill>
                <a:schemeClr val="dk1"/>
              </a:solidFill>
              <a:latin typeface="Garamond"/>
              <a:ea typeface="Garamond"/>
              <a:cs typeface="Garamond"/>
              <a:sym typeface="Garamond"/>
            </a:endParaRPr>
          </a:p>
          <a:p>
            <a:pPr indent="0" lvl="0" marL="0" marR="0" rtl="0" algn="just">
              <a:lnSpc>
                <a:spcPct val="150000"/>
              </a:lnSpc>
              <a:spcBef>
                <a:spcPts val="0"/>
              </a:spcBef>
              <a:spcAft>
                <a:spcPts val="0"/>
              </a:spcAft>
              <a:buNone/>
            </a:pPr>
            <a:r>
              <a:rPr b="0" i="0" lang="es-BO" sz="1800" u="none" cap="none" strike="noStrike">
                <a:solidFill>
                  <a:schemeClr val="dk1"/>
                </a:solidFill>
                <a:latin typeface="Garamond"/>
                <a:ea typeface="Garamond"/>
                <a:cs typeface="Garamond"/>
                <a:sym typeface="Garamond"/>
              </a:rPr>
              <a:t>El sistema de nivel de líquido puede ser utilizado para controlar el llenado y vaciado de un tanque, o para alertar a los operadores cuando el nivel de líquido está demasiado alto o demasiado bajo y para mantener un volumen deseado de liquido contenido en el tanque. </a:t>
            </a:r>
            <a:endParaRPr b="0" i="0" sz="1800" u="none" cap="none" strike="noStrike">
              <a:solidFill>
                <a:schemeClr val="dk1"/>
              </a:solidFill>
              <a:latin typeface="Garamond"/>
              <a:ea typeface="Garamond"/>
              <a:cs typeface="Garamond"/>
              <a:sym typeface="Garamond"/>
            </a:endParaRPr>
          </a:p>
        </p:txBody>
      </p:sp>
      <p:grpSp>
        <p:nvGrpSpPr>
          <p:cNvPr id="124" name="Google Shape;124;p3"/>
          <p:cNvGrpSpPr/>
          <p:nvPr/>
        </p:nvGrpSpPr>
        <p:grpSpPr>
          <a:xfrm>
            <a:off x="803979" y="986971"/>
            <a:ext cx="4429467" cy="5317990"/>
            <a:chOff x="2165766" y="-302507"/>
            <a:chExt cx="4968552" cy="6749940"/>
          </a:xfrm>
        </p:grpSpPr>
        <p:pic>
          <p:nvPicPr>
            <p:cNvPr id="125" name="Google Shape;125;p3"/>
            <p:cNvPicPr preferRelativeResize="0"/>
            <p:nvPr/>
          </p:nvPicPr>
          <p:blipFill rotWithShape="1">
            <a:blip r:embed="rId3">
              <a:alphaModFix/>
            </a:blip>
            <a:srcRect b="0" l="1701" r="13249" t="0"/>
            <a:stretch/>
          </p:blipFill>
          <p:spPr>
            <a:xfrm rot="5400000">
              <a:off x="1492679" y="766624"/>
              <a:ext cx="6314726" cy="4176464"/>
            </a:xfrm>
            <a:prstGeom prst="rect">
              <a:avLst/>
            </a:prstGeom>
            <a:noFill/>
            <a:ln>
              <a:noFill/>
            </a:ln>
          </p:spPr>
        </p:pic>
        <p:sp>
          <p:nvSpPr>
            <p:cNvPr id="126" name="Google Shape;126;p3"/>
            <p:cNvSpPr txBox="1"/>
            <p:nvPr/>
          </p:nvSpPr>
          <p:spPr>
            <a:xfrm>
              <a:off x="2165766" y="6078101"/>
              <a:ext cx="496855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BO" sz="1800" u="none" cap="none" strike="noStrike">
                  <a:solidFill>
                    <a:schemeClr val="dk1"/>
                  </a:solidFill>
                  <a:latin typeface="Garamond"/>
                  <a:ea typeface="Garamond"/>
                  <a:cs typeface="Garamond"/>
                  <a:sym typeface="Garamond"/>
                </a:rPr>
                <a:t>Vista posterior</a:t>
              </a:r>
              <a:endParaRPr b="0" i="0" sz="1800" u="none" cap="none" strike="noStrike">
                <a:solidFill>
                  <a:schemeClr val="dk1"/>
                </a:solidFill>
                <a:latin typeface="Garamond"/>
                <a:ea typeface="Garamond"/>
                <a:cs typeface="Garamond"/>
                <a:sym typeface="Garamond"/>
              </a:endParaRPr>
            </a:p>
          </p:txBody>
        </p:sp>
      </p:grpSp>
      <p:grpSp>
        <p:nvGrpSpPr>
          <p:cNvPr id="127" name="Google Shape;127;p3"/>
          <p:cNvGrpSpPr/>
          <p:nvPr/>
        </p:nvGrpSpPr>
        <p:grpSpPr>
          <a:xfrm>
            <a:off x="646354" y="986971"/>
            <a:ext cx="4758514" cy="5180471"/>
            <a:chOff x="3510084" y="1032283"/>
            <a:chExt cx="4429467" cy="6352946"/>
          </a:xfrm>
        </p:grpSpPr>
        <p:pic>
          <p:nvPicPr>
            <p:cNvPr id="128" name="Google Shape;128;p3"/>
            <p:cNvPicPr preferRelativeResize="0"/>
            <p:nvPr/>
          </p:nvPicPr>
          <p:blipFill rotWithShape="1">
            <a:blip r:embed="rId4">
              <a:alphaModFix/>
            </a:blip>
            <a:srcRect b="3482" l="2749" r="0" t="0"/>
            <a:stretch/>
          </p:blipFill>
          <p:spPr>
            <a:xfrm rot="5400000">
              <a:off x="2721001" y="2276874"/>
              <a:ext cx="6017575" cy="3528393"/>
            </a:xfrm>
            <a:prstGeom prst="rect">
              <a:avLst/>
            </a:prstGeom>
            <a:noFill/>
            <a:ln>
              <a:noFill/>
            </a:ln>
          </p:spPr>
        </p:pic>
        <p:sp>
          <p:nvSpPr>
            <p:cNvPr id="129" name="Google Shape;129;p3"/>
            <p:cNvSpPr txBox="1"/>
            <p:nvPr/>
          </p:nvSpPr>
          <p:spPr>
            <a:xfrm>
              <a:off x="3510084" y="7015897"/>
              <a:ext cx="44294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BO" sz="1800" u="none" cap="none" strike="noStrike">
                  <a:solidFill>
                    <a:schemeClr val="dk1"/>
                  </a:solidFill>
                  <a:latin typeface="Garamond"/>
                  <a:ea typeface="Garamond"/>
                  <a:cs typeface="Garamond"/>
                  <a:sym typeface="Garamond"/>
                </a:rPr>
                <a:t>Vista lateral izquierda</a:t>
              </a:r>
              <a:endParaRPr b="0" i="0" sz="1800" u="none" cap="none" strike="noStrike">
                <a:solidFill>
                  <a:schemeClr val="dk1"/>
                </a:solidFill>
                <a:latin typeface="Garamond"/>
                <a:ea typeface="Garamond"/>
                <a:cs typeface="Garamond"/>
                <a:sym typeface="Garamond"/>
              </a:endParaRPr>
            </a:p>
          </p:txBody>
        </p:sp>
      </p:grpSp>
      <p:grpSp>
        <p:nvGrpSpPr>
          <p:cNvPr id="130" name="Google Shape;130;p3"/>
          <p:cNvGrpSpPr/>
          <p:nvPr/>
        </p:nvGrpSpPr>
        <p:grpSpPr>
          <a:xfrm>
            <a:off x="803979" y="732971"/>
            <a:ext cx="4527402" cy="5646847"/>
            <a:chOff x="2520969" y="-819472"/>
            <a:chExt cx="4429467" cy="6547334"/>
          </a:xfrm>
        </p:grpSpPr>
        <p:pic>
          <p:nvPicPr>
            <p:cNvPr id="131" name="Google Shape;131;p3"/>
            <p:cNvPicPr preferRelativeResize="0"/>
            <p:nvPr/>
          </p:nvPicPr>
          <p:blipFill rotWithShape="1">
            <a:blip r:embed="rId5">
              <a:alphaModFix/>
            </a:blip>
            <a:srcRect b="0" l="0" r="4779" t="0"/>
            <a:stretch/>
          </p:blipFill>
          <p:spPr>
            <a:xfrm rot="5400000">
              <a:off x="1648377" y="438335"/>
              <a:ext cx="6146644" cy="3631030"/>
            </a:xfrm>
            <a:prstGeom prst="rect">
              <a:avLst/>
            </a:prstGeom>
            <a:noFill/>
            <a:ln>
              <a:noFill/>
            </a:ln>
          </p:spPr>
        </p:pic>
        <p:sp>
          <p:nvSpPr>
            <p:cNvPr id="132" name="Google Shape;132;p3"/>
            <p:cNvSpPr txBox="1"/>
            <p:nvPr/>
          </p:nvSpPr>
          <p:spPr>
            <a:xfrm>
              <a:off x="2520969" y="5358530"/>
              <a:ext cx="44294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BO" sz="1800" u="none" cap="none" strike="noStrike">
                  <a:solidFill>
                    <a:schemeClr val="dk1"/>
                  </a:solidFill>
                  <a:latin typeface="Garamond"/>
                  <a:ea typeface="Garamond"/>
                  <a:cs typeface="Garamond"/>
                  <a:sym typeface="Garamond"/>
                </a:rPr>
                <a:t>Vista lateral derecha</a:t>
              </a:r>
              <a:endParaRPr b="0" i="0" sz="1800" u="none" cap="none" strike="noStrike">
                <a:solidFill>
                  <a:schemeClr val="dk1"/>
                </a:solidFill>
                <a:latin typeface="Garamond"/>
                <a:ea typeface="Garamond"/>
                <a:cs typeface="Garamond"/>
                <a:sym typeface="Garamond"/>
              </a:endParaRPr>
            </a:p>
          </p:txBody>
        </p:sp>
      </p:grpSp>
      <p:grpSp>
        <p:nvGrpSpPr>
          <p:cNvPr id="133" name="Google Shape;133;p3"/>
          <p:cNvGrpSpPr/>
          <p:nvPr/>
        </p:nvGrpSpPr>
        <p:grpSpPr>
          <a:xfrm>
            <a:off x="497946" y="729598"/>
            <a:ext cx="4968552" cy="5772720"/>
            <a:chOff x="6499932" y="85509"/>
            <a:chExt cx="4968552" cy="5990279"/>
          </a:xfrm>
        </p:grpSpPr>
        <p:pic>
          <p:nvPicPr>
            <p:cNvPr id="134" name="Google Shape;134;p3"/>
            <p:cNvPicPr preferRelativeResize="0"/>
            <p:nvPr/>
          </p:nvPicPr>
          <p:blipFill rotWithShape="1">
            <a:blip r:embed="rId6">
              <a:alphaModFix/>
            </a:blip>
            <a:srcRect b="0" l="7999" r="12200" t="0"/>
            <a:stretch/>
          </p:blipFill>
          <p:spPr>
            <a:xfrm rot="5400000">
              <a:off x="6214861" y="902752"/>
              <a:ext cx="5538694" cy="3904209"/>
            </a:xfrm>
            <a:prstGeom prst="rect">
              <a:avLst/>
            </a:prstGeom>
            <a:noFill/>
            <a:ln>
              <a:noFill/>
            </a:ln>
          </p:spPr>
        </p:pic>
        <p:sp>
          <p:nvSpPr>
            <p:cNvPr id="135" name="Google Shape;135;p3"/>
            <p:cNvSpPr txBox="1"/>
            <p:nvPr/>
          </p:nvSpPr>
          <p:spPr>
            <a:xfrm>
              <a:off x="6499932" y="5706456"/>
              <a:ext cx="496855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BO" sz="1800" u="none" cap="none" strike="noStrike">
                  <a:solidFill>
                    <a:schemeClr val="dk1"/>
                  </a:solidFill>
                  <a:latin typeface="Garamond"/>
                  <a:ea typeface="Garamond"/>
                  <a:cs typeface="Garamond"/>
                  <a:sym typeface="Garamond"/>
                </a:rPr>
                <a:t>Vista frontal</a:t>
              </a:r>
              <a:endParaRPr b="0" i="0" sz="1800" u="none" cap="none" strike="noStrike">
                <a:solidFill>
                  <a:schemeClr val="dk1"/>
                </a:solidFill>
                <a:latin typeface="Garamond"/>
                <a:ea typeface="Garamond"/>
                <a:cs typeface="Garamond"/>
                <a:sym typeface="Garamo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3"/>
                                        </p:tgtEl>
                                      </p:cBhvr>
                                    </p:animEffect>
                                    <p:set>
                                      <p:cBhvr>
                                        <p:cTn dur="1" fill="hold">
                                          <p:stCondLst>
                                            <p:cond delay="500"/>
                                          </p:stCondLst>
                                        </p:cTn>
                                        <p:tgtEl>
                                          <p:spTgt spid="13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0"/>
                                        </p:tgtEl>
                                      </p:cBhvr>
                                    </p:animEffect>
                                    <p:set>
                                      <p:cBhvr>
                                        <p:cTn dur="1" fill="hold">
                                          <p:stCondLst>
                                            <p:cond delay="500"/>
                                          </p:stCondLst>
                                        </p:cTn>
                                        <p:tgtEl>
                                          <p:spTgt spid="1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7"/>
                                        </p:tgtEl>
                                      </p:cBhvr>
                                    </p:animEffect>
                                    <p:set>
                                      <p:cBhvr>
                                        <p:cTn dur="1" fill="hold">
                                          <p:stCondLst>
                                            <p:cond delay="500"/>
                                          </p:stCondLst>
                                        </p:cTn>
                                        <p:tgtEl>
                                          <p:spTgt spid="12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4"/>
          <p:cNvSpPr txBox="1"/>
          <p:nvPr>
            <p:ph type="title"/>
          </p:nvPr>
        </p:nvSpPr>
        <p:spPr>
          <a:xfrm>
            <a:off x="1560576" y="2355566"/>
            <a:ext cx="9070848" cy="2587752"/>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rgbClr val="262626"/>
              </a:buClr>
              <a:buSzPts val="7200"/>
              <a:buFont typeface="Garamond"/>
              <a:buNone/>
            </a:pPr>
            <a:r>
              <a:rPr lang="es-BO"/>
              <a:t>PROCEDIMIENTO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txBox="1"/>
          <p:nvPr>
            <p:ph type="title"/>
          </p:nvPr>
        </p:nvSpPr>
        <p:spPr>
          <a:xfrm>
            <a:off x="962297" y="398754"/>
            <a:ext cx="10058400" cy="82044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lang="es-BO"/>
              <a:t>PROCEDIMIENTO</a:t>
            </a:r>
            <a:endParaRPr/>
          </a:p>
        </p:txBody>
      </p:sp>
      <p:sp>
        <p:nvSpPr>
          <p:cNvPr id="146" name="Google Shape;146;p5"/>
          <p:cNvSpPr/>
          <p:nvPr/>
        </p:nvSpPr>
        <p:spPr>
          <a:xfrm>
            <a:off x="1716676" y="1219200"/>
            <a:ext cx="8549640" cy="4384766"/>
          </a:xfrm>
          <a:prstGeom prst="rightArrow">
            <a:avLst>
              <a:gd fmla="val 50000" name="adj1"/>
              <a:gd fmla="val 50000" name="adj2"/>
            </a:avLst>
          </a:prstGeom>
          <a:gradFill>
            <a:gsLst>
              <a:gs pos="0">
                <a:schemeClr val="accent4"/>
              </a:gs>
              <a:gs pos="50000">
                <a:srgbClr val="EBB62E"/>
              </a:gs>
              <a:gs pos="100000">
                <a:srgbClr val="EAB52E"/>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967331" y="2534629"/>
            <a:ext cx="2421284" cy="1753906"/>
          </a:xfrm>
          <a:custGeom>
            <a:rect b="b" l="l" r="r" t="t"/>
            <a:pathLst>
              <a:path extrusionOk="0" h="1753906" w="2421284">
                <a:moveTo>
                  <a:pt x="0" y="292324"/>
                </a:moveTo>
                <a:cubicBezTo>
                  <a:pt x="0" y="130878"/>
                  <a:pt x="130878" y="0"/>
                  <a:pt x="292324" y="0"/>
                </a:cubicBezTo>
                <a:lnTo>
                  <a:pt x="2128960" y="0"/>
                </a:lnTo>
                <a:cubicBezTo>
                  <a:pt x="2290406" y="0"/>
                  <a:pt x="2421284" y="130878"/>
                  <a:pt x="2421284" y="292324"/>
                </a:cubicBezTo>
                <a:lnTo>
                  <a:pt x="2421284" y="1461582"/>
                </a:lnTo>
                <a:cubicBezTo>
                  <a:pt x="2421284" y="1623028"/>
                  <a:pt x="2290406" y="1753906"/>
                  <a:pt x="2128960" y="1753906"/>
                </a:cubicBezTo>
                <a:lnTo>
                  <a:pt x="292324" y="1753906"/>
                </a:lnTo>
                <a:cubicBezTo>
                  <a:pt x="130878" y="1753906"/>
                  <a:pt x="0" y="1623028"/>
                  <a:pt x="0" y="1461582"/>
                </a:cubicBezTo>
                <a:lnTo>
                  <a:pt x="0" y="292324"/>
                </a:lnTo>
                <a:close/>
              </a:path>
            </a:pathLst>
          </a:cu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150375" lIns="150375" spcFirstLastPara="1" rIns="150375" wrap="square" tIns="150375">
            <a:noAutofit/>
          </a:bodyPr>
          <a:lstStyle/>
          <a:p>
            <a:pPr indent="0" lvl="0" marL="0" marR="0" rtl="0" algn="ctr">
              <a:lnSpc>
                <a:spcPct val="90000"/>
              </a:lnSpc>
              <a:spcBef>
                <a:spcPts val="0"/>
              </a:spcBef>
              <a:spcAft>
                <a:spcPts val="0"/>
              </a:spcAft>
              <a:buClr>
                <a:schemeClr val="dk1"/>
              </a:buClr>
              <a:buSzPts val="1700"/>
              <a:buFont typeface="Garamond"/>
              <a:buNone/>
            </a:pPr>
            <a:r>
              <a:rPr b="0" i="0" lang="es-BO" sz="1700" u="none" cap="none" strike="noStrike">
                <a:solidFill>
                  <a:schemeClr val="dk1"/>
                </a:solidFill>
                <a:latin typeface="Garamond"/>
                <a:ea typeface="Garamond"/>
                <a:cs typeface="Garamond"/>
                <a:sym typeface="Garamond"/>
              </a:rPr>
              <a:t>Reconocimiento y ubicación de los componentes del sistema de control (actuadores, sensores, controladores, transductores, etc.)</a:t>
            </a:r>
            <a:endParaRPr b="0" i="0" sz="1700" u="none" cap="none" strike="noStrike">
              <a:solidFill>
                <a:schemeClr val="dk1"/>
              </a:solidFill>
              <a:latin typeface="Garamond"/>
              <a:ea typeface="Garamond"/>
              <a:cs typeface="Garamond"/>
              <a:sym typeface="Garamond"/>
            </a:endParaRPr>
          </a:p>
        </p:txBody>
      </p:sp>
      <p:sp>
        <p:nvSpPr>
          <p:cNvPr id="148" name="Google Shape;148;p5"/>
          <p:cNvSpPr/>
          <p:nvPr/>
        </p:nvSpPr>
        <p:spPr>
          <a:xfrm>
            <a:off x="3509680" y="2534629"/>
            <a:ext cx="2421284" cy="1753906"/>
          </a:xfrm>
          <a:custGeom>
            <a:rect b="b" l="l" r="r" t="t"/>
            <a:pathLst>
              <a:path extrusionOk="0" h="1753906" w="2421284">
                <a:moveTo>
                  <a:pt x="0" y="292324"/>
                </a:moveTo>
                <a:cubicBezTo>
                  <a:pt x="0" y="130878"/>
                  <a:pt x="130878" y="0"/>
                  <a:pt x="292324" y="0"/>
                </a:cubicBezTo>
                <a:lnTo>
                  <a:pt x="2128960" y="0"/>
                </a:lnTo>
                <a:cubicBezTo>
                  <a:pt x="2290406" y="0"/>
                  <a:pt x="2421284" y="130878"/>
                  <a:pt x="2421284" y="292324"/>
                </a:cubicBezTo>
                <a:lnTo>
                  <a:pt x="2421284" y="1461582"/>
                </a:lnTo>
                <a:cubicBezTo>
                  <a:pt x="2421284" y="1623028"/>
                  <a:pt x="2290406" y="1753906"/>
                  <a:pt x="2128960" y="1753906"/>
                </a:cubicBezTo>
                <a:lnTo>
                  <a:pt x="292324" y="1753906"/>
                </a:lnTo>
                <a:cubicBezTo>
                  <a:pt x="130878" y="1753906"/>
                  <a:pt x="0" y="1623028"/>
                  <a:pt x="0" y="1461582"/>
                </a:cubicBezTo>
                <a:lnTo>
                  <a:pt x="0" y="292324"/>
                </a:lnTo>
                <a:close/>
              </a:path>
            </a:pathLst>
          </a:cu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150375" lIns="150375" spcFirstLastPara="1" rIns="150375" wrap="square" tIns="150375">
            <a:noAutofit/>
          </a:bodyPr>
          <a:lstStyle/>
          <a:p>
            <a:pPr indent="0" lvl="0" marL="0" marR="0" rtl="0" algn="ctr">
              <a:lnSpc>
                <a:spcPct val="90000"/>
              </a:lnSpc>
              <a:spcBef>
                <a:spcPts val="0"/>
              </a:spcBef>
              <a:spcAft>
                <a:spcPts val="0"/>
              </a:spcAft>
              <a:buClr>
                <a:schemeClr val="dk1"/>
              </a:buClr>
              <a:buSzPts val="1700"/>
              <a:buFont typeface="Garamond"/>
              <a:buNone/>
            </a:pPr>
            <a:r>
              <a:rPr b="0" i="0" lang="es-BO" sz="1700" u="none" cap="none" strike="noStrike">
                <a:solidFill>
                  <a:schemeClr val="dk1"/>
                </a:solidFill>
                <a:latin typeface="Garamond"/>
                <a:ea typeface="Garamond"/>
                <a:cs typeface="Garamond"/>
                <a:sym typeface="Garamond"/>
              </a:rPr>
              <a:t>Principio de funcionamiento de los componentes del sistema de control</a:t>
            </a:r>
            <a:endParaRPr b="0" i="0" sz="1700" u="none" cap="none" strike="noStrike">
              <a:solidFill>
                <a:schemeClr val="dk1"/>
              </a:solidFill>
              <a:latin typeface="Garamond"/>
              <a:ea typeface="Garamond"/>
              <a:cs typeface="Garamond"/>
              <a:sym typeface="Garamond"/>
            </a:endParaRPr>
          </a:p>
        </p:txBody>
      </p:sp>
      <p:sp>
        <p:nvSpPr>
          <p:cNvPr id="149" name="Google Shape;149;p5"/>
          <p:cNvSpPr/>
          <p:nvPr/>
        </p:nvSpPr>
        <p:spPr>
          <a:xfrm>
            <a:off x="6052029" y="2534629"/>
            <a:ext cx="2421284" cy="1753906"/>
          </a:xfrm>
          <a:custGeom>
            <a:rect b="b" l="l" r="r" t="t"/>
            <a:pathLst>
              <a:path extrusionOk="0" h="1753906" w="2421284">
                <a:moveTo>
                  <a:pt x="0" y="292324"/>
                </a:moveTo>
                <a:cubicBezTo>
                  <a:pt x="0" y="130878"/>
                  <a:pt x="130878" y="0"/>
                  <a:pt x="292324" y="0"/>
                </a:cubicBezTo>
                <a:lnTo>
                  <a:pt x="2128960" y="0"/>
                </a:lnTo>
                <a:cubicBezTo>
                  <a:pt x="2290406" y="0"/>
                  <a:pt x="2421284" y="130878"/>
                  <a:pt x="2421284" y="292324"/>
                </a:cubicBezTo>
                <a:lnTo>
                  <a:pt x="2421284" y="1461582"/>
                </a:lnTo>
                <a:cubicBezTo>
                  <a:pt x="2421284" y="1623028"/>
                  <a:pt x="2290406" y="1753906"/>
                  <a:pt x="2128960" y="1753906"/>
                </a:cubicBezTo>
                <a:lnTo>
                  <a:pt x="292324" y="1753906"/>
                </a:lnTo>
                <a:cubicBezTo>
                  <a:pt x="130878" y="1753906"/>
                  <a:pt x="0" y="1623028"/>
                  <a:pt x="0" y="1461582"/>
                </a:cubicBezTo>
                <a:lnTo>
                  <a:pt x="0" y="292324"/>
                </a:lnTo>
                <a:close/>
              </a:path>
            </a:pathLst>
          </a:cu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150375" lIns="150375" spcFirstLastPara="1" rIns="150375" wrap="square" tIns="150375">
            <a:noAutofit/>
          </a:bodyPr>
          <a:lstStyle/>
          <a:p>
            <a:pPr indent="0" lvl="0" marL="0" marR="0" rtl="0" algn="ctr">
              <a:lnSpc>
                <a:spcPct val="90000"/>
              </a:lnSpc>
              <a:spcBef>
                <a:spcPts val="0"/>
              </a:spcBef>
              <a:spcAft>
                <a:spcPts val="0"/>
              </a:spcAft>
              <a:buClr>
                <a:schemeClr val="dk1"/>
              </a:buClr>
              <a:buSzPts val="1700"/>
              <a:buFont typeface="Garamond"/>
              <a:buNone/>
            </a:pPr>
            <a:r>
              <a:rPr b="0" i="0" lang="es-BO" sz="1700" u="none" cap="none" strike="noStrike">
                <a:solidFill>
                  <a:schemeClr val="dk1"/>
                </a:solidFill>
                <a:latin typeface="Garamond"/>
                <a:ea typeface="Garamond"/>
                <a:cs typeface="Garamond"/>
                <a:sym typeface="Garamond"/>
              </a:rPr>
              <a:t>Estado de los componentes del sistema de control (verificación)</a:t>
            </a:r>
            <a:endParaRPr b="0" i="0" sz="1700" u="none" cap="none" strike="noStrike">
              <a:solidFill>
                <a:schemeClr val="dk1"/>
              </a:solidFill>
              <a:latin typeface="Garamond"/>
              <a:ea typeface="Garamond"/>
              <a:cs typeface="Garamond"/>
              <a:sym typeface="Garamond"/>
            </a:endParaRPr>
          </a:p>
        </p:txBody>
      </p:sp>
      <p:sp>
        <p:nvSpPr>
          <p:cNvPr id="150" name="Google Shape;150;p5"/>
          <p:cNvSpPr/>
          <p:nvPr/>
        </p:nvSpPr>
        <p:spPr>
          <a:xfrm>
            <a:off x="8594378" y="2534629"/>
            <a:ext cx="2421284" cy="1753906"/>
          </a:xfrm>
          <a:custGeom>
            <a:rect b="b" l="l" r="r" t="t"/>
            <a:pathLst>
              <a:path extrusionOk="0" h="1753906" w="2421284">
                <a:moveTo>
                  <a:pt x="0" y="292324"/>
                </a:moveTo>
                <a:cubicBezTo>
                  <a:pt x="0" y="130878"/>
                  <a:pt x="130878" y="0"/>
                  <a:pt x="292324" y="0"/>
                </a:cubicBezTo>
                <a:lnTo>
                  <a:pt x="2128960" y="0"/>
                </a:lnTo>
                <a:cubicBezTo>
                  <a:pt x="2290406" y="0"/>
                  <a:pt x="2421284" y="130878"/>
                  <a:pt x="2421284" y="292324"/>
                </a:cubicBezTo>
                <a:lnTo>
                  <a:pt x="2421284" y="1461582"/>
                </a:lnTo>
                <a:cubicBezTo>
                  <a:pt x="2421284" y="1623028"/>
                  <a:pt x="2290406" y="1753906"/>
                  <a:pt x="2128960" y="1753906"/>
                </a:cubicBezTo>
                <a:lnTo>
                  <a:pt x="292324" y="1753906"/>
                </a:lnTo>
                <a:cubicBezTo>
                  <a:pt x="130878" y="1753906"/>
                  <a:pt x="0" y="1623028"/>
                  <a:pt x="0" y="1461582"/>
                </a:cubicBezTo>
                <a:lnTo>
                  <a:pt x="0" y="292324"/>
                </a:lnTo>
                <a:close/>
              </a:path>
            </a:pathLst>
          </a:cu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150375" lIns="150375" spcFirstLastPara="1" rIns="150375" wrap="square" tIns="150375">
            <a:noAutofit/>
          </a:bodyPr>
          <a:lstStyle/>
          <a:p>
            <a:pPr indent="0" lvl="0" marL="0" marR="0" rtl="0" algn="ctr">
              <a:lnSpc>
                <a:spcPct val="90000"/>
              </a:lnSpc>
              <a:spcBef>
                <a:spcPts val="0"/>
              </a:spcBef>
              <a:spcAft>
                <a:spcPts val="0"/>
              </a:spcAft>
              <a:buClr>
                <a:schemeClr val="dk1"/>
              </a:buClr>
              <a:buSzPts val="1700"/>
              <a:buFont typeface="Garamond"/>
              <a:buNone/>
            </a:pPr>
            <a:r>
              <a:rPr b="0" i="0" lang="es-BO" sz="1700" u="none" cap="none" strike="noStrike">
                <a:solidFill>
                  <a:schemeClr val="dk1"/>
                </a:solidFill>
                <a:latin typeface="Garamond"/>
                <a:ea typeface="Garamond"/>
                <a:cs typeface="Garamond"/>
                <a:sym typeface="Garamond"/>
              </a:rPr>
              <a:t>Determinación de la función de transferencia de: los sensores, los actuadores, los transductores</a:t>
            </a:r>
            <a:endParaRPr b="0" i="0" sz="1700" u="none" cap="none" strike="noStrike">
              <a:solidFill>
                <a:schemeClr val="dk1"/>
              </a:solidFill>
              <a:latin typeface="Garamond"/>
              <a:ea typeface="Garamond"/>
              <a:cs typeface="Garamond"/>
              <a:sym typeface="Garamo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6"/>
          <p:cNvSpPr txBox="1"/>
          <p:nvPr>
            <p:ph type="title"/>
          </p:nvPr>
        </p:nvSpPr>
        <p:spPr>
          <a:xfrm>
            <a:off x="1563623" y="2094309"/>
            <a:ext cx="9070848" cy="2587752"/>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rgbClr val="262626"/>
              </a:buClr>
              <a:buSzPts val="7200"/>
              <a:buFont typeface="Garamond"/>
              <a:buNone/>
            </a:pPr>
            <a:r>
              <a:rPr lang="es-BO"/>
              <a:t>ELEMENTOS DEL SISTEMA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txBox="1"/>
          <p:nvPr>
            <p:ph type="title"/>
          </p:nvPr>
        </p:nvSpPr>
        <p:spPr>
          <a:xfrm>
            <a:off x="1066800" y="642594"/>
            <a:ext cx="10058400" cy="6858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000"/>
              <a:buFont typeface="Garamond"/>
              <a:buNone/>
            </a:pPr>
            <a:r>
              <a:rPr b="1" lang="es-BO" sz="4000"/>
              <a:t>Maqueta</a:t>
            </a:r>
            <a:endParaRPr/>
          </a:p>
        </p:txBody>
      </p:sp>
      <p:pic>
        <p:nvPicPr>
          <p:cNvPr id="161" name="Google Shape;161;p7"/>
          <p:cNvPicPr preferRelativeResize="0"/>
          <p:nvPr/>
        </p:nvPicPr>
        <p:blipFill rotWithShape="1">
          <a:blip r:embed="rId3">
            <a:alphaModFix/>
          </a:blip>
          <a:srcRect b="21606" l="0" r="0" t="15001"/>
          <a:stretch/>
        </p:blipFill>
        <p:spPr>
          <a:xfrm>
            <a:off x="1503129" y="1867904"/>
            <a:ext cx="3161109" cy="4347502"/>
          </a:xfrm>
          <a:prstGeom prst="rect">
            <a:avLst/>
          </a:prstGeom>
          <a:noFill/>
          <a:ln>
            <a:noFill/>
          </a:ln>
        </p:spPr>
      </p:pic>
      <p:grpSp>
        <p:nvGrpSpPr>
          <p:cNvPr id="162" name="Google Shape;162;p7"/>
          <p:cNvGrpSpPr/>
          <p:nvPr/>
        </p:nvGrpSpPr>
        <p:grpSpPr>
          <a:xfrm>
            <a:off x="2057400" y="1731047"/>
            <a:ext cx="5388750" cy="2222814"/>
            <a:chOff x="4800600" y="1384446"/>
            <a:chExt cx="5388750" cy="2222814"/>
          </a:xfrm>
        </p:grpSpPr>
        <p:grpSp>
          <p:nvGrpSpPr>
            <p:cNvPr id="163" name="Google Shape;163;p7"/>
            <p:cNvGrpSpPr/>
            <p:nvPr/>
          </p:nvGrpSpPr>
          <p:grpSpPr>
            <a:xfrm>
              <a:off x="4800600" y="1753751"/>
              <a:ext cx="5388750" cy="1853509"/>
              <a:chOff x="4800600" y="1753751"/>
              <a:chExt cx="5388750" cy="1853509"/>
            </a:xfrm>
          </p:grpSpPr>
          <p:sp>
            <p:nvSpPr>
              <p:cNvPr id="164" name="Google Shape;164;p7"/>
              <p:cNvSpPr/>
              <p:nvPr/>
            </p:nvSpPr>
            <p:spPr>
              <a:xfrm>
                <a:off x="4800600" y="2098587"/>
                <a:ext cx="1100138" cy="1508673"/>
              </a:xfrm>
              <a:prstGeom prst="rect">
                <a:avLst/>
              </a:prstGeom>
              <a:noFill/>
              <a:ln cap="flat" cmpd="sng" w="127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aramond"/>
                  <a:ea typeface="Garamond"/>
                  <a:cs typeface="Garamond"/>
                  <a:sym typeface="Garamond"/>
                </a:endParaRPr>
              </a:p>
            </p:txBody>
          </p:sp>
          <p:cxnSp>
            <p:nvCxnSpPr>
              <p:cNvPr id="165" name="Google Shape;165;p7"/>
              <p:cNvCxnSpPr>
                <a:stCxn id="164" idx="3"/>
              </p:cNvCxnSpPr>
              <p:nvPr/>
            </p:nvCxnSpPr>
            <p:spPr>
              <a:xfrm flipH="1" rot="10800000">
                <a:off x="5900738" y="2351324"/>
                <a:ext cx="2895600" cy="501600"/>
              </a:xfrm>
              <a:prstGeom prst="straightConnector1">
                <a:avLst/>
              </a:prstGeom>
              <a:noFill/>
              <a:ln cap="flat" cmpd="sng" w="28575">
                <a:solidFill>
                  <a:srgbClr val="FFFF00"/>
                </a:solidFill>
                <a:prstDash val="dash"/>
                <a:round/>
                <a:headEnd len="sm" w="sm" type="none"/>
                <a:tailEnd len="med" w="med" type="triangle"/>
              </a:ln>
            </p:spPr>
          </p:cxnSp>
          <p:sp>
            <p:nvSpPr>
              <p:cNvPr id="166" name="Google Shape;166;p7"/>
              <p:cNvSpPr txBox="1"/>
              <p:nvPr/>
            </p:nvSpPr>
            <p:spPr>
              <a:xfrm>
                <a:off x="7489050" y="1753751"/>
                <a:ext cx="2700300" cy="40020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u="none" cap="none" strike="noStrike">
                    <a:solidFill>
                      <a:schemeClr val="dk1"/>
                    </a:solidFill>
                    <a:latin typeface="Garamond"/>
                    <a:ea typeface="Garamond"/>
                    <a:cs typeface="Garamond"/>
                    <a:sym typeface="Garamond"/>
                  </a:rPr>
                  <a:t>Tanque fijo de metal</a:t>
                </a:r>
                <a:endParaRPr b="0" i="0" sz="2000" u="none" cap="none" strike="noStrike">
                  <a:solidFill>
                    <a:schemeClr val="dk1"/>
                  </a:solidFill>
                  <a:latin typeface="Garamond"/>
                  <a:ea typeface="Garamond"/>
                  <a:cs typeface="Garamond"/>
                  <a:sym typeface="Garamond"/>
                </a:endParaRPr>
              </a:p>
            </p:txBody>
          </p:sp>
        </p:grpSp>
        <p:sp>
          <p:nvSpPr>
            <p:cNvPr id="167" name="Google Shape;167;p7"/>
            <p:cNvSpPr txBox="1"/>
            <p:nvPr/>
          </p:nvSpPr>
          <p:spPr>
            <a:xfrm>
              <a:off x="7793988" y="1384445"/>
              <a:ext cx="2090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BO" sz="1800" u="none" cap="none" strike="noStrike">
                  <a:solidFill>
                    <a:schemeClr val="dk1"/>
                  </a:solidFill>
                  <a:latin typeface="Garamond"/>
                  <a:ea typeface="Garamond"/>
                  <a:cs typeface="Garamond"/>
                  <a:sym typeface="Garamond"/>
                </a:rPr>
                <a:t>(Tanque superior)</a:t>
              </a:r>
              <a:endParaRPr sz="1800">
                <a:solidFill>
                  <a:schemeClr val="dk1"/>
                </a:solidFill>
                <a:latin typeface="Garamond"/>
                <a:ea typeface="Garamond"/>
                <a:cs typeface="Garamond"/>
                <a:sym typeface="Garamond"/>
              </a:endParaRPr>
            </a:p>
          </p:txBody>
        </p:sp>
      </p:grpSp>
      <p:grpSp>
        <p:nvGrpSpPr>
          <p:cNvPr id="168" name="Google Shape;168;p7"/>
          <p:cNvGrpSpPr/>
          <p:nvPr/>
        </p:nvGrpSpPr>
        <p:grpSpPr>
          <a:xfrm>
            <a:off x="2057400" y="4033319"/>
            <a:ext cx="6086109" cy="1873995"/>
            <a:chOff x="4800600" y="2098587"/>
            <a:chExt cx="6086109" cy="1508673"/>
          </a:xfrm>
        </p:grpSpPr>
        <p:grpSp>
          <p:nvGrpSpPr>
            <p:cNvPr id="169" name="Google Shape;169;p7"/>
            <p:cNvGrpSpPr/>
            <p:nvPr/>
          </p:nvGrpSpPr>
          <p:grpSpPr>
            <a:xfrm>
              <a:off x="4800600" y="2098587"/>
              <a:ext cx="6086109" cy="1508673"/>
              <a:chOff x="4800600" y="2098587"/>
              <a:chExt cx="6086109" cy="1508673"/>
            </a:xfrm>
          </p:grpSpPr>
          <p:sp>
            <p:nvSpPr>
              <p:cNvPr id="170" name="Google Shape;170;p7"/>
              <p:cNvSpPr/>
              <p:nvPr/>
            </p:nvSpPr>
            <p:spPr>
              <a:xfrm>
                <a:off x="4800600" y="2098587"/>
                <a:ext cx="1100138" cy="1508673"/>
              </a:xfrm>
              <a:prstGeom prst="rect">
                <a:avLst/>
              </a:prstGeom>
              <a:noFill/>
              <a:ln cap="flat" cmpd="sng" w="127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cxnSp>
            <p:nvCxnSpPr>
              <p:cNvPr id="171" name="Google Shape;171;p7"/>
              <p:cNvCxnSpPr>
                <a:stCxn id="170" idx="3"/>
              </p:cNvCxnSpPr>
              <p:nvPr/>
            </p:nvCxnSpPr>
            <p:spPr>
              <a:xfrm flipH="1" rot="10800000">
                <a:off x="5900738" y="2351324"/>
                <a:ext cx="2895600" cy="501600"/>
              </a:xfrm>
              <a:prstGeom prst="straightConnector1">
                <a:avLst/>
              </a:prstGeom>
              <a:noFill/>
              <a:ln cap="flat" cmpd="sng" w="28575">
                <a:solidFill>
                  <a:srgbClr val="FFFF00"/>
                </a:solidFill>
                <a:prstDash val="dash"/>
                <a:round/>
                <a:headEnd len="sm" w="sm" type="none"/>
                <a:tailEnd len="med" w="med" type="triangle"/>
              </a:ln>
            </p:spPr>
          </p:cxnSp>
          <p:sp>
            <p:nvSpPr>
              <p:cNvPr id="172" name="Google Shape;172;p7"/>
              <p:cNvSpPr txBox="1"/>
              <p:nvPr/>
            </p:nvSpPr>
            <p:spPr>
              <a:xfrm>
                <a:off x="8796300" y="2112876"/>
                <a:ext cx="2090409" cy="322111"/>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000">
                    <a:solidFill>
                      <a:schemeClr val="dk1"/>
                    </a:solidFill>
                    <a:latin typeface="Garamond"/>
                    <a:ea typeface="Garamond"/>
                    <a:cs typeface="Garamond"/>
                    <a:sym typeface="Garamond"/>
                  </a:rPr>
                  <a:t>Tanque de plástico</a:t>
                </a:r>
                <a:endParaRPr b="0" i="0" sz="2000">
                  <a:solidFill>
                    <a:schemeClr val="dk1"/>
                  </a:solidFill>
                  <a:latin typeface="Garamond"/>
                  <a:ea typeface="Garamond"/>
                  <a:cs typeface="Garamond"/>
                  <a:sym typeface="Garamond"/>
                </a:endParaRPr>
              </a:p>
            </p:txBody>
          </p:sp>
        </p:grpSp>
        <p:sp>
          <p:nvSpPr>
            <p:cNvPr id="173" name="Google Shape;173;p7"/>
            <p:cNvSpPr txBox="1"/>
            <p:nvPr/>
          </p:nvSpPr>
          <p:spPr>
            <a:xfrm>
              <a:off x="8983701" y="2475218"/>
              <a:ext cx="1771386" cy="2973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(Tanque inferior)</a:t>
              </a:r>
              <a:endParaRPr sz="1800">
                <a:solidFill>
                  <a:schemeClr val="dk1"/>
                </a:solidFill>
                <a:latin typeface="Garamond"/>
                <a:ea typeface="Garamond"/>
                <a:cs typeface="Garamond"/>
                <a:sym typeface="Garamond"/>
              </a:endParaRPr>
            </a:p>
          </p:txBody>
        </p:sp>
      </p:grpSp>
      <p:grpSp>
        <p:nvGrpSpPr>
          <p:cNvPr id="174" name="Google Shape;174;p7"/>
          <p:cNvGrpSpPr/>
          <p:nvPr/>
        </p:nvGrpSpPr>
        <p:grpSpPr>
          <a:xfrm>
            <a:off x="3276599" y="2598420"/>
            <a:ext cx="5784295" cy="1280160"/>
            <a:chOff x="4706257" y="2163063"/>
            <a:chExt cx="5805191" cy="1030602"/>
          </a:xfrm>
        </p:grpSpPr>
        <p:grpSp>
          <p:nvGrpSpPr>
            <p:cNvPr id="175" name="Google Shape;175;p7"/>
            <p:cNvGrpSpPr/>
            <p:nvPr/>
          </p:nvGrpSpPr>
          <p:grpSpPr>
            <a:xfrm>
              <a:off x="4706257" y="2163063"/>
              <a:ext cx="5748793" cy="1030602"/>
              <a:chOff x="4706257" y="2163063"/>
              <a:chExt cx="5748793" cy="1030602"/>
            </a:xfrm>
          </p:grpSpPr>
          <p:sp>
            <p:nvSpPr>
              <p:cNvPr id="176" name="Google Shape;176;p7"/>
              <p:cNvSpPr/>
              <p:nvPr/>
            </p:nvSpPr>
            <p:spPr>
              <a:xfrm>
                <a:off x="4706257" y="2163063"/>
                <a:ext cx="1269799" cy="1030602"/>
              </a:xfrm>
              <a:prstGeom prst="rect">
                <a:avLst/>
              </a:prstGeom>
              <a:noFill/>
              <a:ln cap="flat" cmpd="sng" w="127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cxnSp>
            <p:nvCxnSpPr>
              <p:cNvPr id="177" name="Google Shape;177;p7"/>
              <p:cNvCxnSpPr>
                <a:stCxn id="176" idx="3"/>
              </p:cNvCxnSpPr>
              <p:nvPr/>
            </p:nvCxnSpPr>
            <p:spPr>
              <a:xfrm flipH="1" rot="10800000">
                <a:off x="5976056" y="2655264"/>
                <a:ext cx="2860800" cy="23100"/>
              </a:xfrm>
              <a:prstGeom prst="straightConnector1">
                <a:avLst/>
              </a:prstGeom>
              <a:noFill/>
              <a:ln cap="flat" cmpd="sng" w="28575">
                <a:solidFill>
                  <a:srgbClr val="FFFF00"/>
                </a:solidFill>
                <a:prstDash val="dash"/>
                <a:round/>
                <a:headEnd len="sm" w="sm" type="none"/>
                <a:tailEnd len="med" w="med" type="triangle"/>
              </a:ln>
            </p:spPr>
          </p:cxnSp>
          <p:sp>
            <p:nvSpPr>
              <p:cNvPr id="178" name="Google Shape;178;p7"/>
              <p:cNvSpPr txBox="1"/>
              <p:nvPr/>
            </p:nvSpPr>
            <p:spPr>
              <a:xfrm>
                <a:off x="8796350" y="2527818"/>
                <a:ext cx="1658700" cy="32220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Garamond"/>
                    <a:ea typeface="Garamond"/>
                    <a:cs typeface="Garamond"/>
                    <a:sym typeface="Garamond"/>
                  </a:rPr>
                  <a:t>Panel Frontal</a:t>
                </a:r>
                <a:endParaRPr/>
              </a:p>
            </p:txBody>
          </p:sp>
        </p:grpSp>
        <p:sp>
          <p:nvSpPr>
            <p:cNvPr id="179" name="Google Shape;179;p7"/>
            <p:cNvSpPr txBox="1"/>
            <p:nvPr/>
          </p:nvSpPr>
          <p:spPr>
            <a:xfrm>
              <a:off x="8739948" y="2210958"/>
              <a:ext cx="1771500" cy="29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Gabinete</a:t>
              </a:r>
              <a:endParaRPr sz="1800">
                <a:solidFill>
                  <a:schemeClr val="dk1"/>
                </a:solidFill>
                <a:latin typeface="Garamond"/>
                <a:ea typeface="Garamond"/>
                <a:cs typeface="Garamond"/>
                <a:sym typeface="Garamond"/>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8"/>
          <p:cNvSpPr txBox="1"/>
          <p:nvPr>
            <p:ph type="title"/>
          </p:nvPr>
        </p:nvSpPr>
        <p:spPr>
          <a:xfrm>
            <a:off x="1066800" y="642594"/>
            <a:ext cx="10058400" cy="6858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000"/>
              <a:buFont typeface="Garamond"/>
              <a:buNone/>
            </a:pPr>
            <a:r>
              <a:rPr b="1" lang="es-BO" sz="4000"/>
              <a:t>Maqueta</a:t>
            </a:r>
            <a:endParaRPr/>
          </a:p>
        </p:txBody>
      </p:sp>
      <p:pic>
        <p:nvPicPr>
          <p:cNvPr id="185" name="Google Shape;185;p8"/>
          <p:cNvPicPr preferRelativeResize="0"/>
          <p:nvPr/>
        </p:nvPicPr>
        <p:blipFill rotWithShape="1">
          <a:blip r:embed="rId3">
            <a:alphaModFix/>
          </a:blip>
          <a:srcRect b="21606" l="0" r="0" t="15001"/>
          <a:stretch/>
        </p:blipFill>
        <p:spPr>
          <a:xfrm>
            <a:off x="2133749" y="1461263"/>
            <a:ext cx="3264814" cy="4347502"/>
          </a:xfrm>
          <a:prstGeom prst="rect">
            <a:avLst/>
          </a:prstGeom>
          <a:noFill/>
          <a:ln>
            <a:noFill/>
          </a:ln>
        </p:spPr>
      </p:pic>
      <p:sp>
        <p:nvSpPr>
          <p:cNvPr id="186" name="Google Shape;186;p8"/>
          <p:cNvSpPr/>
          <p:nvPr/>
        </p:nvSpPr>
        <p:spPr>
          <a:xfrm>
            <a:off x="2193397" y="2115272"/>
            <a:ext cx="660432" cy="1527290"/>
          </a:xfrm>
          <a:prstGeom prst="rect">
            <a:avLst/>
          </a:prstGeom>
          <a:noFill/>
          <a:ln cap="flat" cmpd="sng" w="127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cxnSp>
        <p:nvCxnSpPr>
          <p:cNvPr id="187" name="Google Shape;187;p8"/>
          <p:cNvCxnSpPr/>
          <p:nvPr/>
        </p:nvCxnSpPr>
        <p:spPr>
          <a:xfrm flipH="1">
            <a:off x="1493970" y="3139998"/>
            <a:ext cx="675783" cy="413664"/>
          </a:xfrm>
          <a:prstGeom prst="straightConnector1">
            <a:avLst/>
          </a:prstGeom>
          <a:noFill/>
          <a:ln cap="flat" cmpd="sng" w="28575">
            <a:solidFill>
              <a:srgbClr val="FFFF00"/>
            </a:solidFill>
            <a:prstDash val="dash"/>
            <a:round/>
            <a:headEnd len="sm" w="sm" type="none"/>
            <a:tailEnd len="med" w="med" type="triangle"/>
          </a:ln>
        </p:spPr>
      </p:cxnSp>
      <p:sp>
        <p:nvSpPr>
          <p:cNvPr id="188" name="Google Shape;188;p8"/>
          <p:cNvSpPr txBox="1"/>
          <p:nvPr/>
        </p:nvSpPr>
        <p:spPr>
          <a:xfrm rot="-5400000">
            <a:off x="-122307" y="3497572"/>
            <a:ext cx="2785155" cy="40011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Garamond"/>
                <a:ea typeface="Garamond"/>
                <a:cs typeface="Garamond"/>
                <a:sym typeface="Garamond"/>
              </a:rPr>
              <a:t>Tubería de ¾ de pulgada</a:t>
            </a:r>
            <a:endParaRPr/>
          </a:p>
        </p:txBody>
      </p:sp>
      <p:grpSp>
        <p:nvGrpSpPr>
          <p:cNvPr id="189" name="Google Shape;189;p8"/>
          <p:cNvGrpSpPr/>
          <p:nvPr/>
        </p:nvGrpSpPr>
        <p:grpSpPr>
          <a:xfrm>
            <a:off x="6536679" y="1450901"/>
            <a:ext cx="4322735" cy="4357865"/>
            <a:chOff x="6816079" y="1224138"/>
            <a:chExt cx="4536153" cy="5013177"/>
          </a:xfrm>
        </p:grpSpPr>
        <p:pic>
          <p:nvPicPr>
            <p:cNvPr id="190" name="Google Shape;190;p8"/>
            <p:cNvPicPr preferRelativeResize="0"/>
            <p:nvPr/>
          </p:nvPicPr>
          <p:blipFill rotWithShape="1">
            <a:blip r:embed="rId4">
              <a:alphaModFix/>
            </a:blip>
            <a:srcRect b="0" l="12923" r="13975" t="0"/>
            <a:stretch/>
          </p:blipFill>
          <p:spPr>
            <a:xfrm rot="5400000">
              <a:off x="6177553" y="1862664"/>
              <a:ext cx="5013176" cy="3736123"/>
            </a:xfrm>
            <a:prstGeom prst="rect">
              <a:avLst/>
            </a:prstGeom>
            <a:noFill/>
            <a:ln>
              <a:noFill/>
            </a:ln>
          </p:spPr>
        </p:pic>
        <p:sp>
          <p:nvSpPr>
            <p:cNvPr id="191" name="Google Shape;191;p8"/>
            <p:cNvSpPr/>
            <p:nvPr/>
          </p:nvSpPr>
          <p:spPr>
            <a:xfrm>
              <a:off x="9264352" y="2348880"/>
              <a:ext cx="864096" cy="2808312"/>
            </a:xfrm>
            <a:prstGeom prst="rect">
              <a:avLst/>
            </a:prstGeom>
            <a:noFill/>
            <a:ln cap="flat" cmpd="sng" w="127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192" name="Google Shape;192;p8"/>
            <p:cNvSpPr/>
            <p:nvPr/>
          </p:nvSpPr>
          <p:spPr>
            <a:xfrm>
              <a:off x="7146156" y="4714957"/>
              <a:ext cx="2982292" cy="442235"/>
            </a:xfrm>
            <a:prstGeom prst="rect">
              <a:avLst/>
            </a:prstGeom>
            <a:noFill/>
            <a:ln cap="flat" cmpd="sng" w="127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193" name="Google Shape;193;p8"/>
            <p:cNvSpPr/>
            <p:nvPr/>
          </p:nvSpPr>
          <p:spPr>
            <a:xfrm rot="-2881461">
              <a:off x="6952656" y="4530252"/>
              <a:ext cx="1040419" cy="442235"/>
            </a:xfrm>
            <a:prstGeom prst="rect">
              <a:avLst/>
            </a:prstGeom>
            <a:noFill/>
            <a:ln cap="flat" cmpd="sng" w="127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194" name="Google Shape;194;p8"/>
            <p:cNvSpPr txBox="1"/>
            <p:nvPr/>
          </p:nvSpPr>
          <p:spPr>
            <a:xfrm rot="-5400000">
              <a:off x="9802027" y="3022113"/>
              <a:ext cx="2700300" cy="400110"/>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Garamond"/>
                  <a:ea typeface="Garamond"/>
                  <a:cs typeface="Garamond"/>
                  <a:sym typeface="Garamond"/>
                </a:rPr>
                <a:t>Tubería de ½ pulgada</a:t>
              </a:r>
              <a:endParaRPr/>
            </a:p>
          </p:txBody>
        </p:sp>
        <p:pic>
          <p:nvPicPr>
            <p:cNvPr id="195" name="Google Shape;195;p8"/>
            <p:cNvPicPr preferRelativeResize="0"/>
            <p:nvPr/>
          </p:nvPicPr>
          <p:blipFill rotWithShape="1">
            <a:blip r:embed="rId4">
              <a:alphaModFix/>
            </a:blip>
            <a:srcRect b="0" l="12923" r="13975" t="0"/>
            <a:stretch/>
          </p:blipFill>
          <p:spPr>
            <a:xfrm rot="5400000">
              <a:off x="6177554" y="1862665"/>
              <a:ext cx="5013176" cy="3736123"/>
            </a:xfrm>
            <a:prstGeom prst="rect">
              <a:avLst/>
            </a:prstGeom>
            <a:noFill/>
            <a:ln>
              <a:noFill/>
            </a:ln>
          </p:spPr>
        </p:pic>
        <p:sp>
          <p:nvSpPr>
            <p:cNvPr id="196" name="Google Shape;196;p8"/>
            <p:cNvSpPr/>
            <p:nvPr/>
          </p:nvSpPr>
          <p:spPr>
            <a:xfrm>
              <a:off x="9264353" y="2348881"/>
              <a:ext cx="864094" cy="2808312"/>
            </a:xfrm>
            <a:prstGeom prst="rect">
              <a:avLst/>
            </a:prstGeom>
            <a:noFill/>
            <a:ln cap="flat" cmpd="sng" w="127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197" name="Google Shape;197;p8"/>
            <p:cNvSpPr/>
            <p:nvPr/>
          </p:nvSpPr>
          <p:spPr>
            <a:xfrm>
              <a:off x="7146157" y="4714958"/>
              <a:ext cx="2982292" cy="442235"/>
            </a:xfrm>
            <a:prstGeom prst="rect">
              <a:avLst/>
            </a:prstGeom>
            <a:noFill/>
            <a:ln cap="flat" cmpd="sng" w="127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198" name="Google Shape;198;p8"/>
            <p:cNvSpPr/>
            <p:nvPr/>
          </p:nvSpPr>
          <p:spPr>
            <a:xfrm rot="-2881461">
              <a:off x="6952657" y="4530253"/>
              <a:ext cx="1040419" cy="442235"/>
            </a:xfrm>
            <a:prstGeom prst="rect">
              <a:avLst/>
            </a:prstGeom>
            <a:noFill/>
            <a:ln cap="flat" cmpd="sng" w="127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cxnSp>
          <p:nvCxnSpPr>
            <p:cNvPr id="199" name="Google Shape;199;p8"/>
            <p:cNvCxnSpPr>
              <a:endCxn id="194" idx="0"/>
            </p:cNvCxnSpPr>
            <p:nvPr/>
          </p:nvCxnSpPr>
          <p:spPr>
            <a:xfrm flipH="1" rot="10800000">
              <a:off x="10128322" y="3222168"/>
              <a:ext cx="823800" cy="711000"/>
            </a:xfrm>
            <a:prstGeom prst="straightConnector1">
              <a:avLst/>
            </a:prstGeom>
            <a:noFill/>
            <a:ln cap="flat" cmpd="sng" w="28575">
              <a:solidFill>
                <a:srgbClr val="00B0F0"/>
              </a:solidFill>
              <a:prstDash val="dash"/>
              <a:round/>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9"/>
          <p:cNvSpPr txBox="1"/>
          <p:nvPr>
            <p:ph type="title"/>
          </p:nvPr>
        </p:nvSpPr>
        <p:spPr>
          <a:xfrm>
            <a:off x="1560576" y="2355566"/>
            <a:ext cx="9070848" cy="258775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800"/>
              <a:buFont typeface="Garamond"/>
              <a:buNone/>
            </a:pPr>
            <a:r>
              <a:rPr lang="es-BO" sz="4800">
                <a:solidFill>
                  <a:schemeClr val="dk1"/>
                </a:solidFill>
              </a:rPr>
              <a:t>RECONOCIMIENTO Y UBICACIÓN DE LOS COMPONENTES DEL SISTEMA DE CONTROL</a:t>
            </a:r>
            <a:endParaRPr sz="4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0"/>
          <p:cNvSpPr txBox="1"/>
          <p:nvPr>
            <p:ph type="title"/>
          </p:nvPr>
        </p:nvSpPr>
        <p:spPr>
          <a:xfrm>
            <a:off x="962297" y="398754"/>
            <a:ext cx="10058400" cy="8204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Componentes del sistema de control </a:t>
            </a:r>
            <a:endParaRPr b="1"/>
          </a:p>
        </p:txBody>
      </p:sp>
      <p:sp>
        <p:nvSpPr>
          <p:cNvPr id="210" name="Google Shape;210;p10"/>
          <p:cNvSpPr txBox="1"/>
          <p:nvPr>
            <p:ph idx="1" type="body"/>
          </p:nvPr>
        </p:nvSpPr>
        <p:spPr>
          <a:xfrm>
            <a:off x="4079631" y="1219200"/>
            <a:ext cx="7169834" cy="4929051"/>
          </a:xfrm>
          <a:prstGeom prst="rect">
            <a:avLst/>
          </a:prstGeom>
          <a:noFill/>
          <a:ln>
            <a:noFill/>
          </a:ln>
        </p:spPr>
        <p:txBody>
          <a:bodyPr anchorCtr="0" anchor="t" bIns="45700" lIns="91425" spcFirstLastPara="1" rIns="91425" wrap="square" tIns="45700">
            <a:normAutofit fontScale="92500" lnSpcReduction="20000"/>
          </a:bodyPr>
          <a:lstStyle/>
          <a:p>
            <a:pPr indent="-450850" lvl="0" marL="450850" rtl="0" algn="l">
              <a:lnSpc>
                <a:spcPct val="100000"/>
              </a:lnSpc>
              <a:spcBef>
                <a:spcPts val="0"/>
              </a:spcBef>
              <a:spcAft>
                <a:spcPts val="0"/>
              </a:spcAft>
              <a:buSzPct val="100000"/>
              <a:buFont typeface="Noto Sans Symbols"/>
              <a:buChar char="⮚"/>
            </a:pPr>
            <a:r>
              <a:rPr lang="es-BO" sz="2000"/>
              <a:t>Balizas</a:t>
            </a:r>
            <a:endParaRPr/>
          </a:p>
          <a:p>
            <a:pPr indent="-450850" lvl="0" marL="450850" rtl="0" algn="l">
              <a:lnSpc>
                <a:spcPct val="100000"/>
              </a:lnSpc>
              <a:spcBef>
                <a:spcPts val="900"/>
              </a:spcBef>
              <a:spcAft>
                <a:spcPts val="0"/>
              </a:spcAft>
              <a:buSzPct val="100000"/>
              <a:buFont typeface="Noto Sans Symbols"/>
              <a:buChar char="⮚"/>
            </a:pPr>
            <a:r>
              <a:rPr lang="es-BO" sz="2000"/>
              <a:t>Variador de frecuencia</a:t>
            </a:r>
            <a:endParaRPr/>
          </a:p>
          <a:p>
            <a:pPr indent="-450850" lvl="0" marL="450850" rtl="0" algn="l">
              <a:lnSpc>
                <a:spcPct val="100000"/>
              </a:lnSpc>
              <a:spcBef>
                <a:spcPts val="900"/>
              </a:spcBef>
              <a:spcAft>
                <a:spcPts val="0"/>
              </a:spcAft>
              <a:buSzPct val="100000"/>
              <a:buFont typeface="Noto Sans Symbols"/>
              <a:buChar char="⮚"/>
            </a:pPr>
            <a:r>
              <a:rPr lang="es-BO" sz="2000"/>
              <a:t>Electroválvulas</a:t>
            </a:r>
            <a:endParaRPr/>
          </a:p>
          <a:p>
            <a:pPr indent="-450850" lvl="0" marL="450850" rtl="0" algn="l">
              <a:lnSpc>
                <a:spcPct val="100000"/>
              </a:lnSpc>
              <a:spcBef>
                <a:spcPts val="900"/>
              </a:spcBef>
              <a:spcAft>
                <a:spcPts val="0"/>
              </a:spcAft>
              <a:buSzPct val="100000"/>
              <a:buFont typeface="Noto Sans Symbols"/>
              <a:buChar char="⮚"/>
            </a:pPr>
            <a:r>
              <a:rPr lang="es-BO" sz="2000"/>
              <a:t>Bomba</a:t>
            </a:r>
            <a:endParaRPr/>
          </a:p>
          <a:p>
            <a:pPr indent="-450850" lvl="0" marL="450850" rtl="0" algn="l">
              <a:lnSpc>
                <a:spcPct val="100000"/>
              </a:lnSpc>
              <a:spcBef>
                <a:spcPts val="900"/>
              </a:spcBef>
              <a:spcAft>
                <a:spcPts val="0"/>
              </a:spcAft>
              <a:buSzPct val="100000"/>
              <a:buFont typeface="Noto Sans Symbols"/>
              <a:buChar char="⮚"/>
            </a:pPr>
            <a:r>
              <a:rPr lang="es-BO" sz="2000"/>
              <a:t>Motor</a:t>
            </a:r>
            <a:endParaRPr/>
          </a:p>
          <a:p>
            <a:pPr indent="-450850" lvl="0" marL="450850" rtl="0" algn="l">
              <a:lnSpc>
                <a:spcPct val="100000"/>
              </a:lnSpc>
              <a:spcBef>
                <a:spcPts val="900"/>
              </a:spcBef>
              <a:spcAft>
                <a:spcPts val="0"/>
              </a:spcAft>
              <a:buSzPct val="100000"/>
              <a:buFont typeface="Noto Sans Symbols"/>
              <a:buChar char="⮚"/>
            </a:pPr>
            <a:r>
              <a:rPr lang="es-BO" sz="2000"/>
              <a:t>Dosificador </a:t>
            </a:r>
            <a:endParaRPr/>
          </a:p>
          <a:p>
            <a:pPr indent="-450850" lvl="0" marL="450850" rtl="0" algn="l">
              <a:lnSpc>
                <a:spcPct val="100000"/>
              </a:lnSpc>
              <a:spcBef>
                <a:spcPts val="900"/>
              </a:spcBef>
              <a:spcAft>
                <a:spcPts val="0"/>
              </a:spcAft>
              <a:buSzPct val="100000"/>
              <a:buFont typeface="Noto Sans Symbols"/>
              <a:buChar char="⮚"/>
            </a:pPr>
            <a:r>
              <a:rPr lang="es-BO" sz="2000"/>
              <a:t>Sensor de presión</a:t>
            </a:r>
            <a:endParaRPr/>
          </a:p>
          <a:p>
            <a:pPr indent="-450850" lvl="0" marL="450850" rtl="0" algn="l">
              <a:lnSpc>
                <a:spcPct val="100000"/>
              </a:lnSpc>
              <a:spcBef>
                <a:spcPts val="900"/>
              </a:spcBef>
              <a:spcAft>
                <a:spcPts val="0"/>
              </a:spcAft>
              <a:buSzPct val="100000"/>
              <a:buFont typeface="Noto Sans Symbols"/>
              <a:buChar char="⮚"/>
            </a:pPr>
            <a:r>
              <a:rPr lang="es-BO" sz="2000"/>
              <a:t>Sensor vibratorio</a:t>
            </a:r>
            <a:endParaRPr/>
          </a:p>
          <a:p>
            <a:pPr indent="-450850" lvl="0" marL="450850" rtl="0" algn="l">
              <a:lnSpc>
                <a:spcPct val="100000"/>
              </a:lnSpc>
              <a:spcBef>
                <a:spcPts val="900"/>
              </a:spcBef>
              <a:spcAft>
                <a:spcPts val="0"/>
              </a:spcAft>
              <a:buSzPct val="100000"/>
              <a:buFont typeface="Noto Sans Symbols"/>
              <a:buChar char="⮚"/>
            </a:pPr>
            <a:r>
              <a:rPr lang="es-BO" sz="2000"/>
              <a:t>Sensor ultrasónico</a:t>
            </a:r>
            <a:endParaRPr/>
          </a:p>
          <a:p>
            <a:pPr indent="-450850" lvl="0" marL="450850" rtl="0" algn="l">
              <a:lnSpc>
                <a:spcPct val="100000"/>
              </a:lnSpc>
              <a:spcBef>
                <a:spcPts val="900"/>
              </a:spcBef>
              <a:spcAft>
                <a:spcPts val="0"/>
              </a:spcAft>
              <a:buSzPct val="100000"/>
              <a:buFont typeface="Noto Sans Symbols"/>
              <a:buChar char="⮚"/>
            </a:pPr>
            <a:r>
              <a:rPr b="1" lang="es-BO" sz="2000"/>
              <a:t>PLC</a:t>
            </a:r>
            <a:endParaRPr/>
          </a:p>
          <a:p>
            <a:pPr indent="-450850" lvl="0" marL="450850" rtl="0" algn="l">
              <a:lnSpc>
                <a:spcPct val="100000"/>
              </a:lnSpc>
              <a:spcBef>
                <a:spcPts val="900"/>
              </a:spcBef>
              <a:spcAft>
                <a:spcPts val="0"/>
              </a:spcAft>
              <a:buSzPct val="100000"/>
              <a:buFont typeface="Noto Sans Symbols"/>
              <a:buChar char="⮚"/>
            </a:pPr>
            <a:r>
              <a:rPr b="1" lang="es-BO" sz="2000"/>
              <a:t>HMI</a:t>
            </a:r>
            <a:endParaRPr/>
          </a:p>
          <a:p>
            <a:pPr indent="-450850" lvl="0" marL="450850" rtl="0" algn="l">
              <a:lnSpc>
                <a:spcPct val="100000"/>
              </a:lnSpc>
              <a:spcBef>
                <a:spcPts val="900"/>
              </a:spcBef>
              <a:spcAft>
                <a:spcPts val="0"/>
              </a:spcAft>
              <a:buSzPct val="100000"/>
              <a:buFont typeface="Noto Sans Symbols"/>
              <a:buChar char="⮚"/>
            </a:pPr>
            <a:r>
              <a:rPr lang="es-BO" sz="2000"/>
              <a:t>Sensor de temperatura </a:t>
            </a:r>
            <a:endParaRPr/>
          </a:p>
          <a:p>
            <a:pPr indent="-450850" lvl="0" marL="450850" rtl="0" algn="l">
              <a:lnSpc>
                <a:spcPct val="100000"/>
              </a:lnSpc>
              <a:spcBef>
                <a:spcPts val="900"/>
              </a:spcBef>
              <a:spcAft>
                <a:spcPts val="0"/>
              </a:spcAft>
              <a:buSzPct val="100000"/>
              <a:buFont typeface="Noto Sans Symbols"/>
              <a:buChar char="⮚"/>
            </a:pPr>
            <a:r>
              <a:rPr b="1" lang="es-BO" sz="2000"/>
              <a:t>Fuente</a:t>
            </a:r>
            <a:endParaRPr/>
          </a:p>
          <a:p>
            <a:pPr indent="-450850" lvl="0" marL="450850" rtl="0" algn="l">
              <a:lnSpc>
                <a:spcPct val="100000"/>
              </a:lnSpc>
              <a:spcBef>
                <a:spcPts val="900"/>
              </a:spcBef>
              <a:spcAft>
                <a:spcPts val="0"/>
              </a:spcAft>
              <a:buSzPct val="100000"/>
              <a:buFont typeface="Noto Sans Symbols"/>
              <a:buChar char="⮚"/>
            </a:pPr>
            <a:r>
              <a:rPr b="1" lang="es-BO" sz="2000"/>
              <a:t>Modulo de expansión del plc</a:t>
            </a:r>
            <a:endParaRPr b="1" sz="2000"/>
          </a:p>
          <a:p>
            <a:pPr indent="-77152" lvl="0" marL="182880" rtl="0" algn="l">
              <a:lnSpc>
                <a:spcPct val="100000"/>
              </a:lnSpc>
              <a:spcBef>
                <a:spcPts val="900"/>
              </a:spcBef>
              <a:spcAft>
                <a:spcPts val="0"/>
              </a:spcAft>
              <a:buSzPct val="100000"/>
              <a:buNone/>
            </a:pPr>
            <a:r>
              <a:t/>
            </a:r>
            <a:endParaRPr/>
          </a:p>
          <a:p>
            <a:pPr indent="-77152" lvl="0" marL="182880" rtl="0" algn="l">
              <a:lnSpc>
                <a:spcPct val="100000"/>
              </a:lnSpc>
              <a:spcBef>
                <a:spcPts val="900"/>
              </a:spcBef>
              <a:spcAft>
                <a:spcPts val="0"/>
              </a:spcAft>
              <a:buSzPct val="100000"/>
              <a:buNone/>
            </a:pPr>
            <a:r>
              <a:t/>
            </a:r>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1"/>
          <p:cNvSpPr txBox="1"/>
          <p:nvPr>
            <p:ph type="title"/>
          </p:nvPr>
        </p:nvSpPr>
        <p:spPr>
          <a:xfrm>
            <a:off x="962297" y="398754"/>
            <a:ext cx="10058400" cy="8204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Componentes del sistema de control </a:t>
            </a:r>
            <a:endParaRPr b="1"/>
          </a:p>
        </p:txBody>
      </p:sp>
      <p:sp>
        <p:nvSpPr>
          <p:cNvPr id="216" name="Google Shape;216;p11"/>
          <p:cNvSpPr txBox="1"/>
          <p:nvPr>
            <p:ph idx="1" type="body"/>
          </p:nvPr>
        </p:nvSpPr>
        <p:spPr>
          <a:xfrm>
            <a:off x="962297" y="1219201"/>
            <a:ext cx="3736312" cy="525194"/>
          </a:xfrm>
          <a:prstGeom prst="rect">
            <a:avLst/>
          </a:prstGeom>
          <a:noFill/>
          <a:ln>
            <a:noFill/>
          </a:ln>
        </p:spPr>
        <p:txBody>
          <a:bodyPr anchorCtr="0" anchor="t" bIns="45700" lIns="91425" spcFirstLastPara="1" rIns="91425" wrap="square" tIns="45700">
            <a:normAutofit/>
          </a:bodyPr>
          <a:lstStyle/>
          <a:p>
            <a:pPr indent="-450850" lvl="0" marL="450850" rtl="0" algn="l">
              <a:lnSpc>
                <a:spcPct val="100000"/>
              </a:lnSpc>
              <a:spcBef>
                <a:spcPts val="0"/>
              </a:spcBef>
              <a:spcAft>
                <a:spcPts val="0"/>
              </a:spcAft>
              <a:buSzPts val="2000"/>
              <a:buFont typeface="Noto Sans Symbols"/>
              <a:buChar char="⮚"/>
            </a:pPr>
            <a:r>
              <a:rPr lang="es-BO" sz="2000"/>
              <a:t>Baliza luminosa (rojo y verde)</a:t>
            </a:r>
            <a:endParaRPr b="1" sz="2000"/>
          </a:p>
        </p:txBody>
      </p:sp>
      <p:pic>
        <p:nvPicPr>
          <p:cNvPr id="217" name="Google Shape;217;p11"/>
          <p:cNvPicPr preferRelativeResize="0"/>
          <p:nvPr/>
        </p:nvPicPr>
        <p:blipFill rotWithShape="1">
          <a:blip r:embed="rId3">
            <a:alphaModFix/>
          </a:blip>
          <a:srcRect b="0" l="12200" r="15350" t="0"/>
          <a:stretch/>
        </p:blipFill>
        <p:spPr>
          <a:xfrm rot="5400000">
            <a:off x="5448705" y="1991784"/>
            <a:ext cx="4561755" cy="3541784"/>
          </a:xfrm>
          <a:prstGeom prst="rect">
            <a:avLst/>
          </a:prstGeom>
          <a:noFill/>
          <a:ln>
            <a:noFill/>
          </a:ln>
        </p:spPr>
      </p:pic>
      <p:pic>
        <p:nvPicPr>
          <p:cNvPr id="218" name="Google Shape;218;p11"/>
          <p:cNvPicPr preferRelativeResize="0"/>
          <p:nvPr/>
        </p:nvPicPr>
        <p:blipFill rotWithShape="1">
          <a:blip r:embed="rId4">
            <a:alphaModFix/>
          </a:blip>
          <a:srcRect b="21606" l="0" r="0" t="15001"/>
          <a:stretch/>
        </p:blipFill>
        <p:spPr>
          <a:xfrm>
            <a:off x="1520382" y="1696052"/>
            <a:ext cx="3161109" cy="4347502"/>
          </a:xfrm>
          <a:prstGeom prst="rect">
            <a:avLst/>
          </a:prstGeom>
          <a:noFill/>
          <a:ln>
            <a:noFill/>
          </a:ln>
        </p:spPr>
      </p:pic>
      <p:grpSp>
        <p:nvGrpSpPr>
          <p:cNvPr id="219" name="Google Shape;219;p11"/>
          <p:cNvGrpSpPr/>
          <p:nvPr/>
        </p:nvGrpSpPr>
        <p:grpSpPr>
          <a:xfrm>
            <a:off x="3803648" y="1799223"/>
            <a:ext cx="241301" cy="475177"/>
            <a:chOff x="4682456" y="1558130"/>
            <a:chExt cx="282317" cy="560161"/>
          </a:xfrm>
        </p:grpSpPr>
        <p:sp>
          <p:nvSpPr>
            <p:cNvPr id="220" name="Google Shape;220;p11"/>
            <p:cNvSpPr/>
            <p:nvPr/>
          </p:nvSpPr>
          <p:spPr>
            <a:xfrm>
              <a:off x="4682456" y="1558130"/>
              <a:ext cx="282317" cy="264700"/>
            </a:xfrm>
            <a:prstGeom prst="rect">
              <a:avLst/>
            </a:prstGeom>
            <a:noFill/>
            <a:ln cap="flat" cmpd="sng" w="12700">
              <a:solidFill>
                <a:srgbClr val="FF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221" name="Google Shape;221;p11"/>
            <p:cNvSpPr/>
            <p:nvPr/>
          </p:nvSpPr>
          <p:spPr>
            <a:xfrm>
              <a:off x="4682456" y="1853591"/>
              <a:ext cx="282317" cy="264700"/>
            </a:xfrm>
            <a:prstGeom prst="rect">
              <a:avLst/>
            </a:prstGeom>
            <a:noFill/>
            <a:ln cap="flat" cmpd="sng" w="12700">
              <a:solidFill>
                <a:srgbClr val="00B05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grpSp>
      <p:sp>
        <p:nvSpPr>
          <p:cNvPr id="222" name="Google Shape;222;p11"/>
          <p:cNvSpPr txBox="1"/>
          <p:nvPr/>
        </p:nvSpPr>
        <p:spPr>
          <a:xfrm>
            <a:off x="8678978" y="1995430"/>
            <a:ext cx="2307990" cy="339408"/>
          </a:xfrm>
          <a:prstGeom prst="rect">
            <a:avLst/>
          </a:prstGeom>
          <a:solidFill>
            <a:srgbClr val="FF0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Garamond"/>
                <a:ea typeface="Garamond"/>
                <a:cs typeface="Garamond"/>
                <a:sym typeface="Garamond"/>
              </a:rPr>
              <a:t>Baliza de color Rojo</a:t>
            </a:r>
            <a:endParaRPr/>
          </a:p>
        </p:txBody>
      </p:sp>
      <p:sp>
        <p:nvSpPr>
          <p:cNvPr id="223" name="Google Shape;223;p11"/>
          <p:cNvSpPr txBox="1"/>
          <p:nvPr/>
        </p:nvSpPr>
        <p:spPr>
          <a:xfrm>
            <a:off x="8712706" y="3079700"/>
            <a:ext cx="2307991" cy="339408"/>
          </a:xfrm>
          <a:prstGeom prst="rect">
            <a:avLst/>
          </a:prstGeom>
          <a:solidFill>
            <a:srgbClr val="00B05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Garamond"/>
                <a:ea typeface="Garamond"/>
                <a:cs typeface="Garamond"/>
                <a:sym typeface="Garamond"/>
              </a:rPr>
              <a:t>Baliza de color Verde</a:t>
            </a:r>
            <a:endParaRPr/>
          </a:p>
        </p:txBody>
      </p:sp>
      <p:sp>
        <p:nvSpPr>
          <p:cNvPr id="224" name="Google Shape;224;p11"/>
          <p:cNvSpPr/>
          <p:nvPr/>
        </p:nvSpPr>
        <p:spPr>
          <a:xfrm>
            <a:off x="7041726" y="1481798"/>
            <a:ext cx="1202388" cy="1254494"/>
          </a:xfrm>
          <a:prstGeom prst="rect">
            <a:avLst/>
          </a:prstGeom>
          <a:noFill/>
          <a:ln cap="flat" cmpd="sng" w="12700">
            <a:solidFill>
              <a:srgbClr val="FF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225" name="Google Shape;225;p11"/>
          <p:cNvSpPr/>
          <p:nvPr/>
        </p:nvSpPr>
        <p:spPr>
          <a:xfrm>
            <a:off x="7041726" y="2807362"/>
            <a:ext cx="1202388" cy="1254494"/>
          </a:xfrm>
          <a:prstGeom prst="rect">
            <a:avLst/>
          </a:prstGeom>
          <a:noFill/>
          <a:ln cap="flat" cmpd="sng" w="12700">
            <a:solidFill>
              <a:srgbClr val="00B05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7"/>
                                        </p:tgtEl>
                                        <p:attrNameLst>
                                          <p:attrName>style.visibility</p:attrName>
                                        </p:attrNameLst>
                                      </p:cBhvr>
                                      <p:to>
                                        <p:strVal val="visible"/>
                                      </p:to>
                                    </p:set>
                                    <p:anim calcmode="lin" valueType="num">
                                      <p:cBhvr additive="base">
                                        <p:cTn dur="500"/>
                                        <p:tgtEl>
                                          <p:spTgt spid="217"/>
                                        </p:tgtEl>
                                        <p:attrNameLst>
                                          <p:attrName>ppt_w</p:attrName>
                                        </p:attrNameLst>
                                      </p:cBhvr>
                                      <p:tavLst>
                                        <p:tav fmla="" tm="0">
                                          <p:val>
                                            <p:strVal val="0"/>
                                          </p:val>
                                        </p:tav>
                                        <p:tav fmla="" tm="100000">
                                          <p:val>
                                            <p:strVal val="#ppt_w"/>
                                          </p:val>
                                        </p:tav>
                                      </p:tavLst>
                                    </p:anim>
                                    <p:anim calcmode="lin" valueType="num">
                                      <p:cBhvr additive="base">
                                        <p:cTn dur="500"/>
                                        <p:tgtEl>
                                          <p:spTgt spid="21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500"/>
                                        <p:tgtEl>
                                          <p:spTgt spid="22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24"/>
                                        </p:tgtEl>
                                        <p:attrNameLst>
                                          <p:attrName>style.visibility</p:attrName>
                                        </p:attrNameLst>
                                      </p:cBhvr>
                                      <p:to>
                                        <p:strVal val="visible"/>
                                      </p:to>
                                    </p:set>
                                    <p:anim calcmode="lin" valueType="num">
                                      <p:cBhvr additive="base">
                                        <p:cTn dur="500"/>
                                        <p:tgtEl>
                                          <p:spTgt spid="22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25"/>
                                        </p:tgtEl>
                                        <p:attrNameLst>
                                          <p:attrName>style.visibility</p:attrName>
                                        </p:attrNameLst>
                                      </p:cBhvr>
                                      <p:to>
                                        <p:strVal val="visible"/>
                                      </p:to>
                                    </p:set>
                                    <p:anim calcmode="lin" valueType="num">
                                      <p:cBhvr additive="base">
                                        <p:cTn dur="500"/>
                                        <p:tgtEl>
                                          <p:spTgt spid="22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23"/>
                                        </p:tgtEl>
                                        <p:attrNameLst>
                                          <p:attrName>style.visibility</p:attrName>
                                        </p:attrNameLst>
                                      </p:cBhvr>
                                      <p:to>
                                        <p:strVal val="visible"/>
                                      </p:to>
                                    </p:set>
                                    <p:anim calcmode="lin" valueType="num">
                                      <p:cBhvr additive="base">
                                        <p:cTn dur="500"/>
                                        <p:tgtEl>
                                          <p:spTgt spid="22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2"/>
          <p:cNvSpPr txBox="1"/>
          <p:nvPr/>
        </p:nvSpPr>
        <p:spPr>
          <a:xfrm>
            <a:off x="962297" y="398754"/>
            <a:ext cx="10058400" cy="820446"/>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262626"/>
              </a:buClr>
              <a:buSzPts val="4800"/>
              <a:buFont typeface="Garamond"/>
              <a:buNone/>
            </a:pPr>
            <a:r>
              <a:rPr b="1" lang="es-BO" sz="4800" cap="none">
                <a:solidFill>
                  <a:srgbClr val="262626"/>
                </a:solidFill>
                <a:latin typeface="Garamond"/>
                <a:ea typeface="Garamond"/>
                <a:cs typeface="Garamond"/>
                <a:sym typeface="Garamond"/>
              </a:rPr>
              <a:t>Componentes del sistema de control </a:t>
            </a:r>
            <a:endParaRPr/>
          </a:p>
        </p:txBody>
      </p:sp>
      <p:sp>
        <p:nvSpPr>
          <p:cNvPr id="231" name="Google Shape;231;p12"/>
          <p:cNvSpPr txBox="1"/>
          <p:nvPr/>
        </p:nvSpPr>
        <p:spPr>
          <a:xfrm>
            <a:off x="962297" y="1219201"/>
            <a:ext cx="3736312" cy="525194"/>
          </a:xfrm>
          <a:prstGeom prst="rect">
            <a:avLst/>
          </a:prstGeom>
          <a:noFill/>
          <a:ln>
            <a:noFill/>
          </a:ln>
        </p:spPr>
        <p:txBody>
          <a:bodyPr anchorCtr="0" anchor="t" bIns="45700" lIns="91425" spcFirstLastPara="1" rIns="91425" wrap="square" tIns="45700">
            <a:normAutofit/>
          </a:bodyPr>
          <a:lstStyle/>
          <a:p>
            <a:pPr indent="-450850" lvl="0" marL="450850" marR="0" rtl="0" algn="l">
              <a:lnSpc>
                <a:spcPct val="100000"/>
              </a:lnSpc>
              <a:spcBef>
                <a:spcPts val="0"/>
              </a:spcBef>
              <a:spcAft>
                <a:spcPts val="0"/>
              </a:spcAft>
              <a:buClr>
                <a:srgbClr val="262626"/>
              </a:buClr>
              <a:buSzPts val="2000"/>
              <a:buFont typeface="Noto Sans Symbols"/>
              <a:buChar char="⮚"/>
            </a:pPr>
            <a:r>
              <a:rPr lang="es-BO" sz="2000">
                <a:solidFill>
                  <a:schemeClr val="dk1"/>
                </a:solidFill>
                <a:latin typeface="Garamond"/>
                <a:ea typeface="Garamond"/>
                <a:cs typeface="Garamond"/>
                <a:sym typeface="Garamond"/>
              </a:rPr>
              <a:t>Sensor vibratorio</a:t>
            </a:r>
            <a:endParaRPr b="1" sz="2000">
              <a:solidFill>
                <a:schemeClr val="dk1"/>
              </a:solidFill>
              <a:latin typeface="Garamond"/>
              <a:ea typeface="Garamond"/>
              <a:cs typeface="Garamond"/>
              <a:sym typeface="Garamond"/>
            </a:endParaRPr>
          </a:p>
        </p:txBody>
      </p:sp>
      <p:pic>
        <p:nvPicPr>
          <p:cNvPr id="232" name="Google Shape;232;p12"/>
          <p:cNvPicPr preferRelativeResize="0"/>
          <p:nvPr/>
        </p:nvPicPr>
        <p:blipFill rotWithShape="1">
          <a:blip r:embed="rId3">
            <a:alphaModFix/>
          </a:blip>
          <a:srcRect b="21606" l="0" r="0" t="15001"/>
          <a:stretch/>
        </p:blipFill>
        <p:spPr>
          <a:xfrm>
            <a:off x="1520382" y="1696052"/>
            <a:ext cx="3161109" cy="4347502"/>
          </a:xfrm>
          <a:prstGeom prst="rect">
            <a:avLst/>
          </a:prstGeom>
          <a:noFill/>
          <a:ln>
            <a:noFill/>
          </a:ln>
        </p:spPr>
      </p:pic>
      <p:pic>
        <p:nvPicPr>
          <p:cNvPr id="233" name="Google Shape;233;p12"/>
          <p:cNvPicPr preferRelativeResize="0"/>
          <p:nvPr/>
        </p:nvPicPr>
        <p:blipFill rotWithShape="1">
          <a:blip r:embed="rId4">
            <a:alphaModFix/>
          </a:blip>
          <a:srcRect b="20601" l="0" r="0" t="15350"/>
          <a:stretch/>
        </p:blipFill>
        <p:spPr>
          <a:xfrm rot="5400000">
            <a:off x="7476180" y="1803662"/>
            <a:ext cx="2745513" cy="3815001"/>
          </a:xfrm>
          <a:prstGeom prst="rect">
            <a:avLst/>
          </a:prstGeom>
          <a:noFill/>
          <a:ln>
            <a:noFill/>
          </a:ln>
        </p:spPr>
      </p:pic>
      <p:sp>
        <p:nvSpPr>
          <p:cNvPr id="234" name="Google Shape;234;p12"/>
          <p:cNvSpPr/>
          <p:nvPr/>
        </p:nvSpPr>
        <p:spPr>
          <a:xfrm>
            <a:off x="1788511" y="2488413"/>
            <a:ext cx="314133" cy="211926"/>
          </a:xfrm>
          <a:prstGeom prst="rect">
            <a:avLst/>
          </a:prstGeom>
          <a:noFill/>
          <a:ln cap="flat" cmpd="sng" w="12700">
            <a:solidFill>
              <a:srgbClr val="92D05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235" name="Google Shape;235;p12"/>
          <p:cNvSpPr/>
          <p:nvPr/>
        </p:nvSpPr>
        <p:spPr>
          <a:xfrm>
            <a:off x="1847850" y="3429000"/>
            <a:ext cx="271463" cy="166688"/>
          </a:xfrm>
          <a:prstGeom prst="rect">
            <a:avLst/>
          </a:prstGeom>
          <a:noFill/>
          <a:ln cap="flat" cmpd="sng" w="127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236" name="Google Shape;236;p12"/>
          <p:cNvSpPr txBox="1"/>
          <p:nvPr/>
        </p:nvSpPr>
        <p:spPr>
          <a:xfrm>
            <a:off x="4888225" y="1744395"/>
            <a:ext cx="2255525" cy="338554"/>
          </a:xfrm>
          <a:prstGeom prst="rect">
            <a:avLst/>
          </a:prstGeom>
          <a:solidFill>
            <a:srgbClr val="92D050"/>
          </a:solidFill>
          <a:ln cap="flat" cmpd="sng" w="9525">
            <a:solidFill>
              <a:srgbClr val="92D05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1600">
                <a:solidFill>
                  <a:schemeClr val="dk1"/>
                </a:solidFill>
                <a:latin typeface="Garamond"/>
                <a:ea typeface="Garamond"/>
                <a:cs typeface="Garamond"/>
                <a:sym typeface="Garamond"/>
              </a:rPr>
              <a:t>Sensor vibratorio 1 (SW1)</a:t>
            </a:r>
            <a:endParaRPr/>
          </a:p>
        </p:txBody>
      </p:sp>
      <p:sp>
        <p:nvSpPr>
          <p:cNvPr id="237" name="Google Shape;237;p12"/>
          <p:cNvSpPr txBox="1"/>
          <p:nvPr/>
        </p:nvSpPr>
        <p:spPr>
          <a:xfrm>
            <a:off x="4835681" y="5243948"/>
            <a:ext cx="2255525" cy="338554"/>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1600">
                <a:solidFill>
                  <a:schemeClr val="dk1"/>
                </a:solidFill>
                <a:latin typeface="Garamond"/>
                <a:ea typeface="Garamond"/>
                <a:cs typeface="Garamond"/>
                <a:sym typeface="Garamond"/>
              </a:rPr>
              <a:t>Sensor vibratorio 2 (SW2)</a:t>
            </a:r>
            <a:endParaRPr/>
          </a:p>
        </p:txBody>
      </p:sp>
      <p:sp>
        <p:nvSpPr>
          <p:cNvPr id="238" name="Google Shape;238;p12"/>
          <p:cNvSpPr/>
          <p:nvPr/>
        </p:nvSpPr>
        <p:spPr>
          <a:xfrm>
            <a:off x="2119313" y="3429000"/>
            <a:ext cx="3636366" cy="2202001"/>
          </a:xfrm>
          <a:prstGeom prst="cloudCallout">
            <a:avLst>
              <a:gd fmla="val 72679" name="adj1"/>
              <a:gd fmla="val -37422" name="adj2"/>
            </a:avLst>
          </a:prstGeom>
          <a:gradFill>
            <a:gsLst>
              <a:gs pos="0">
                <a:srgbClr val="91B0C8"/>
              </a:gs>
              <a:gs pos="50000">
                <a:srgbClr val="8FAFC7"/>
              </a:gs>
              <a:gs pos="100000">
                <a:srgbClr val="8EAEC7"/>
              </a:gs>
            </a:gsLst>
            <a:lin ang="5400000" scaled="0"/>
          </a:gradFill>
          <a:ln>
            <a:noFill/>
          </a:ln>
          <a:effectLst>
            <a:outerShdw blurRad="57150" rotWithShape="0" algn="ctr" dir="5400000" dist="19050">
              <a:srgbClr val="000000">
                <a:alpha val="62745"/>
              </a:srgbClr>
            </a:outerShdw>
          </a:effectLst>
        </p:spPr>
        <p:txBody>
          <a:bodyPr anchorCtr="0" anchor="t" bIns="45700" lIns="91425" spcFirstLastPara="1" rIns="91425" wrap="square" tIns="45700">
            <a:spAutoFit/>
          </a:bodyPr>
          <a:lstStyle/>
          <a:p>
            <a:pPr indent="0" lvl="0" marL="0" marR="0" rtl="0" algn="just">
              <a:spcBef>
                <a:spcPts val="0"/>
              </a:spcBef>
              <a:spcAft>
                <a:spcPts val="0"/>
              </a:spcAft>
              <a:buNone/>
            </a:pPr>
            <a:r>
              <a:rPr lang="es-BO" sz="2200">
                <a:solidFill>
                  <a:schemeClr val="lt1"/>
                </a:solidFill>
                <a:latin typeface="Garamond"/>
                <a:ea typeface="Garamond"/>
                <a:cs typeface="Garamond"/>
                <a:sym typeface="Garamond"/>
              </a:rPr>
              <a:t>Utilizado para la detección de nivel alto y bajo del líquido en el tanque.</a:t>
            </a:r>
            <a:endParaRPr sz="2200">
              <a:solidFill>
                <a:schemeClr val="lt1"/>
              </a:solidFill>
              <a:latin typeface="Garamond"/>
              <a:ea typeface="Garamond"/>
              <a:cs typeface="Garamond"/>
              <a:sym typeface="Garamon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3"/>
                                        </p:tgtEl>
                                        <p:attrNameLst>
                                          <p:attrName>style.visibility</p:attrName>
                                        </p:attrNameLst>
                                      </p:cBhvr>
                                      <p:to>
                                        <p:strVal val="visible"/>
                                      </p:to>
                                    </p:set>
                                    <p:anim calcmode="lin" valueType="num">
                                      <p:cBhvr additive="base">
                                        <p:cTn dur="500"/>
                                        <p:tgtEl>
                                          <p:spTgt spid="233"/>
                                        </p:tgtEl>
                                        <p:attrNameLst>
                                          <p:attrName>ppt_w</p:attrName>
                                        </p:attrNameLst>
                                      </p:cBhvr>
                                      <p:tavLst>
                                        <p:tav fmla="" tm="0">
                                          <p:val>
                                            <p:strVal val="0"/>
                                          </p:val>
                                        </p:tav>
                                        <p:tav fmla="" tm="100000">
                                          <p:val>
                                            <p:strVal val="#ppt_w"/>
                                          </p:val>
                                        </p:tav>
                                      </p:tavLst>
                                    </p:anim>
                                    <p:anim calcmode="lin" valueType="num">
                                      <p:cBhvr additive="base">
                                        <p:cTn dur="500"/>
                                        <p:tgtEl>
                                          <p:spTgt spid="23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34"/>
                                        </p:tgtEl>
                                      </p:cBhvr>
                                    </p:animEffect>
                                    <p:set>
                                      <p:cBhvr>
                                        <p:cTn dur="1" fill="hold">
                                          <p:stCondLst>
                                            <p:cond delay="500"/>
                                          </p:stCondLst>
                                        </p:cTn>
                                        <p:tgtEl>
                                          <p:spTgt spid="23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36"/>
                                        </p:tgtEl>
                                      </p:cBhvr>
                                    </p:animEffect>
                                    <p:set>
                                      <p:cBhvr>
                                        <p:cTn dur="1" fill="hold">
                                          <p:stCondLst>
                                            <p:cond delay="500"/>
                                          </p:stCondLst>
                                        </p:cTn>
                                        <p:tgtEl>
                                          <p:spTgt spid="23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35"/>
                                        </p:tgtEl>
                                      </p:cBhvr>
                                    </p:animEffect>
                                    <p:set>
                                      <p:cBhvr>
                                        <p:cTn dur="1" fill="hold">
                                          <p:stCondLst>
                                            <p:cond delay="500"/>
                                          </p:stCondLst>
                                        </p:cTn>
                                        <p:tgtEl>
                                          <p:spTgt spid="23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37"/>
                                        </p:tgtEl>
                                      </p:cBhvr>
                                    </p:animEffect>
                                    <p:set>
                                      <p:cBhvr>
                                        <p:cTn dur="1" fill="hold">
                                          <p:stCondLst>
                                            <p:cond delay="500"/>
                                          </p:stCondLst>
                                        </p:cTn>
                                        <p:tgtEl>
                                          <p:spTgt spid="23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32"/>
                                        </p:tgtEl>
                                      </p:cBhvr>
                                    </p:animEffect>
                                    <p:set>
                                      <p:cBhvr>
                                        <p:cTn dur="1" fill="hold">
                                          <p:stCondLst>
                                            <p:cond delay="500"/>
                                          </p:stCondLst>
                                        </p:cTn>
                                        <p:tgtEl>
                                          <p:spTgt spid="23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3"/>
          <p:cNvSpPr txBox="1"/>
          <p:nvPr>
            <p:ph type="title"/>
          </p:nvPr>
        </p:nvSpPr>
        <p:spPr>
          <a:xfrm>
            <a:off x="962297" y="398754"/>
            <a:ext cx="10058400" cy="8204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Componentes del sistema de control </a:t>
            </a:r>
            <a:endParaRPr b="1"/>
          </a:p>
        </p:txBody>
      </p:sp>
      <p:sp>
        <p:nvSpPr>
          <p:cNvPr id="244" name="Google Shape;244;p13"/>
          <p:cNvSpPr txBox="1"/>
          <p:nvPr>
            <p:ph idx="1" type="body"/>
          </p:nvPr>
        </p:nvSpPr>
        <p:spPr>
          <a:xfrm>
            <a:off x="962297" y="1219201"/>
            <a:ext cx="4392488" cy="525194"/>
          </a:xfrm>
          <a:prstGeom prst="rect">
            <a:avLst/>
          </a:prstGeom>
          <a:noFill/>
          <a:ln>
            <a:noFill/>
          </a:ln>
        </p:spPr>
        <p:txBody>
          <a:bodyPr anchorCtr="0" anchor="t" bIns="45700" lIns="91425" spcFirstLastPara="1" rIns="91425" wrap="square" tIns="45700">
            <a:noAutofit/>
          </a:bodyPr>
          <a:lstStyle/>
          <a:p>
            <a:pPr indent="-182880" lvl="0" marL="182880" rtl="0" algn="l">
              <a:lnSpc>
                <a:spcPct val="100000"/>
              </a:lnSpc>
              <a:spcBef>
                <a:spcPts val="0"/>
              </a:spcBef>
              <a:spcAft>
                <a:spcPts val="0"/>
              </a:spcAft>
              <a:buSzPts val="2000"/>
              <a:buFont typeface="Noto Sans Symbols"/>
              <a:buChar char="⮚"/>
            </a:pPr>
            <a:r>
              <a:rPr lang="es-BO" sz="2000"/>
              <a:t>Motor trifásico y Bomba centrífuga</a:t>
            </a:r>
            <a:endParaRPr sz="2000"/>
          </a:p>
        </p:txBody>
      </p:sp>
      <p:pic>
        <p:nvPicPr>
          <p:cNvPr id="245" name="Google Shape;245;p13"/>
          <p:cNvPicPr preferRelativeResize="0"/>
          <p:nvPr/>
        </p:nvPicPr>
        <p:blipFill rotWithShape="1">
          <a:blip r:embed="rId3">
            <a:alphaModFix/>
          </a:blip>
          <a:srcRect b="21606" l="0" r="0" t="15001"/>
          <a:stretch/>
        </p:blipFill>
        <p:spPr>
          <a:xfrm>
            <a:off x="1520382" y="1696052"/>
            <a:ext cx="3161109" cy="4347502"/>
          </a:xfrm>
          <a:prstGeom prst="rect">
            <a:avLst/>
          </a:prstGeom>
          <a:noFill/>
          <a:ln>
            <a:noFill/>
          </a:ln>
        </p:spPr>
      </p:pic>
      <p:sp>
        <p:nvSpPr>
          <p:cNvPr id="246" name="Google Shape;246;p13"/>
          <p:cNvSpPr/>
          <p:nvPr/>
        </p:nvSpPr>
        <p:spPr>
          <a:xfrm>
            <a:off x="3829050" y="4917962"/>
            <a:ext cx="700088" cy="864096"/>
          </a:xfrm>
          <a:prstGeom prst="rect">
            <a:avLst/>
          </a:prstGeom>
          <a:noFill/>
          <a:ln cap="flat" cmpd="sng" w="12700">
            <a:solidFill>
              <a:srgbClr val="BC581B"/>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247" name="Google Shape;247;p13"/>
          <p:cNvSpPr/>
          <p:nvPr/>
        </p:nvSpPr>
        <p:spPr>
          <a:xfrm>
            <a:off x="6665301" y="1318517"/>
            <a:ext cx="4392488" cy="3096344"/>
          </a:xfrm>
          <a:prstGeom prst="ellipse">
            <a:avLst/>
          </a:prstGeom>
          <a:blipFill rotWithShape="1">
            <a:blip r:embed="rId4">
              <a:alphaModFix/>
            </a:blip>
            <a:stretch>
              <a:fillRect b="0" l="0" r="0" t="0"/>
            </a:stretch>
          </a:blipFill>
          <a:ln cap="flat" cmpd="sng" w="127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248" name="Google Shape;248;p13"/>
          <p:cNvSpPr/>
          <p:nvPr/>
        </p:nvSpPr>
        <p:spPr>
          <a:xfrm>
            <a:off x="6809317" y="1696052"/>
            <a:ext cx="1368152" cy="2543569"/>
          </a:xfrm>
          <a:prstGeom prst="rect">
            <a:avLst/>
          </a:prstGeom>
          <a:noFill/>
          <a:ln cap="flat" cmpd="sng" w="12700">
            <a:solidFill>
              <a:srgbClr val="7030A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249" name="Google Shape;249;p13"/>
          <p:cNvSpPr/>
          <p:nvPr/>
        </p:nvSpPr>
        <p:spPr>
          <a:xfrm>
            <a:off x="8465501" y="1688129"/>
            <a:ext cx="2448271" cy="2543569"/>
          </a:xfrm>
          <a:prstGeom prst="rect">
            <a:avLst/>
          </a:prstGeom>
          <a:noFill/>
          <a:ln cap="flat" cmpd="sng" w="127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250" name="Google Shape;250;p13"/>
          <p:cNvSpPr txBox="1"/>
          <p:nvPr/>
        </p:nvSpPr>
        <p:spPr>
          <a:xfrm>
            <a:off x="8731482" y="4917962"/>
            <a:ext cx="2144699" cy="40011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BO" sz="2000">
                <a:solidFill>
                  <a:schemeClr val="dk1"/>
                </a:solidFill>
                <a:latin typeface="Garamond"/>
                <a:ea typeface="Garamond"/>
                <a:cs typeface="Garamond"/>
                <a:sym typeface="Garamond"/>
              </a:rPr>
              <a:t>Motor trifásico</a:t>
            </a:r>
            <a:endParaRPr/>
          </a:p>
        </p:txBody>
      </p:sp>
      <p:sp>
        <p:nvSpPr>
          <p:cNvPr id="251" name="Google Shape;251;p13"/>
          <p:cNvSpPr txBox="1"/>
          <p:nvPr/>
        </p:nvSpPr>
        <p:spPr>
          <a:xfrm>
            <a:off x="6445953" y="4917962"/>
            <a:ext cx="2144699" cy="400110"/>
          </a:xfrm>
          <a:prstGeom prst="rect">
            <a:avLst/>
          </a:prstGeom>
          <a:solidFill>
            <a:srgbClr val="F6E1AD"/>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2000">
                <a:solidFill>
                  <a:schemeClr val="dk1"/>
                </a:solidFill>
                <a:latin typeface="Garamond"/>
                <a:ea typeface="Garamond"/>
                <a:cs typeface="Garamond"/>
                <a:sym typeface="Garamond"/>
              </a:rPr>
              <a:t>Bomba centrífuga</a:t>
            </a:r>
            <a:endParaRPr b="0" i="0" sz="2000">
              <a:solidFill>
                <a:schemeClr val="dk1"/>
              </a:solidFill>
              <a:latin typeface="Garamond"/>
              <a:ea typeface="Garamond"/>
              <a:cs typeface="Garamond"/>
              <a:sym typeface="Garamond"/>
            </a:endParaRPr>
          </a:p>
        </p:txBody>
      </p:sp>
      <p:cxnSp>
        <p:nvCxnSpPr>
          <p:cNvPr id="252" name="Google Shape;252;p13"/>
          <p:cNvCxnSpPr>
            <a:stCxn id="248" idx="2"/>
            <a:endCxn id="251" idx="0"/>
          </p:cNvCxnSpPr>
          <p:nvPr/>
        </p:nvCxnSpPr>
        <p:spPr>
          <a:xfrm>
            <a:off x="7493393" y="4239621"/>
            <a:ext cx="24900" cy="678300"/>
          </a:xfrm>
          <a:prstGeom prst="straightConnector1">
            <a:avLst/>
          </a:prstGeom>
          <a:noFill/>
          <a:ln cap="flat" cmpd="sng" w="28575">
            <a:solidFill>
              <a:srgbClr val="7030A0"/>
            </a:solidFill>
            <a:prstDash val="dash"/>
            <a:round/>
            <a:headEnd len="sm" w="sm" type="none"/>
            <a:tailEnd len="med" w="med" type="triangle"/>
          </a:ln>
        </p:spPr>
      </p:cxnSp>
      <p:cxnSp>
        <p:nvCxnSpPr>
          <p:cNvPr id="253" name="Google Shape;253;p13"/>
          <p:cNvCxnSpPr>
            <a:endCxn id="250" idx="0"/>
          </p:cNvCxnSpPr>
          <p:nvPr/>
        </p:nvCxnSpPr>
        <p:spPr>
          <a:xfrm>
            <a:off x="9595332" y="4256462"/>
            <a:ext cx="208500" cy="661500"/>
          </a:xfrm>
          <a:prstGeom prst="straightConnector1">
            <a:avLst/>
          </a:prstGeom>
          <a:noFill/>
          <a:ln cap="flat" cmpd="sng" w="28575">
            <a:solidFill>
              <a:srgbClr val="FFFF00"/>
            </a:solidFill>
            <a:prstDash val="dash"/>
            <a:round/>
            <a:headEnd len="sm" w="sm" type="none"/>
            <a:tailEnd len="med" w="med" type="triangle"/>
          </a:ln>
        </p:spPr>
      </p:cxnSp>
      <p:sp>
        <p:nvSpPr>
          <p:cNvPr id="254" name="Google Shape;254;p13"/>
          <p:cNvSpPr/>
          <p:nvPr/>
        </p:nvSpPr>
        <p:spPr>
          <a:xfrm>
            <a:off x="1008582" y="3151213"/>
            <a:ext cx="4752747" cy="2483108"/>
          </a:xfrm>
          <a:prstGeom prst="cloudCallout">
            <a:avLst>
              <a:gd fmla="val 67953" name="adj1"/>
              <a:gd fmla="val -32611" name="adj2"/>
            </a:avLst>
          </a:prstGeom>
          <a:gradFill>
            <a:gsLst>
              <a:gs pos="0">
                <a:srgbClr val="C8D8D4"/>
              </a:gs>
              <a:gs pos="100000">
                <a:srgbClr val="B7CBC6"/>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BO" sz="2000">
                <a:solidFill>
                  <a:schemeClr val="dk1"/>
                </a:solidFill>
                <a:latin typeface="Garamond"/>
                <a:ea typeface="Garamond"/>
                <a:cs typeface="Garamond"/>
                <a:sym typeface="Garamond"/>
              </a:rPr>
              <a:t>El motor trifásico genera energía mecánica rotacional que posteriormente la bomba centrifuga transforma a energía hidráulica.</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7"/>
                                        </p:tgtEl>
                                        <p:attrNameLst>
                                          <p:attrName>style.visibility</p:attrName>
                                        </p:attrNameLst>
                                      </p:cBhvr>
                                      <p:to>
                                        <p:strVal val="visible"/>
                                      </p:to>
                                    </p:set>
                                    <p:anim calcmode="lin" valueType="num">
                                      <p:cBhvr additive="base">
                                        <p:cTn dur="500"/>
                                        <p:tgtEl>
                                          <p:spTgt spid="247"/>
                                        </p:tgtEl>
                                        <p:attrNameLst>
                                          <p:attrName>ppt_w</p:attrName>
                                        </p:attrNameLst>
                                      </p:cBhvr>
                                      <p:tavLst>
                                        <p:tav fmla="" tm="0">
                                          <p:val>
                                            <p:strVal val="0"/>
                                          </p:val>
                                        </p:tav>
                                        <p:tav fmla="" tm="100000">
                                          <p:val>
                                            <p:strVal val="#ppt_w"/>
                                          </p:val>
                                        </p:tav>
                                      </p:tavLst>
                                    </p:anim>
                                    <p:anim calcmode="lin" valueType="num">
                                      <p:cBhvr additive="base">
                                        <p:cTn dur="500"/>
                                        <p:tgtEl>
                                          <p:spTgt spid="24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52"/>
                                        </p:tgtEl>
                                        <p:attrNameLst>
                                          <p:attrName>style.visibility</p:attrName>
                                        </p:attrNameLst>
                                      </p:cBhvr>
                                      <p:to>
                                        <p:strVal val="visible"/>
                                      </p:to>
                                    </p:set>
                                    <p:anim calcmode="lin" valueType="num">
                                      <p:cBhvr additive="base">
                                        <p:cTn dur="500"/>
                                        <p:tgtEl>
                                          <p:spTgt spid="25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51"/>
                                        </p:tgtEl>
                                        <p:attrNameLst>
                                          <p:attrName>style.visibility</p:attrName>
                                        </p:attrNameLst>
                                      </p:cBhvr>
                                      <p:to>
                                        <p:strVal val="visible"/>
                                      </p:to>
                                    </p:set>
                                    <p:anim calcmode="lin" valueType="num">
                                      <p:cBhvr additive="base">
                                        <p:cTn dur="500"/>
                                        <p:tgtEl>
                                          <p:spTgt spid="25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9"/>
                                        </p:tgtEl>
                                        <p:attrNameLst>
                                          <p:attrName>style.visibility</p:attrName>
                                        </p:attrNameLst>
                                      </p:cBhvr>
                                      <p:to>
                                        <p:strVal val="visible"/>
                                      </p:to>
                                    </p:set>
                                    <p:anim calcmode="lin" valueType="num">
                                      <p:cBhvr additive="base">
                                        <p:cTn dur="500"/>
                                        <p:tgtEl>
                                          <p:spTgt spid="24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53"/>
                                        </p:tgtEl>
                                        <p:attrNameLst>
                                          <p:attrName>style.visibility</p:attrName>
                                        </p:attrNameLst>
                                      </p:cBhvr>
                                      <p:to>
                                        <p:strVal val="visible"/>
                                      </p:to>
                                    </p:set>
                                    <p:anim calcmode="lin" valueType="num">
                                      <p:cBhvr additive="base">
                                        <p:cTn dur="500"/>
                                        <p:tgtEl>
                                          <p:spTgt spid="2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50"/>
                                        </p:tgtEl>
                                        <p:attrNameLst>
                                          <p:attrName>style.visibility</p:attrName>
                                        </p:attrNameLst>
                                      </p:cBhvr>
                                      <p:to>
                                        <p:strVal val="visible"/>
                                      </p:to>
                                    </p:set>
                                    <p:anim calcmode="lin" valueType="num">
                                      <p:cBhvr additive="base">
                                        <p:cTn dur="500"/>
                                        <p:tgtEl>
                                          <p:spTgt spid="25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46"/>
                                        </p:tgtEl>
                                      </p:cBhvr>
                                    </p:animEffect>
                                    <p:set>
                                      <p:cBhvr>
                                        <p:cTn dur="1" fill="hold">
                                          <p:stCondLst>
                                            <p:cond delay="500"/>
                                          </p:stCondLst>
                                        </p:cTn>
                                        <p:tgtEl>
                                          <p:spTgt spid="24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48"/>
                                        </p:tgtEl>
                                      </p:cBhvr>
                                    </p:animEffect>
                                    <p:set>
                                      <p:cBhvr>
                                        <p:cTn dur="1" fill="hold">
                                          <p:stCondLst>
                                            <p:cond delay="500"/>
                                          </p:stCondLst>
                                        </p:cTn>
                                        <p:tgtEl>
                                          <p:spTgt spid="24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52"/>
                                        </p:tgtEl>
                                      </p:cBhvr>
                                    </p:animEffect>
                                    <p:set>
                                      <p:cBhvr>
                                        <p:cTn dur="1" fill="hold">
                                          <p:stCondLst>
                                            <p:cond delay="500"/>
                                          </p:stCondLst>
                                        </p:cTn>
                                        <p:tgtEl>
                                          <p:spTgt spid="25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51"/>
                                        </p:tgtEl>
                                      </p:cBhvr>
                                    </p:animEffect>
                                    <p:set>
                                      <p:cBhvr>
                                        <p:cTn dur="1" fill="hold">
                                          <p:stCondLst>
                                            <p:cond delay="500"/>
                                          </p:stCondLst>
                                        </p:cTn>
                                        <p:tgtEl>
                                          <p:spTgt spid="25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49"/>
                                        </p:tgtEl>
                                      </p:cBhvr>
                                    </p:animEffect>
                                    <p:set>
                                      <p:cBhvr>
                                        <p:cTn dur="1" fill="hold">
                                          <p:stCondLst>
                                            <p:cond delay="500"/>
                                          </p:stCondLst>
                                        </p:cTn>
                                        <p:tgtEl>
                                          <p:spTgt spid="24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53"/>
                                        </p:tgtEl>
                                      </p:cBhvr>
                                    </p:animEffect>
                                    <p:set>
                                      <p:cBhvr>
                                        <p:cTn dur="1" fill="hold">
                                          <p:stCondLst>
                                            <p:cond delay="500"/>
                                          </p:stCondLst>
                                        </p:cTn>
                                        <p:tgtEl>
                                          <p:spTgt spid="25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50"/>
                                        </p:tgtEl>
                                      </p:cBhvr>
                                    </p:animEffect>
                                    <p:set>
                                      <p:cBhvr>
                                        <p:cTn dur="1" fill="hold">
                                          <p:stCondLst>
                                            <p:cond delay="500"/>
                                          </p:stCondLst>
                                        </p:cTn>
                                        <p:tgtEl>
                                          <p:spTgt spid="25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45"/>
                                        </p:tgtEl>
                                      </p:cBhvr>
                                    </p:animEffect>
                                    <p:set>
                                      <p:cBhvr>
                                        <p:cTn dur="1" fill="hold">
                                          <p:stCondLst>
                                            <p:cond delay="500"/>
                                          </p:stCondLst>
                                        </p:cTn>
                                        <p:tgtEl>
                                          <p:spTgt spid="24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4"/>
          <p:cNvSpPr txBox="1"/>
          <p:nvPr>
            <p:ph type="title"/>
          </p:nvPr>
        </p:nvSpPr>
        <p:spPr>
          <a:xfrm>
            <a:off x="962297" y="398754"/>
            <a:ext cx="10058400" cy="8204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Componentes del sistema de control </a:t>
            </a:r>
            <a:endParaRPr b="1"/>
          </a:p>
        </p:txBody>
      </p:sp>
      <p:sp>
        <p:nvSpPr>
          <p:cNvPr id="260" name="Google Shape;260;p14"/>
          <p:cNvSpPr txBox="1"/>
          <p:nvPr>
            <p:ph idx="1" type="body"/>
          </p:nvPr>
        </p:nvSpPr>
        <p:spPr>
          <a:xfrm>
            <a:off x="962297" y="1219201"/>
            <a:ext cx="3736312" cy="525194"/>
          </a:xfrm>
          <a:prstGeom prst="rect">
            <a:avLst/>
          </a:prstGeom>
          <a:noFill/>
          <a:ln>
            <a:noFill/>
          </a:ln>
        </p:spPr>
        <p:txBody>
          <a:bodyPr anchorCtr="0" anchor="t" bIns="45700" lIns="91425" spcFirstLastPara="1" rIns="91425" wrap="square" tIns="45700">
            <a:normAutofit/>
          </a:bodyPr>
          <a:lstStyle/>
          <a:p>
            <a:pPr indent="-450850" lvl="0" marL="450850" rtl="0" algn="l">
              <a:lnSpc>
                <a:spcPct val="100000"/>
              </a:lnSpc>
              <a:spcBef>
                <a:spcPts val="0"/>
              </a:spcBef>
              <a:spcAft>
                <a:spcPts val="0"/>
              </a:spcAft>
              <a:buSzPts val="2000"/>
              <a:buFont typeface="Noto Sans Symbols"/>
              <a:buChar char="⮚"/>
            </a:pPr>
            <a:r>
              <a:rPr lang="es-BO" sz="2000"/>
              <a:t>Sensor Ultrasónico</a:t>
            </a:r>
            <a:endParaRPr b="1" sz="2000"/>
          </a:p>
        </p:txBody>
      </p:sp>
      <p:pic>
        <p:nvPicPr>
          <p:cNvPr id="261" name="Google Shape;261;p14"/>
          <p:cNvPicPr preferRelativeResize="0"/>
          <p:nvPr/>
        </p:nvPicPr>
        <p:blipFill rotWithShape="1">
          <a:blip r:embed="rId3">
            <a:alphaModFix/>
          </a:blip>
          <a:srcRect b="21606" l="0" r="0" t="15001"/>
          <a:stretch/>
        </p:blipFill>
        <p:spPr>
          <a:xfrm>
            <a:off x="1520382" y="1696052"/>
            <a:ext cx="3161109" cy="4347502"/>
          </a:xfrm>
          <a:prstGeom prst="rect">
            <a:avLst/>
          </a:prstGeom>
          <a:noFill/>
          <a:ln>
            <a:noFill/>
          </a:ln>
        </p:spPr>
      </p:pic>
      <p:sp>
        <p:nvSpPr>
          <p:cNvPr id="262" name="Google Shape;262;p14"/>
          <p:cNvSpPr/>
          <p:nvPr/>
        </p:nvSpPr>
        <p:spPr>
          <a:xfrm>
            <a:off x="6833198" y="1481798"/>
            <a:ext cx="2448272" cy="3509190"/>
          </a:xfrm>
          <a:prstGeom prst="ellipse">
            <a:avLst/>
          </a:prstGeom>
          <a:blipFill rotWithShape="1">
            <a:blip r:embed="rId4">
              <a:alphaModFix/>
            </a:blip>
            <a:stretch>
              <a:fillRect b="0" l="0" r="0" t="0"/>
            </a:stretch>
          </a:blipFill>
          <a:ln cap="flat" cmpd="sng" w="127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263" name="Google Shape;263;p14"/>
          <p:cNvSpPr txBox="1"/>
          <p:nvPr/>
        </p:nvSpPr>
        <p:spPr>
          <a:xfrm>
            <a:off x="7000393" y="5253586"/>
            <a:ext cx="2113882" cy="400110"/>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r">
              <a:spcBef>
                <a:spcPts val="0"/>
              </a:spcBef>
              <a:spcAft>
                <a:spcPts val="0"/>
              </a:spcAft>
              <a:buNone/>
            </a:pPr>
            <a:r>
              <a:rPr lang="es-BO" sz="2000">
                <a:solidFill>
                  <a:schemeClr val="dk1"/>
                </a:solidFill>
                <a:latin typeface="Garamond"/>
                <a:ea typeface="Garamond"/>
                <a:cs typeface="Garamond"/>
                <a:sym typeface="Garamond"/>
              </a:rPr>
              <a:t>Sensor ultrasónico	</a:t>
            </a:r>
            <a:endParaRPr b="0" i="0" sz="2000">
              <a:solidFill>
                <a:schemeClr val="dk1"/>
              </a:solidFill>
              <a:latin typeface="Garamond"/>
              <a:ea typeface="Garamond"/>
              <a:cs typeface="Garamond"/>
              <a:sym typeface="Garamond"/>
            </a:endParaRPr>
          </a:p>
        </p:txBody>
      </p:sp>
      <p:sp>
        <p:nvSpPr>
          <p:cNvPr id="264" name="Google Shape;264;p14"/>
          <p:cNvSpPr/>
          <p:nvPr/>
        </p:nvSpPr>
        <p:spPr>
          <a:xfrm>
            <a:off x="1665800" y="3251640"/>
            <a:ext cx="3830617" cy="2014597"/>
          </a:xfrm>
          <a:prstGeom prst="cloudCallout">
            <a:avLst>
              <a:gd fmla="val 73158" name="adj1"/>
              <a:gd fmla="val -27689" name="adj2"/>
            </a:avLst>
          </a:prstGeom>
          <a:gradFill>
            <a:gsLst>
              <a:gs pos="0">
                <a:srgbClr val="C8D8D4"/>
              </a:gs>
              <a:gs pos="100000">
                <a:srgbClr val="B7CBC6"/>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Es utilizado para la medición de la altura del nivel de líquido del depósito.</a:t>
            </a:r>
            <a:r>
              <a:rPr b="1" lang="es-BO" sz="2000">
                <a:solidFill>
                  <a:srgbClr val="002060"/>
                </a:solidFill>
                <a:latin typeface="Garamond"/>
                <a:ea typeface="Garamond"/>
                <a:cs typeface="Garamond"/>
                <a:sym typeface="Garamond"/>
              </a:rPr>
              <a:t> </a:t>
            </a:r>
            <a:endParaRPr sz="2000">
              <a:solidFill>
                <a:schemeClr val="dk1"/>
              </a:solidFill>
              <a:latin typeface="Garamond"/>
              <a:ea typeface="Garamond"/>
              <a:cs typeface="Garamond"/>
              <a:sym typeface="Garamond"/>
            </a:endParaRPr>
          </a:p>
        </p:txBody>
      </p:sp>
      <p:sp>
        <p:nvSpPr>
          <p:cNvPr id="265" name="Google Shape;265;p14"/>
          <p:cNvSpPr/>
          <p:nvPr/>
        </p:nvSpPr>
        <p:spPr>
          <a:xfrm>
            <a:off x="2358349" y="1839264"/>
            <a:ext cx="527727" cy="525195"/>
          </a:xfrm>
          <a:prstGeom prst="rect">
            <a:avLst/>
          </a:prstGeom>
          <a:noFill/>
          <a:ln cap="flat" cmpd="sng" w="127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2"/>
                                        </p:tgtEl>
                                        <p:attrNameLst>
                                          <p:attrName>style.visibility</p:attrName>
                                        </p:attrNameLst>
                                      </p:cBhvr>
                                      <p:to>
                                        <p:strVal val="visible"/>
                                      </p:to>
                                    </p:set>
                                    <p:anim calcmode="lin" valueType="num">
                                      <p:cBhvr additive="base">
                                        <p:cTn dur="500"/>
                                        <p:tgtEl>
                                          <p:spTgt spid="262"/>
                                        </p:tgtEl>
                                        <p:attrNameLst>
                                          <p:attrName>ppt_w</p:attrName>
                                        </p:attrNameLst>
                                      </p:cBhvr>
                                      <p:tavLst>
                                        <p:tav fmla="" tm="0">
                                          <p:val>
                                            <p:strVal val="0"/>
                                          </p:val>
                                        </p:tav>
                                        <p:tav fmla="" tm="100000">
                                          <p:val>
                                            <p:strVal val="#ppt_w"/>
                                          </p:val>
                                        </p:tav>
                                      </p:tavLst>
                                    </p:anim>
                                    <p:anim calcmode="lin" valueType="num">
                                      <p:cBhvr additive="base">
                                        <p:cTn dur="500"/>
                                        <p:tgtEl>
                                          <p:spTgt spid="262"/>
                                        </p:tgtEl>
                                        <p:attrNameLst>
                                          <p:attrName>ppt_h</p:attrName>
                                        </p:attrNameLst>
                                      </p:cBhvr>
                                      <p:tavLst>
                                        <p:tav fmla="" tm="0">
                                          <p:val>
                                            <p:strVal val="0"/>
                                          </p:val>
                                        </p:tav>
                                        <p:tav fmla="" tm="100000">
                                          <p:val>
                                            <p:strVal val="#ppt_h"/>
                                          </p:val>
                                        </p:tav>
                                      </p:tavLst>
                                    </p:anim>
                                  </p:childTnLst>
                                </p:cTn>
                              </p:par>
                              <p:par>
                                <p:cTn fill="hold" nodeType="with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65"/>
                                        </p:tgtEl>
                                      </p:cBhvr>
                                    </p:animEffect>
                                    <p:set>
                                      <p:cBhvr>
                                        <p:cTn dur="1" fill="hold">
                                          <p:stCondLst>
                                            <p:cond delay="500"/>
                                          </p:stCondLst>
                                        </p:cTn>
                                        <p:tgtEl>
                                          <p:spTgt spid="26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61"/>
                                        </p:tgtEl>
                                      </p:cBhvr>
                                    </p:animEffect>
                                    <p:set>
                                      <p:cBhvr>
                                        <p:cTn dur="1" fill="hold">
                                          <p:stCondLst>
                                            <p:cond delay="500"/>
                                          </p:stCondLst>
                                        </p:cTn>
                                        <p:tgtEl>
                                          <p:spTgt spid="26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5"/>
          <p:cNvSpPr txBox="1"/>
          <p:nvPr>
            <p:ph type="title"/>
          </p:nvPr>
        </p:nvSpPr>
        <p:spPr>
          <a:xfrm>
            <a:off x="962297" y="398754"/>
            <a:ext cx="10058400" cy="8204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Componentes del sistema de control </a:t>
            </a:r>
            <a:endParaRPr b="1"/>
          </a:p>
        </p:txBody>
      </p:sp>
      <p:sp>
        <p:nvSpPr>
          <p:cNvPr id="271" name="Google Shape;271;p15"/>
          <p:cNvSpPr txBox="1"/>
          <p:nvPr>
            <p:ph idx="1" type="body"/>
          </p:nvPr>
        </p:nvSpPr>
        <p:spPr>
          <a:xfrm>
            <a:off x="962297" y="1219201"/>
            <a:ext cx="3736312" cy="525194"/>
          </a:xfrm>
          <a:prstGeom prst="rect">
            <a:avLst/>
          </a:prstGeom>
          <a:noFill/>
          <a:ln>
            <a:noFill/>
          </a:ln>
        </p:spPr>
        <p:txBody>
          <a:bodyPr anchorCtr="0" anchor="t" bIns="45700" lIns="91425" spcFirstLastPara="1" rIns="91425" wrap="square" tIns="45700">
            <a:normAutofit/>
          </a:bodyPr>
          <a:lstStyle/>
          <a:p>
            <a:pPr indent="-450850" lvl="0" marL="450850" rtl="0" algn="l">
              <a:lnSpc>
                <a:spcPct val="100000"/>
              </a:lnSpc>
              <a:spcBef>
                <a:spcPts val="0"/>
              </a:spcBef>
              <a:spcAft>
                <a:spcPts val="0"/>
              </a:spcAft>
              <a:buSzPts val="2000"/>
              <a:buFont typeface="Noto Sans Symbols"/>
              <a:buChar char="⮚"/>
            </a:pPr>
            <a:r>
              <a:rPr lang="es-BO" sz="2000"/>
              <a:t>HDMI</a:t>
            </a:r>
            <a:endParaRPr b="1" sz="2000"/>
          </a:p>
        </p:txBody>
      </p:sp>
      <p:pic>
        <p:nvPicPr>
          <p:cNvPr id="272" name="Google Shape;272;p15"/>
          <p:cNvPicPr preferRelativeResize="0"/>
          <p:nvPr/>
        </p:nvPicPr>
        <p:blipFill rotWithShape="1">
          <a:blip r:embed="rId3">
            <a:alphaModFix/>
          </a:blip>
          <a:srcRect b="21606" l="0" r="0" t="15001"/>
          <a:stretch/>
        </p:blipFill>
        <p:spPr>
          <a:xfrm>
            <a:off x="1520382" y="1696052"/>
            <a:ext cx="3161109" cy="4347502"/>
          </a:xfrm>
          <a:prstGeom prst="rect">
            <a:avLst/>
          </a:prstGeom>
          <a:noFill/>
          <a:ln>
            <a:noFill/>
          </a:ln>
        </p:spPr>
      </p:pic>
      <p:pic>
        <p:nvPicPr>
          <p:cNvPr id="273" name="Google Shape;273;p15"/>
          <p:cNvPicPr preferRelativeResize="0"/>
          <p:nvPr/>
        </p:nvPicPr>
        <p:blipFill rotWithShape="1">
          <a:blip r:embed="rId4">
            <a:alphaModFix/>
          </a:blip>
          <a:srcRect b="26265" l="19550" r="67045" t="45324"/>
          <a:stretch/>
        </p:blipFill>
        <p:spPr>
          <a:xfrm rot="5400000">
            <a:off x="6913012" y="1448942"/>
            <a:ext cx="3063332" cy="3651894"/>
          </a:xfrm>
          <a:prstGeom prst="rect">
            <a:avLst/>
          </a:prstGeom>
          <a:noFill/>
          <a:ln cap="flat" cmpd="sng" w="9525">
            <a:solidFill>
              <a:srgbClr val="FFFF00"/>
            </a:solidFill>
            <a:prstDash val="solid"/>
            <a:round/>
            <a:headEnd len="sm" w="sm" type="none"/>
            <a:tailEnd len="sm" w="sm" type="none"/>
          </a:ln>
        </p:spPr>
      </p:pic>
      <p:sp>
        <p:nvSpPr>
          <p:cNvPr id="274" name="Google Shape;274;p15"/>
          <p:cNvSpPr/>
          <p:nvPr/>
        </p:nvSpPr>
        <p:spPr>
          <a:xfrm>
            <a:off x="886607" y="3429000"/>
            <a:ext cx="4686663" cy="2483108"/>
          </a:xfrm>
          <a:prstGeom prst="cloudCallout">
            <a:avLst>
              <a:gd fmla="val 64125" name="adj1"/>
              <a:gd fmla="val -59886" name="adj2"/>
            </a:avLst>
          </a:prstGeom>
          <a:gradFill>
            <a:gsLst>
              <a:gs pos="0">
                <a:srgbClr val="C8D8D4"/>
              </a:gs>
              <a:gs pos="100000">
                <a:srgbClr val="B7CBC6"/>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Este dispositivo nos permite la visualización de las medidas, escaladas por el PLC, en la parte frontal del panel de control.</a:t>
            </a:r>
            <a:endParaRPr sz="2000">
              <a:solidFill>
                <a:schemeClr val="dk1"/>
              </a:solidFill>
              <a:latin typeface="Garamond"/>
              <a:ea typeface="Garamond"/>
              <a:cs typeface="Garamond"/>
              <a:sym typeface="Garamond"/>
            </a:endParaRPr>
          </a:p>
        </p:txBody>
      </p:sp>
      <p:sp>
        <p:nvSpPr>
          <p:cNvPr id="275" name="Google Shape;275;p15"/>
          <p:cNvSpPr/>
          <p:nvPr/>
        </p:nvSpPr>
        <p:spPr>
          <a:xfrm>
            <a:off x="3771900" y="2533489"/>
            <a:ext cx="595313" cy="443073"/>
          </a:xfrm>
          <a:prstGeom prst="rect">
            <a:avLst/>
          </a:prstGeom>
          <a:noFill/>
          <a:ln cap="flat" cmpd="sng" w="127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3"/>
                                        </p:tgtEl>
                                        <p:attrNameLst>
                                          <p:attrName>style.visibility</p:attrName>
                                        </p:attrNameLst>
                                      </p:cBhvr>
                                      <p:to>
                                        <p:strVal val="visible"/>
                                      </p:to>
                                    </p:set>
                                    <p:anim calcmode="lin" valueType="num">
                                      <p:cBhvr additive="base">
                                        <p:cTn dur="500"/>
                                        <p:tgtEl>
                                          <p:spTgt spid="273"/>
                                        </p:tgtEl>
                                        <p:attrNameLst>
                                          <p:attrName>ppt_w</p:attrName>
                                        </p:attrNameLst>
                                      </p:cBhvr>
                                      <p:tavLst>
                                        <p:tav fmla="" tm="0">
                                          <p:val>
                                            <p:strVal val="0"/>
                                          </p:val>
                                        </p:tav>
                                        <p:tav fmla="" tm="100000">
                                          <p:val>
                                            <p:strVal val="#ppt_w"/>
                                          </p:val>
                                        </p:tav>
                                      </p:tavLst>
                                    </p:anim>
                                    <p:anim calcmode="lin" valueType="num">
                                      <p:cBhvr additive="base">
                                        <p:cTn dur="500"/>
                                        <p:tgtEl>
                                          <p:spTgt spid="27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75"/>
                                        </p:tgtEl>
                                      </p:cBhvr>
                                    </p:animEffect>
                                    <p:set>
                                      <p:cBhvr>
                                        <p:cTn dur="1" fill="hold">
                                          <p:stCondLst>
                                            <p:cond delay="500"/>
                                          </p:stCondLst>
                                        </p:cTn>
                                        <p:tgtEl>
                                          <p:spTgt spid="27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72"/>
                                        </p:tgtEl>
                                      </p:cBhvr>
                                    </p:animEffect>
                                    <p:set>
                                      <p:cBhvr>
                                        <p:cTn dur="1" fill="hold">
                                          <p:stCondLst>
                                            <p:cond delay="500"/>
                                          </p:stCondLst>
                                        </p:cTn>
                                        <p:tgtEl>
                                          <p:spTgt spid="27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6"/>
          <p:cNvSpPr txBox="1"/>
          <p:nvPr/>
        </p:nvSpPr>
        <p:spPr>
          <a:xfrm>
            <a:off x="1246784" y="1179018"/>
            <a:ext cx="10945216" cy="40011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s-BO" sz="2000">
                <a:solidFill>
                  <a:schemeClr val="dk1"/>
                </a:solidFill>
                <a:latin typeface="Garamond"/>
                <a:ea typeface="Garamond"/>
                <a:cs typeface="Garamond"/>
                <a:sym typeface="Garamond"/>
              </a:rPr>
              <a:t>Controlador de temperatura </a:t>
            </a:r>
            <a:endParaRPr sz="2000">
              <a:solidFill>
                <a:schemeClr val="dk1"/>
              </a:solidFill>
              <a:latin typeface="Garamond"/>
              <a:ea typeface="Garamond"/>
              <a:cs typeface="Garamond"/>
              <a:sym typeface="Garamond"/>
            </a:endParaRPr>
          </a:p>
        </p:txBody>
      </p:sp>
      <p:sp>
        <p:nvSpPr>
          <p:cNvPr id="282" name="Google Shape;282;p16"/>
          <p:cNvSpPr/>
          <p:nvPr/>
        </p:nvSpPr>
        <p:spPr>
          <a:xfrm>
            <a:off x="6888088" y="1436358"/>
            <a:ext cx="3672408" cy="3407153"/>
          </a:xfrm>
          <a:prstGeom prst="rect">
            <a:avLst/>
          </a:prstGeom>
          <a:blipFill rotWithShape="1">
            <a:blip r:embed="rId3">
              <a:alphaModFix/>
            </a:blip>
            <a:stretch>
              <a:fillRect b="0" l="0" r="0" t="0"/>
            </a:stretch>
          </a:blipFill>
          <a:ln cap="flat" cmpd="sng" w="12700">
            <a:solidFill>
              <a:srgbClr val="00B05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283" name="Google Shape;283;p16"/>
          <p:cNvSpPr txBox="1"/>
          <p:nvPr/>
        </p:nvSpPr>
        <p:spPr>
          <a:xfrm>
            <a:off x="7068108" y="5059536"/>
            <a:ext cx="3312368" cy="707886"/>
          </a:xfrm>
          <a:prstGeom prst="rect">
            <a:avLst/>
          </a:prstGeom>
          <a:solidFill>
            <a:schemeClr val="accent3">
              <a:alpha val="49803"/>
            </a:schemeClr>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s-BO" sz="2000">
                <a:solidFill>
                  <a:schemeClr val="dk1"/>
                </a:solidFill>
                <a:latin typeface="Garamond"/>
                <a:ea typeface="Garamond"/>
                <a:cs typeface="Garamond"/>
                <a:sym typeface="Garamond"/>
              </a:rPr>
              <a:t>Controlador de temperatura Allen Bradley</a:t>
            </a:r>
            <a:endParaRPr/>
          </a:p>
        </p:txBody>
      </p:sp>
      <p:sp>
        <p:nvSpPr>
          <p:cNvPr id="284" name="Google Shape;284;p16"/>
          <p:cNvSpPr txBox="1"/>
          <p:nvPr/>
        </p:nvSpPr>
        <p:spPr>
          <a:xfrm>
            <a:off x="962297" y="398754"/>
            <a:ext cx="10058400" cy="820446"/>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262626"/>
              </a:buClr>
              <a:buSzPts val="4800"/>
              <a:buFont typeface="Garamond"/>
              <a:buNone/>
            </a:pPr>
            <a:r>
              <a:rPr b="1" lang="es-BO" sz="4800" cap="none">
                <a:solidFill>
                  <a:srgbClr val="262626"/>
                </a:solidFill>
                <a:latin typeface="Garamond"/>
                <a:ea typeface="Garamond"/>
                <a:cs typeface="Garamond"/>
                <a:sym typeface="Garamond"/>
              </a:rPr>
              <a:t>Componentes del sistema de control </a:t>
            </a:r>
            <a:endParaRPr/>
          </a:p>
        </p:txBody>
      </p:sp>
      <p:pic>
        <p:nvPicPr>
          <p:cNvPr id="285" name="Google Shape;285;p16"/>
          <p:cNvPicPr preferRelativeResize="0"/>
          <p:nvPr/>
        </p:nvPicPr>
        <p:blipFill rotWithShape="1">
          <a:blip r:embed="rId4">
            <a:alphaModFix/>
          </a:blip>
          <a:srcRect b="21606" l="0" r="0" t="15001"/>
          <a:stretch/>
        </p:blipFill>
        <p:spPr>
          <a:xfrm>
            <a:off x="1520382" y="1696052"/>
            <a:ext cx="3161109" cy="4347502"/>
          </a:xfrm>
          <a:prstGeom prst="rect">
            <a:avLst/>
          </a:prstGeom>
          <a:noFill/>
          <a:ln>
            <a:noFill/>
          </a:ln>
        </p:spPr>
      </p:pic>
      <p:sp>
        <p:nvSpPr>
          <p:cNvPr id="286" name="Google Shape;286;p16"/>
          <p:cNvSpPr/>
          <p:nvPr/>
        </p:nvSpPr>
        <p:spPr>
          <a:xfrm>
            <a:off x="3495675" y="2546710"/>
            <a:ext cx="222251" cy="212365"/>
          </a:xfrm>
          <a:prstGeom prst="rect">
            <a:avLst/>
          </a:prstGeom>
          <a:noFill/>
          <a:ln cap="flat" cmpd="sng" w="12700">
            <a:solidFill>
              <a:srgbClr val="92D05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287" name="Google Shape;287;p16"/>
          <p:cNvSpPr/>
          <p:nvPr/>
        </p:nvSpPr>
        <p:spPr>
          <a:xfrm>
            <a:off x="1066321" y="3195874"/>
            <a:ext cx="4858707" cy="2483108"/>
          </a:xfrm>
          <a:prstGeom prst="cloudCallout">
            <a:avLst>
              <a:gd fmla="val 62264" name="adj1"/>
              <a:gd fmla="val -47162" name="adj2"/>
            </a:avLst>
          </a:prstGeom>
          <a:gradFill>
            <a:gsLst>
              <a:gs pos="0">
                <a:srgbClr val="D7DACA"/>
              </a:gs>
              <a:gs pos="100000">
                <a:srgbClr val="CACDB9"/>
              </a:gs>
            </a:gsLst>
            <a:lin ang="5400000" scaled="0"/>
          </a:gradFill>
          <a:ln cap="flat" cmpd="sng" w="9525">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Este controlador es utilizado como un indicador de temperatura, sin aprovechar su capacidad de realizar una acción de control.</a:t>
            </a:r>
            <a:endParaRPr sz="2000">
              <a:solidFill>
                <a:schemeClr val="dk1"/>
              </a:solidFill>
              <a:latin typeface="Garamond"/>
              <a:ea typeface="Garamond"/>
              <a:cs typeface="Garamond"/>
              <a:sym typeface="Garamon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2"/>
                                        </p:tgtEl>
                                        <p:attrNameLst>
                                          <p:attrName>style.visibility</p:attrName>
                                        </p:attrNameLst>
                                      </p:cBhvr>
                                      <p:to>
                                        <p:strVal val="visible"/>
                                      </p:to>
                                    </p:set>
                                    <p:anim calcmode="lin" valueType="num">
                                      <p:cBhvr additive="base">
                                        <p:cTn dur="500"/>
                                        <p:tgtEl>
                                          <p:spTgt spid="282"/>
                                        </p:tgtEl>
                                        <p:attrNameLst>
                                          <p:attrName>ppt_w</p:attrName>
                                        </p:attrNameLst>
                                      </p:cBhvr>
                                      <p:tavLst>
                                        <p:tav fmla="" tm="0">
                                          <p:val>
                                            <p:strVal val="0"/>
                                          </p:val>
                                        </p:tav>
                                        <p:tav fmla="" tm="100000">
                                          <p:val>
                                            <p:strVal val="#ppt_w"/>
                                          </p:val>
                                        </p:tav>
                                      </p:tavLst>
                                    </p:anim>
                                    <p:anim calcmode="lin" valueType="num">
                                      <p:cBhvr additive="base">
                                        <p:cTn dur="500"/>
                                        <p:tgtEl>
                                          <p:spTgt spid="282"/>
                                        </p:tgtEl>
                                        <p:attrNameLst>
                                          <p:attrName>ppt_h</p:attrName>
                                        </p:attrNameLst>
                                      </p:cBhvr>
                                      <p:tavLst>
                                        <p:tav fmla="" tm="0">
                                          <p:val>
                                            <p:strVal val="0"/>
                                          </p:val>
                                        </p:tav>
                                        <p:tav fmla="" tm="100000">
                                          <p:val>
                                            <p:strVal val="#ppt_h"/>
                                          </p:val>
                                        </p:tav>
                                      </p:tavLst>
                                    </p:anim>
                                  </p:childTnLst>
                                </p:cTn>
                              </p:par>
                              <p:par>
                                <p:cTn fill="hold" nodeType="with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86"/>
                                        </p:tgtEl>
                                      </p:cBhvr>
                                    </p:animEffect>
                                    <p:set>
                                      <p:cBhvr>
                                        <p:cTn dur="1" fill="hold">
                                          <p:stCondLst>
                                            <p:cond delay="500"/>
                                          </p:stCondLst>
                                        </p:cTn>
                                        <p:tgtEl>
                                          <p:spTgt spid="28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85"/>
                                        </p:tgtEl>
                                      </p:cBhvr>
                                    </p:animEffect>
                                    <p:set>
                                      <p:cBhvr>
                                        <p:cTn dur="1" fill="hold">
                                          <p:stCondLst>
                                            <p:cond delay="500"/>
                                          </p:stCondLst>
                                        </p:cTn>
                                        <p:tgtEl>
                                          <p:spTgt spid="28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id="293" name="Google Shape;293;p17"/>
          <p:cNvPicPr preferRelativeResize="0"/>
          <p:nvPr/>
        </p:nvPicPr>
        <p:blipFill rotWithShape="1">
          <a:blip r:embed="rId3">
            <a:alphaModFix/>
          </a:blip>
          <a:srcRect b="0" l="11198" r="18701" t="1877"/>
          <a:stretch/>
        </p:blipFill>
        <p:spPr>
          <a:xfrm rot="5400000">
            <a:off x="1566009" y="2075541"/>
            <a:ext cx="4430460" cy="3488347"/>
          </a:xfrm>
          <a:prstGeom prst="rect">
            <a:avLst/>
          </a:prstGeom>
          <a:noFill/>
          <a:ln>
            <a:noFill/>
          </a:ln>
        </p:spPr>
      </p:pic>
      <p:sp>
        <p:nvSpPr>
          <p:cNvPr id="294" name="Google Shape;294;p17"/>
          <p:cNvSpPr/>
          <p:nvPr/>
        </p:nvSpPr>
        <p:spPr>
          <a:xfrm>
            <a:off x="4643823" y="2328321"/>
            <a:ext cx="720080" cy="1225162"/>
          </a:xfrm>
          <a:prstGeom prst="rect">
            <a:avLst/>
          </a:prstGeom>
          <a:noFill/>
          <a:ln cap="flat" cmpd="sng" w="127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295" name="Google Shape;295;p17"/>
          <p:cNvSpPr txBox="1"/>
          <p:nvPr/>
        </p:nvSpPr>
        <p:spPr>
          <a:xfrm>
            <a:off x="7661820" y="5338152"/>
            <a:ext cx="2961818" cy="400110"/>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2000">
                <a:solidFill>
                  <a:schemeClr val="dk1"/>
                </a:solidFill>
                <a:latin typeface="Garamond"/>
                <a:ea typeface="Garamond"/>
                <a:cs typeface="Garamond"/>
                <a:sym typeface="Garamond"/>
              </a:rPr>
              <a:t>Fuente de alimentación</a:t>
            </a:r>
            <a:endParaRPr b="0" i="0" sz="2000">
              <a:solidFill>
                <a:schemeClr val="dk1"/>
              </a:solidFill>
              <a:latin typeface="Garamond"/>
              <a:ea typeface="Garamond"/>
              <a:cs typeface="Garamond"/>
              <a:sym typeface="Garamond"/>
            </a:endParaRPr>
          </a:p>
        </p:txBody>
      </p:sp>
      <p:sp>
        <p:nvSpPr>
          <p:cNvPr id="296" name="Google Shape;296;p17"/>
          <p:cNvSpPr txBox="1"/>
          <p:nvPr/>
        </p:nvSpPr>
        <p:spPr>
          <a:xfrm>
            <a:off x="3038423" y="6095952"/>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Panel de control </a:t>
            </a:r>
            <a:endParaRPr/>
          </a:p>
        </p:txBody>
      </p:sp>
      <p:pic>
        <p:nvPicPr>
          <p:cNvPr id="297" name="Google Shape;297;p17"/>
          <p:cNvPicPr preferRelativeResize="0"/>
          <p:nvPr/>
        </p:nvPicPr>
        <p:blipFill rotWithShape="1">
          <a:blip r:embed="rId4">
            <a:alphaModFix/>
          </a:blip>
          <a:srcRect b="25843" l="17949" r="27784" t="4438"/>
          <a:stretch/>
        </p:blipFill>
        <p:spPr>
          <a:xfrm rot="5400000">
            <a:off x="7125941" y="1790503"/>
            <a:ext cx="4060798" cy="2934596"/>
          </a:xfrm>
          <a:prstGeom prst="rect">
            <a:avLst/>
          </a:prstGeom>
          <a:noFill/>
          <a:ln>
            <a:noFill/>
          </a:ln>
        </p:spPr>
      </p:pic>
      <p:sp>
        <p:nvSpPr>
          <p:cNvPr id="298" name="Google Shape;298;p17"/>
          <p:cNvSpPr txBox="1"/>
          <p:nvPr/>
        </p:nvSpPr>
        <p:spPr>
          <a:xfrm>
            <a:off x="962297" y="450953"/>
            <a:ext cx="10058400" cy="820446"/>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262626"/>
              </a:buClr>
              <a:buSzPts val="4800"/>
              <a:buFont typeface="Garamond"/>
              <a:buNone/>
            </a:pPr>
            <a:r>
              <a:rPr b="1" lang="es-BO" sz="4800" cap="none">
                <a:solidFill>
                  <a:srgbClr val="262626"/>
                </a:solidFill>
                <a:latin typeface="Garamond"/>
                <a:ea typeface="Garamond"/>
                <a:cs typeface="Garamond"/>
                <a:sym typeface="Garamond"/>
              </a:rPr>
              <a:t>Componentes del sistema de control </a:t>
            </a:r>
            <a:endParaRPr/>
          </a:p>
        </p:txBody>
      </p:sp>
      <p:sp>
        <p:nvSpPr>
          <p:cNvPr id="299" name="Google Shape;299;p17"/>
          <p:cNvSpPr txBox="1"/>
          <p:nvPr/>
        </p:nvSpPr>
        <p:spPr>
          <a:xfrm>
            <a:off x="962297" y="1219201"/>
            <a:ext cx="4770846" cy="525194"/>
          </a:xfrm>
          <a:prstGeom prst="rect">
            <a:avLst/>
          </a:prstGeom>
          <a:noFill/>
          <a:ln>
            <a:noFill/>
          </a:ln>
        </p:spPr>
        <p:txBody>
          <a:bodyPr anchorCtr="0" anchor="t" bIns="45700" lIns="91425" spcFirstLastPara="1" rIns="91425" wrap="square" tIns="45700">
            <a:normAutofit/>
          </a:bodyPr>
          <a:lstStyle/>
          <a:p>
            <a:pPr indent="-182880" lvl="0" marL="182880" marR="0" rtl="0" algn="l">
              <a:lnSpc>
                <a:spcPct val="100000"/>
              </a:lnSpc>
              <a:spcBef>
                <a:spcPts val="0"/>
              </a:spcBef>
              <a:spcAft>
                <a:spcPts val="0"/>
              </a:spcAft>
              <a:buClr>
                <a:srgbClr val="262626"/>
              </a:buClr>
              <a:buSzPts val="2000"/>
              <a:buFont typeface="Noto Sans Symbols"/>
              <a:buChar char="⮚"/>
            </a:pPr>
            <a:r>
              <a:rPr lang="es-BO" sz="2000">
                <a:solidFill>
                  <a:schemeClr val="dk1"/>
                </a:solidFill>
                <a:latin typeface="Garamond"/>
                <a:ea typeface="Garamond"/>
                <a:cs typeface="Garamond"/>
                <a:sym typeface="Garamond"/>
              </a:rPr>
              <a:t>Fuente de alimentación DC  24V/5A</a:t>
            </a:r>
            <a:endParaRPr sz="2000">
              <a:solidFill>
                <a:schemeClr val="dk1"/>
              </a:solidFill>
              <a:latin typeface="Garamond"/>
              <a:ea typeface="Garamond"/>
              <a:cs typeface="Garamond"/>
              <a:sym typeface="Garamon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7"/>
                                        </p:tgtEl>
                                        <p:attrNameLst>
                                          <p:attrName>style.visibility</p:attrName>
                                        </p:attrNameLst>
                                      </p:cBhvr>
                                      <p:to>
                                        <p:strVal val="visible"/>
                                      </p:to>
                                    </p:set>
                                    <p:anim calcmode="lin" valueType="num">
                                      <p:cBhvr additive="base">
                                        <p:cTn dur="500"/>
                                        <p:tgtEl>
                                          <p:spTgt spid="297"/>
                                        </p:tgtEl>
                                        <p:attrNameLst>
                                          <p:attrName>ppt_w</p:attrName>
                                        </p:attrNameLst>
                                      </p:cBhvr>
                                      <p:tavLst>
                                        <p:tav fmla="" tm="0">
                                          <p:val>
                                            <p:strVal val="0"/>
                                          </p:val>
                                        </p:tav>
                                        <p:tav fmla="" tm="100000">
                                          <p:val>
                                            <p:strVal val="#ppt_w"/>
                                          </p:val>
                                        </p:tav>
                                      </p:tavLst>
                                    </p:anim>
                                    <p:anim calcmode="lin" valueType="num">
                                      <p:cBhvr additive="base">
                                        <p:cTn dur="500"/>
                                        <p:tgtEl>
                                          <p:spTgt spid="297"/>
                                        </p:tgtEl>
                                        <p:attrNameLst>
                                          <p:attrName>ppt_h</p:attrName>
                                        </p:attrNameLst>
                                      </p:cBhvr>
                                      <p:tavLst>
                                        <p:tav fmla="" tm="0">
                                          <p:val>
                                            <p:strVal val="0"/>
                                          </p:val>
                                        </p:tav>
                                        <p:tav fmla="" tm="100000">
                                          <p:val>
                                            <p:strVal val="#ppt_h"/>
                                          </p:val>
                                        </p:tav>
                                      </p:tavLst>
                                    </p:anim>
                                  </p:childTnLst>
                                </p:cTn>
                              </p:par>
                              <p:par>
                                <p:cTn fill="hold" nodeType="with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8"/>
          <p:cNvSpPr txBox="1"/>
          <p:nvPr/>
        </p:nvSpPr>
        <p:spPr>
          <a:xfrm>
            <a:off x="1438356" y="1173740"/>
            <a:ext cx="6096000" cy="40011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s-BO" sz="2000">
                <a:solidFill>
                  <a:schemeClr val="dk1"/>
                </a:solidFill>
                <a:latin typeface="Garamond"/>
                <a:ea typeface="Garamond"/>
                <a:cs typeface="Garamond"/>
                <a:sym typeface="Garamond"/>
              </a:rPr>
              <a:t>Variador de frecuencia</a:t>
            </a:r>
            <a:endParaRPr sz="2000">
              <a:solidFill>
                <a:schemeClr val="dk1"/>
              </a:solidFill>
              <a:latin typeface="Garamond"/>
              <a:ea typeface="Garamond"/>
              <a:cs typeface="Garamond"/>
              <a:sym typeface="Garamond"/>
            </a:endParaRPr>
          </a:p>
        </p:txBody>
      </p:sp>
      <p:sp>
        <p:nvSpPr>
          <p:cNvPr id="306" name="Google Shape;306;p18"/>
          <p:cNvSpPr/>
          <p:nvPr/>
        </p:nvSpPr>
        <p:spPr>
          <a:xfrm>
            <a:off x="7705645" y="1442922"/>
            <a:ext cx="2474670" cy="3511622"/>
          </a:xfrm>
          <a:prstGeom prst="ellipse">
            <a:avLst/>
          </a:prstGeom>
          <a:blipFill rotWithShape="1">
            <a:blip r:embed="rId3">
              <a:alphaModFix/>
            </a:blip>
            <a:stretch>
              <a:fillRect b="0" l="0" r="0" t="0"/>
            </a:stretch>
          </a:blipFill>
          <a:ln cap="flat" cmpd="sng" w="127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307" name="Google Shape;307;p18"/>
          <p:cNvSpPr txBox="1"/>
          <p:nvPr/>
        </p:nvSpPr>
        <p:spPr>
          <a:xfrm>
            <a:off x="7200736" y="5082133"/>
            <a:ext cx="3350597" cy="400110"/>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2000">
                <a:solidFill>
                  <a:schemeClr val="dk1"/>
                </a:solidFill>
                <a:latin typeface="Garamond"/>
                <a:ea typeface="Garamond"/>
                <a:cs typeface="Garamond"/>
                <a:sym typeface="Garamond"/>
              </a:rPr>
              <a:t>Variador de frecuencia (VFD)</a:t>
            </a:r>
            <a:endParaRPr b="0" i="0" sz="2000">
              <a:solidFill>
                <a:schemeClr val="dk1"/>
              </a:solidFill>
              <a:latin typeface="Garamond"/>
              <a:ea typeface="Garamond"/>
              <a:cs typeface="Garamond"/>
              <a:sym typeface="Garamond"/>
            </a:endParaRPr>
          </a:p>
        </p:txBody>
      </p:sp>
      <p:grpSp>
        <p:nvGrpSpPr>
          <p:cNvPr id="308" name="Google Shape;308;p18"/>
          <p:cNvGrpSpPr/>
          <p:nvPr/>
        </p:nvGrpSpPr>
        <p:grpSpPr>
          <a:xfrm>
            <a:off x="1907954" y="1616529"/>
            <a:ext cx="3268957" cy="4728000"/>
            <a:chOff x="1907954" y="1616529"/>
            <a:chExt cx="3268957" cy="4728000"/>
          </a:xfrm>
        </p:grpSpPr>
        <p:sp>
          <p:nvSpPr>
            <p:cNvPr id="309" name="Google Shape;309;p18"/>
            <p:cNvSpPr txBox="1"/>
            <p:nvPr/>
          </p:nvSpPr>
          <p:spPr>
            <a:xfrm>
              <a:off x="2540077" y="6020528"/>
              <a:ext cx="2636834" cy="32400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Vista frontal del sistema</a:t>
              </a:r>
              <a:endParaRPr/>
            </a:p>
          </p:txBody>
        </p:sp>
        <p:pic>
          <p:nvPicPr>
            <p:cNvPr id="310" name="Google Shape;310;p18"/>
            <p:cNvPicPr preferRelativeResize="0"/>
            <p:nvPr/>
          </p:nvPicPr>
          <p:blipFill rotWithShape="1">
            <a:blip r:embed="rId4">
              <a:alphaModFix/>
            </a:blip>
            <a:srcRect b="0" l="6086" r="18499" t="0"/>
            <a:stretch/>
          </p:blipFill>
          <p:spPr>
            <a:xfrm rot="5400000">
              <a:off x="1387206" y="2137277"/>
              <a:ext cx="4310453" cy="3268957"/>
            </a:xfrm>
            <a:prstGeom prst="rect">
              <a:avLst/>
            </a:prstGeom>
            <a:noFill/>
            <a:ln>
              <a:noFill/>
            </a:ln>
          </p:spPr>
        </p:pic>
      </p:grpSp>
      <p:sp>
        <p:nvSpPr>
          <p:cNvPr id="311" name="Google Shape;311;p18"/>
          <p:cNvSpPr/>
          <p:nvPr/>
        </p:nvSpPr>
        <p:spPr>
          <a:xfrm>
            <a:off x="3909356" y="2937409"/>
            <a:ext cx="333567" cy="461428"/>
          </a:xfrm>
          <a:prstGeom prst="rect">
            <a:avLst/>
          </a:prstGeom>
          <a:noFill/>
          <a:ln cap="flat" cmpd="sng" w="12700">
            <a:solidFill>
              <a:srgbClr val="FFC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312" name="Google Shape;312;p18"/>
          <p:cNvSpPr/>
          <p:nvPr/>
        </p:nvSpPr>
        <p:spPr>
          <a:xfrm>
            <a:off x="498205" y="3198733"/>
            <a:ext cx="5533291" cy="2951619"/>
          </a:xfrm>
          <a:prstGeom prst="cloudCallout">
            <a:avLst>
              <a:gd fmla="val 70165" name="adj1"/>
              <a:gd fmla="val -50643" name="adj2"/>
            </a:avLst>
          </a:prstGeom>
          <a:gradFill>
            <a:gsLst>
              <a:gs pos="0">
                <a:srgbClr val="C8D8D4"/>
              </a:gs>
              <a:gs pos="100000">
                <a:srgbClr val="B7CBC6"/>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Permite regular la velocidad de giro del motor, mediante la variación de frecuencia del mismo, de manera que se pueda bombear el líquido del tanque inferior al superior.</a:t>
            </a:r>
            <a:endParaRPr sz="2000">
              <a:solidFill>
                <a:schemeClr val="dk1"/>
              </a:solidFill>
              <a:latin typeface="Garamond"/>
              <a:ea typeface="Garamond"/>
              <a:cs typeface="Garamond"/>
              <a:sym typeface="Garamond"/>
            </a:endParaRPr>
          </a:p>
        </p:txBody>
      </p:sp>
      <p:sp>
        <p:nvSpPr>
          <p:cNvPr id="313" name="Google Shape;313;p18"/>
          <p:cNvSpPr txBox="1"/>
          <p:nvPr/>
        </p:nvSpPr>
        <p:spPr>
          <a:xfrm>
            <a:off x="962297" y="450953"/>
            <a:ext cx="10058400" cy="820446"/>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262626"/>
              </a:buClr>
              <a:buSzPts val="4800"/>
              <a:buFont typeface="Garamond"/>
              <a:buNone/>
            </a:pPr>
            <a:r>
              <a:rPr b="1" lang="es-BO" sz="4800" cap="none">
                <a:solidFill>
                  <a:srgbClr val="262626"/>
                </a:solidFill>
                <a:latin typeface="Garamond"/>
                <a:ea typeface="Garamond"/>
                <a:cs typeface="Garamond"/>
                <a:sym typeface="Garamond"/>
              </a:rPr>
              <a:t>Componentes del sistema de control </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6"/>
                                        </p:tgtEl>
                                        <p:attrNameLst>
                                          <p:attrName>style.visibility</p:attrName>
                                        </p:attrNameLst>
                                      </p:cBhvr>
                                      <p:to>
                                        <p:strVal val="visible"/>
                                      </p:to>
                                    </p:set>
                                    <p:anim calcmode="lin" valueType="num">
                                      <p:cBhvr additive="base">
                                        <p:cTn dur="500"/>
                                        <p:tgtEl>
                                          <p:spTgt spid="306"/>
                                        </p:tgtEl>
                                        <p:attrNameLst>
                                          <p:attrName>ppt_w</p:attrName>
                                        </p:attrNameLst>
                                      </p:cBhvr>
                                      <p:tavLst>
                                        <p:tav fmla="" tm="0">
                                          <p:val>
                                            <p:strVal val="0"/>
                                          </p:val>
                                        </p:tav>
                                        <p:tav fmla="" tm="100000">
                                          <p:val>
                                            <p:strVal val="#ppt_w"/>
                                          </p:val>
                                        </p:tav>
                                      </p:tavLst>
                                    </p:anim>
                                    <p:anim calcmode="lin" valueType="num">
                                      <p:cBhvr additive="base">
                                        <p:cTn dur="500"/>
                                        <p:tgtEl>
                                          <p:spTgt spid="306"/>
                                        </p:tgtEl>
                                        <p:attrNameLst>
                                          <p:attrName>ppt_h</p:attrName>
                                        </p:attrNameLst>
                                      </p:cBhvr>
                                      <p:tavLst>
                                        <p:tav fmla="" tm="0">
                                          <p:val>
                                            <p:strVal val="0"/>
                                          </p:val>
                                        </p:tav>
                                        <p:tav fmla="" tm="100000">
                                          <p:val>
                                            <p:strVal val="#ppt_h"/>
                                          </p:val>
                                        </p:tav>
                                      </p:tavLst>
                                    </p:anim>
                                  </p:childTnLst>
                                </p:cTn>
                              </p:par>
                              <p:par>
                                <p:cTn fill="hold" nodeType="with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11"/>
                                        </p:tgtEl>
                                      </p:cBhvr>
                                    </p:animEffect>
                                    <p:set>
                                      <p:cBhvr>
                                        <p:cTn dur="1" fill="hold">
                                          <p:stCondLst>
                                            <p:cond delay="500"/>
                                          </p:stCondLst>
                                        </p:cTn>
                                        <p:tgtEl>
                                          <p:spTgt spid="31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08"/>
                                        </p:tgtEl>
                                      </p:cBhvr>
                                    </p:animEffect>
                                    <p:set>
                                      <p:cBhvr>
                                        <p:cTn dur="1" fill="hold">
                                          <p:stCondLst>
                                            <p:cond delay="500"/>
                                          </p:stCondLst>
                                        </p:cTn>
                                        <p:tgtEl>
                                          <p:spTgt spid="3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id="319" name="Google Shape;319;p19"/>
          <p:cNvPicPr preferRelativeResize="0"/>
          <p:nvPr/>
        </p:nvPicPr>
        <p:blipFill rotWithShape="1">
          <a:blip r:embed="rId3">
            <a:alphaModFix/>
          </a:blip>
          <a:srcRect b="21225" l="32956" r="28306" t="9970"/>
          <a:stretch/>
        </p:blipFill>
        <p:spPr>
          <a:xfrm>
            <a:off x="7710958" y="2018831"/>
            <a:ext cx="3309739" cy="3306807"/>
          </a:xfrm>
          <a:prstGeom prst="rect">
            <a:avLst/>
          </a:prstGeom>
          <a:noFill/>
          <a:ln>
            <a:noFill/>
          </a:ln>
        </p:spPr>
      </p:pic>
      <p:sp>
        <p:nvSpPr>
          <p:cNvPr id="320" name="Google Shape;320;p19"/>
          <p:cNvSpPr txBox="1"/>
          <p:nvPr/>
        </p:nvSpPr>
        <p:spPr>
          <a:xfrm>
            <a:off x="1259132" y="1270350"/>
            <a:ext cx="5392615" cy="40011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s-BO" sz="2000">
                <a:solidFill>
                  <a:schemeClr val="dk1"/>
                </a:solidFill>
                <a:latin typeface="Garamond"/>
                <a:ea typeface="Garamond"/>
                <a:cs typeface="Garamond"/>
                <a:sym typeface="Garamond"/>
              </a:rPr>
              <a:t>2 electroválvulas</a:t>
            </a:r>
            <a:endParaRPr sz="2000">
              <a:solidFill>
                <a:schemeClr val="dk1"/>
              </a:solidFill>
              <a:latin typeface="Garamond"/>
              <a:ea typeface="Garamond"/>
              <a:cs typeface="Garamond"/>
              <a:sym typeface="Garamond"/>
            </a:endParaRPr>
          </a:p>
        </p:txBody>
      </p:sp>
      <p:pic>
        <p:nvPicPr>
          <p:cNvPr id="321" name="Google Shape;321;p19"/>
          <p:cNvPicPr preferRelativeResize="0"/>
          <p:nvPr/>
        </p:nvPicPr>
        <p:blipFill rotWithShape="1">
          <a:blip r:embed="rId4">
            <a:alphaModFix/>
          </a:blip>
          <a:srcRect b="0" l="12923" r="13975" t="0"/>
          <a:stretch/>
        </p:blipFill>
        <p:spPr>
          <a:xfrm rot="5400000">
            <a:off x="718772" y="2273358"/>
            <a:ext cx="4224398" cy="3148278"/>
          </a:xfrm>
          <a:prstGeom prst="rect">
            <a:avLst/>
          </a:prstGeom>
          <a:noFill/>
          <a:ln>
            <a:noFill/>
          </a:ln>
        </p:spPr>
      </p:pic>
      <p:sp>
        <p:nvSpPr>
          <p:cNvPr id="322" name="Google Shape;322;p19"/>
          <p:cNvSpPr/>
          <p:nvPr/>
        </p:nvSpPr>
        <p:spPr>
          <a:xfrm>
            <a:off x="3268980" y="3904085"/>
            <a:ext cx="342900" cy="317396"/>
          </a:xfrm>
          <a:prstGeom prst="rect">
            <a:avLst/>
          </a:prstGeom>
          <a:noFill/>
          <a:ln cap="flat" cmpd="sng" w="127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323" name="Google Shape;323;p19"/>
          <p:cNvSpPr/>
          <p:nvPr/>
        </p:nvSpPr>
        <p:spPr>
          <a:xfrm>
            <a:off x="3672840" y="3942735"/>
            <a:ext cx="396240" cy="317396"/>
          </a:xfrm>
          <a:prstGeom prst="rect">
            <a:avLst/>
          </a:prstGeom>
          <a:noFill/>
          <a:ln cap="flat" cmpd="sng" w="12700">
            <a:solidFill>
              <a:srgbClr val="FFC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324" name="Google Shape;324;p19"/>
          <p:cNvSpPr txBox="1"/>
          <p:nvPr/>
        </p:nvSpPr>
        <p:spPr>
          <a:xfrm>
            <a:off x="4597166" y="2376882"/>
            <a:ext cx="2480343" cy="400110"/>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000">
                <a:solidFill>
                  <a:schemeClr val="dk1"/>
                </a:solidFill>
                <a:latin typeface="Garamond"/>
                <a:ea typeface="Garamond"/>
                <a:cs typeface="Garamond"/>
                <a:sym typeface="Garamond"/>
              </a:rPr>
              <a:t>Electroválvula 1 (KV1)</a:t>
            </a:r>
            <a:endParaRPr b="0" i="0" sz="2000">
              <a:solidFill>
                <a:schemeClr val="dk1"/>
              </a:solidFill>
              <a:latin typeface="Garamond"/>
              <a:ea typeface="Garamond"/>
              <a:cs typeface="Garamond"/>
              <a:sym typeface="Garamond"/>
            </a:endParaRPr>
          </a:p>
        </p:txBody>
      </p:sp>
      <p:sp>
        <p:nvSpPr>
          <p:cNvPr id="325" name="Google Shape;325;p19"/>
          <p:cNvSpPr txBox="1"/>
          <p:nvPr/>
        </p:nvSpPr>
        <p:spPr>
          <a:xfrm>
            <a:off x="4597165" y="4465929"/>
            <a:ext cx="2480343" cy="400110"/>
          </a:xfrm>
          <a:prstGeom prst="rect">
            <a:avLst/>
          </a:prstGeom>
          <a:solidFill>
            <a:srgbClr val="FFC000"/>
          </a:solidFill>
          <a:ln cap="flat" cmpd="sng" w="9525">
            <a:solidFill>
              <a:srgbClr val="FFC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000">
                <a:solidFill>
                  <a:schemeClr val="dk1"/>
                </a:solidFill>
                <a:latin typeface="Garamond"/>
                <a:ea typeface="Garamond"/>
                <a:cs typeface="Garamond"/>
                <a:sym typeface="Garamond"/>
              </a:rPr>
              <a:t>Electroválvula 2 (KV2)</a:t>
            </a:r>
            <a:endParaRPr b="0" i="0" sz="2000">
              <a:solidFill>
                <a:schemeClr val="dk1"/>
              </a:solidFill>
              <a:latin typeface="Garamond"/>
              <a:ea typeface="Garamond"/>
              <a:cs typeface="Garamond"/>
              <a:sym typeface="Garamond"/>
            </a:endParaRPr>
          </a:p>
        </p:txBody>
      </p:sp>
      <p:sp>
        <p:nvSpPr>
          <p:cNvPr id="326" name="Google Shape;326;p19"/>
          <p:cNvSpPr txBox="1"/>
          <p:nvPr/>
        </p:nvSpPr>
        <p:spPr>
          <a:xfrm>
            <a:off x="1767469" y="5971522"/>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Vista posterior del sistema</a:t>
            </a:r>
            <a:endParaRPr/>
          </a:p>
        </p:txBody>
      </p:sp>
      <p:sp>
        <p:nvSpPr>
          <p:cNvPr id="327" name="Google Shape;327;p19"/>
          <p:cNvSpPr/>
          <p:nvPr/>
        </p:nvSpPr>
        <p:spPr>
          <a:xfrm>
            <a:off x="2259827" y="4141110"/>
            <a:ext cx="4290565" cy="1686639"/>
          </a:xfrm>
          <a:prstGeom prst="cloudCallout">
            <a:avLst>
              <a:gd fmla="val 73892" name="adj1"/>
              <a:gd fmla="val -58617" name="adj2"/>
            </a:avLst>
          </a:prstGeom>
          <a:gradFill>
            <a:gsLst>
              <a:gs pos="0">
                <a:srgbClr val="C8D8D4"/>
              </a:gs>
              <a:gs pos="100000">
                <a:srgbClr val="B7CBC6"/>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200">
                <a:solidFill>
                  <a:schemeClr val="dk1"/>
                </a:solidFill>
                <a:latin typeface="Garamond"/>
                <a:ea typeface="Garamond"/>
                <a:cs typeface="Garamond"/>
                <a:sym typeface="Garamond"/>
              </a:rPr>
              <a:t>Permiten el cierre o paso del líquido por la red de cañerías.</a:t>
            </a:r>
            <a:endParaRPr sz="2200">
              <a:solidFill>
                <a:schemeClr val="dk1"/>
              </a:solidFill>
              <a:latin typeface="Garamond"/>
              <a:ea typeface="Garamond"/>
              <a:cs typeface="Garamond"/>
              <a:sym typeface="Garamond"/>
            </a:endParaRPr>
          </a:p>
        </p:txBody>
      </p:sp>
      <p:sp>
        <p:nvSpPr>
          <p:cNvPr id="328" name="Google Shape;328;p19"/>
          <p:cNvSpPr txBox="1"/>
          <p:nvPr/>
        </p:nvSpPr>
        <p:spPr>
          <a:xfrm>
            <a:off x="962297" y="450953"/>
            <a:ext cx="10058400" cy="820446"/>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262626"/>
              </a:buClr>
              <a:buSzPts val="4800"/>
              <a:buFont typeface="Garamond"/>
              <a:buNone/>
            </a:pPr>
            <a:r>
              <a:rPr b="1" lang="es-BO" sz="4800" cap="none">
                <a:solidFill>
                  <a:srgbClr val="262626"/>
                </a:solidFill>
                <a:latin typeface="Garamond"/>
                <a:ea typeface="Garamond"/>
                <a:cs typeface="Garamond"/>
                <a:sym typeface="Garamond"/>
              </a:rPr>
              <a:t>Componentes del sistema de control </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19"/>
                                        </p:tgtEl>
                                        <p:attrNameLst>
                                          <p:attrName>style.visibility</p:attrName>
                                        </p:attrNameLst>
                                      </p:cBhvr>
                                      <p:to>
                                        <p:strVal val="visible"/>
                                      </p:to>
                                    </p:set>
                                    <p:anim calcmode="lin" valueType="num">
                                      <p:cBhvr additive="base">
                                        <p:cTn dur="500"/>
                                        <p:tgtEl>
                                          <p:spTgt spid="319"/>
                                        </p:tgtEl>
                                        <p:attrNameLst>
                                          <p:attrName>ppt_w</p:attrName>
                                        </p:attrNameLst>
                                      </p:cBhvr>
                                      <p:tavLst>
                                        <p:tav fmla="" tm="0">
                                          <p:val>
                                            <p:strVal val="0"/>
                                          </p:val>
                                        </p:tav>
                                        <p:tav fmla="" tm="100000">
                                          <p:val>
                                            <p:strVal val="#ppt_w"/>
                                          </p:val>
                                        </p:tav>
                                      </p:tavLst>
                                    </p:anim>
                                    <p:anim calcmode="lin" valueType="num">
                                      <p:cBhvr additive="base">
                                        <p:cTn dur="500"/>
                                        <p:tgtEl>
                                          <p:spTgt spid="31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2"/>
                                        </p:tgtEl>
                                      </p:cBhvr>
                                    </p:animEffect>
                                    <p:set>
                                      <p:cBhvr>
                                        <p:cTn dur="1" fill="hold">
                                          <p:stCondLst>
                                            <p:cond delay="500"/>
                                          </p:stCondLst>
                                        </p:cTn>
                                        <p:tgtEl>
                                          <p:spTgt spid="32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23"/>
                                        </p:tgtEl>
                                      </p:cBhvr>
                                    </p:animEffect>
                                    <p:set>
                                      <p:cBhvr>
                                        <p:cTn dur="1" fill="hold">
                                          <p:stCondLst>
                                            <p:cond delay="500"/>
                                          </p:stCondLst>
                                        </p:cTn>
                                        <p:tgtEl>
                                          <p:spTgt spid="32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21"/>
                                        </p:tgtEl>
                                      </p:cBhvr>
                                    </p:animEffect>
                                    <p:set>
                                      <p:cBhvr>
                                        <p:cTn dur="1" fill="hold">
                                          <p:stCondLst>
                                            <p:cond delay="500"/>
                                          </p:stCondLst>
                                        </p:cTn>
                                        <p:tgtEl>
                                          <p:spTgt spid="32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26"/>
                                        </p:tgtEl>
                                      </p:cBhvr>
                                    </p:animEffect>
                                    <p:set>
                                      <p:cBhvr>
                                        <p:cTn dur="1" fill="hold">
                                          <p:stCondLst>
                                            <p:cond delay="500"/>
                                          </p:stCondLst>
                                        </p:cTn>
                                        <p:tgtEl>
                                          <p:spTgt spid="3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0"/>
          <p:cNvSpPr txBox="1"/>
          <p:nvPr/>
        </p:nvSpPr>
        <p:spPr>
          <a:xfrm>
            <a:off x="1256832" y="1210174"/>
            <a:ext cx="6096000" cy="40011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s-BO" sz="2000">
                <a:solidFill>
                  <a:schemeClr val="dk1"/>
                </a:solidFill>
                <a:latin typeface="Garamond"/>
                <a:ea typeface="Garamond"/>
                <a:cs typeface="Garamond"/>
                <a:sym typeface="Garamond"/>
              </a:rPr>
              <a:t>Flujómetro digital (Dosificador) </a:t>
            </a:r>
            <a:endParaRPr sz="2000">
              <a:solidFill>
                <a:schemeClr val="dk1"/>
              </a:solidFill>
              <a:latin typeface="Garamond"/>
              <a:ea typeface="Garamond"/>
              <a:cs typeface="Garamond"/>
              <a:sym typeface="Garamond"/>
            </a:endParaRPr>
          </a:p>
        </p:txBody>
      </p:sp>
      <p:sp>
        <p:nvSpPr>
          <p:cNvPr id="335" name="Google Shape;335;p20"/>
          <p:cNvSpPr txBox="1"/>
          <p:nvPr/>
        </p:nvSpPr>
        <p:spPr>
          <a:xfrm>
            <a:off x="6850887" y="5239499"/>
            <a:ext cx="3379676" cy="400110"/>
          </a:xfrm>
          <a:prstGeom prst="rect">
            <a:avLst/>
          </a:prstGeom>
          <a:solidFill>
            <a:srgbClr val="FF5050"/>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Garamond"/>
                <a:ea typeface="Garamond"/>
                <a:cs typeface="Garamond"/>
                <a:sym typeface="Garamond"/>
              </a:rPr>
              <a:t>Flujómetro digital (Dosificador)</a:t>
            </a:r>
            <a:endParaRPr/>
          </a:p>
        </p:txBody>
      </p:sp>
      <p:sp>
        <p:nvSpPr>
          <p:cNvPr id="336" name="Google Shape;336;p20"/>
          <p:cNvSpPr txBox="1"/>
          <p:nvPr/>
        </p:nvSpPr>
        <p:spPr>
          <a:xfrm>
            <a:off x="1535489" y="6003794"/>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Vista posterior del sistema</a:t>
            </a:r>
            <a:endParaRPr/>
          </a:p>
        </p:txBody>
      </p:sp>
      <p:pic>
        <p:nvPicPr>
          <p:cNvPr id="337" name="Google Shape;337;p20"/>
          <p:cNvPicPr preferRelativeResize="0"/>
          <p:nvPr/>
        </p:nvPicPr>
        <p:blipFill rotWithShape="1">
          <a:blip r:embed="rId3">
            <a:alphaModFix/>
          </a:blip>
          <a:srcRect b="0" l="14300" r="38449" t="3333"/>
          <a:stretch/>
        </p:blipFill>
        <p:spPr>
          <a:xfrm rot="5400000">
            <a:off x="6920546" y="1490970"/>
            <a:ext cx="3240358" cy="3729013"/>
          </a:xfrm>
          <a:prstGeom prst="rect">
            <a:avLst/>
          </a:prstGeom>
          <a:noFill/>
          <a:ln>
            <a:noFill/>
          </a:ln>
        </p:spPr>
      </p:pic>
      <p:pic>
        <p:nvPicPr>
          <p:cNvPr id="338" name="Google Shape;338;p20"/>
          <p:cNvPicPr preferRelativeResize="0"/>
          <p:nvPr/>
        </p:nvPicPr>
        <p:blipFill rotWithShape="1">
          <a:blip r:embed="rId4">
            <a:alphaModFix/>
          </a:blip>
          <a:srcRect b="0" l="12923" r="13975" t="0"/>
          <a:stretch/>
        </p:blipFill>
        <p:spPr>
          <a:xfrm rot="5400000">
            <a:off x="718772" y="2273358"/>
            <a:ext cx="4224398" cy="3148278"/>
          </a:xfrm>
          <a:prstGeom prst="rect">
            <a:avLst/>
          </a:prstGeom>
          <a:noFill/>
          <a:ln>
            <a:noFill/>
          </a:ln>
        </p:spPr>
      </p:pic>
      <p:sp>
        <p:nvSpPr>
          <p:cNvPr id="339" name="Google Shape;339;p20"/>
          <p:cNvSpPr txBox="1"/>
          <p:nvPr/>
        </p:nvSpPr>
        <p:spPr>
          <a:xfrm>
            <a:off x="962297" y="450953"/>
            <a:ext cx="10058400" cy="820446"/>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262626"/>
              </a:buClr>
              <a:buSzPts val="4800"/>
              <a:buFont typeface="Garamond"/>
              <a:buNone/>
            </a:pPr>
            <a:r>
              <a:rPr b="1" lang="es-BO" sz="4800" cap="none">
                <a:solidFill>
                  <a:srgbClr val="262626"/>
                </a:solidFill>
                <a:latin typeface="Garamond"/>
                <a:ea typeface="Garamond"/>
                <a:cs typeface="Garamond"/>
                <a:sym typeface="Garamond"/>
              </a:rPr>
              <a:t>Componentes del sistema de control </a:t>
            </a:r>
            <a:endParaRPr/>
          </a:p>
        </p:txBody>
      </p:sp>
      <p:sp>
        <p:nvSpPr>
          <p:cNvPr id="340" name="Google Shape;340;p20"/>
          <p:cNvSpPr/>
          <p:nvPr/>
        </p:nvSpPr>
        <p:spPr>
          <a:xfrm>
            <a:off x="2730499" y="4476751"/>
            <a:ext cx="439679" cy="465808"/>
          </a:xfrm>
          <a:prstGeom prst="rect">
            <a:avLst/>
          </a:prstGeom>
          <a:noFill/>
          <a:ln cap="flat" cmpd="sng" w="12700">
            <a:solidFill>
              <a:srgbClr val="FF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341" name="Google Shape;341;p20"/>
          <p:cNvSpPr/>
          <p:nvPr/>
        </p:nvSpPr>
        <p:spPr>
          <a:xfrm>
            <a:off x="1475147" y="3533310"/>
            <a:ext cx="4516350" cy="1546086"/>
          </a:xfrm>
          <a:prstGeom prst="cloudCallout">
            <a:avLst>
              <a:gd fmla="val 59305" name="adj1"/>
              <a:gd fmla="val -49668" name="adj2"/>
            </a:avLst>
          </a:prstGeom>
          <a:gradFill>
            <a:gsLst>
              <a:gs pos="0">
                <a:srgbClr val="C8D8D4"/>
              </a:gs>
              <a:gs pos="100000">
                <a:srgbClr val="B7CBC6"/>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Utilizado para la medición del caudal y volumen del líquido.</a:t>
            </a:r>
            <a:endParaRPr sz="2000">
              <a:solidFill>
                <a:schemeClr val="dk1"/>
              </a:solidFill>
              <a:latin typeface="Garamond"/>
              <a:ea typeface="Garamond"/>
              <a:cs typeface="Garamond"/>
              <a:sym typeface="Garamon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7"/>
                                        </p:tgtEl>
                                        <p:attrNameLst>
                                          <p:attrName>style.visibility</p:attrName>
                                        </p:attrNameLst>
                                      </p:cBhvr>
                                      <p:to>
                                        <p:strVal val="visible"/>
                                      </p:to>
                                    </p:set>
                                    <p:anim calcmode="lin" valueType="num">
                                      <p:cBhvr additive="base">
                                        <p:cTn dur="500"/>
                                        <p:tgtEl>
                                          <p:spTgt spid="337"/>
                                        </p:tgtEl>
                                        <p:attrNameLst>
                                          <p:attrName>ppt_w</p:attrName>
                                        </p:attrNameLst>
                                      </p:cBhvr>
                                      <p:tavLst>
                                        <p:tav fmla="" tm="0">
                                          <p:val>
                                            <p:strVal val="0"/>
                                          </p:val>
                                        </p:tav>
                                        <p:tav fmla="" tm="100000">
                                          <p:val>
                                            <p:strVal val="#ppt_w"/>
                                          </p:val>
                                        </p:tav>
                                      </p:tavLst>
                                    </p:anim>
                                    <p:anim calcmode="lin" valueType="num">
                                      <p:cBhvr additive="base">
                                        <p:cTn dur="500"/>
                                        <p:tgtEl>
                                          <p:spTgt spid="337"/>
                                        </p:tgtEl>
                                        <p:attrNameLst>
                                          <p:attrName>ppt_h</p:attrName>
                                        </p:attrNameLst>
                                      </p:cBhvr>
                                      <p:tavLst>
                                        <p:tav fmla="" tm="0">
                                          <p:val>
                                            <p:strVal val="0"/>
                                          </p:val>
                                        </p:tav>
                                        <p:tav fmla="" tm="100000">
                                          <p:val>
                                            <p:strVal val="#ppt_h"/>
                                          </p:val>
                                        </p:tav>
                                      </p:tavLst>
                                    </p:anim>
                                  </p:childTnLst>
                                </p:cTn>
                              </p:par>
                              <p:par>
                                <p:cTn fill="hold" nodeType="with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40"/>
                                        </p:tgtEl>
                                      </p:cBhvr>
                                    </p:animEffect>
                                    <p:set>
                                      <p:cBhvr>
                                        <p:cTn dur="1" fill="hold">
                                          <p:stCondLst>
                                            <p:cond delay="500"/>
                                          </p:stCondLst>
                                        </p:cTn>
                                        <p:tgtEl>
                                          <p:spTgt spid="34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38"/>
                                        </p:tgtEl>
                                      </p:cBhvr>
                                    </p:animEffect>
                                    <p:set>
                                      <p:cBhvr>
                                        <p:cTn dur="1" fill="hold">
                                          <p:stCondLst>
                                            <p:cond delay="500"/>
                                          </p:stCondLst>
                                        </p:cTn>
                                        <p:tgtEl>
                                          <p:spTgt spid="33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36"/>
                                        </p:tgtEl>
                                      </p:cBhvr>
                                    </p:animEffect>
                                    <p:set>
                                      <p:cBhvr>
                                        <p:cTn dur="1" fill="hold">
                                          <p:stCondLst>
                                            <p:cond delay="500"/>
                                          </p:stCondLst>
                                        </p:cTn>
                                        <p:tgtEl>
                                          <p:spTgt spid="3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1"/>
          <p:cNvSpPr txBox="1"/>
          <p:nvPr/>
        </p:nvSpPr>
        <p:spPr>
          <a:xfrm>
            <a:off x="1357110" y="1260254"/>
            <a:ext cx="6096000" cy="40011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s-BO" sz="2000">
                <a:solidFill>
                  <a:schemeClr val="dk1"/>
                </a:solidFill>
                <a:latin typeface="Garamond"/>
                <a:ea typeface="Garamond"/>
                <a:cs typeface="Garamond"/>
                <a:sym typeface="Garamond"/>
              </a:rPr>
              <a:t>Sensor de presión</a:t>
            </a:r>
            <a:endParaRPr sz="2000">
              <a:solidFill>
                <a:schemeClr val="dk1"/>
              </a:solidFill>
              <a:latin typeface="Garamond"/>
              <a:ea typeface="Garamond"/>
              <a:cs typeface="Garamond"/>
              <a:sym typeface="Garamond"/>
            </a:endParaRPr>
          </a:p>
        </p:txBody>
      </p:sp>
      <p:sp>
        <p:nvSpPr>
          <p:cNvPr id="348" name="Google Shape;348;p21"/>
          <p:cNvSpPr txBox="1"/>
          <p:nvPr/>
        </p:nvSpPr>
        <p:spPr>
          <a:xfrm>
            <a:off x="7327387" y="5597746"/>
            <a:ext cx="2280980" cy="432614"/>
          </a:xfrm>
          <a:prstGeom prst="rect">
            <a:avLst/>
          </a:prstGeom>
          <a:solidFill>
            <a:srgbClr val="C19015"/>
          </a:solidFill>
          <a:ln cap="flat" cmpd="sng" w="9525">
            <a:solidFill>
              <a:srgbClr val="FFFF00"/>
            </a:solidFill>
            <a:prstDash val="solid"/>
            <a:round/>
            <a:headEnd len="sm" w="sm" type="none"/>
            <a:tailEnd len="sm" w="sm" type="none"/>
          </a:ln>
          <a:effectLst>
            <a:outerShdw blurRad="57150" rotWithShape="0" algn="ctr" dir="5400000" dist="19050">
              <a:srgbClr val="000000">
                <a:alpha val="62745"/>
              </a:srgbClr>
            </a:outerShdw>
          </a:effectLst>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lt1"/>
                </a:solidFill>
                <a:latin typeface="Garamond"/>
                <a:ea typeface="Garamond"/>
                <a:cs typeface="Garamond"/>
                <a:sym typeface="Garamond"/>
              </a:rPr>
              <a:t>Sensor de presión</a:t>
            </a:r>
            <a:endParaRPr/>
          </a:p>
        </p:txBody>
      </p:sp>
      <p:pic>
        <p:nvPicPr>
          <p:cNvPr id="349" name="Google Shape;349;p21"/>
          <p:cNvPicPr preferRelativeResize="0"/>
          <p:nvPr/>
        </p:nvPicPr>
        <p:blipFill rotWithShape="1">
          <a:blip r:embed="rId3">
            <a:alphaModFix/>
          </a:blip>
          <a:srcRect b="16399" l="29000" r="16400" t="-399"/>
          <a:stretch/>
        </p:blipFill>
        <p:spPr>
          <a:xfrm rot="5400000">
            <a:off x="6595669" y="1860677"/>
            <a:ext cx="3744416" cy="3240360"/>
          </a:xfrm>
          <a:prstGeom prst="rect">
            <a:avLst/>
          </a:prstGeom>
          <a:noFill/>
          <a:ln>
            <a:noFill/>
          </a:ln>
        </p:spPr>
      </p:pic>
      <p:pic>
        <p:nvPicPr>
          <p:cNvPr id="350" name="Google Shape;350;p21"/>
          <p:cNvPicPr preferRelativeResize="0"/>
          <p:nvPr/>
        </p:nvPicPr>
        <p:blipFill rotWithShape="1">
          <a:blip r:embed="rId4">
            <a:alphaModFix/>
          </a:blip>
          <a:srcRect b="0" l="12923" r="13975" t="0"/>
          <a:stretch/>
        </p:blipFill>
        <p:spPr>
          <a:xfrm rot="5400000">
            <a:off x="718772" y="2273358"/>
            <a:ext cx="4224398" cy="3148278"/>
          </a:xfrm>
          <a:prstGeom prst="rect">
            <a:avLst/>
          </a:prstGeom>
          <a:noFill/>
          <a:ln>
            <a:noFill/>
          </a:ln>
        </p:spPr>
      </p:pic>
      <p:sp>
        <p:nvSpPr>
          <p:cNvPr id="351" name="Google Shape;351;p21"/>
          <p:cNvSpPr/>
          <p:nvPr/>
        </p:nvSpPr>
        <p:spPr>
          <a:xfrm>
            <a:off x="3406375" y="3597674"/>
            <a:ext cx="380766" cy="418066"/>
          </a:xfrm>
          <a:prstGeom prst="rect">
            <a:avLst/>
          </a:prstGeom>
          <a:noFill/>
          <a:ln cap="flat" cmpd="sng" w="127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352" name="Google Shape;352;p21"/>
          <p:cNvSpPr txBox="1"/>
          <p:nvPr/>
        </p:nvSpPr>
        <p:spPr>
          <a:xfrm>
            <a:off x="1416122" y="6034629"/>
            <a:ext cx="2829697" cy="3174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Vista posterior del sistema</a:t>
            </a:r>
            <a:endParaRPr/>
          </a:p>
        </p:txBody>
      </p:sp>
      <p:sp>
        <p:nvSpPr>
          <p:cNvPr id="353" name="Google Shape;353;p21"/>
          <p:cNvSpPr txBox="1"/>
          <p:nvPr/>
        </p:nvSpPr>
        <p:spPr>
          <a:xfrm>
            <a:off x="962297" y="450953"/>
            <a:ext cx="10058400" cy="820446"/>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262626"/>
              </a:buClr>
              <a:buSzPts val="4800"/>
              <a:buFont typeface="Garamond"/>
              <a:buNone/>
            </a:pPr>
            <a:r>
              <a:rPr b="1" lang="es-BO" sz="4800" cap="none">
                <a:solidFill>
                  <a:srgbClr val="262626"/>
                </a:solidFill>
                <a:latin typeface="Garamond"/>
                <a:ea typeface="Garamond"/>
                <a:cs typeface="Garamond"/>
                <a:sym typeface="Garamond"/>
              </a:rPr>
              <a:t>Componentes del sistema de control </a:t>
            </a:r>
            <a:endParaRPr/>
          </a:p>
        </p:txBody>
      </p:sp>
      <p:sp>
        <p:nvSpPr>
          <p:cNvPr id="354" name="Google Shape;354;p21"/>
          <p:cNvSpPr/>
          <p:nvPr/>
        </p:nvSpPr>
        <p:spPr>
          <a:xfrm>
            <a:off x="877923" y="4015740"/>
            <a:ext cx="5056903" cy="1686639"/>
          </a:xfrm>
          <a:prstGeom prst="cloudCallout">
            <a:avLst>
              <a:gd fmla="val 58277" name="adj1"/>
              <a:gd fmla="val -58804" name="adj2"/>
            </a:avLst>
          </a:prstGeom>
          <a:gradFill>
            <a:gsLst>
              <a:gs pos="0">
                <a:srgbClr val="D1CDCD"/>
              </a:gs>
              <a:gs pos="100000">
                <a:srgbClr val="C3BEBE"/>
              </a:gs>
            </a:gsLst>
            <a:lin ang="5400000" scaled="0"/>
          </a:gradFill>
          <a:ln cap="flat" cmpd="sng" w="9525">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200">
                <a:solidFill>
                  <a:schemeClr val="dk1"/>
                </a:solidFill>
                <a:latin typeface="Garamond"/>
                <a:ea typeface="Garamond"/>
                <a:cs typeface="Garamond"/>
                <a:sym typeface="Garamond"/>
              </a:rPr>
              <a:t>Es utilizado para la medición de presión relativa en el tanque.</a:t>
            </a:r>
            <a:endParaRPr sz="2200">
              <a:solidFill>
                <a:schemeClr val="dk1"/>
              </a:solidFill>
              <a:latin typeface="Garamond"/>
              <a:ea typeface="Garamond"/>
              <a:cs typeface="Garamond"/>
              <a:sym typeface="Garamon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49"/>
                                        </p:tgtEl>
                                        <p:attrNameLst>
                                          <p:attrName>style.visibility</p:attrName>
                                        </p:attrNameLst>
                                      </p:cBhvr>
                                      <p:to>
                                        <p:strVal val="visible"/>
                                      </p:to>
                                    </p:set>
                                    <p:anim calcmode="lin" valueType="num">
                                      <p:cBhvr additive="base">
                                        <p:cTn dur="500"/>
                                        <p:tgtEl>
                                          <p:spTgt spid="349"/>
                                        </p:tgtEl>
                                        <p:attrNameLst>
                                          <p:attrName>ppt_w</p:attrName>
                                        </p:attrNameLst>
                                      </p:cBhvr>
                                      <p:tavLst>
                                        <p:tav fmla="" tm="0">
                                          <p:val>
                                            <p:strVal val="0"/>
                                          </p:val>
                                        </p:tav>
                                        <p:tav fmla="" tm="100000">
                                          <p:val>
                                            <p:strVal val="#ppt_w"/>
                                          </p:val>
                                        </p:tav>
                                      </p:tavLst>
                                    </p:anim>
                                    <p:anim calcmode="lin" valueType="num">
                                      <p:cBhvr additive="base">
                                        <p:cTn dur="500"/>
                                        <p:tgtEl>
                                          <p:spTgt spid="349"/>
                                        </p:tgtEl>
                                        <p:attrNameLst>
                                          <p:attrName>ppt_h</p:attrName>
                                        </p:attrNameLst>
                                      </p:cBhvr>
                                      <p:tavLst>
                                        <p:tav fmla="" tm="0">
                                          <p:val>
                                            <p:strVal val="0"/>
                                          </p:val>
                                        </p:tav>
                                        <p:tav fmla="" tm="100000">
                                          <p:val>
                                            <p:strVal val="#ppt_h"/>
                                          </p:val>
                                        </p:tav>
                                      </p:tavLst>
                                    </p:anim>
                                  </p:childTnLst>
                                </p:cTn>
                              </p:par>
                              <p:par>
                                <p:cTn fill="hold" nodeType="with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51"/>
                                        </p:tgtEl>
                                      </p:cBhvr>
                                    </p:animEffect>
                                    <p:set>
                                      <p:cBhvr>
                                        <p:cTn dur="1" fill="hold">
                                          <p:stCondLst>
                                            <p:cond delay="500"/>
                                          </p:stCondLst>
                                        </p:cTn>
                                        <p:tgtEl>
                                          <p:spTgt spid="35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50"/>
                                        </p:tgtEl>
                                      </p:cBhvr>
                                    </p:animEffect>
                                    <p:set>
                                      <p:cBhvr>
                                        <p:cTn dur="1" fill="hold">
                                          <p:stCondLst>
                                            <p:cond delay="500"/>
                                          </p:stCondLst>
                                        </p:cTn>
                                        <p:tgtEl>
                                          <p:spTgt spid="35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52"/>
                                        </p:tgtEl>
                                      </p:cBhvr>
                                    </p:animEffect>
                                    <p:set>
                                      <p:cBhvr>
                                        <p:cTn dur="1" fill="hold">
                                          <p:stCondLst>
                                            <p:cond delay="500"/>
                                          </p:stCondLst>
                                        </p:cTn>
                                        <p:tgtEl>
                                          <p:spTgt spid="3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2"/>
          <p:cNvSpPr txBox="1"/>
          <p:nvPr/>
        </p:nvSpPr>
        <p:spPr>
          <a:xfrm>
            <a:off x="1385137" y="1265846"/>
            <a:ext cx="9073008" cy="40011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s-BO" sz="2000">
                <a:solidFill>
                  <a:schemeClr val="dk1"/>
                </a:solidFill>
                <a:latin typeface="Garamond"/>
                <a:ea typeface="Garamond"/>
                <a:cs typeface="Garamond"/>
                <a:sym typeface="Garamond"/>
              </a:rPr>
              <a:t>Sensores de temperatura TC (Termocupla</a:t>
            </a:r>
            <a:r>
              <a:rPr b="1" i="1" lang="es-BO" sz="2000">
                <a:solidFill>
                  <a:schemeClr val="dk1"/>
                </a:solidFill>
                <a:latin typeface="Garamond"/>
                <a:ea typeface="Garamond"/>
                <a:cs typeface="Garamond"/>
                <a:sym typeface="Garamond"/>
              </a:rPr>
              <a:t>) y RTD (Resistivo) </a:t>
            </a:r>
            <a:endParaRPr b="1" i="1" sz="2000">
              <a:solidFill>
                <a:schemeClr val="dk1"/>
              </a:solidFill>
              <a:latin typeface="Garamond"/>
              <a:ea typeface="Garamond"/>
              <a:cs typeface="Garamond"/>
              <a:sym typeface="Garamond"/>
            </a:endParaRPr>
          </a:p>
        </p:txBody>
      </p:sp>
      <p:sp>
        <p:nvSpPr>
          <p:cNvPr id="361" name="Google Shape;361;p22"/>
          <p:cNvSpPr txBox="1"/>
          <p:nvPr/>
        </p:nvSpPr>
        <p:spPr>
          <a:xfrm>
            <a:off x="4797634" y="4843442"/>
            <a:ext cx="2849240" cy="369332"/>
          </a:xfrm>
          <a:prstGeom prst="rect">
            <a:avLst/>
          </a:prstGeom>
          <a:solidFill>
            <a:srgbClr val="FF505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BO" sz="1800">
                <a:solidFill>
                  <a:schemeClr val="dk1"/>
                </a:solidFill>
                <a:latin typeface="Garamond"/>
                <a:ea typeface="Garamond"/>
                <a:cs typeface="Garamond"/>
                <a:sym typeface="Garamond"/>
              </a:rPr>
              <a:t>Sensor de temperatura RTD</a:t>
            </a:r>
            <a:endParaRPr/>
          </a:p>
        </p:txBody>
      </p:sp>
      <p:sp>
        <p:nvSpPr>
          <p:cNvPr id="362" name="Google Shape;362;p22"/>
          <p:cNvSpPr txBox="1"/>
          <p:nvPr/>
        </p:nvSpPr>
        <p:spPr>
          <a:xfrm>
            <a:off x="4706390" y="2183835"/>
            <a:ext cx="2737251" cy="369332"/>
          </a:xfrm>
          <a:prstGeom prst="rect">
            <a:avLst/>
          </a:prstGeom>
          <a:solidFill>
            <a:srgbClr val="F2D383"/>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800">
                <a:solidFill>
                  <a:schemeClr val="dk1"/>
                </a:solidFill>
                <a:latin typeface="Garamond"/>
                <a:ea typeface="Garamond"/>
                <a:cs typeface="Garamond"/>
                <a:sym typeface="Garamond"/>
              </a:rPr>
              <a:t>Sensor de temperatura TC</a:t>
            </a:r>
            <a:endParaRPr b="0" i="0" sz="1800">
              <a:solidFill>
                <a:schemeClr val="dk1"/>
              </a:solidFill>
              <a:latin typeface="Garamond"/>
              <a:ea typeface="Garamond"/>
              <a:cs typeface="Garamond"/>
              <a:sym typeface="Garamond"/>
            </a:endParaRPr>
          </a:p>
        </p:txBody>
      </p:sp>
      <p:sp>
        <p:nvSpPr>
          <p:cNvPr id="363" name="Google Shape;363;p22"/>
          <p:cNvSpPr txBox="1"/>
          <p:nvPr/>
        </p:nvSpPr>
        <p:spPr>
          <a:xfrm>
            <a:off x="1416122" y="6054262"/>
            <a:ext cx="2829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Vista posterior del sistema</a:t>
            </a:r>
            <a:endParaRPr/>
          </a:p>
        </p:txBody>
      </p:sp>
      <p:pic>
        <p:nvPicPr>
          <p:cNvPr id="364" name="Google Shape;364;p22"/>
          <p:cNvPicPr preferRelativeResize="0"/>
          <p:nvPr/>
        </p:nvPicPr>
        <p:blipFill rotWithShape="1">
          <a:blip r:embed="rId3">
            <a:alphaModFix/>
          </a:blip>
          <a:srcRect b="44356" l="50458" r="36582" t="29554"/>
          <a:stretch/>
        </p:blipFill>
        <p:spPr>
          <a:xfrm>
            <a:off x="7923285" y="4062741"/>
            <a:ext cx="2044647" cy="1896955"/>
          </a:xfrm>
          <a:prstGeom prst="rect">
            <a:avLst/>
          </a:prstGeom>
          <a:noFill/>
          <a:ln>
            <a:noFill/>
          </a:ln>
        </p:spPr>
      </p:pic>
      <p:pic>
        <p:nvPicPr>
          <p:cNvPr id="365" name="Google Shape;365;p22"/>
          <p:cNvPicPr preferRelativeResize="0"/>
          <p:nvPr/>
        </p:nvPicPr>
        <p:blipFill rotWithShape="1">
          <a:blip r:embed="rId3">
            <a:alphaModFix/>
          </a:blip>
          <a:srcRect b="34414" l="27989" r="55135" t="31269"/>
          <a:stretch/>
        </p:blipFill>
        <p:spPr>
          <a:xfrm>
            <a:off x="7866481" y="1629434"/>
            <a:ext cx="2024656" cy="1896955"/>
          </a:xfrm>
          <a:prstGeom prst="rect">
            <a:avLst/>
          </a:prstGeom>
          <a:noFill/>
          <a:ln>
            <a:noFill/>
          </a:ln>
        </p:spPr>
      </p:pic>
      <p:pic>
        <p:nvPicPr>
          <p:cNvPr id="366" name="Google Shape;366;p22"/>
          <p:cNvPicPr preferRelativeResize="0"/>
          <p:nvPr/>
        </p:nvPicPr>
        <p:blipFill rotWithShape="1">
          <a:blip r:embed="rId4">
            <a:alphaModFix/>
          </a:blip>
          <a:srcRect b="0" l="12923" r="13975" t="0"/>
          <a:stretch/>
        </p:blipFill>
        <p:spPr>
          <a:xfrm rot="5400000">
            <a:off x="718772" y="2273358"/>
            <a:ext cx="4224398" cy="3148278"/>
          </a:xfrm>
          <a:prstGeom prst="rect">
            <a:avLst/>
          </a:prstGeom>
          <a:noFill/>
          <a:ln>
            <a:noFill/>
          </a:ln>
        </p:spPr>
      </p:pic>
      <p:sp>
        <p:nvSpPr>
          <p:cNvPr id="367" name="Google Shape;367;p22"/>
          <p:cNvSpPr txBox="1"/>
          <p:nvPr/>
        </p:nvSpPr>
        <p:spPr>
          <a:xfrm>
            <a:off x="962297" y="450953"/>
            <a:ext cx="10058400" cy="820446"/>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262626"/>
              </a:buClr>
              <a:buSzPts val="4800"/>
              <a:buFont typeface="Garamond"/>
              <a:buNone/>
            </a:pPr>
            <a:r>
              <a:rPr b="1" lang="es-BO" sz="4800" cap="none">
                <a:solidFill>
                  <a:srgbClr val="262626"/>
                </a:solidFill>
                <a:latin typeface="Garamond"/>
                <a:ea typeface="Garamond"/>
                <a:cs typeface="Garamond"/>
                <a:sym typeface="Garamond"/>
              </a:rPr>
              <a:t>Componentes del sistema de control </a:t>
            </a:r>
            <a:endParaRPr/>
          </a:p>
        </p:txBody>
      </p:sp>
      <p:sp>
        <p:nvSpPr>
          <p:cNvPr id="368" name="Google Shape;368;p22"/>
          <p:cNvSpPr/>
          <p:nvPr/>
        </p:nvSpPr>
        <p:spPr>
          <a:xfrm>
            <a:off x="3097929" y="3595150"/>
            <a:ext cx="380766" cy="418066"/>
          </a:xfrm>
          <a:prstGeom prst="rect">
            <a:avLst/>
          </a:prstGeom>
          <a:noFill/>
          <a:ln cap="flat" cmpd="sng" w="127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369" name="Google Shape;369;p22"/>
          <p:cNvSpPr/>
          <p:nvPr/>
        </p:nvSpPr>
        <p:spPr>
          <a:xfrm>
            <a:off x="3751519" y="3595150"/>
            <a:ext cx="380766" cy="418066"/>
          </a:xfrm>
          <a:prstGeom prst="rect">
            <a:avLst/>
          </a:prstGeom>
          <a:noFill/>
          <a:ln cap="flat" cmpd="sng" w="12700">
            <a:solidFill>
              <a:srgbClr val="FF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pic>
        <p:nvPicPr>
          <p:cNvPr id="370" name="Google Shape;370;p22"/>
          <p:cNvPicPr preferRelativeResize="0"/>
          <p:nvPr/>
        </p:nvPicPr>
        <p:blipFill rotWithShape="1">
          <a:blip r:embed="rId3">
            <a:alphaModFix/>
          </a:blip>
          <a:srcRect b="44356" l="50458" r="36582" t="29554"/>
          <a:stretch/>
        </p:blipFill>
        <p:spPr>
          <a:xfrm>
            <a:off x="6859630" y="2131980"/>
            <a:ext cx="3229632" cy="2996344"/>
          </a:xfrm>
          <a:prstGeom prst="rect">
            <a:avLst/>
          </a:prstGeom>
          <a:noFill/>
          <a:ln>
            <a:noFill/>
          </a:ln>
        </p:spPr>
      </p:pic>
      <p:sp>
        <p:nvSpPr>
          <p:cNvPr id="371" name="Google Shape;371;p22"/>
          <p:cNvSpPr/>
          <p:nvPr/>
        </p:nvSpPr>
        <p:spPr>
          <a:xfrm>
            <a:off x="558914" y="3071046"/>
            <a:ext cx="5733708" cy="2483108"/>
          </a:xfrm>
          <a:prstGeom prst="cloudCallout">
            <a:avLst>
              <a:gd fmla="val 55868" name="adj1"/>
              <a:gd fmla="val -46997" name="adj2"/>
            </a:avLst>
          </a:prstGeom>
          <a:gradFill>
            <a:gsLst>
              <a:gs pos="0">
                <a:srgbClr val="C8D8D4"/>
              </a:gs>
              <a:gs pos="100000">
                <a:srgbClr val="B7CBC6"/>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1" lang="es-BO" sz="2000">
                <a:solidFill>
                  <a:schemeClr val="dk1"/>
                </a:solidFill>
                <a:latin typeface="Garamond"/>
                <a:ea typeface="Garamond"/>
                <a:cs typeface="Garamond"/>
                <a:sym typeface="Garamond"/>
              </a:rPr>
              <a:t>Sensores de temperatura TC/RTD</a:t>
            </a:r>
            <a:r>
              <a:rPr lang="es-BO" sz="2000">
                <a:solidFill>
                  <a:schemeClr val="dk1"/>
                </a:solidFill>
                <a:latin typeface="Garamond"/>
                <a:ea typeface="Garamond"/>
                <a:cs typeface="Garamond"/>
                <a:sym typeface="Garamond"/>
              </a:rPr>
              <a:t>: Están conectados al controlador de temperatura para dar mediciones de la temperatura del líquido.</a:t>
            </a:r>
            <a:endParaRPr sz="2000">
              <a:solidFill>
                <a:schemeClr val="dk1"/>
              </a:solidFill>
              <a:latin typeface="Garamond"/>
              <a:ea typeface="Garamond"/>
              <a:cs typeface="Garamond"/>
              <a:sym typeface="Garamon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8"/>
                                        </p:tgtEl>
                                      </p:cBhvr>
                                    </p:animEffect>
                                    <p:set>
                                      <p:cBhvr>
                                        <p:cTn dur="1" fill="hold">
                                          <p:stCondLst>
                                            <p:cond delay="500"/>
                                          </p:stCondLst>
                                        </p:cTn>
                                        <p:tgtEl>
                                          <p:spTgt spid="36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69"/>
                                        </p:tgtEl>
                                      </p:cBhvr>
                                    </p:animEffect>
                                    <p:set>
                                      <p:cBhvr>
                                        <p:cTn dur="1" fill="hold">
                                          <p:stCondLst>
                                            <p:cond delay="500"/>
                                          </p:stCondLst>
                                        </p:cTn>
                                        <p:tgtEl>
                                          <p:spTgt spid="36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66"/>
                                        </p:tgtEl>
                                      </p:cBhvr>
                                    </p:animEffect>
                                    <p:set>
                                      <p:cBhvr>
                                        <p:cTn dur="1" fill="hold">
                                          <p:stCondLst>
                                            <p:cond delay="500"/>
                                          </p:stCondLst>
                                        </p:cTn>
                                        <p:tgtEl>
                                          <p:spTgt spid="36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63"/>
                                        </p:tgtEl>
                                      </p:cBhvr>
                                    </p:animEffect>
                                    <p:set>
                                      <p:cBhvr>
                                        <p:cTn dur="1" fill="hold">
                                          <p:stCondLst>
                                            <p:cond delay="500"/>
                                          </p:stCondLst>
                                        </p:cTn>
                                        <p:tgtEl>
                                          <p:spTgt spid="36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62"/>
                                        </p:tgtEl>
                                      </p:cBhvr>
                                    </p:animEffect>
                                    <p:set>
                                      <p:cBhvr>
                                        <p:cTn dur="1" fill="hold">
                                          <p:stCondLst>
                                            <p:cond delay="500"/>
                                          </p:stCondLst>
                                        </p:cTn>
                                        <p:tgtEl>
                                          <p:spTgt spid="36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65"/>
                                        </p:tgtEl>
                                      </p:cBhvr>
                                    </p:animEffect>
                                    <p:set>
                                      <p:cBhvr>
                                        <p:cTn dur="1" fill="hold">
                                          <p:stCondLst>
                                            <p:cond delay="500"/>
                                          </p:stCondLst>
                                        </p:cTn>
                                        <p:tgtEl>
                                          <p:spTgt spid="36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61"/>
                                        </p:tgtEl>
                                      </p:cBhvr>
                                    </p:animEffect>
                                    <p:set>
                                      <p:cBhvr>
                                        <p:cTn dur="1" fill="hold">
                                          <p:stCondLst>
                                            <p:cond delay="500"/>
                                          </p:stCondLst>
                                        </p:cTn>
                                        <p:tgtEl>
                                          <p:spTgt spid="36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64"/>
                                        </p:tgtEl>
                                      </p:cBhvr>
                                    </p:animEffect>
                                    <p:set>
                                      <p:cBhvr>
                                        <p:cTn dur="1" fill="hold">
                                          <p:stCondLst>
                                            <p:cond delay="500"/>
                                          </p:stCondLst>
                                        </p:cTn>
                                        <p:tgtEl>
                                          <p:spTgt spid="3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pic>
        <p:nvPicPr>
          <p:cNvPr id="377" name="Google Shape;377;p23"/>
          <p:cNvPicPr preferRelativeResize="0"/>
          <p:nvPr/>
        </p:nvPicPr>
        <p:blipFill rotWithShape="1">
          <a:blip r:embed="rId3">
            <a:alphaModFix/>
          </a:blip>
          <a:srcRect b="0" l="5900" r="16399" t="0"/>
          <a:stretch/>
        </p:blipFill>
        <p:spPr>
          <a:xfrm rot="5400000">
            <a:off x="1090200" y="2362423"/>
            <a:ext cx="4371609" cy="3164818"/>
          </a:xfrm>
          <a:prstGeom prst="rect">
            <a:avLst/>
          </a:prstGeom>
          <a:noFill/>
          <a:ln>
            <a:noFill/>
          </a:ln>
        </p:spPr>
      </p:pic>
      <p:sp>
        <p:nvSpPr>
          <p:cNvPr id="378" name="Google Shape;378;p23"/>
          <p:cNvSpPr txBox="1"/>
          <p:nvPr/>
        </p:nvSpPr>
        <p:spPr>
          <a:xfrm>
            <a:off x="1083623" y="1275913"/>
            <a:ext cx="10945216" cy="40011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s-BO" sz="2000">
                <a:solidFill>
                  <a:schemeClr val="dk1"/>
                </a:solidFill>
                <a:latin typeface="Garamond"/>
                <a:ea typeface="Garamond"/>
                <a:cs typeface="Garamond"/>
                <a:sym typeface="Garamond"/>
              </a:rPr>
              <a:t>Controlador Lógico Programable (PLC)  y Modulo de expansión  </a:t>
            </a:r>
            <a:r>
              <a:rPr b="1" i="1" lang="es-BO" sz="2000">
                <a:solidFill>
                  <a:schemeClr val="dk1"/>
                </a:solidFill>
                <a:latin typeface="Calibri"/>
                <a:ea typeface="Calibri"/>
                <a:cs typeface="Calibri"/>
                <a:sym typeface="Calibri"/>
              </a:rPr>
              <a:t>1762 E/S</a:t>
            </a:r>
            <a:endParaRPr b="1" i="1" sz="2000">
              <a:solidFill>
                <a:schemeClr val="dk1"/>
              </a:solidFill>
              <a:latin typeface="Times New Roman"/>
              <a:ea typeface="Times New Roman"/>
              <a:cs typeface="Times New Roman"/>
              <a:sym typeface="Times New Roman"/>
            </a:endParaRPr>
          </a:p>
        </p:txBody>
      </p:sp>
      <p:sp>
        <p:nvSpPr>
          <p:cNvPr id="379" name="Google Shape;379;p23"/>
          <p:cNvSpPr/>
          <p:nvPr/>
        </p:nvSpPr>
        <p:spPr>
          <a:xfrm>
            <a:off x="3688761" y="2868764"/>
            <a:ext cx="417742" cy="369332"/>
          </a:xfrm>
          <a:prstGeom prst="rect">
            <a:avLst/>
          </a:prstGeom>
          <a:noFill/>
          <a:ln cap="flat" cmpd="sng" w="127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380" name="Google Shape;380;p23"/>
          <p:cNvSpPr/>
          <p:nvPr/>
        </p:nvSpPr>
        <p:spPr>
          <a:xfrm>
            <a:off x="6247837" y="1797936"/>
            <a:ext cx="4248472" cy="2880320"/>
          </a:xfrm>
          <a:prstGeom prst="rect">
            <a:avLst/>
          </a:prstGeom>
          <a:blipFill rotWithShape="1">
            <a:blip r:embed="rId4">
              <a:alphaModFix/>
            </a:blip>
            <a:stretch>
              <a:fillRect b="0" l="0" r="0" t="0"/>
            </a:stretch>
          </a:blipFill>
          <a:ln cap="flat" cmpd="sng" w="12700">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381" name="Google Shape;381;p23"/>
          <p:cNvSpPr txBox="1"/>
          <p:nvPr/>
        </p:nvSpPr>
        <p:spPr>
          <a:xfrm>
            <a:off x="2125488" y="6037715"/>
            <a:ext cx="249408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BO" sz="1800">
                <a:solidFill>
                  <a:schemeClr val="dk1"/>
                </a:solidFill>
                <a:latin typeface="Garamond"/>
                <a:ea typeface="Garamond"/>
                <a:cs typeface="Garamond"/>
                <a:sym typeface="Garamond"/>
              </a:rPr>
              <a:t>Vista frontal del sistema</a:t>
            </a:r>
            <a:endParaRPr/>
          </a:p>
        </p:txBody>
      </p:sp>
      <p:sp>
        <p:nvSpPr>
          <p:cNvPr id="382" name="Google Shape;382;p23"/>
          <p:cNvSpPr/>
          <p:nvPr/>
        </p:nvSpPr>
        <p:spPr>
          <a:xfrm>
            <a:off x="6430366" y="2152380"/>
            <a:ext cx="2880320" cy="2525876"/>
          </a:xfrm>
          <a:prstGeom prst="rect">
            <a:avLst/>
          </a:prstGeom>
          <a:noFill/>
          <a:ln cap="flat" cmpd="sng" w="12700">
            <a:solidFill>
              <a:srgbClr val="FFFF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383" name="Google Shape;383;p23"/>
          <p:cNvSpPr/>
          <p:nvPr/>
        </p:nvSpPr>
        <p:spPr>
          <a:xfrm>
            <a:off x="9344181" y="2142574"/>
            <a:ext cx="1152128" cy="2525876"/>
          </a:xfrm>
          <a:prstGeom prst="rect">
            <a:avLst/>
          </a:prstGeom>
          <a:noFill/>
          <a:ln cap="flat" cmpd="sng" w="12700">
            <a:solidFill>
              <a:srgbClr val="FF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384" name="Google Shape;384;p23"/>
          <p:cNvSpPr txBox="1"/>
          <p:nvPr/>
        </p:nvSpPr>
        <p:spPr>
          <a:xfrm>
            <a:off x="6665541" y="4800169"/>
            <a:ext cx="2409969" cy="369332"/>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800">
                <a:solidFill>
                  <a:schemeClr val="dk1"/>
                </a:solidFill>
                <a:latin typeface="Garamond"/>
                <a:ea typeface="Garamond"/>
                <a:cs typeface="Garamond"/>
                <a:sym typeface="Garamond"/>
              </a:rPr>
              <a:t>PLC Micrologix 1100</a:t>
            </a:r>
            <a:endParaRPr b="0" i="0" sz="1800">
              <a:solidFill>
                <a:schemeClr val="dk1"/>
              </a:solidFill>
              <a:latin typeface="Garamond"/>
              <a:ea typeface="Garamond"/>
              <a:cs typeface="Garamond"/>
              <a:sym typeface="Garamond"/>
            </a:endParaRPr>
          </a:p>
        </p:txBody>
      </p:sp>
      <p:sp>
        <p:nvSpPr>
          <p:cNvPr id="385" name="Google Shape;385;p23"/>
          <p:cNvSpPr txBox="1"/>
          <p:nvPr/>
        </p:nvSpPr>
        <p:spPr>
          <a:xfrm>
            <a:off x="9179081" y="4800169"/>
            <a:ext cx="2040099" cy="923330"/>
          </a:xfrm>
          <a:prstGeom prst="rect">
            <a:avLst/>
          </a:prstGeom>
          <a:solidFill>
            <a:srgbClr val="FF0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800">
                <a:solidFill>
                  <a:schemeClr val="dk1"/>
                </a:solidFill>
                <a:latin typeface="Garamond"/>
                <a:ea typeface="Garamond"/>
                <a:cs typeface="Garamond"/>
                <a:sym typeface="Garamond"/>
              </a:rPr>
              <a:t>Módulo de expansión 1762 E/S Analógica</a:t>
            </a:r>
            <a:endParaRPr b="0" i="0" sz="1800">
              <a:solidFill>
                <a:schemeClr val="dk1"/>
              </a:solidFill>
              <a:latin typeface="Garamond"/>
              <a:ea typeface="Garamond"/>
              <a:cs typeface="Garamond"/>
              <a:sym typeface="Garamond"/>
            </a:endParaRPr>
          </a:p>
        </p:txBody>
      </p:sp>
      <p:sp>
        <p:nvSpPr>
          <p:cNvPr id="386" name="Google Shape;386;p23"/>
          <p:cNvSpPr/>
          <p:nvPr/>
        </p:nvSpPr>
        <p:spPr>
          <a:xfrm>
            <a:off x="552318" y="3308474"/>
            <a:ext cx="5145460" cy="2670512"/>
          </a:xfrm>
          <a:prstGeom prst="cloudCallout">
            <a:avLst>
              <a:gd fmla="val 58081" name="adj1"/>
              <a:gd fmla="val -51159" name="adj2"/>
            </a:avLst>
          </a:prstGeom>
          <a:gradFill>
            <a:gsLst>
              <a:gs pos="0">
                <a:srgbClr val="D1CDCD"/>
              </a:gs>
              <a:gs pos="100000">
                <a:srgbClr val="C3BEBE"/>
              </a:gs>
            </a:gsLst>
            <a:lin ang="5400000" scaled="0"/>
          </a:gradFill>
          <a:ln cap="flat" cmpd="sng" w="9525">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Garamond"/>
              <a:buNone/>
            </a:pPr>
            <a:r>
              <a:rPr b="1" lang="es-BO" sz="1800">
                <a:solidFill>
                  <a:schemeClr val="dk1"/>
                </a:solidFill>
                <a:latin typeface="Garamond"/>
                <a:ea typeface="Garamond"/>
                <a:cs typeface="Garamond"/>
                <a:sym typeface="Garamond"/>
              </a:rPr>
              <a:t>PLC / Modulo de expansión</a:t>
            </a:r>
            <a:r>
              <a:rPr lang="es-BO" sz="1800">
                <a:solidFill>
                  <a:schemeClr val="dk1"/>
                </a:solidFill>
                <a:latin typeface="Garamond"/>
                <a:ea typeface="Garamond"/>
                <a:cs typeface="Garamond"/>
                <a:sym typeface="Garamond"/>
              </a:rPr>
              <a:t>: Es el controlador del sistema de nivel de líquido, el cual recibe señales de los sensores de nivel para accionar el variador de frecuencia el cual regula la velocidad del motor.</a:t>
            </a:r>
            <a:endParaRPr sz="1800">
              <a:solidFill>
                <a:schemeClr val="dk1"/>
              </a:solidFill>
              <a:latin typeface="Garamond"/>
              <a:ea typeface="Garamond"/>
              <a:cs typeface="Garamond"/>
              <a:sym typeface="Garamond"/>
            </a:endParaRPr>
          </a:p>
        </p:txBody>
      </p:sp>
      <p:sp>
        <p:nvSpPr>
          <p:cNvPr id="387" name="Google Shape;387;p23"/>
          <p:cNvSpPr txBox="1"/>
          <p:nvPr/>
        </p:nvSpPr>
        <p:spPr>
          <a:xfrm>
            <a:off x="962297" y="450953"/>
            <a:ext cx="10058400" cy="820446"/>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262626"/>
              </a:buClr>
              <a:buSzPts val="4800"/>
              <a:buFont typeface="Garamond"/>
              <a:buNone/>
            </a:pPr>
            <a:r>
              <a:rPr b="1" lang="es-BO" sz="4800" cap="none">
                <a:solidFill>
                  <a:srgbClr val="262626"/>
                </a:solidFill>
                <a:latin typeface="Garamond"/>
                <a:ea typeface="Garamond"/>
                <a:cs typeface="Garamond"/>
                <a:sym typeface="Garamond"/>
              </a:rPr>
              <a:t>Componentes del sistema de control </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80"/>
                                        </p:tgtEl>
                                        <p:attrNameLst>
                                          <p:attrName>style.visibility</p:attrName>
                                        </p:attrNameLst>
                                      </p:cBhvr>
                                      <p:to>
                                        <p:strVal val="visible"/>
                                      </p:to>
                                    </p:set>
                                    <p:anim calcmode="lin" valueType="num">
                                      <p:cBhvr additive="base">
                                        <p:cTn dur="500"/>
                                        <p:tgtEl>
                                          <p:spTgt spid="380"/>
                                        </p:tgtEl>
                                        <p:attrNameLst>
                                          <p:attrName>ppt_w</p:attrName>
                                        </p:attrNameLst>
                                      </p:cBhvr>
                                      <p:tavLst>
                                        <p:tav fmla="" tm="0">
                                          <p:val>
                                            <p:strVal val="0"/>
                                          </p:val>
                                        </p:tav>
                                        <p:tav fmla="" tm="100000">
                                          <p:val>
                                            <p:strVal val="#ppt_w"/>
                                          </p:val>
                                        </p:tav>
                                      </p:tavLst>
                                    </p:anim>
                                    <p:anim calcmode="lin" valueType="num">
                                      <p:cBhvr additive="base">
                                        <p:cTn dur="500"/>
                                        <p:tgtEl>
                                          <p:spTgt spid="38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9"/>
                                        </p:tgtEl>
                                      </p:cBhvr>
                                    </p:animEffect>
                                    <p:set>
                                      <p:cBhvr>
                                        <p:cTn dur="1" fill="hold">
                                          <p:stCondLst>
                                            <p:cond delay="500"/>
                                          </p:stCondLst>
                                        </p:cTn>
                                        <p:tgtEl>
                                          <p:spTgt spid="37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82"/>
                                        </p:tgtEl>
                                      </p:cBhvr>
                                    </p:animEffect>
                                    <p:set>
                                      <p:cBhvr>
                                        <p:cTn dur="1" fill="hold">
                                          <p:stCondLst>
                                            <p:cond delay="500"/>
                                          </p:stCondLst>
                                        </p:cTn>
                                        <p:tgtEl>
                                          <p:spTgt spid="38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84"/>
                                        </p:tgtEl>
                                      </p:cBhvr>
                                    </p:animEffect>
                                    <p:set>
                                      <p:cBhvr>
                                        <p:cTn dur="1" fill="hold">
                                          <p:stCondLst>
                                            <p:cond delay="500"/>
                                          </p:stCondLst>
                                        </p:cTn>
                                        <p:tgtEl>
                                          <p:spTgt spid="38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83"/>
                                        </p:tgtEl>
                                      </p:cBhvr>
                                    </p:animEffect>
                                    <p:set>
                                      <p:cBhvr>
                                        <p:cTn dur="1" fill="hold">
                                          <p:stCondLst>
                                            <p:cond delay="500"/>
                                          </p:stCondLst>
                                        </p:cTn>
                                        <p:tgtEl>
                                          <p:spTgt spid="38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85"/>
                                        </p:tgtEl>
                                      </p:cBhvr>
                                    </p:animEffect>
                                    <p:set>
                                      <p:cBhvr>
                                        <p:cTn dur="1" fill="hold">
                                          <p:stCondLst>
                                            <p:cond delay="500"/>
                                          </p:stCondLst>
                                        </p:cTn>
                                        <p:tgtEl>
                                          <p:spTgt spid="38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77"/>
                                        </p:tgtEl>
                                      </p:cBhvr>
                                    </p:animEffect>
                                    <p:set>
                                      <p:cBhvr>
                                        <p:cTn dur="1" fill="hold">
                                          <p:stCondLst>
                                            <p:cond delay="500"/>
                                          </p:stCondLst>
                                        </p:cTn>
                                        <p:tgtEl>
                                          <p:spTgt spid="37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81"/>
                                        </p:tgtEl>
                                      </p:cBhvr>
                                    </p:animEffect>
                                    <p:set>
                                      <p:cBhvr>
                                        <p:cTn dur="1" fill="hold">
                                          <p:stCondLst>
                                            <p:cond delay="500"/>
                                          </p:stCondLst>
                                        </p:cTn>
                                        <p:tgtEl>
                                          <p:spTgt spid="38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4"/>
          <p:cNvSpPr txBox="1"/>
          <p:nvPr>
            <p:ph type="title"/>
          </p:nvPr>
        </p:nvSpPr>
        <p:spPr>
          <a:xfrm>
            <a:off x="1563623" y="2094309"/>
            <a:ext cx="9070848" cy="2587752"/>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rgbClr val="262626"/>
              </a:buClr>
              <a:buSzPts val="7200"/>
              <a:buFont typeface="Garamond"/>
              <a:buNone/>
            </a:pPr>
            <a:r>
              <a:rPr lang="es-BO"/>
              <a:t>PROTECCION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5"/>
          <p:cNvSpPr txBox="1"/>
          <p:nvPr>
            <p:ph type="title"/>
          </p:nvPr>
        </p:nvSpPr>
        <p:spPr>
          <a:xfrm>
            <a:off x="662609" y="444057"/>
            <a:ext cx="10921055" cy="58961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262626"/>
              </a:buClr>
              <a:buSzPct val="100000"/>
              <a:buFont typeface="Garamond"/>
              <a:buNone/>
            </a:pPr>
            <a:r>
              <a:rPr b="1" lang="es-BO"/>
              <a:t>Dispositivo de Protección </a:t>
            </a:r>
            <a:endParaRPr/>
          </a:p>
        </p:txBody>
      </p:sp>
      <p:pic>
        <p:nvPicPr>
          <p:cNvPr id="398" name="Google Shape;398;p25"/>
          <p:cNvPicPr preferRelativeResize="0"/>
          <p:nvPr/>
        </p:nvPicPr>
        <p:blipFill rotWithShape="1">
          <a:blip r:embed="rId3">
            <a:alphaModFix/>
          </a:blip>
          <a:srcRect b="0" l="0" r="0" t="0"/>
          <a:stretch/>
        </p:blipFill>
        <p:spPr>
          <a:xfrm>
            <a:off x="662608" y="1131569"/>
            <a:ext cx="3254071" cy="3601510"/>
          </a:xfrm>
          <a:prstGeom prst="rect">
            <a:avLst/>
          </a:prstGeom>
          <a:noFill/>
          <a:ln>
            <a:noFill/>
          </a:ln>
        </p:spPr>
      </p:pic>
      <p:sp>
        <p:nvSpPr>
          <p:cNvPr id="399" name="Google Shape;399;p25"/>
          <p:cNvSpPr txBox="1"/>
          <p:nvPr/>
        </p:nvSpPr>
        <p:spPr>
          <a:xfrm>
            <a:off x="3916680" y="1323538"/>
            <a:ext cx="7879080" cy="49398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BO" sz="1800">
                <a:solidFill>
                  <a:schemeClr val="dk1"/>
                </a:solidFill>
                <a:latin typeface="Garamond"/>
                <a:ea typeface="Garamond"/>
                <a:cs typeface="Garamond"/>
                <a:sym typeface="Garamond"/>
              </a:rPr>
              <a:t>Un termomagnético es </a:t>
            </a:r>
            <a:r>
              <a:rPr lang="es-BO" sz="1800">
                <a:solidFill>
                  <a:schemeClr val="dk1"/>
                </a:solidFill>
                <a:latin typeface="Garamond"/>
                <a:ea typeface="Garamond"/>
                <a:cs typeface="Garamond"/>
                <a:sym typeface="Garamond"/>
              </a:rPr>
              <a:t>utilizado en los sistemas eléctricos para evitar sobrecargas y cortocircuitos. Consiste en un dispositivo combinado que incluye tanto un interruptor térmico como un interruptor magnético. La función del interruptor térmico es proteger contra sobrecargas eléctricas prolongadas, es decir, corrientes excesivas que puedan dañar los cables o los dispositivos conectados. Cuando la corriente supera un cierto umbral durante un período de tiempo determinado, el interruptor térmico se activa y desconecta el circuito eléctrico, interrumpiendo el flujo de corriente.</a:t>
            </a:r>
            <a:endParaRPr/>
          </a:p>
          <a:p>
            <a:pPr indent="0" lvl="0" marL="0" marR="0" rtl="0" algn="l">
              <a:spcBef>
                <a:spcPts val="0"/>
              </a:spcBef>
              <a:spcAft>
                <a:spcPts val="0"/>
              </a:spcAft>
              <a:buNone/>
            </a:pPr>
            <a:r>
              <a:rPr lang="es-BO" sz="1800">
                <a:solidFill>
                  <a:schemeClr val="dk1"/>
                </a:solidFill>
                <a:latin typeface="Garamond"/>
                <a:ea typeface="Garamond"/>
                <a:cs typeface="Garamond"/>
                <a:sym typeface="Garamond"/>
              </a:rPr>
              <a:t>Por otro lado, el interruptor magnético protege contra cortocircuitos, que son corrientes eléctricas muy altas que ocurren cuando hay un contacto directo entre conductores de diferentes polaridades. El interruptor magnético detecta rápidamente estas corrientes y desconecta el circuito eléctrico de manera inmediata para prevenir daños mayores.</a:t>
            </a:r>
            <a:endParaRPr/>
          </a:p>
          <a:p>
            <a:pPr indent="0" lvl="0" marL="0" marR="0" rtl="0" algn="l">
              <a:spcBef>
                <a:spcPts val="0"/>
              </a:spcBef>
              <a:spcAft>
                <a:spcPts val="0"/>
              </a:spcAft>
              <a:buNone/>
            </a:pPr>
            <a:r>
              <a:rPr lang="es-BO" sz="1800">
                <a:solidFill>
                  <a:schemeClr val="dk1"/>
                </a:solidFill>
                <a:latin typeface="Garamond"/>
                <a:ea typeface="Garamond"/>
                <a:cs typeface="Garamond"/>
                <a:sym typeface="Garamond"/>
              </a:rPr>
              <a:t>Los </a:t>
            </a:r>
            <a:r>
              <a:rPr b="1" lang="es-BO" sz="1800">
                <a:solidFill>
                  <a:schemeClr val="dk1"/>
                </a:solidFill>
                <a:latin typeface="Garamond"/>
                <a:ea typeface="Garamond"/>
                <a:cs typeface="Garamond"/>
                <a:sym typeface="Garamond"/>
              </a:rPr>
              <a:t>fusibles</a:t>
            </a:r>
            <a:r>
              <a:rPr lang="es-BO" sz="1800">
                <a:solidFill>
                  <a:schemeClr val="dk1"/>
                </a:solidFill>
                <a:latin typeface="Garamond"/>
                <a:ea typeface="Garamond"/>
                <a:cs typeface="Garamond"/>
                <a:sym typeface="Garamond"/>
              </a:rPr>
              <a:t> son dispositivos pequeños de seguridad que forman parte de las instalaciones eléctricas, los cuales se funden cuando la corriente alcanza ciertos valores excesivos. Se conforman por una lámina o un filamento hecho de una aleación o de un metal que se destaca por presentar un punto de fusión bajo.</a:t>
            </a:r>
            <a:endParaRPr/>
          </a:p>
          <a:p>
            <a:pPr indent="0" lvl="0" marL="0" marR="0" rtl="0" algn="just">
              <a:lnSpc>
                <a:spcPct val="150000"/>
              </a:lnSpc>
              <a:spcBef>
                <a:spcPts val="0"/>
              </a:spcBef>
              <a:spcAft>
                <a:spcPts val="0"/>
              </a:spcAft>
              <a:buNone/>
            </a:pPr>
            <a:r>
              <a:t/>
            </a:r>
            <a:endParaRPr b="0" i="0" sz="1800">
              <a:solidFill>
                <a:schemeClr val="dk1"/>
              </a:solidFill>
              <a:latin typeface="Garamond"/>
              <a:ea typeface="Garamond"/>
              <a:cs typeface="Garamond"/>
              <a:sym typeface="Garamond"/>
            </a:endParaRPr>
          </a:p>
        </p:txBody>
      </p:sp>
      <p:pic>
        <p:nvPicPr>
          <p:cNvPr id="400" name="Google Shape;400;p25"/>
          <p:cNvPicPr preferRelativeResize="0"/>
          <p:nvPr/>
        </p:nvPicPr>
        <p:blipFill rotWithShape="1">
          <a:blip r:embed="rId4">
            <a:alphaModFix/>
          </a:blip>
          <a:srcRect b="0" l="0" r="0" t="0"/>
          <a:stretch/>
        </p:blipFill>
        <p:spPr>
          <a:xfrm>
            <a:off x="772758" y="4845820"/>
            <a:ext cx="2393523" cy="134635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6"/>
          <p:cNvSpPr txBox="1"/>
          <p:nvPr>
            <p:ph type="title"/>
          </p:nvPr>
        </p:nvSpPr>
        <p:spPr>
          <a:xfrm>
            <a:off x="662609" y="444057"/>
            <a:ext cx="10921055" cy="58961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262626"/>
              </a:buClr>
              <a:buSzPct val="100000"/>
              <a:buFont typeface="Garamond"/>
              <a:buNone/>
            </a:pPr>
            <a:r>
              <a:rPr b="1" lang="es-BO"/>
              <a:t>Medidas AWG</a:t>
            </a:r>
            <a:endParaRPr/>
          </a:p>
        </p:txBody>
      </p:sp>
      <p:pic>
        <p:nvPicPr>
          <p:cNvPr id="406" name="Google Shape;406;p26"/>
          <p:cNvPicPr preferRelativeResize="0"/>
          <p:nvPr/>
        </p:nvPicPr>
        <p:blipFill rotWithShape="1">
          <a:blip r:embed="rId3">
            <a:alphaModFix/>
          </a:blip>
          <a:srcRect b="0" l="0" r="0" t="0"/>
          <a:stretch/>
        </p:blipFill>
        <p:spPr>
          <a:xfrm>
            <a:off x="486961" y="1367302"/>
            <a:ext cx="11218078" cy="443628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7"/>
          <p:cNvSpPr txBox="1"/>
          <p:nvPr>
            <p:ph type="title"/>
          </p:nvPr>
        </p:nvSpPr>
        <p:spPr>
          <a:xfrm>
            <a:off x="1560576" y="2355566"/>
            <a:ext cx="9070848" cy="258775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800"/>
              <a:buFont typeface="Garamond"/>
              <a:buNone/>
            </a:pPr>
            <a:r>
              <a:rPr lang="es-BO" sz="4800">
                <a:solidFill>
                  <a:schemeClr val="dk1"/>
                </a:solidFill>
              </a:rPr>
              <a:t>SEÑALIZACIÓN </a:t>
            </a:r>
            <a:endParaRPr sz="48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8"/>
          <p:cNvSpPr txBox="1"/>
          <p:nvPr/>
        </p:nvSpPr>
        <p:spPr>
          <a:xfrm>
            <a:off x="1434732" y="1005882"/>
            <a:ext cx="106902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BO" sz="2400">
                <a:solidFill>
                  <a:schemeClr val="dk1"/>
                </a:solidFill>
                <a:latin typeface="Arial"/>
                <a:ea typeface="Arial"/>
                <a:cs typeface="Arial"/>
                <a:sym typeface="Arial"/>
              </a:rPr>
              <a:t>¿QUÉ ES LA SEÑALIZACIÓN?</a:t>
            </a:r>
            <a:endParaRPr b="1" i="1" sz="2400">
              <a:solidFill>
                <a:schemeClr val="dk1"/>
              </a:solidFill>
              <a:latin typeface="Garamond"/>
              <a:ea typeface="Garamond"/>
              <a:cs typeface="Garamond"/>
              <a:sym typeface="Garamond"/>
            </a:endParaRPr>
          </a:p>
        </p:txBody>
      </p:sp>
      <p:sp>
        <p:nvSpPr>
          <p:cNvPr id="417" name="Google Shape;417;p28"/>
          <p:cNvSpPr txBox="1"/>
          <p:nvPr/>
        </p:nvSpPr>
        <p:spPr>
          <a:xfrm>
            <a:off x="1372189" y="1988840"/>
            <a:ext cx="4625148" cy="3086871"/>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s-BO" sz="2200">
                <a:solidFill>
                  <a:schemeClr val="dk1"/>
                </a:solidFill>
                <a:latin typeface="Arial"/>
                <a:ea typeface="Arial"/>
                <a:cs typeface="Arial"/>
                <a:sym typeface="Arial"/>
              </a:rPr>
              <a:t>La señalización es un aspecto fundamental en cualquier sistema industrial o de gestión de procesos, que permite transmitir información importante y crucial de manera clara y eficiente.</a:t>
            </a:r>
            <a:endParaRPr sz="2200">
              <a:solidFill>
                <a:schemeClr val="dk1"/>
              </a:solidFill>
              <a:latin typeface="Garamond"/>
              <a:ea typeface="Garamond"/>
              <a:cs typeface="Garamond"/>
              <a:sym typeface="Garamond"/>
            </a:endParaRPr>
          </a:p>
        </p:txBody>
      </p:sp>
      <p:pic>
        <p:nvPicPr>
          <p:cNvPr descr="TORRE LUMINOSA LED- BALIZA LUMINOSA" id="418" name="Google Shape;418;p28"/>
          <p:cNvPicPr preferRelativeResize="0"/>
          <p:nvPr/>
        </p:nvPicPr>
        <p:blipFill rotWithShape="1">
          <a:blip r:embed="rId3">
            <a:alphaModFix/>
          </a:blip>
          <a:srcRect b="0" l="0" r="0" t="0"/>
          <a:stretch/>
        </p:blipFill>
        <p:spPr>
          <a:xfrm>
            <a:off x="6625093" y="1887768"/>
            <a:ext cx="4373688" cy="328901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9"/>
          <p:cNvSpPr txBox="1"/>
          <p:nvPr>
            <p:ph type="title"/>
          </p:nvPr>
        </p:nvSpPr>
        <p:spPr>
          <a:xfrm>
            <a:off x="962297" y="508766"/>
            <a:ext cx="10058400" cy="655607"/>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262626"/>
              </a:buClr>
              <a:buSzPct val="100000"/>
              <a:buFont typeface="Garamond"/>
              <a:buNone/>
            </a:pPr>
            <a:r>
              <a:rPr b="1" lang="es-BO"/>
              <a:t>SEÑALIZACION</a:t>
            </a:r>
            <a:endParaRPr b="1"/>
          </a:p>
        </p:txBody>
      </p:sp>
      <p:sp>
        <p:nvSpPr>
          <p:cNvPr id="425" name="Google Shape;425;p29"/>
          <p:cNvSpPr txBox="1"/>
          <p:nvPr>
            <p:ph idx="1" type="body"/>
          </p:nvPr>
        </p:nvSpPr>
        <p:spPr>
          <a:xfrm>
            <a:off x="962298" y="1568501"/>
            <a:ext cx="4186478" cy="4185185"/>
          </a:xfrm>
          <a:prstGeom prst="rect">
            <a:avLst/>
          </a:prstGeom>
          <a:noFill/>
          <a:ln>
            <a:noFill/>
          </a:ln>
        </p:spPr>
        <p:txBody>
          <a:bodyPr anchorCtr="0" anchor="t" bIns="45700" lIns="91425" spcFirstLastPara="1" rIns="91425" wrap="square" tIns="45700">
            <a:normAutofit/>
          </a:bodyPr>
          <a:lstStyle/>
          <a:p>
            <a:pPr indent="-450850" lvl="0" marL="450850" rtl="0" algn="l">
              <a:lnSpc>
                <a:spcPct val="100000"/>
              </a:lnSpc>
              <a:spcBef>
                <a:spcPts val="0"/>
              </a:spcBef>
              <a:spcAft>
                <a:spcPts val="0"/>
              </a:spcAft>
              <a:buSzPts val="2800"/>
              <a:buFont typeface="Noto Sans Symbols"/>
              <a:buChar char="⮚"/>
            </a:pPr>
            <a:r>
              <a:rPr b="1" lang="es-BO" sz="2800"/>
              <a:t>Baliza luminosa</a:t>
            </a:r>
            <a:endParaRPr b="1" sz="2000"/>
          </a:p>
          <a:p>
            <a:pPr indent="0" lvl="0" marL="0" rtl="0" algn="just">
              <a:lnSpc>
                <a:spcPct val="100000"/>
              </a:lnSpc>
              <a:spcBef>
                <a:spcPts val="900"/>
              </a:spcBef>
              <a:spcAft>
                <a:spcPts val="0"/>
              </a:spcAft>
              <a:buSzPts val="2000"/>
              <a:buNone/>
            </a:pPr>
            <a:r>
              <a:rPr lang="es-BO" sz="2000"/>
              <a:t>En nuestro sistema o kit tiene una baliza de dos colores, rojo y verde, el cual dependiendo en que etapa este, señaliza el funcionamiento del sistema, la programación depende del operador del equipo.</a:t>
            </a:r>
            <a:endParaRPr/>
          </a:p>
          <a:p>
            <a:pPr indent="0" lvl="0" marL="0" rtl="0" algn="just">
              <a:lnSpc>
                <a:spcPct val="100000"/>
              </a:lnSpc>
              <a:spcBef>
                <a:spcPts val="900"/>
              </a:spcBef>
              <a:spcAft>
                <a:spcPts val="0"/>
              </a:spcAft>
              <a:buSzPts val="2000"/>
              <a:buNone/>
            </a:pPr>
            <a:r>
              <a:rPr lang="es-BO" sz="2000"/>
              <a:t>El sistema de señalización es simple de entender y de conectar, en este caso se usa solo los colores, los cuales están alimentados con +24 VCC</a:t>
            </a:r>
            <a:endParaRPr/>
          </a:p>
        </p:txBody>
      </p:sp>
      <p:pic>
        <p:nvPicPr>
          <p:cNvPr id="426" name="Google Shape;426;p29"/>
          <p:cNvPicPr preferRelativeResize="0"/>
          <p:nvPr/>
        </p:nvPicPr>
        <p:blipFill rotWithShape="1">
          <a:blip r:embed="rId3">
            <a:alphaModFix/>
          </a:blip>
          <a:srcRect b="0" l="12200" r="15350" t="0"/>
          <a:stretch/>
        </p:blipFill>
        <p:spPr>
          <a:xfrm rot="5400000">
            <a:off x="5448705" y="1991784"/>
            <a:ext cx="4561755" cy="3541784"/>
          </a:xfrm>
          <a:prstGeom prst="rect">
            <a:avLst/>
          </a:prstGeom>
          <a:noFill/>
          <a:ln>
            <a:noFill/>
          </a:ln>
        </p:spPr>
      </p:pic>
      <p:sp>
        <p:nvSpPr>
          <p:cNvPr id="427" name="Google Shape;427;p29"/>
          <p:cNvSpPr txBox="1"/>
          <p:nvPr/>
        </p:nvSpPr>
        <p:spPr>
          <a:xfrm>
            <a:off x="8678978" y="1995430"/>
            <a:ext cx="2307990" cy="339408"/>
          </a:xfrm>
          <a:prstGeom prst="rect">
            <a:avLst/>
          </a:prstGeom>
          <a:solidFill>
            <a:srgbClr val="FF0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Garamond"/>
                <a:ea typeface="Garamond"/>
                <a:cs typeface="Garamond"/>
                <a:sym typeface="Garamond"/>
              </a:rPr>
              <a:t>Baliza de color Rojo</a:t>
            </a:r>
            <a:endParaRPr/>
          </a:p>
        </p:txBody>
      </p:sp>
      <p:sp>
        <p:nvSpPr>
          <p:cNvPr id="428" name="Google Shape;428;p29"/>
          <p:cNvSpPr txBox="1"/>
          <p:nvPr/>
        </p:nvSpPr>
        <p:spPr>
          <a:xfrm>
            <a:off x="8712706" y="3079700"/>
            <a:ext cx="2307991" cy="339408"/>
          </a:xfrm>
          <a:prstGeom prst="rect">
            <a:avLst/>
          </a:prstGeom>
          <a:solidFill>
            <a:srgbClr val="00B05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2000">
                <a:solidFill>
                  <a:schemeClr val="dk1"/>
                </a:solidFill>
                <a:latin typeface="Garamond"/>
                <a:ea typeface="Garamond"/>
                <a:cs typeface="Garamond"/>
                <a:sym typeface="Garamond"/>
              </a:rPr>
              <a:t>Baliza de color Verde</a:t>
            </a:r>
            <a:endParaRPr/>
          </a:p>
        </p:txBody>
      </p:sp>
      <p:sp>
        <p:nvSpPr>
          <p:cNvPr id="429" name="Google Shape;429;p29"/>
          <p:cNvSpPr/>
          <p:nvPr/>
        </p:nvSpPr>
        <p:spPr>
          <a:xfrm>
            <a:off x="7041726" y="1481798"/>
            <a:ext cx="1202388" cy="1254494"/>
          </a:xfrm>
          <a:prstGeom prst="rect">
            <a:avLst/>
          </a:prstGeom>
          <a:noFill/>
          <a:ln cap="flat" cmpd="sng" w="12700">
            <a:solidFill>
              <a:srgbClr val="FF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430" name="Google Shape;430;p29"/>
          <p:cNvSpPr/>
          <p:nvPr/>
        </p:nvSpPr>
        <p:spPr>
          <a:xfrm>
            <a:off x="7041726" y="2807362"/>
            <a:ext cx="1202388" cy="1254494"/>
          </a:xfrm>
          <a:prstGeom prst="rect">
            <a:avLst/>
          </a:prstGeom>
          <a:noFill/>
          <a:ln cap="flat" cmpd="sng" w="12700">
            <a:solidFill>
              <a:srgbClr val="00B05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431" name="Google Shape;431;p29"/>
          <p:cNvSpPr txBox="1"/>
          <p:nvPr/>
        </p:nvSpPr>
        <p:spPr>
          <a:xfrm>
            <a:off x="6298809" y="6164568"/>
            <a:ext cx="30843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Garamond"/>
              <a:buNone/>
            </a:pPr>
            <a:r>
              <a:rPr lang="es-BO" sz="1800">
                <a:solidFill>
                  <a:schemeClr val="dk1"/>
                </a:solidFill>
                <a:latin typeface="Garamond"/>
                <a:ea typeface="Garamond"/>
                <a:cs typeface="Garamond"/>
                <a:sym typeface="Garamond"/>
              </a:rPr>
              <a:t>Indicador de estado del proceso</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26"/>
                                        </p:tgtEl>
                                        <p:attrNameLst>
                                          <p:attrName>style.visibility</p:attrName>
                                        </p:attrNameLst>
                                      </p:cBhvr>
                                      <p:to>
                                        <p:strVal val="visible"/>
                                      </p:to>
                                    </p:set>
                                    <p:anim calcmode="lin" valueType="num">
                                      <p:cBhvr additive="base">
                                        <p:cTn dur="500"/>
                                        <p:tgtEl>
                                          <p:spTgt spid="426"/>
                                        </p:tgtEl>
                                        <p:attrNameLst>
                                          <p:attrName>ppt_w</p:attrName>
                                        </p:attrNameLst>
                                      </p:cBhvr>
                                      <p:tavLst>
                                        <p:tav fmla="" tm="0">
                                          <p:val>
                                            <p:strVal val="0"/>
                                          </p:val>
                                        </p:tav>
                                        <p:tav fmla="" tm="100000">
                                          <p:val>
                                            <p:strVal val="#ppt_w"/>
                                          </p:val>
                                        </p:tav>
                                      </p:tavLst>
                                    </p:anim>
                                    <p:anim calcmode="lin" valueType="num">
                                      <p:cBhvr additive="base">
                                        <p:cTn dur="500"/>
                                        <p:tgtEl>
                                          <p:spTgt spid="42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27"/>
                                        </p:tgtEl>
                                        <p:attrNameLst>
                                          <p:attrName>style.visibility</p:attrName>
                                        </p:attrNameLst>
                                      </p:cBhvr>
                                      <p:to>
                                        <p:strVal val="visible"/>
                                      </p:to>
                                    </p:set>
                                    <p:anim calcmode="lin" valueType="num">
                                      <p:cBhvr additive="base">
                                        <p:cTn dur="500"/>
                                        <p:tgtEl>
                                          <p:spTgt spid="42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429"/>
                                        </p:tgtEl>
                                        <p:attrNameLst>
                                          <p:attrName>style.visibility</p:attrName>
                                        </p:attrNameLst>
                                      </p:cBhvr>
                                      <p:to>
                                        <p:strVal val="visible"/>
                                      </p:to>
                                    </p:set>
                                    <p:anim calcmode="lin" valueType="num">
                                      <p:cBhvr additive="base">
                                        <p:cTn dur="500"/>
                                        <p:tgtEl>
                                          <p:spTgt spid="42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30"/>
                                        </p:tgtEl>
                                        <p:attrNameLst>
                                          <p:attrName>style.visibility</p:attrName>
                                        </p:attrNameLst>
                                      </p:cBhvr>
                                      <p:to>
                                        <p:strVal val="visible"/>
                                      </p:to>
                                    </p:set>
                                    <p:anim calcmode="lin" valueType="num">
                                      <p:cBhvr additive="base">
                                        <p:cTn dur="500"/>
                                        <p:tgtEl>
                                          <p:spTgt spid="43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428"/>
                                        </p:tgtEl>
                                        <p:attrNameLst>
                                          <p:attrName>style.visibility</p:attrName>
                                        </p:attrNameLst>
                                      </p:cBhvr>
                                      <p:to>
                                        <p:strVal val="visible"/>
                                      </p:to>
                                    </p:set>
                                    <p:anim calcmode="lin" valueType="num">
                                      <p:cBhvr additive="base">
                                        <p:cTn dur="500"/>
                                        <p:tgtEl>
                                          <p:spTgt spid="42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0"/>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LUCES PILOTO</a:t>
            </a:r>
            <a:endParaRPr/>
          </a:p>
        </p:txBody>
      </p:sp>
      <p:pic>
        <p:nvPicPr>
          <p:cNvPr id="438" name="Google Shape;438;p30"/>
          <p:cNvPicPr preferRelativeResize="0"/>
          <p:nvPr>
            <p:ph idx="1" type="body"/>
          </p:nvPr>
        </p:nvPicPr>
        <p:blipFill rotWithShape="1">
          <a:blip r:embed="rId3">
            <a:alphaModFix/>
          </a:blip>
          <a:srcRect b="25299" l="15779" r="27672" t="36302"/>
          <a:stretch/>
        </p:blipFill>
        <p:spPr>
          <a:xfrm>
            <a:off x="7534909" y="1764614"/>
            <a:ext cx="2735581" cy="4027380"/>
          </a:xfrm>
          <a:prstGeom prst="rect">
            <a:avLst/>
          </a:prstGeom>
          <a:noFill/>
          <a:ln>
            <a:noFill/>
          </a:ln>
        </p:spPr>
      </p:pic>
      <p:sp>
        <p:nvSpPr>
          <p:cNvPr id="439" name="Google Shape;439;p30"/>
          <p:cNvSpPr txBox="1"/>
          <p:nvPr/>
        </p:nvSpPr>
        <p:spPr>
          <a:xfrm>
            <a:off x="1485900" y="1849094"/>
            <a:ext cx="46101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Garamond"/>
              <a:ea typeface="Garamond"/>
              <a:cs typeface="Garamond"/>
              <a:sym typeface="Garamond"/>
            </a:endParaRPr>
          </a:p>
          <a:p>
            <a:pPr indent="0" lvl="0" marL="0" marR="0" rtl="0" algn="l">
              <a:spcBef>
                <a:spcPts val="0"/>
              </a:spcBef>
              <a:spcAft>
                <a:spcPts val="0"/>
              </a:spcAft>
              <a:buNone/>
            </a:pPr>
            <a:r>
              <a:rPr b="0" i="0" lang="es-BO" sz="2400">
                <a:solidFill>
                  <a:schemeClr val="dk1"/>
                </a:solidFill>
                <a:latin typeface="Garamond"/>
                <a:ea typeface="Garamond"/>
                <a:cs typeface="Garamond"/>
                <a:sym typeface="Garamond"/>
              </a:rPr>
              <a:t>Las luces piloto están disponibles para brindar control visual de que se está llevando a cabo una función eléctrica en una ubicación local o remota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1"/>
          <p:cNvSpPr txBox="1"/>
          <p:nvPr>
            <p:ph type="title"/>
          </p:nvPr>
        </p:nvSpPr>
        <p:spPr>
          <a:xfrm>
            <a:off x="1563623" y="2094309"/>
            <a:ext cx="9070848" cy="2587752"/>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rgbClr val="262626"/>
              </a:buClr>
              <a:buSzPts val="7200"/>
              <a:buFont typeface="Garamond"/>
              <a:buNone/>
            </a:pPr>
            <a:r>
              <a:rPr lang="es-BO"/>
              <a:t>ESQUEMAS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32"/>
          <p:cNvSpPr txBox="1"/>
          <p:nvPr>
            <p:ph type="title"/>
          </p:nvPr>
        </p:nvSpPr>
        <p:spPr>
          <a:xfrm>
            <a:off x="662609" y="444057"/>
            <a:ext cx="10921055" cy="58961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262626"/>
              </a:buClr>
              <a:buSzPct val="100000"/>
              <a:buFont typeface="Garamond"/>
              <a:buNone/>
            </a:pPr>
            <a:r>
              <a:rPr b="1" lang="es-BO"/>
              <a:t>Diagrama P&amp;ID</a:t>
            </a:r>
            <a:endParaRPr/>
          </a:p>
        </p:txBody>
      </p:sp>
      <p:pic>
        <p:nvPicPr>
          <p:cNvPr id="450" name="Google Shape;450;p32"/>
          <p:cNvPicPr preferRelativeResize="0"/>
          <p:nvPr/>
        </p:nvPicPr>
        <p:blipFill rotWithShape="1">
          <a:blip r:embed="rId3">
            <a:alphaModFix/>
          </a:blip>
          <a:srcRect b="0" l="0" r="0" t="0"/>
          <a:stretch/>
        </p:blipFill>
        <p:spPr>
          <a:xfrm>
            <a:off x="472963" y="1033670"/>
            <a:ext cx="11300346" cy="523135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3"/>
          <p:cNvSpPr txBox="1"/>
          <p:nvPr>
            <p:ph type="title"/>
          </p:nvPr>
        </p:nvSpPr>
        <p:spPr>
          <a:xfrm>
            <a:off x="662609" y="444057"/>
            <a:ext cx="10921055" cy="58961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262626"/>
              </a:buClr>
              <a:buSzPct val="100000"/>
              <a:buFont typeface="Garamond"/>
              <a:buNone/>
            </a:pPr>
            <a:r>
              <a:rPr b="1" lang="es-BO"/>
              <a:t>Esquema eléctrico</a:t>
            </a:r>
            <a:endParaRPr/>
          </a:p>
        </p:txBody>
      </p:sp>
      <p:pic>
        <p:nvPicPr>
          <p:cNvPr id="456" name="Google Shape;456;p33"/>
          <p:cNvPicPr preferRelativeResize="0"/>
          <p:nvPr/>
        </p:nvPicPr>
        <p:blipFill rotWithShape="1">
          <a:blip r:embed="rId3">
            <a:alphaModFix/>
          </a:blip>
          <a:srcRect b="0" l="0" r="0" t="0"/>
          <a:stretch/>
        </p:blipFill>
        <p:spPr>
          <a:xfrm>
            <a:off x="662609" y="1033671"/>
            <a:ext cx="10921055" cy="53944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4"/>
          <p:cNvSpPr txBox="1"/>
          <p:nvPr>
            <p:ph type="title"/>
          </p:nvPr>
        </p:nvSpPr>
        <p:spPr>
          <a:xfrm>
            <a:off x="1563623" y="2094309"/>
            <a:ext cx="9070848" cy="2587752"/>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rgbClr val="262626"/>
              </a:buClr>
              <a:buSzPts val="4800"/>
              <a:buFont typeface="Garamond"/>
              <a:buNone/>
            </a:pPr>
            <a:r>
              <a:rPr lang="es-BO" sz="4800"/>
              <a:t>CARACTERIZACIÓN DE LOS COMPONENTES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5"/>
          <p:cNvSpPr txBox="1"/>
          <p:nvPr>
            <p:ph type="title"/>
          </p:nvPr>
        </p:nvSpPr>
        <p:spPr>
          <a:xfrm>
            <a:off x="1563623" y="2094309"/>
            <a:ext cx="9070848" cy="2587752"/>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rgbClr val="262626"/>
              </a:buClr>
              <a:buSzPts val="7200"/>
              <a:buFont typeface="Garamond"/>
              <a:buNone/>
            </a:pPr>
            <a:r>
              <a:rPr lang="es-BO"/>
              <a:t>ACTUADORES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36"/>
          <p:cNvSpPr txBox="1"/>
          <p:nvPr>
            <p:ph type="title"/>
          </p:nvPr>
        </p:nvSpPr>
        <p:spPr>
          <a:xfrm>
            <a:off x="3052355" y="613138"/>
            <a:ext cx="6892834" cy="48822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Garamond"/>
              <a:buNone/>
            </a:pPr>
            <a:r>
              <a:rPr b="1" lang="es-BO" sz="3600">
                <a:solidFill>
                  <a:schemeClr val="dk1"/>
                </a:solidFill>
              </a:rPr>
              <a:t>VARIADOR DE FRECUENCIA</a:t>
            </a:r>
            <a:endParaRPr b="1" sz="3600">
              <a:solidFill>
                <a:schemeClr val="dk1"/>
              </a:solidFill>
            </a:endParaRPr>
          </a:p>
        </p:txBody>
      </p:sp>
      <p:sp>
        <p:nvSpPr>
          <p:cNvPr id="472" name="Google Shape;472;p36"/>
          <p:cNvSpPr txBox="1"/>
          <p:nvPr>
            <p:ph idx="1" type="body"/>
          </p:nvPr>
        </p:nvSpPr>
        <p:spPr>
          <a:xfrm>
            <a:off x="1066800" y="1827711"/>
            <a:ext cx="6346874" cy="39754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100000"/>
              </a:lnSpc>
              <a:spcBef>
                <a:spcPts val="0"/>
              </a:spcBef>
              <a:spcAft>
                <a:spcPts val="0"/>
              </a:spcAft>
              <a:buClr>
                <a:srgbClr val="222222"/>
              </a:buClr>
              <a:buSzPct val="100000"/>
              <a:buNone/>
            </a:pPr>
            <a:r>
              <a:rPr b="1" lang="es-BO" sz="2400">
                <a:solidFill>
                  <a:srgbClr val="222222"/>
                </a:solidFill>
                <a:latin typeface="Libre Baskerville"/>
                <a:ea typeface="Libre Baskerville"/>
                <a:cs typeface="Libre Baskerville"/>
                <a:sym typeface="Libre Baskerville"/>
              </a:rPr>
              <a:t>La velocidad </a:t>
            </a:r>
            <a:r>
              <a:rPr lang="es-BO" sz="2400">
                <a:solidFill>
                  <a:srgbClr val="222222"/>
                </a:solidFill>
                <a:latin typeface="Libre Baskerville"/>
                <a:ea typeface="Libre Baskerville"/>
                <a:cs typeface="Libre Baskerville"/>
                <a:sym typeface="Libre Baskerville"/>
              </a:rPr>
              <a:t>síncrona de un motor de corriente alterna (CA) </a:t>
            </a:r>
            <a:r>
              <a:rPr b="1" lang="es-BO" sz="2400">
                <a:solidFill>
                  <a:srgbClr val="222222"/>
                </a:solidFill>
                <a:latin typeface="Libre Baskerville"/>
                <a:ea typeface="Libre Baskerville"/>
                <a:cs typeface="Libre Baskerville"/>
                <a:sym typeface="Libre Baskerville"/>
              </a:rPr>
              <a:t>está determinada por la frecuencia </a:t>
            </a:r>
            <a:r>
              <a:rPr lang="es-BO" sz="2400">
                <a:solidFill>
                  <a:srgbClr val="222222"/>
                </a:solidFill>
                <a:latin typeface="Libre Baskerville"/>
                <a:ea typeface="Libre Baskerville"/>
                <a:cs typeface="Libre Baskerville"/>
                <a:sym typeface="Libre Baskerville"/>
              </a:rPr>
              <a:t>de AC suministrada y el número de polos en el estator, de acuerdo con la relación:</a:t>
            </a:r>
            <a:endParaRPr sz="2400"/>
          </a:p>
          <a:p>
            <a:pPr indent="0" lvl="0" marL="0" rtl="0" algn="just">
              <a:lnSpc>
                <a:spcPct val="100000"/>
              </a:lnSpc>
              <a:spcBef>
                <a:spcPts val="0"/>
              </a:spcBef>
              <a:spcAft>
                <a:spcPts val="0"/>
              </a:spcAft>
              <a:buClr>
                <a:srgbClr val="222222"/>
              </a:buClr>
              <a:buSzPct val="100000"/>
              <a:buNone/>
            </a:pPr>
            <a:r>
              <a:rPr lang="es-BO" sz="2400">
                <a:solidFill>
                  <a:srgbClr val="222222"/>
                </a:solidFill>
                <a:latin typeface="Libre Baskerville"/>
                <a:ea typeface="Libre Baskerville"/>
                <a:cs typeface="Libre Baskerville"/>
                <a:sym typeface="Libre Baskerville"/>
              </a:rPr>
              <a:t>  </a:t>
            </a:r>
            <a:endParaRPr/>
          </a:p>
          <a:p>
            <a:pPr indent="0" lvl="0" marL="0" rtl="0" algn="just">
              <a:lnSpc>
                <a:spcPct val="100000"/>
              </a:lnSpc>
              <a:spcBef>
                <a:spcPts val="0"/>
              </a:spcBef>
              <a:spcAft>
                <a:spcPts val="0"/>
              </a:spcAft>
              <a:buClr>
                <a:schemeClr val="dk1"/>
              </a:buClr>
              <a:buSzPct val="100000"/>
              <a:buNone/>
            </a:pPr>
            <a:r>
              <a:t/>
            </a:r>
            <a:endParaRPr sz="2400"/>
          </a:p>
          <a:p>
            <a:pPr indent="0" lvl="0" marL="0" rtl="0" algn="just">
              <a:lnSpc>
                <a:spcPct val="100000"/>
              </a:lnSpc>
              <a:spcBef>
                <a:spcPts val="0"/>
              </a:spcBef>
              <a:spcAft>
                <a:spcPts val="0"/>
              </a:spcAft>
              <a:buClr>
                <a:srgbClr val="222222"/>
              </a:buClr>
              <a:buSzPct val="100000"/>
              <a:buNone/>
            </a:pPr>
            <a:r>
              <a:rPr lang="es-BO" sz="2400">
                <a:solidFill>
                  <a:srgbClr val="222222"/>
                </a:solidFill>
                <a:latin typeface="Libre Baskerville"/>
                <a:ea typeface="Libre Baskerville"/>
                <a:cs typeface="Libre Baskerville"/>
                <a:sym typeface="Libre Baskerville"/>
              </a:rPr>
              <a:t>Donde:</a:t>
            </a:r>
            <a:endParaRPr/>
          </a:p>
          <a:p>
            <a:pPr indent="0" lvl="0" marL="0" rtl="0" algn="just">
              <a:lnSpc>
                <a:spcPct val="100000"/>
              </a:lnSpc>
              <a:spcBef>
                <a:spcPts val="0"/>
              </a:spcBef>
              <a:spcAft>
                <a:spcPts val="0"/>
              </a:spcAft>
              <a:buClr>
                <a:schemeClr val="dk1"/>
              </a:buClr>
              <a:buSzPct val="100000"/>
              <a:buNone/>
            </a:pPr>
            <a:r>
              <a:t/>
            </a:r>
            <a:endParaRPr sz="2400">
              <a:solidFill>
                <a:srgbClr val="222222"/>
              </a:solidFill>
              <a:latin typeface="Libre Baskerville"/>
              <a:ea typeface="Libre Baskerville"/>
              <a:cs typeface="Libre Baskerville"/>
              <a:sym typeface="Libre Baskerville"/>
            </a:endParaRPr>
          </a:p>
          <a:p>
            <a:pPr indent="0" lvl="0" marL="0" rtl="0" algn="just">
              <a:lnSpc>
                <a:spcPct val="100000"/>
              </a:lnSpc>
              <a:spcBef>
                <a:spcPts val="0"/>
              </a:spcBef>
              <a:spcAft>
                <a:spcPts val="0"/>
              </a:spcAft>
              <a:buClr>
                <a:srgbClr val="222222"/>
              </a:buClr>
              <a:buSzPct val="100000"/>
              <a:buNone/>
            </a:pPr>
            <a:r>
              <a:rPr b="1" lang="es-BO" sz="2400">
                <a:solidFill>
                  <a:srgbClr val="222222"/>
                </a:solidFill>
                <a:latin typeface="Libre Baskerville"/>
                <a:ea typeface="Libre Baskerville"/>
                <a:cs typeface="Libre Baskerville"/>
                <a:sym typeface="Libre Baskerville"/>
              </a:rPr>
              <a:t>RPM = </a:t>
            </a:r>
            <a:r>
              <a:rPr lang="es-BO" sz="2400">
                <a:solidFill>
                  <a:srgbClr val="222222"/>
                </a:solidFill>
                <a:latin typeface="Libre Baskerville"/>
                <a:ea typeface="Libre Baskerville"/>
                <a:cs typeface="Libre Baskerville"/>
                <a:sym typeface="Libre Baskerville"/>
              </a:rPr>
              <a:t>Revoluciones por minuto</a:t>
            </a:r>
            <a:endParaRPr sz="2400">
              <a:solidFill>
                <a:srgbClr val="222222"/>
              </a:solidFill>
              <a:latin typeface="Libre Baskerville"/>
              <a:ea typeface="Libre Baskerville"/>
              <a:cs typeface="Libre Baskerville"/>
              <a:sym typeface="Libre Baskerville"/>
            </a:endParaRPr>
          </a:p>
          <a:p>
            <a:pPr indent="0" lvl="0" marL="0" rtl="0" algn="just">
              <a:lnSpc>
                <a:spcPct val="100000"/>
              </a:lnSpc>
              <a:spcBef>
                <a:spcPts val="0"/>
              </a:spcBef>
              <a:spcAft>
                <a:spcPts val="0"/>
              </a:spcAft>
              <a:buClr>
                <a:srgbClr val="222222"/>
              </a:buClr>
              <a:buSzPct val="100000"/>
              <a:buNone/>
            </a:pPr>
            <a:r>
              <a:rPr b="1" lang="es-BO" sz="2400">
                <a:solidFill>
                  <a:srgbClr val="222222"/>
                </a:solidFill>
                <a:latin typeface="Libre Baskerville"/>
                <a:ea typeface="Libre Baskerville"/>
                <a:cs typeface="Libre Baskerville"/>
                <a:sym typeface="Libre Baskerville"/>
              </a:rPr>
              <a:t>f = </a:t>
            </a:r>
            <a:r>
              <a:rPr lang="es-BO" sz="2400">
                <a:solidFill>
                  <a:srgbClr val="222222"/>
                </a:solidFill>
                <a:latin typeface="Libre Baskerville"/>
                <a:ea typeface="Libre Baskerville"/>
                <a:cs typeface="Libre Baskerville"/>
                <a:sym typeface="Libre Baskerville"/>
              </a:rPr>
              <a:t>frecuencia de suministro AC (Hercio)</a:t>
            </a:r>
            <a:endParaRPr/>
          </a:p>
          <a:p>
            <a:pPr indent="0" lvl="0" marL="0" rtl="0" algn="just">
              <a:lnSpc>
                <a:spcPct val="100000"/>
              </a:lnSpc>
              <a:spcBef>
                <a:spcPts val="0"/>
              </a:spcBef>
              <a:spcAft>
                <a:spcPts val="0"/>
              </a:spcAft>
              <a:buClr>
                <a:srgbClr val="222222"/>
              </a:buClr>
              <a:buSzPct val="100000"/>
              <a:buNone/>
            </a:pPr>
            <a:r>
              <a:rPr b="1" lang="es-BO" sz="2400">
                <a:solidFill>
                  <a:srgbClr val="222222"/>
                </a:solidFill>
                <a:latin typeface="Libre Baskerville"/>
                <a:ea typeface="Libre Baskerville"/>
                <a:cs typeface="Libre Baskerville"/>
                <a:sym typeface="Libre Baskerville"/>
              </a:rPr>
              <a:t>p = </a:t>
            </a:r>
            <a:r>
              <a:rPr lang="es-BO" sz="2400">
                <a:solidFill>
                  <a:srgbClr val="222222"/>
                </a:solidFill>
                <a:latin typeface="Libre Baskerville"/>
                <a:ea typeface="Libre Baskerville"/>
                <a:cs typeface="Libre Baskerville"/>
                <a:sym typeface="Libre Baskerville"/>
              </a:rPr>
              <a:t>Número de polos</a:t>
            </a:r>
            <a:endParaRPr sz="11500">
              <a:solidFill>
                <a:srgbClr val="222222"/>
              </a:solidFill>
              <a:latin typeface="Libre Baskerville"/>
              <a:ea typeface="Libre Baskerville"/>
              <a:cs typeface="Libre Baskerville"/>
              <a:sym typeface="Libre Baskerville"/>
            </a:endParaRPr>
          </a:p>
          <a:p>
            <a:pPr indent="0" lvl="0" marL="0" rtl="0" algn="l">
              <a:lnSpc>
                <a:spcPct val="100000"/>
              </a:lnSpc>
              <a:spcBef>
                <a:spcPts val="900"/>
              </a:spcBef>
              <a:spcAft>
                <a:spcPts val="0"/>
              </a:spcAft>
              <a:buSzPct val="100000"/>
              <a:buNone/>
            </a:pPr>
            <a:r>
              <a:t/>
            </a:r>
            <a:endParaRPr/>
          </a:p>
        </p:txBody>
      </p:sp>
      <p:sp>
        <p:nvSpPr>
          <p:cNvPr id="473" name="Google Shape;473;p36"/>
          <p:cNvSpPr/>
          <p:nvPr/>
        </p:nvSpPr>
        <p:spPr>
          <a:xfrm>
            <a:off x="5336345" y="3632563"/>
            <a:ext cx="2133600" cy="795202"/>
          </a:xfrm>
          <a:prstGeom prst="rightArrow">
            <a:avLst>
              <a:gd fmla="val 50000" name="adj1"/>
              <a:gd fmla="val 50000" name="adj2"/>
            </a:avLst>
          </a:prstGeom>
          <a:solidFill>
            <a:schemeClr val="accent6"/>
          </a:solidFill>
          <a:ln cap="flat" cmpd="sng" w="12700">
            <a:solidFill>
              <a:srgbClr val="6D66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474" name="Google Shape;474;p36"/>
          <p:cNvSpPr/>
          <p:nvPr/>
        </p:nvSpPr>
        <p:spPr>
          <a:xfrm>
            <a:off x="8003177" y="2777216"/>
            <a:ext cx="3326674" cy="2251167"/>
          </a:xfrm>
          <a:prstGeom prst="cloud">
            <a:avLst/>
          </a:prstGeom>
          <a:solidFill>
            <a:schemeClr val="accent6"/>
          </a:solidFill>
          <a:ln cap="flat" cmpd="sng" w="12700">
            <a:solidFill>
              <a:srgbClr val="6D66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pic>
        <p:nvPicPr>
          <p:cNvPr descr="RPM" id="475" name="Google Shape;475;p36"/>
          <p:cNvPicPr preferRelativeResize="0"/>
          <p:nvPr/>
        </p:nvPicPr>
        <p:blipFill rotWithShape="1">
          <a:blip r:embed="rId3">
            <a:alphaModFix/>
          </a:blip>
          <a:srcRect b="6707" l="3424" r="4118" t="11162"/>
          <a:stretch/>
        </p:blipFill>
        <p:spPr>
          <a:xfrm>
            <a:off x="8534399" y="3378926"/>
            <a:ext cx="2351315" cy="923108"/>
          </a:xfrm>
          <a:prstGeom prst="rect">
            <a:avLst/>
          </a:prstGeom>
          <a:noFill/>
          <a:ln>
            <a:noFill/>
          </a:ln>
        </p:spPr>
      </p:pic>
      <p:sp>
        <p:nvSpPr>
          <p:cNvPr id="476" name="Google Shape;476;p36"/>
          <p:cNvSpPr/>
          <p:nvPr/>
        </p:nvSpPr>
        <p:spPr>
          <a:xfrm>
            <a:off x="858940" y="1385291"/>
            <a:ext cx="41865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Garamond"/>
                <a:ea typeface="Garamond"/>
                <a:cs typeface="Garamond"/>
                <a:sym typeface="Garamond"/>
              </a:rPr>
              <a:t>PRINCIPIO DE FUNCIONAMIENTO</a:t>
            </a:r>
            <a:endParaRPr sz="1800">
              <a:solidFill>
                <a:schemeClr val="dk1"/>
              </a:solidFill>
              <a:latin typeface="Garamond"/>
              <a:ea typeface="Garamond"/>
              <a:cs typeface="Garamond"/>
              <a:sym typeface="Garamond"/>
            </a:endParaRPr>
          </a:p>
        </p:txBody>
      </p:sp>
      <p:sp>
        <p:nvSpPr>
          <p:cNvPr id="477" name="Google Shape;477;p36"/>
          <p:cNvSpPr/>
          <p:nvPr/>
        </p:nvSpPr>
        <p:spPr>
          <a:xfrm>
            <a:off x="1066800" y="1754623"/>
            <a:ext cx="6403145" cy="1685263"/>
          </a:xfrm>
          <a:prstGeom prst="roundRect">
            <a:avLst>
              <a:gd fmla="val 16667" name="adj"/>
            </a:avLst>
          </a:prstGeom>
          <a:noFill/>
          <a:ln cap="flat" cmpd="sng" w="381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7"/>
          <p:cNvSpPr txBox="1"/>
          <p:nvPr>
            <p:ph type="title"/>
          </p:nvPr>
        </p:nvSpPr>
        <p:spPr>
          <a:xfrm>
            <a:off x="1066800" y="769594"/>
            <a:ext cx="10058400" cy="10592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b="1" lang="es-BO"/>
              <a:t>VARIADOR DE FRECUENCIA</a:t>
            </a:r>
            <a:endParaRPr/>
          </a:p>
        </p:txBody>
      </p:sp>
      <p:pic>
        <p:nvPicPr>
          <p:cNvPr id="483" name="Google Shape;483;p37"/>
          <p:cNvPicPr preferRelativeResize="0"/>
          <p:nvPr>
            <p:ph idx="1" type="body"/>
          </p:nvPr>
        </p:nvPicPr>
        <p:blipFill rotWithShape="1">
          <a:blip r:embed="rId3">
            <a:alphaModFix/>
          </a:blip>
          <a:srcRect b="0" l="0" r="0" t="0"/>
          <a:stretch/>
        </p:blipFill>
        <p:spPr>
          <a:xfrm>
            <a:off x="2172782" y="2014194"/>
            <a:ext cx="7515509" cy="3932237"/>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pic>
        <p:nvPicPr>
          <p:cNvPr descr="Esquema variador frecuencia" id="488" name="Google Shape;488;p38"/>
          <p:cNvPicPr preferRelativeResize="0"/>
          <p:nvPr/>
        </p:nvPicPr>
        <p:blipFill rotWithShape="1">
          <a:blip r:embed="rId3">
            <a:alphaModFix/>
          </a:blip>
          <a:srcRect b="0" l="0" r="0" t="0"/>
          <a:stretch/>
        </p:blipFill>
        <p:spPr>
          <a:xfrm>
            <a:off x="3244720" y="1819274"/>
            <a:ext cx="6172200" cy="3219451"/>
          </a:xfrm>
          <a:prstGeom prst="rect">
            <a:avLst/>
          </a:prstGeom>
          <a:noFill/>
          <a:ln>
            <a:noFill/>
          </a:ln>
        </p:spPr>
      </p:pic>
      <p:sp>
        <p:nvSpPr>
          <p:cNvPr id="489" name="Google Shape;489;p38"/>
          <p:cNvSpPr/>
          <p:nvPr/>
        </p:nvSpPr>
        <p:spPr>
          <a:xfrm>
            <a:off x="1139847" y="684014"/>
            <a:ext cx="10381946"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BO" sz="3600">
                <a:solidFill>
                  <a:srgbClr val="303030"/>
                </a:solidFill>
                <a:latin typeface="Garamond"/>
                <a:ea typeface="Garamond"/>
                <a:cs typeface="Garamond"/>
                <a:sym typeface="Garamond"/>
              </a:rPr>
              <a:t>Esquema del funcionamiento variador de frecuencia</a:t>
            </a:r>
            <a:endParaRPr b="1" sz="3600">
              <a:solidFill>
                <a:schemeClr val="dk1"/>
              </a:solidFill>
              <a:latin typeface="Garamond"/>
              <a:ea typeface="Garamond"/>
              <a:cs typeface="Garamond"/>
              <a:sym typeface="Garamo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pic>
        <p:nvPicPr>
          <p:cNvPr descr="Rectificación corriente en variador" id="494" name="Google Shape;494;p39"/>
          <p:cNvPicPr preferRelativeResize="0"/>
          <p:nvPr/>
        </p:nvPicPr>
        <p:blipFill rotWithShape="1">
          <a:blip r:embed="rId3">
            <a:alphaModFix/>
          </a:blip>
          <a:srcRect b="0" l="0" r="0" t="0"/>
          <a:stretch/>
        </p:blipFill>
        <p:spPr>
          <a:xfrm>
            <a:off x="603431" y="491603"/>
            <a:ext cx="3454764" cy="3219451"/>
          </a:xfrm>
          <a:prstGeom prst="rect">
            <a:avLst/>
          </a:prstGeom>
          <a:noFill/>
          <a:ln>
            <a:noFill/>
          </a:ln>
        </p:spPr>
      </p:pic>
      <p:pic>
        <p:nvPicPr>
          <p:cNvPr descr="Eliminación rizado señal rectificada." id="495" name="Google Shape;495;p39"/>
          <p:cNvPicPr preferRelativeResize="0"/>
          <p:nvPr/>
        </p:nvPicPr>
        <p:blipFill rotWithShape="1">
          <a:blip r:embed="rId4">
            <a:alphaModFix/>
          </a:blip>
          <a:srcRect b="0" l="0" r="0" t="0"/>
          <a:stretch/>
        </p:blipFill>
        <p:spPr>
          <a:xfrm>
            <a:off x="3838339" y="1844988"/>
            <a:ext cx="3589111" cy="3219451"/>
          </a:xfrm>
          <a:prstGeom prst="rect">
            <a:avLst/>
          </a:prstGeom>
          <a:noFill/>
          <a:ln>
            <a:noFill/>
          </a:ln>
        </p:spPr>
      </p:pic>
      <p:pic>
        <p:nvPicPr>
          <p:cNvPr descr="Conversión corriente continua en alterna" id="496" name="Google Shape;496;p39"/>
          <p:cNvPicPr preferRelativeResize="0"/>
          <p:nvPr/>
        </p:nvPicPr>
        <p:blipFill rotWithShape="1">
          <a:blip r:embed="rId5">
            <a:alphaModFix/>
          </a:blip>
          <a:srcRect b="0" l="0" r="0" t="0"/>
          <a:stretch/>
        </p:blipFill>
        <p:spPr>
          <a:xfrm>
            <a:off x="7427450" y="2652457"/>
            <a:ext cx="4246427" cy="3390901"/>
          </a:xfrm>
          <a:prstGeom prst="rect">
            <a:avLst/>
          </a:prstGeom>
          <a:noFill/>
          <a:ln>
            <a:noFill/>
          </a:ln>
        </p:spPr>
      </p:pic>
      <p:sp>
        <p:nvSpPr>
          <p:cNvPr id="497" name="Google Shape;497;p39"/>
          <p:cNvSpPr/>
          <p:nvPr/>
        </p:nvSpPr>
        <p:spPr>
          <a:xfrm>
            <a:off x="923109" y="3917475"/>
            <a:ext cx="2107474" cy="759027"/>
          </a:xfrm>
          <a:prstGeom prst="roundRect">
            <a:avLst>
              <a:gd fmla="val 16667" name="adj"/>
            </a:avLst>
          </a:prstGeom>
          <a:solidFill>
            <a:schemeClr val="accent6"/>
          </a:solidFill>
          <a:ln cap="flat" cmpd="sng" w="12700">
            <a:solidFill>
              <a:srgbClr val="6D66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Garamond"/>
                <a:ea typeface="Garamond"/>
                <a:cs typeface="Garamond"/>
                <a:sym typeface="Garamond"/>
              </a:rPr>
              <a:t>Rectificación de la corriente alterna.</a:t>
            </a:r>
            <a:endParaRPr sz="1800">
              <a:solidFill>
                <a:srgbClr val="000000"/>
              </a:solidFill>
              <a:latin typeface="Garamond"/>
              <a:ea typeface="Garamond"/>
              <a:cs typeface="Garamond"/>
              <a:sym typeface="Garamond"/>
            </a:endParaRPr>
          </a:p>
        </p:txBody>
      </p:sp>
      <p:sp>
        <p:nvSpPr>
          <p:cNvPr id="498" name="Google Shape;498;p39"/>
          <p:cNvSpPr/>
          <p:nvPr/>
        </p:nvSpPr>
        <p:spPr>
          <a:xfrm>
            <a:off x="4188823" y="4829334"/>
            <a:ext cx="2708366" cy="783771"/>
          </a:xfrm>
          <a:prstGeom prst="roundRect">
            <a:avLst>
              <a:gd fmla="val 16667" name="adj"/>
            </a:avLst>
          </a:prstGeom>
          <a:solidFill>
            <a:schemeClr val="accent6"/>
          </a:solidFill>
          <a:ln cap="flat" cmpd="sng" w="12700">
            <a:solidFill>
              <a:srgbClr val="6D66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Garamond"/>
                <a:ea typeface="Garamond"/>
                <a:cs typeface="Garamond"/>
                <a:sym typeface="Garamond"/>
              </a:rPr>
              <a:t>Eliminación rizado de la señal.</a:t>
            </a:r>
            <a:endParaRPr sz="1800">
              <a:solidFill>
                <a:srgbClr val="000000"/>
              </a:solidFill>
              <a:latin typeface="Garamond"/>
              <a:ea typeface="Garamond"/>
              <a:cs typeface="Garamond"/>
              <a:sym typeface="Garamond"/>
            </a:endParaRPr>
          </a:p>
        </p:txBody>
      </p:sp>
      <p:sp>
        <p:nvSpPr>
          <p:cNvPr id="499" name="Google Shape;499;p39"/>
          <p:cNvSpPr/>
          <p:nvPr/>
        </p:nvSpPr>
        <p:spPr>
          <a:xfrm>
            <a:off x="7950925" y="5765074"/>
            <a:ext cx="3587931" cy="592183"/>
          </a:xfrm>
          <a:prstGeom prst="roundRect">
            <a:avLst>
              <a:gd fmla="val 16667" name="adj"/>
            </a:avLst>
          </a:prstGeom>
          <a:solidFill>
            <a:schemeClr val="accent6"/>
          </a:solidFill>
          <a:ln cap="flat" cmpd="sng" w="12700">
            <a:solidFill>
              <a:srgbClr val="6D66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rgbClr val="000000"/>
                </a:solidFill>
                <a:latin typeface="Garamond"/>
                <a:ea typeface="Garamond"/>
                <a:cs typeface="Garamond"/>
                <a:sym typeface="Garamond"/>
              </a:rPr>
              <a:t>Convertidor continua en alterna de diferente tensión y frecuencia.</a:t>
            </a:r>
            <a:endParaRPr sz="1800">
              <a:solidFill>
                <a:srgbClr val="000000"/>
              </a:solidFill>
              <a:latin typeface="Garamond"/>
              <a:ea typeface="Garamond"/>
              <a:cs typeface="Garamond"/>
              <a:sym typeface="Garamond"/>
            </a:endParaRPr>
          </a:p>
        </p:txBody>
      </p:sp>
      <p:sp>
        <p:nvSpPr>
          <p:cNvPr id="500" name="Google Shape;500;p39"/>
          <p:cNvSpPr/>
          <p:nvPr/>
        </p:nvSpPr>
        <p:spPr>
          <a:xfrm>
            <a:off x="3448594" y="2455817"/>
            <a:ext cx="740229" cy="409303"/>
          </a:xfrm>
          <a:prstGeom prst="rightArrow">
            <a:avLst>
              <a:gd fmla="val 50000" name="adj1"/>
              <a:gd fmla="val 50000" name="adj2"/>
            </a:avLst>
          </a:prstGeom>
          <a:solidFill>
            <a:schemeClr val="accent6"/>
          </a:solidFill>
          <a:ln cap="flat" cmpd="sng" w="12700">
            <a:solidFill>
              <a:srgbClr val="6D66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501" name="Google Shape;501;p39"/>
          <p:cNvSpPr/>
          <p:nvPr/>
        </p:nvSpPr>
        <p:spPr>
          <a:xfrm>
            <a:off x="7085675" y="3618411"/>
            <a:ext cx="740229" cy="409303"/>
          </a:xfrm>
          <a:prstGeom prst="rightArrow">
            <a:avLst>
              <a:gd fmla="val 50000" name="adj1"/>
              <a:gd fmla="val 50000" name="adj2"/>
            </a:avLst>
          </a:prstGeom>
          <a:solidFill>
            <a:schemeClr val="accent6"/>
          </a:solidFill>
          <a:ln cap="flat" cmpd="sng" w="12700">
            <a:solidFill>
              <a:srgbClr val="6D66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pic>
        <p:nvPicPr>
          <p:cNvPr descr="Módulación señal en variadores" id="502" name="Google Shape;502;p39"/>
          <p:cNvPicPr preferRelativeResize="0"/>
          <p:nvPr/>
        </p:nvPicPr>
        <p:blipFill rotWithShape="1">
          <a:blip r:embed="rId6">
            <a:alphaModFix/>
          </a:blip>
          <a:srcRect b="0" l="0" r="0" t="0"/>
          <a:stretch/>
        </p:blipFill>
        <p:spPr>
          <a:xfrm>
            <a:off x="8786949" y="518865"/>
            <a:ext cx="2438400" cy="1326123"/>
          </a:xfrm>
          <a:prstGeom prst="rect">
            <a:avLst/>
          </a:prstGeom>
          <a:noFill/>
          <a:ln>
            <a:noFill/>
          </a:ln>
        </p:spPr>
      </p:pic>
      <p:sp>
        <p:nvSpPr>
          <p:cNvPr id="503" name="Google Shape;503;p39"/>
          <p:cNvSpPr/>
          <p:nvPr/>
        </p:nvSpPr>
        <p:spPr>
          <a:xfrm>
            <a:off x="1001486" y="4920343"/>
            <a:ext cx="2029097" cy="1436914"/>
          </a:xfrm>
          <a:prstGeom prst="rect">
            <a:avLst/>
          </a:prstGeom>
          <a:solidFill>
            <a:schemeClr val="accent1"/>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chemeClr val="dk1"/>
                </a:solidFill>
                <a:latin typeface="Garamond"/>
                <a:ea typeface="Garamond"/>
                <a:cs typeface="Garamond"/>
                <a:sym typeface="Garamond"/>
              </a:rPr>
              <a:t> la rectificación de la corriente alterna mediante un puente de diodos.</a:t>
            </a:r>
            <a:endParaRPr sz="1800">
              <a:solidFill>
                <a:schemeClr val="dk1"/>
              </a:solidFill>
              <a:latin typeface="Garamond"/>
              <a:ea typeface="Garamond"/>
              <a:cs typeface="Garamond"/>
              <a:sym typeface="Garamond"/>
            </a:endParaRPr>
          </a:p>
        </p:txBody>
      </p:sp>
      <p:sp>
        <p:nvSpPr>
          <p:cNvPr id="504" name="Google Shape;504;p39"/>
          <p:cNvSpPr/>
          <p:nvPr/>
        </p:nvSpPr>
        <p:spPr>
          <a:xfrm>
            <a:off x="4188823" y="5675268"/>
            <a:ext cx="2708846" cy="614345"/>
          </a:xfrm>
          <a:prstGeom prst="rect">
            <a:avLst/>
          </a:prstGeom>
          <a:solidFill>
            <a:schemeClr val="accent1"/>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chemeClr val="dk1"/>
                </a:solidFill>
                <a:latin typeface="Garamond"/>
                <a:ea typeface="Garamond"/>
                <a:cs typeface="Garamond"/>
                <a:sym typeface="Garamond"/>
              </a:rPr>
              <a:t>Filtro LC para eliminar el rizado de la señal </a:t>
            </a:r>
            <a:endParaRPr sz="1800">
              <a:solidFill>
                <a:schemeClr val="dk1"/>
              </a:solidFill>
              <a:latin typeface="Garamond"/>
              <a:ea typeface="Garamond"/>
              <a:cs typeface="Garamond"/>
              <a:sym typeface="Garamo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0"/>
          <p:cNvSpPr/>
          <p:nvPr/>
        </p:nvSpPr>
        <p:spPr>
          <a:xfrm>
            <a:off x="722811" y="561763"/>
            <a:ext cx="10781212" cy="101566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000">
                <a:solidFill>
                  <a:srgbClr val="303030"/>
                </a:solidFill>
                <a:latin typeface="Garamond"/>
                <a:ea typeface="Garamond"/>
                <a:cs typeface="Garamond"/>
                <a:sym typeface="Garamond"/>
              </a:rPr>
              <a:t>Con el </a:t>
            </a:r>
            <a:r>
              <a:rPr b="1" lang="es-BO" sz="2000">
                <a:solidFill>
                  <a:srgbClr val="303030"/>
                </a:solidFill>
                <a:latin typeface="Garamond"/>
                <a:ea typeface="Garamond"/>
                <a:cs typeface="Garamond"/>
                <a:sym typeface="Garamond"/>
              </a:rPr>
              <a:t>inversor convertimos la señal de corriente continua en una señal </a:t>
            </a:r>
            <a:r>
              <a:rPr lang="es-BO" sz="2000">
                <a:solidFill>
                  <a:srgbClr val="303030"/>
                </a:solidFill>
                <a:latin typeface="Garamond"/>
                <a:ea typeface="Garamond"/>
                <a:cs typeface="Garamond"/>
                <a:sym typeface="Garamond"/>
              </a:rPr>
              <a:t>trifásica de corriente alterna, las tres fases desfasadas 120 grados entre si.</a:t>
            </a:r>
            <a:endParaRPr/>
          </a:p>
          <a:p>
            <a:pPr indent="0" lvl="0" marL="0" marR="0" rtl="0" algn="just">
              <a:spcBef>
                <a:spcPts val="0"/>
              </a:spcBef>
              <a:spcAft>
                <a:spcPts val="0"/>
              </a:spcAft>
              <a:buNone/>
            </a:pPr>
            <a:r>
              <a:rPr lang="es-BO" sz="2000">
                <a:solidFill>
                  <a:srgbClr val="303030"/>
                </a:solidFill>
                <a:latin typeface="Garamond"/>
                <a:ea typeface="Garamond"/>
                <a:cs typeface="Garamond"/>
                <a:sym typeface="Garamond"/>
              </a:rPr>
              <a:t>la velocidad del motor se relaciona con la velocidad mediante la fórmula:</a:t>
            </a:r>
            <a:endParaRPr/>
          </a:p>
        </p:txBody>
      </p:sp>
      <p:sp>
        <p:nvSpPr>
          <p:cNvPr id="510" name="Google Shape;510;p40"/>
          <p:cNvSpPr/>
          <p:nvPr/>
        </p:nvSpPr>
        <p:spPr>
          <a:xfrm>
            <a:off x="853439" y="3598468"/>
            <a:ext cx="4425295"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000">
                <a:solidFill>
                  <a:srgbClr val="303030"/>
                </a:solidFill>
                <a:latin typeface="Garamond"/>
                <a:ea typeface="Garamond"/>
                <a:cs typeface="Garamond"/>
                <a:sym typeface="Garamond"/>
              </a:rPr>
              <a:t>La señal de salida no es una onda senoidal perfecta sino que se </a:t>
            </a:r>
            <a:r>
              <a:rPr b="1" lang="es-BO" sz="2000">
                <a:solidFill>
                  <a:srgbClr val="303030"/>
                </a:solidFill>
                <a:latin typeface="Garamond"/>
                <a:ea typeface="Garamond"/>
                <a:cs typeface="Garamond"/>
                <a:sym typeface="Garamond"/>
              </a:rPr>
              <a:t>consigue una onda de pulsos mediante la modulación de señal PWM</a:t>
            </a:r>
            <a:r>
              <a:rPr lang="es-BO" sz="2000">
                <a:solidFill>
                  <a:srgbClr val="303030"/>
                </a:solidFill>
                <a:latin typeface="Garamond"/>
                <a:ea typeface="Garamond"/>
                <a:cs typeface="Garamond"/>
                <a:sym typeface="Garamond"/>
              </a:rPr>
              <a:t>. </a:t>
            </a:r>
            <a:endParaRPr sz="2000">
              <a:solidFill>
                <a:schemeClr val="dk1"/>
              </a:solidFill>
              <a:latin typeface="Garamond"/>
              <a:ea typeface="Garamond"/>
              <a:cs typeface="Garamond"/>
              <a:sym typeface="Garamond"/>
            </a:endParaRPr>
          </a:p>
        </p:txBody>
      </p:sp>
      <p:pic>
        <p:nvPicPr>
          <p:cNvPr descr="Módulación señal en variadores" id="511" name="Google Shape;511;p40"/>
          <p:cNvPicPr preferRelativeResize="0"/>
          <p:nvPr/>
        </p:nvPicPr>
        <p:blipFill rotWithShape="1">
          <a:blip r:embed="rId3">
            <a:alphaModFix/>
          </a:blip>
          <a:srcRect b="0" l="0" r="0" t="0"/>
          <a:stretch/>
        </p:blipFill>
        <p:spPr>
          <a:xfrm>
            <a:off x="5416730" y="1866160"/>
            <a:ext cx="6342763" cy="3464616"/>
          </a:xfrm>
          <a:prstGeom prst="rect">
            <a:avLst/>
          </a:prstGeom>
          <a:noFill/>
          <a:ln>
            <a:noFill/>
          </a:ln>
        </p:spPr>
      </p:pic>
      <p:sp>
        <p:nvSpPr>
          <p:cNvPr id="512" name="Google Shape;512;p40"/>
          <p:cNvSpPr/>
          <p:nvPr/>
        </p:nvSpPr>
        <p:spPr>
          <a:xfrm>
            <a:off x="1297577" y="1794226"/>
            <a:ext cx="2081349" cy="745282"/>
          </a:xfrm>
          <a:prstGeom prst="roundRect">
            <a:avLst>
              <a:gd fmla="val 16667" name="adj"/>
            </a:avLst>
          </a:prstGeom>
          <a:solidFill>
            <a:schemeClr val="accent6"/>
          </a:solidFill>
          <a:ln cap="flat" cmpd="sng" w="12700">
            <a:solidFill>
              <a:srgbClr val="6D66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BO" sz="1800">
                <a:solidFill>
                  <a:srgbClr val="000000"/>
                </a:solidFill>
                <a:latin typeface="Arial"/>
                <a:ea typeface="Arial"/>
                <a:cs typeface="Arial"/>
                <a:sym typeface="Arial"/>
              </a:rPr>
              <a:t>n = f x 60 / P</a:t>
            </a:r>
            <a:endParaRPr b="1" sz="1800">
              <a:solidFill>
                <a:srgbClr val="000000"/>
              </a:solidFill>
              <a:latin typeface="PT Sans"/>
              <a:ea typeface="PT Sans"/>
              <a:cs typeface="PT Sans"/>
              <a:sym typeface="PT Sans"/>
            </a:endParaRPr>
          </a:p>
        </p:txBody>
      </p:sp>
      <p:sp>
        <p:nvSpPr>
          <p:cNvPr id="513" name="Google Shape;513;p40"/>
          <p:cNvSpPr/>
          <p:nvPr/>
        </p:nvSpPr>
        <p:spPr>
          <a:xfrm>
            <a:off x="3727268" y="1794226"/>
            <a:ext cx="1898469" cy="957943"/>
          </a:xfrm>
          <a:prstGeom prst="rightArrow">
            <a:avLst>
              <a:gd fmla="val 50000" name="adj1"/>
              <a:gd fmla="val 50000" name="adj2"/>
            </a:avLst>
          </a:prstGeom>
          <a:solidFill>
            <a:schemeClr val="accent6"/>
          </a:solidFill>
          <a:ln cap="flat" cmpd="sng" w="12700">
            <a:solidFill>
              <a:srgbClr val="6D66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41"/>
          <p:cNvSpPr txBox="1"/>
          <p:nvPr>
            <p:ph type="title"/>
          </p:nvPr>
        </p:nvSpPr>
        <p:spPr>
          <a:xfrm>
            <a:off x="1258389" y="433588"/>
            <a:ext cx="10058400" cy="66369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62626"/>
              </a:buClr>
              <a:buSzPct val="100000"/>
              <a:buFont typeface="Garamond"/>
              <a:buNone/>
            </a:pPr>
            <a:r>
              <a:rPr b="1" lang="es-BO"/>
              <a:t>VARIADOR DE FRECUENCIA</a:t>
            </a:r>
            <a:endParaRPr b="1"/>
          </a:p>
        </p:txBody>
      </p:sp>
      <p:sp>
        <p:nvSpPr>
          <p:cNvPr id="519" name="Google Shape;519;p41"/>
          <p:cNvSpPr txBox="1"/>
          <p:nvPr>
            <p:ph idx="1" type="body"/>
          </p:nvPr>
        </p:nvSpPr>
        <p:spPr>
          <a:xfrm>
            <a:off x="751840" y="1097280"/>
            <a:ext cx="5536418" cy="552938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00"/>
              <a:buNone/>
            </a:pPr>
            <a:r>
              <a:rPr lang="es-BO" sz="2400"/>
              <a:t>Configuración de parámetros del motor para el variador de frecuencia</a:t>
            </a:r>
            <a:endParaRPr/>
          </a:p>
          <a:p>
            <a:pPr indent="-342900" lvl="0" marL="342900" rtl="0" algn="l">
              <a:lnSpc>
                <a:spcPct val="100000"/>
              </a:lnSpc>
              <a:spcBef>
                <a:spcPts val="900"/>
              </a:spcBef>
              <a:spcAft>
                <a:spcPts val="0"/>
              </a:spcAft>
              <a:buSzPts val="2400"/>
              <a:buFont typeface="Garamond"/>
              <a:buAutoNum type="arabicPeriod"/>
            </a:pPr>
            <a:r>
              <a:rPr b="1" lang="es-BO" sz="2400"/>
              <a:t>Medir las conexiones </a:t>
            </a:r>
            <a:endParaRPr/>
          </a:p>
          <a:p>
            <a:pPr indent="-182880" lvl="1" marL="457200" rtl="0" algn="l">
              <a:lnSpc>
                <a:spcPct val="100000"/>
              </a:lnSpc>
              <a:spcBef>
                <a:spcPts val="500"/>
              </a:spcBef>
              <a:spcAft>
                <a:spcPts val="0"/>
              </a:spcAft>
              <a:buSzPts val="2400"/>
              <a:buFont typeface="Garamond"/>
              <a:buChar char="-"/>
            </a:pPr>
            <a:r>
              <a:rPr lang="es-BO" sz="2400"/>
              <a:t>Entre el pin 11(24 [V] ) y el pin 4(digital común) el voltaje medido es:  24,7 [V], Existen dos modos SRC y SNK</a:t>
            </a:r>
            <a:endParaRPr sz="2400"/>
          </a:p>
          <a:p>
            <a:pPr indent="0" lvl="0" marL="0" rtl="0" algn="l">
              <a:lnSpc>
                <a:spcPct val="100000"/>
              </a:lnSpc>
              <a:spcBef>
                <a:spcPts val="900"/>
              </a:spcBef>
              <a:spcAft>
                <a:spcPts val="0"/>
              </a:spcAft>
              <a:buSzPts val="2400"/>
              <a:buNone/>
            </a:pPr>
            <a:r>
              <a:rPr b="1" lang="es-BO" sz="2400"/>
              <a:t>2. Restablecer a predeterminado</a:t>
            </a:r>
            <a:endParaRPr/>
          </a:p>
          <a:p>
            <a:pPr indent="0" lvl="1" marL="274320" rtl="0" algn="l">
              <a:lnSpc>
                <a:spcPct val="100000"/>
              </a:lnSpc>
              <a:spcBef>
                <a:spcPts val="500"/>
              </a:spcBef>
              <a:spcAft>
                <a:spcPts val="0"/>
              </a:spcAft>
              <a:buSzPts val="2400"/>
              <a:buNone/>
            </a:pPr>
            <a:r>
              <a:rPr lang="es-BO" sz="2400"/>
              <a:t>- P112: colocar en 1 y luego aparecerá el error f048, el cual debe ser borrado con stop.</a:t>
            </a:r>
            <a:endParaRPr b="1" sz="2400"/>
          </a:p>
          <a:p>
            <a:pPr indent="0" lvl="0" marL="0" rtl="0" algn="l">
              <a:lnSpc>
                <a:spcPct val="100000"/>
              </a:lnSpc>
              <a:spcBef>
                <a:spcPts val="900"/>
              </a:spcBef>
              <a:spcAft>
                <a:spcPts val="0"/>
              </a:spcAft>
              <a:buSzPts val="2400"/>
              <a:buNone/>
            </a:pPr>
            <a:r>
              <a:rPr b="1" lang="es-BO" sz="2400"/>
              <a:t>3. Configurar voltaje placa motor</a:t>
            </a:r>
            <a:endParaRPr/>
          </a:p>
          <a:p>
            <a:pPr indent="0" lvl="1" marL="274320" rtl="0" algn="l">
              <a:lnSpc>
                <a:spcPct val="100000"/>
              </a:lnSpc>
              <a:spcBef>
                <a:spcPts val="500"/>
              </a:spcBef>
              <a:spcAft>
                <a:spcPts val="0"/>
              </a:spcAft>
              <a:buSzPts val="2400"/>
              <a:buNone/>
            </a:pPr>
            <a:r>
              <a:rPr lang="es-BO" sz="2400"/>
              <a:t>- P101: 230[V]</a:t>
            </a:r>
            <a:endParaRPr b="1" sz="2400"/>
          </a:p>
        </p:txBody>
      </p:sp>
      <p:sp>
        <p:nvSpPr>
          <p:cNvPr id="520" name="Google Shape;520;p41"/>
          <p:cNvSpPr txBox="1"/>
          <p:nvPr/>
        </p:nvSpPr>
        <p:spPr>
          <a:xfrm>
            <a:off x="6496259" y="1325773"/>
            <a:ext cx="5220789"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4. Configurar frecuencia nominal</a:t>
            </a:r>
            <a:endParaRPr/>
          </a:p>
          <a:p>
            <a:pPr indent="0" lvl="1" marL="274320" marR="0" rtl="0" algn="l">
              <a:spcBef>
                <a:spcPts val="0"/>
              </a:spcBef>
              <a:spcAft>
                <a:spcPts val="0"/>
              </a:spcAft>
              <a:buClr>
                <a:schemeClr val="dk1"/>
              </a:buClr>
              <a:buSzPts val="2400"/>
              <a:buFont typeface="Garamond"/>
              <a:buNone/>
            </a:pPr>
            <a:r>
              <a:rPr b="0" i="0" lang="es-BO" sz="2400" u="none" cap="none" strike="noStrike">
                <a:solidFill>
                  <a:schemeClr val="dk1"/>
                </a:solidFill>
                <a:latin typeface="Garamond"/>
                <a:ea typeface="Garamond"/>
                <a:cs typeface="Garamond"/>
                <a:sym typeface="Garamond"/>
              </a:rPr>
              <a:t>- P102: 50 [Hz] </a:t>
            </a:r>
            <a:endParaRPr b="1" i="0" sz="2400" u="none" cap="none" strike="noStrike">
              <a:solidFill>
                <a:schemeClr val="dk1"/>
              </a:solidFill>
              <a:latin typeface="Garamond"/>
              <a:ea typeface="Garamond"/>
              <a:cs typeface="Garamond"/>
              <a:sym typeface="Garamond"/>
            </a:endParaRPr>
          </a:p>
          <a:p>
            <a:pPr indent="0" lvl="0" marL="0" marR="0" rtl="0" algn="l">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5. Configurar Corriente máxima</a:t>
            </a:r>
            <a:endParaRPr/>
          </a:p>
          <a:p>
            <a:pPr indent="0" lvl="1" marL="274320" marR="0" rtl="0" algn="l">
              <a:spcBef>
                <a:spcPts val="0"/>
              </a:spcBef>
              <a:spcAft>
                <a:spcPts val="0"/>
              </a:spcAft>
              <a:buClr>
                <a:schemeClr val="dk1"/>
              </a:buClr>
              <a:buSzPts val="2400"/>
              <a:buFont typeface="Garamond"/>
              <a:buNone/>
            </a:pPr>
            <a:r>
              <a:rPr b="0" i="0" lang="es-BO" sz="2400" u="none" cap="none" strike="noStrike">
                <a:solidFill>
                  <a:schemeClr val="dk1"/>
                </a:solidFill>
                <a:latin typeface="Garamond"/>
                <a:ea typeface="Garamond"/>
                <a:cs typeface="Garamond"/>
                <a:sym typeface="Garamond"/>
              </a:rPr>
              <a:t>- P104: 3,4 [A]</a:t>
            </a:r>
            <a:endParaRPr b="1" i="0" sz="2400" u="none" cap="none" strike="noStrike">
              <a:solidFill>
                <a:schemeClr val="dk1"/>
              </a:solidFill>
              <a:latin typeface="Garamond"/>
              <a:ea typeface="Garamond"/>
              <a:cs typeface="Garamond"/>
              <a:sym typeface="Garamond"/>
            </a:endParaRPr>
          </a:p>
          <a:p>
            <a:pPr indent="0" lvl="0" marL="0" marR="0" rtl="0" algn="l">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6. Configurar Frecuencia máxima y minima </a:t>
            </a:r>
            <a:endParaRPr/>
          </a:p>
          <a:p>
            <a:pPr indent="0" lvl="1" marL="274320" marR="0" rtl="0" algn="l">
              <a:spcBef>
                <a:spcPts val="0"/>
              </a:spcBef>
              <a:spcAft>
                <a:spcPts val="0"/>
              </a:spcAft>
              <a:buClr>
                <a:schemeClr val="dk1"/>
              </a:buClr>
              <a:buSzPts val="2400"/>
              <a:buFont typeface="Garamond"/>
              <a:buNone/>
            </a:pPr>
            <a:r>
              <a:rPr b="0" i="0" lang="es-BO" sz="2400" u="none" cap="none" strike="noStrike">
                <a:solidFill>
                  <a:schemeClr val="dk1"/>
                </a:solidFill>
                <a:latin typeface="Garamond"/>
                <a:ea typeface="Garamond"/>
                <a:cs typeface="Garamond"/>
                <a:sym typeface="Garamond"/>
              </a:rPr>
              <a:t>- P104: 0 [Hz]   min</a:t>
            </a:r>
            <a:endParaRPr b="1" i="0" sz="2400" u="none" cap="none" strike="noStrike">
              <a:solidFill>
                <a:schemeClr val="dk1"/>
              </a:solidFill>
              <a:latin typeface="Garamond"/>
              <a:ea typeface="Garamond"/>
              <a:cs typeface="Garamond"/>
              <a:sym typeface="Garamond"/>
            </a:endParaRPr>
          </a:p>
          <a:p>
            <a:pPr indent="0" lvl="1" marL="274320" marR="0" rtl="0" algn="l">
              <a:spcBef>
                <a:spcPts val="0"/>
              </a:spcBef>
              <a:spcAft>
                <a:spcPts val="0"/>
              </a:spcAft>
              <a:buClr>
                <a:schemeClr val="dk1"/>
              </a:buClr>
              <a:buSzPts val="2400"/>
              <a:buFont typeface="Garamond"/>
              <a:buNone/>
            </a:pPr>
            <a:r>
              <a:rPr b="0" i="0" lang="es-BO" sz="2400" u="none" cap="none" strike="noStrike">
                <a:solidFill>
                  <a:schemeClr val="dk1"/>
                </a:solidFill>
                <a:latin typeface="Garamond"/>
                <a:ea typeface="Garamond"/>
                <a:cs typeface="Garamond"/>
                <a:sym typeface="Garamond"/>
              </a:rPr>
              <a:t>- P105: 50 [Hz]   max</a:t>
            </a:r>
            <a:endParaRPr b="1" i="0" sz="2400" u="none" cap="none" strike="noStrike">
              <a:solidFill>
                <a:schemeClr val="dk1"/>
              </a:solidFill>
              <a:latin typeface="Garamond"/>
              <a:ea typeface="Garamond"/>
              <a:cs typeface="Garamond"/>
              <a:sym typeface="Garamond"/>
            </a:endParaRPr>
          </a:p>
          <a:p>
            <a:pPr indent="0" lvl="0" marL="0" marR="0" rtl="0" algn="l">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7. Configurar  Arranque por teclado</a:t>
            </a:r>
            <a:endParaRPr/>
          </a:p>
          <a:p>
            <a:pPr indent="0" lvl="1" marL="274320" marR="0" rtl="0" algn="l">
              <a:spcBef>
                <a:spcPts val="0"/>
              </a:spcBef>
              <a:spcAft>
                <a:spcPts val="0"/>
              </a:spcAft>
              <a:buClr>
                <a:schemeClr val="dk1"/>
              </a:buClr>
              <a:buSzPts val="2400"/>
              <a:buFont typeface="Garamond"/>
              <a:buNone/>
            </a:pPr>
            <a:r>
              <a:rPr b="0" i="0" lang="es-BO" sz="2400" u="none" cap="none" strike="noStrike">
                <a:solidFill>
                  <a:schemeClr val="dk1"/>
                </a:solidFill>
                <a:latin typeface="Garamond"/>
                <a:ea typeface="Garamond"/>
                <a:cs typeface="Garamond"/>
                <a:sym typeface="Garamond"/>
              </a:rPr>
              <a:t>- P106: “0” (modo por teclado)</a:t>
            </a:r>
            <a:endParaRPr b="1" i="0" sz="2400" u="none" cap="none" strike="noStrike">
              <a:solidFill>
                <a:schemeClr val="dk1"/>
              </a:solidFill>
              <a:latin typeface="Garamond"/>
              <a:ea typeface="Garamond"/>
              <a:cs typeface="Garamond"/>
              <a:sym typeface="Garamond"/>
            </a:endParaRPr>
          </a:p>
          <a:p>
            <a:pPr indent="0" lvl="0" marL="0" marR="0" rtl="0" algn="l">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8. Inhabilitar reversa</a:t>
            </a:r>
            <a:endParaRPr/>
          </a:p>
          <a:p>
            <a:pPr indent="0" lvl="1" marL="274320" marR="0" rtl="0" algn="l">
              <a:spcBef>
                <a:spcPts val="0"/>
              </a:spcBef>
              <a:spcAft>
                <a:spcPts val="0"/>
              </a:spcAft>
              <a:buClr>
                <a:schemeClr val="dk1"/>
              </a:buClr>
              <a:buSzPts val="2400"/>
              <a:buFont typeface="Garamond"/>
              <a:buNone/>
            </a:pPr>
            <a:r>
              <a:rPr b="0" i="0" lang="es-BO" sz="2400" u="none" cap="none" strike="noStrike">
                <a:solidFill>
                  <a:schemeClr val="dk1"/>
                </a:solidFill>
                <a:latin typeface="Garamond"/>
                <a:ea typeface="Garamond"/>
                <a:cs typeface="Garamond"/>
                <a:sym typeface="Garamond"/>
              </a:rPr>
              <a:t>- P104: “1” (inhabilita)</a:t>
            </a:r>
            <a:endParaRPr b="1" i="0" sz="2400" u="none" cap="none" strike="noStrike">
              <a:solidFill>
                <a:schemeClr val="dk1"/>
              </a:solidFill>
              <a:latin typeface="Garamond"/>
              <a:ea typeface="Garamond"/>
              <a:cs typeface="Garamond"/>
              <a:sym typeface="Garamond"/>
            </a:endParaRPr>
          </a:p>
        </p:txBody>
      </p:sp>
      <p:cxnSp>
        <p:nvCxnSpPr>
          <p:cNvPr id="521" name="Google Shape;521;p41"/>
          <p:cNvCxnSpPr/>
          <p:nvPr/>
        </p:nvCxnSpPr>
        <p:spPr>
          <a:xfrm>
            <a:off x="6327448" y="1097280"/>
            <a:ext cx="0" cy="5327132"/>
          </a:xfrm>
          <a:prstGeom prst="straightConnector1">
            <a:avLst/>
          </a:prstGeom>
          <a:noFill/>
          <a:ln cap="flat" cmpd="sng" w="57150">
            <a:solidFill>
              <a:schemeClr val="accent5"/>
            </a:solidFill>
            <a:prstDash val="solid"/>
            <a:round/>
            <a:headEnd len="sm" w="sm" type="none"/>
            <a:tailEnd len="sm" w="sm" type="none"/>
          </a:ln>
          <a:effectLst>
            <a:outerShdw blurRad="38100" rotWithShape="0" algn="ctr" dir="5400000" dist="12700">
              <a:srgbClr val="000000">
                <a:alpha val="62745"/>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xEl>
                                              <p:pRg end="10" st="1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graphicFrame>
        <p:nvGraphicFramePr>
          <p:cNvPr id="526" name="Google Shape;526;p42"/>
          <p:cNvGraphicFramePr/>
          <p:nvPr/>
        </p:nvGraphicFramePr>
        <p:xfrm>
          <a:off x="1625600" y="2295522"/>
          <a:ext cx="3000000" cy="3000000"/>
        </p:xfrm>
        <a:graphic>
          <a:graphicData uri="http://schemas.openxmlformats.org/drawingml/2006/table">
            <a:tbl>
              <a:tblPr>
                <a:noFill/>
                <a:tableStyleId>{3AE6C668-0F20-4F89-BB21-B2DCD401F9CD}</a:tableStyleId>
              </a:tblPr>
              <a:tblGrid>
                <a:gridCol w="1523025"/>
                <a:gridCol w="1486875"/>
              </a:tblGrid>
              <a:tr h="481875">
                <a:tc>
                  <a:txBody>
                    <a:bodyPr/>
                    <a:lstStyle/>
                    <a:p>
                      <a:pPr indent="0" lvl="0" marL="0" marR="0" rtl="0" algn="ctr">
                        <a:spcBef>
                          <a:spcPts val="0"/>
                        </a:spcBef>
                        <a:spcAft>
                          <a:spcPts val="0"/>
                        </a:spcAft>
                        <a:buNone/>
                      </a:pPr>
                      <a:r>
                        <a:rPr b="1" lang="es-BO" sz="1600" u="none" cap="none" strike="noStrike"/>
                        <a:t>VARIADOR DE FRECUENCIA</a:t>
                      </a:r>
                      <a:endParaRPr b="1" i="0" sz="1600" u="none" cap="none" strike="noStrike">
                        <a:solidFill>
                          <a:srgbClr val="000000"/>
                        </a:solidFill>
                        <a:latin typeface="Calibri"/>
                        <a:ea typeface="Calibri"/>
                        <a:cs typeface="Calibri"/>
                        <a:sym typeface="Calibri"/>
                      </a:endParaRPr>
                    </a:p>
                  </a:txBody>
                  <a:tcPr marT="7625" marB="0" marR="7625" marL="7625" anchor="ctr">
                    <a:solidFill>
                      <a:srgbClr val="BFB9B9"/>
                    </a:solidFill>
                  </a:tcPr>
                </a:tc>
                <a:tc>
                  <a:txBody>
                    <a:bodyPr/>
                    <a:lstStyle/>
                    <a:p>
                      <a:pPr indent="0" lvl="0" marL="0" marR="0" rtl="0" algn="ctr">
                        <a:lnSpc>
                          <a:spcPct val="100000"/>
                        </a:lnSpc>
                        <a:spcBef>
                          <a:spcPts val="0"/>
                        </a:spcBef>
                        <a:spcAft>
                          <a:spcPts val="0"/>
                        </a:spcAft>
                        <a:buClr>
                          <a:schemeClr val="dk1"/>
                        </a:buClr>
                        <a:buSzPts val="1600"/>
                        <a:buFont typeface="Garamond"/>
                        <a:buNone/>
                      </a:pPr>
                      <a:r>
                        <a:rPr b="1" lang="es-BO" sz="1600" u="none" cap="none" strike="noStrike"/>
                        <a:t>VOLTAJE </a:t>
                      </a:r>
                      <a:endParaRPr b="1" i="0" sz="1600" u="none" cap="none" strike="noStrike">
                        <a:solidFill>
                          <a:srgbClr val="000000"/>
                        </a:solidFill>
                        <a:latin typeface="Calibri"/>
                        <a:ea typeface="Calibri"/>
                        <a:cs typeface="Calibri"/>
                        <a:sym typeface="Calibri"/>
                      </a:endParaRPr>
                    </a:p>
                  </a:txBody>
                  <a:tcPr marT="7625" marB="0" marR="7625" marL="7625" anchor="ctr">
                    <a:solidFill>
                      <a:srgbClr val="BFB9B9"/>
                    </a:solidFill>
                  </a:tcPr>
                </a:tc>
              </a:tr>
              <a:tr h="254325">
                <a:tc>
                  <a:txBody>
                    <a:bodyPr/>
                    <a:lstStyle/>
                    <a:p>
                      <a:pPr indent="0" lvl="0" marL="0" marR="0" rtl="0" algn="ctr">
                        <a:spcBef>
                          <a:spcPts val="0"/>
                        </a:spcBef>
                        <a:spcAft>
                          <a:spcPts val="0"/>
                        </a:spcAft>
                        <a:buNone/>
                      </a:pPr>
                      <a:r>
                        <a:rPr lang="es-BO" sz="1600" u="none" cap="none" strike="noStrike"/>
                        <a:t>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0</a:t>
                      </a:r>
                      <a:endParaRPr b="0" i="0" sz="1600" u="none" cap="none" strike="noStrike">
                        <a:solidFill>
                          <a:srgbClr val="000000"/>
                        </a:solidFill>
                        <a:latin typeface="Calibri"/>
                        <a:ea typeface="Calibri"/>
                        <a:cs typeface="Calibri"/>
                        <a:sym typeface="Calibri"/>
                      </a:endParaRPr>
                    </a:p>
                  </a:txBody>
                  <a:tcPr marT="7625" marB="0" marR="7625" marL="7625" anchor="b"/>
                </a:tc>
              </a:tr>
              <a:tr h="254325">
                <a:tc>
                  <a:txBody>
                    <a:bodyPr/>
                    <a:lstStyle/>
                    <a:p>
                      <a:pPr indent="0" lvl="0" marL="0" marR="0" rtl="0" algn="ctr">
                        <a:spcBef>
                          <a:spcPts val="0"/>
                        </a:spcBef>
                        <a:spcAft>
                          <a:spcPts val="0"/>
                        </a:spcAft>
                        <a:buNone/>
                      </a:pPr>
                      <a:r>
                        <a:rPr lang="es-BO" sz="1600" u="none" cap="none" strike="noStrike"/>
                        <a:t>5</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38,8</a:t>
                      </a:r>
                      <a:endParaRPr b="0" i="0" sz="1600" u="none" cap="none" strike="noStrike">
                        <a:solidFill>
                          <a:srgbClr val="000000"/>
                        </a:solidFill>
                        <a:latin typeface="Calibri"/>
                        <a:ea typeface="Calibri"/>
                        <a:cs typeface="Calibri"/>
                        <a:sym typeface="Calibri"/>
                      </a:endParaRPr>
                    </a:p>
                  </a:txBody>
                  <a:tcPr marT="7625" marB="0" marR="7625" marL="7625" anchor="b"/>
                </a:tc>
              </a:tr>
              <a:tr h="254325">
                <a:tc>
                  <a:txBody>
                    <a:bodyPr/>
                    <a:lstStyle/>
                    <a:p>
                      <a:pPr indent="0" lvl="0" marL="0" marR="0" rtl="0" algn="ctr">
                        <a:spcBef>
                          <a:spcPts val="0"/>
                        </a:spcBef>
                        <a:spcAft>
                          <a:spcPts val="0"/>
                        </a:spcAft>
                        <a:buNone/>
                      </a:pPr>
                      <a:r>
                        <a:rPr lang="es-BO" sz="1600" u="none" cap="none" strike="noStrike"/>
                        <a:t>10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57,5</a:t>
                      </a:r>
                      <a:endParaRPr b="0" i="0" sz="1600" u="none" cap="none" strike="noStrike">
                        <a:solidFill>
                          <a:srgbClr val="000000"/>
                        </a:solidFill>
                        <a:latin typeface="Calibri"/>
                        <a:ea typeface="Calibri"/>
                        <a:cs typeface="Calibri"/>
                        <a:sym typeface="Calibri"/>
                      </a:endParaRPr>
                    </a:p>
                  </a:txBody>
                  <a:tcPr marT="7625" marB="0" marR="7625" marL="7625" anchor="b"/>
                </a:tc>
              </a:tr>
              <a:tr h="254325">
                <a:tc>
                  <a:txBody>
                    <a:bodyPr/>
                    <a:lstStyle/>
                    <a:p>
                      <a:pPr indent="0" lvl="0" marL="0" marR="0" rtl="0" algn="ctr">
                        <a:spcBef>
                          <a:spcPts val="0"/>
                        </a:spcBef>
                        <a:spcAft>
                          <a:spcPts val="0"/>
                        </a:spcAft>
                        <a:buNone/>
                      </a:pPr>
                      <a:r>
                        <a:rPr lang="es-BO" sz="1600" u="none" cap="none" strike="noStrike"/>
                        <a:t>15</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77,3</a:t>
                      </a:r>
                      <a:endParaRPr b="0" i="0" sz="1600" u="none" cap="none" strike="noStrike">
                        <a:solidFill>
                          <a:srgbClr val="000000"/>
                        </a:solidFill>
                        <a:latin typeface="Calibri"/>
                        <a:ea typeface="Calibri"/>
                        <a:cs typeface="Calibri"/>
                        <a:sym typeface="Calibri"/>
                      </a:endParaRPr>
                    </a:p>
                  </a:txBody>
                  <a:tcPr marT="7625" marB="0" marR="7625" marL="7625" anchor="b"/>
                </a:tc>
              </a:tr>
              <a:tr h="254325">
                <a:tc>
                  <a:txBody>
                    <a:bodyPr/>
                    <a:lstStyle/>
                    <a:p>
                      <a:pPr indent="0" lvl="0" marL="0" marR="0" rtl="0" algn="ctr">
                        <a:spcBef>
                          <a:spcPts val="0"/>
                        </a:spcBef>
                        <a:spcAft>
                          <a:spcPts val="0"/>
                        </a:spcAft>
                        <a:buNone/>
                      </a:pPr>
                      <a:r>
                        <a:rPr lang="es-BO" sz="1600" u="none" cap="none" strike="noStrike"/>
                        <a:t>20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98,1</a:t>
                      </a:r>
                      <a:endParaRPr b="0" i="0" sz="1600" u="none" cap="none" strike="noStrike">
                        <a:solidFill>
                          <a:srgbClr val="000000"/>
                        </a:solidFill>
                        <a:latin typeface="Calibri"/>
                        <a:ea typeface="Calibri"/>
                        <a:cs typeface="Calibri"/>
                        <a:sym typeface="Calibri"/>
                      </a:endParaRPr>
                    </a:p>
                  </a:txBody>
                  <a:tcPr marT="7625" marB="0" marR="7625" marL="7625" anchor="b"/>
                </a:tc>
              </a:tr>
              <a:tr h="254325">
                <a:tc>
                  <a:txBody>
                    <a:bodyPr/>
                    <a:lstStyle/>
                    <a:p>
                      <a:pPr indent="0" lvl="0" marL="0" marR="0" rtl="0" algn="ctr">
                        <a:spcBef>
                          <a:spcPts val="0"/>
                        </a:spcBef>
                        <a:spcAft>
                          <a:spcPts val="0"/>
                        </a:spcAft>
                        <a:buNone/>
                      </a:pPr>
                      <a:r>
                        <a:rPr lang="es-BO" sz="1600" u="none" cap="none" strike="noStrike"/>
                        <a:t>25</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119,3</a:t>
                      </a:r>
                      <a:endParaRPr b="0" i="0" sz="1600" u="none" cap="none" strike="noStrike">
                        <a:solidFill>
                          <a:srgbClr val="000000"/>
                        </a:solidFill>
                        <a:latin typeface="Calibri"/>
                        <a:ea typeface="Calibri"/>
                        <a:cs typeface="Calibri"/>
                        <a:sym typeface="Calibri"/>
                      </a:endParaRPr>
                    </a:p>
                  </a:txBody>
                  <a:tcPr marT="7625" marB="0" marR="7625" marL="7625" anchor="b"/>
                </a:tc>
              </a:tr>
              <a:tr h="254325">
                <a:tc>
                  <a:txBody>
                    <a:bodyPr/>
                    <a:lstStyle/>
                    <a:p>
                      <a:pPr indent="0" lvl="0" marL="0" marR="0" rtl="0" algn="ctr">
                        <a:spcBef>
                          <a:spcPts val="0"/>
                        </a:spcBef>
                        <a:spcAft>
                          <a:spcPts val="0"/>
                        </a:spcAft>
                        <a:buNone/>
                      </a:pPr>
                      <a:r>
                        <a:rPr lang="es-BO" sz="1600" u="none" cap="none" strike="noStrike"/>
                        <a:t>30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144,4</a:t>
                      </a:r>
                      <a:endParaRPr b="0" i="0" sz="1600" u="none" cap="none" strike="noStrike">
                        <a:solidFill>
                          <a:srgbClr val="000000"/>
                        </a:solidFill>
                        <a:latin typeface="Calibri"/>
                        <a:ea typeface="Calibri"/>
                        <a:cs typeface="Calibri"/>
                        <a:sym typeface="Calibri"/>
                      </a:endParaRPr>
                    </a:p>
                  </a:txBody>
                  <a:tcPr marT="7625" marB="0" marR="7625" marL="7625" anchor="b"/>
                </a:tc>
              </a:tr>
              <a:tr h="254325">
                <a:tc>
                  <a:txBody>
                    <a:bodyPr/>
                    <a:lstStyle/>
                    <a:p>
                      <a:pPr indent="0" lvl="0" marL="0" marR="0" rtl="0" algn="ctr">
                        <a:spcBef>
                          <a:spcPts val="0"/>
                        </a:spcBef>
                        <a:spcAft>
                          <a:spcPts val="0"/>
                        </a:spcAft>
                        <a:buNone/>
                      </a:pPr>
                      <a:r>
                        <a:rPr lang="es-BO" sz="1600" u="none" cap="none" strike="noStrike"/>
                        <a:t>35</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170</a:t>
                      </a:r>
                      <a:endParaRPr b="0" i="0" sz="1600" u="none" cap="none" strike="noStrike">
                        <a:solidFill>
                          <a:srgbClr val="000000"/>
                        </a:solidFill>
                        <a:latin typeface="Calibri"/>
                        <a:ea typeface="Calibri"/>
                        <a:cs typeface="Calibri"/>
                        <a:sym typeface="Calibri"/>
                      </a:endParaRPr>
                    </a:p>
                  </a:txBody>
                  <a:tcPr marT="7625" marB="0" marR="7625" marL="7625" anchor="b"/>
                </a:tc>
              </a:tr>
              <a:tr h="254325">
                <a:tc>
                  <a:txBody>
                    <a:bodyPr/>
                    <a:lstStyle/>
                    <a:p>
                      <a:pPr indent="0" lvl="0" marL="0" marR="0" rtl="0" algn="ctr">
                        <a:spcBef>
                          <a:spcPts val="0"/>
                        </a:spcBef>
                        <a:spcAft>
                          <a:spcPts val="0"/>
                        </a:spcAft>
                        <a:buNone/>
                      </a:pPr>
                      <a:r>
                        <a:rPr lang="es-BO" sz="1600" u="none" cap="none" strike="noStrike"/>
                        <a:t>40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195,1</a:t>
                      </a:r>
                      <a:endParaRPr b="0" i="0" sz="1600" u="none" cap="none" strike="noStrike">
                        <a:solidFill>
                          <a:srgbClr val="000000"/>
                        </a:solidFill>
                        <a:latin typeface="Calibri"/>
                        <a:ea typeface="Calibri"/>
                        <a:cs typeface="Calibri"/>
                        <a:sym typeface="Calibri"/>
                      </a:endParaRPr>
                    </a:p>
                  </a:txBody>
                  <a:tcPr marT="7625" marB="0" marR="7625" marL="7625" anchor="b"/>
                </a:tc>
              </a:tr>
              <a:tr h="254325">
                <a:tc>
                  <a:txBody>
                    <a:bodyPr/>
                    <a:lstStyle/>
                    <a:p>
                      <a:pPr indent="0" lvl="0" marL="0" marR="0" rtl="0" algn="ctr">
                        <a:spcBef>
                          <a:spcPts val="0"/>
                        </a:spcBef>
                        <a:spcAft>
                          <a:spcPts val="0"/>
                        </a:spcAft>
                        <a:buNone/>
                      </a:pPr>
                      <a:r>
                        <a:rPr lang="es-BO" sz="1600" u="none" cap="none" strike="noStrike"/>
                        <a:t>45</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219,9</a:t>
                      </a:r>
                      <a:endParaRPr b="0" i="0" sz="1600" u="none" cap="none" strike="noStrike">
                        <a:solidFill>
                          <a:srgbClr val="000000"/>
                        </a:solidFill>
                        <a:latin typeface="Calibri"/>
                        <a:ea typeface="Calibri"/>
                        <a:cs typeface="Calibri"/>
                        <a:sym typeface="Calibri"/>
                      </a:endParaRPr>
                    </a:p>
                  </a:txBody>
                  <a:tcPr marT="7625" marB="0" marR="7625" marL="7625" anchor="b"/>
                </a:tc>
              </a:tr>
              <a:tr h="254325">
                <a:tc>
                  <a:txBody>
                    <a:bodyPr/>
                    <a:lstStyle/>
                    <a:p>
                      <a:pPr indent="0" lvl="0" marL="0" marR="0" rtl="0" algn="ctr">
                        <a:spcBef>
                          <a:spcPts val="0"/>
                        </a:spcBef>
                        <a:spcAft>
                          <a:spcPts val="0"/>
                        </a:spcAft>
                        <a:buNone/>
                      </a:pPr>
                      <a:r>
                        <a:rPr lang="es-BO" sz="1600" u="none" cap="none" strike="noStrike"/>
                        <a:t>50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229,9</a:t>
                      </a:r>
                      <a:endParaRPr b="0" i="0" sz="1600" u="none" cap="none" strike="noStrike">
                        <a:solidFill>
                          <a:srgbClr val="000000"/>
                        </a:solidFill>
                        <a:latin typeface="Calibri"/>
                        <a:ea typeface="Calibri"/>
                        <a:cs typeface="Calibri"/>
                        <a:sym typeface="Calibri"/>
                      </a:endParaRPr>
                    </a:p>
                  </a:txBody>
                  <a:tcPr marT="7625" marB="0" marR="7625" marL="7625" anchor="b"/>
                </a:tc>
              </a:tr>
            </a:tbl>
          </a:graphicData>
        </a:graphic>
      </p:graphicFrame>
      <p:graphicFrame>
        <p:nvGraphicFramePr>
          <p:cNvPr id="527" name="Google Shape;527;p42" title="Gráfico"/>
          <p:cNvGraphicFramePr/>
          <p:nvPr/>
        </p:nvGraphicFramePr>
        <p:xfrm>
          <a:off x="4771933" y="2175071"/>
          <a:ext cx="6340929" cy="3533775"/>
        </p:xfrm>
        <a:graphic>
          <a:graphicData uri="http://schemas.openxmlformats.org/drawingml/2006/chart">
            <c:chart r:id="rId3"/>
          </a:graphicData>
        </a:graphic>
      </p:graphicFrame>
      <p:sp>
        <p:nvSpPr>
          <p:cNvPr id="528" name="Google Shape;528;p42"/>
          <p:cNvSpPr txBox="1"/>
          <p:nvPr/>
        </p:nvSpPr>
        <p:spPr>
          <a:xfrm>
            <a:off x="1271089" y="878341"/>
            <a:ext cx="10058400" cy="663692"/>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lnSpc>
                <a:spcPct val="90000"/>
              </a:lnSpc>
              <a:spcBef>
                <a:spcPts val="0"/>
              </a:spcBef>
              <a:spcAft>
                <a:spcPts val="0"/>
              </a:spcAft>
              <a:buClr>
                <a:srgbClr val="262626"/>
              </a:buClr>
              <a:buSzPct val="100000"/>
              <a:buFont typeface="Garamond"/>
              <a:buNone/>
            </a:pPr>
            <a:r>
              <a:rPr b="1" lang="es-BO" sz="4800" cap="none">
                <a:solidFill>
                  <a:srgbClr val="262626"/>
                </a:solidFill>
                <a:latin typeface="Garamond"/>
                <a:ea typeface="Garamond"/>
                <a:cs typeface="Garamond"/>
                <a:sym typeface="Garamond"/>
              </a:rPr>
              <a:t>VARIADOR DE FRECUENCIA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3"/>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000"/>
              <a:buFont typeface="Garamond"/>
              <a:buNone/>
            </a:pPr>
            <a:r>
              <a:rPr b="1" lang="es-BO" sz="4000"/>
              <a:t>Bomba Centrifuga</a:t>
            </a:r>
            <a:endParaRPr b="1" sz="4000"/>
          </a:p>
        </p:txBody>
      </p:sp>
      <p:grpSp>
        <p:nvGrpSpPr>
          <p:cNvPr id="534" name="Google Shape;534;p43"/>
          <p:cNvGrpSpPr/>
          <p:nvPr/>
        </p:nvGrpSpPr>
        <p:grpSpPr>
          <a:xfrm>
            <a:off x="666206" y="1119390"/>
            <a:ext cx="10058399" cy="5324613"/>
            <a:chOff x="0" y="-56267"/>
            <a:chExt cx="10058399" cy="5324613"/>
          </a:xfrm>
        </p:grpSpPr>
        <p:sp>
          <p:nvSpPr>
            <p:cNvPr id="535" name="Google Shape;535;p43"/>
            <p:cNvSpPr/>
            <p:nvPr/>
          </p:nvSpPr>
          <p:spPr>
            <a:xfrm>
              <a:off x="0" y="-56267"/>
              <a:ext cx="7744967" cy="1163242"/>
            </a:xfrm>
            <a:prstGeom prst="roundRect">
              <a:avLst>
                <a:gd fmla="val 10000" name="adj"/>
              </a:avLst>
            </a:prstGeom>
            <a:solidFill>
              <a:srgbClr val="C19015"/>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3"/>
            <p:cNvSpPr txBox="1"/>
            <p:nvPr/>
          </p:nvSpPr>
          <p:spPr>
            <a:xfrm>
              <a:off x="34070" y="-22197"/>
              <a:ext cx="6609654" cy="1095102"/>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PRINCIPO DE FUNCIONAMIENTO</a:t>
              </a:r>
              <a:endParaRPr/>
            </a:p>
            <a:p>
              <a:pPr indent="0" lvl="0" marL="0" marR="0" rtl="0" algn="just">
                <a:lnSpc>
                  <a:spcPct val="90000"/>
                </a:lnSpc>
                <a:spcBef>
                  <a:spcPts val="700"/>
                </a:spcBef>
                <a:spcAft>
                  <a:spcPts val="0"/>
                </a:spcAft>
                <a:buClr>
                  <a:schemeClr val="lt1"/>
                </a:buClr>
                <a:buSzPts val="2000"/>
                <a:buFont typeface="Garamond"/>
                <a:buNone/>
              </a:pPr>
              <a:r>
                <a:rPr b="0" i="0" lang="es-BO" sz="2000">
                  <a:solidFill>
                    <a:schemeClr val="lt1"/>
                  </a:solidFill>
                  <a:latin typeface="Garamond"/>
                  <a:ea typeface="Garamond"/>
                  <a:cs typeface="Garamond"/>
                  <a:sym typeface="Garamond"/>
                </a:rPr>
                <a:t>Una bomba centrífuga es un tipo de bomba hidráulica que utiliza la fuerza centrífuga generada por un impulsor rotativo para aumentar la presión y mover fluidos.</a:t>
              </a:r>
              <a:endParaRPr sz="2000">
                <a:solidFill>
                  <a:schemeClr val="dk1"/>
                </a:solidFill>
                <a:latin typeface="Garamond"/>
                <a:ea typeface="Garamond"/>
                <a:cs typeface="Garamond"/>
                <a:sym typeface="Garamond"/>
              </a:endParaRPr>
            </a:p>
          </p:txBody>
        </p:sp>
        <p:sp>
          <p:nvSpPr>
            <p:cNvPr id="537" name="Google Shape;537;p43"/>
            <p:cNvSpPr/>
            <p:nvPr/>
          </p:nvSpPr>
          <p:spPr>
            <a:xfrm>
              <a:off x="578358" y="1124743"/>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43"/>
            <p:cNvSpPr txBox="1"/>
            <p:nvPr/>
          </p:nvSpPr>
          <p:spPr>
            <a:xfrm>
              <a:off x="605836" y="1152221"/>
              <a:ext cx="6501840" cy="883218"/>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Garamond"/>
                <a:buNone/>
              </a:pPr>
              <a:r>
                <a:rPr b="0" i="0" lang="es-BO" sz="1800">
                  <a:solidFill>
                    <a:schemeClr val="lt1"/>
                  </a:solidFill>
                  <a:latin typeface="Garamond"/>
                  <a:ea typeface="Garamond"/>
                  <a:cs typeface="Garamond"/>
                  <a:sym typeface="Garamond"/>
                </a:rPr>
                <a:t>La bomba centrífuga consta de varios componentes. El impulsor es un componente clave que consta de palas curvadas que giran dentro de la carcasa de la bomba.</a:t>
              </a:r>
              <a:endParaRPr sz="1800">
                <a:solidFill>
                  <a:schemeClr val="dk1"/>
                </a:solidFill>
                <a:latin typeface="Garamond"/>
                <a:ea typeface="Garamond"/>
                <a:cs typeface="Garamond"/>
                <a:sym typeface="Garamond"/>
              </a:endParaRPr>
            </a:p>
          </p:txBody>
        </p:sp>
        <p:sp>
          <p:nvSpPr>
            <p:cNvPr id="539" name="Google Shape;539;p43"/>
            <p:cNvSpPr/>
            <p:nvPr/>
          </p:nvSpPr>
          <p:spPr>
            <a:xfrm>
              <a:off x="1156716" y="2193219"/>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3"/>
            <p:cNvSpPr txBox="1"/>
            <p:nvPr/>
          </p:nvSpPr>
          <p:spPr>
            <a:xfrm>
              <a:off x="1184194" y="2220697"/>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Garamond"/>
                <a:buNone/>
              </a:pPr>
              <a:r>
                <a:rPr b="0" i="0" lang="es-BO" sz="2000">
                  <a:solidFill>
                    <a:schemeClr val="lt1"/>
                  </a:solidFill>
                  <a:latin typeface="Garamond"/>
                  <a:ea typeface="Garamond"/>
                  <a:cs typeface="Garamond"/>
                  <a:sym typeface="Garamond"/>
                </a:rPr>
                <a:t>Cuando el impulsor gira, crea una fuerza centrífuga que empuja el fluido hacia el exterior y hacia una zona de alta presión llamada difusor.</a:t>
              </a:r>
              <a:endParaRPr sz="2000">
                <a:solidFill>
                  <a:schemeClr val="dk1"/>
                </a:solidFill>
                <a:latin typeface="Garamond"/>
                <a:ea typeface="Garamond"/>
                <a:cs typeface="Garamond"/>
                <a:sym typeface="Garamond"/>
              </a:endParaRPr>
            </a:p>
          </p:txBody>
        </p:sp>
        <p:sp>
          <p:nvSpPr>
            <p:cNvPr id="541" name="Google Shape;541;p43"/>
            <p:cNvSpPr/>
            <p:nvPr/>
          </p:nvSpPr>
          <p:spPr>
            <a:xfrm>
              <a:off x="1735073" y="3261696"/>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43"/>
            <p:cNvSpPr txBox="1"/>
            <p:nvPr/>
          </p:nvSpPr>
          <p:spPr>
            <a:xfrm>
              <a:off x="1762551" y="3289174"/>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Garamond"/>
                <a:buNone/>
              </a:pPr>
              <a:r>
                <a:rPr b="0" i="0" lang="es-BO" sz="2000">
                  <a:solidFill>
                    <a:schemeClr val="lt1"/>
                  </a:solidFill>
                  <a:latin typeface="Garamond"/>
                  <a:ea typeface="Garamond"/>
                  <a:cs typeface="Garamond"/>
                  <a:sym typeface="Garamond"/>
                </a:rPr>
                <a:t>El difusor es una estructura en forma de cono o voluta que rodea al impulsor y tiene la función de convertir la energía cinética del fluido en energía de presión.</a:t>
              </a:r>
              <a:endParaRPr sz="2000">
                <a:solidFill>
                  <a:schemeClr val="dk1"/>
                </a:solidFill>
                <a:latin typeface="Garamond"/>
                <a:ea typeface="Garamond"/>
                <a:cs typeface="Garamond"/>
                <a:sym typeface="Garamond"/>
              </a:endParaRPr>
            </a:p>
          </p:txBody>
        </p:sp>
        <p:sp>
          <p:nvSpPr>
            <p:cNvPr id="543" name="Google Shape;543;p43"/>
            <p:cNvSpPr/>
            <p:nvPr/>
          </p:nvSpPr>
          <p:spPr>
            <a:xfrm>
              <a:off x="2313432" y="4330172"/>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3"/>
            <p:cNvSpPr txBox="1"/>
            <p:nvPr/>
          </p:nvSpPr>
          <p:spPr>
            <a:xfrm>
              <a:off x="2340910" y="4357650"/>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Garamond"/>
                <a:buNone/>
              </a:pPr>
              <a:r>
                <a:rPr b="0" i="0" lang="es-BO" sz="2000">
                  <a:solidFill>
                    <a:schemeClr val="lt1"/>
                  </a:solidFill>
                  <a:latin typeface="Garamond"/>
                  <a:ea typeface="Garamond"/>
                  <a:cs typeface="Garamond"/>
                  <a:sym typeface="Garamond"/>
                </a:rPr>
                <a:t>A medida que el fluido pasa a través del difusor, la velocidad disminuye y la presión aumenta.</a:t>
              </a:r>
              <a:endParaRPr sz="2000">
                <a:solidFill>
                  <a:schemeClr val="dk1"/>
                </a:solidFill>
                <a:latin typeface="Garamond"/>
                <a:ea typeface="Garamond"/>
                <a:cs typeface="Garamond"/>
                <a:sym typeface="Garamond"/>
              </a:endParaRPr>
            </a:p>
          </p:txBody>
        </p:sp>
        <p:sp>
          <p:nvSpPr>
            <p:cNvPr id="545" name="Google Shape;545;p43"/>
            <p:cNvSpPr/>
            <p:nvPr/>
          </p:nvSpPr>
          <p:spPr>
            <a:xfrm>
              <a:off x="7135154" y="74165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3"/>
            <p:cNvSpPr txBox="1"/>
            <p:nvPr/>
          </p:nvSpPr>
          <p:spPr>
            <a:xfrm>
              <a:off x="7272362" y="74165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547" name="Google Shape;547;p43"/>
            <p:cNvSpPr/>
            <p:nvPr/>
          </p:nvSpPr>
          <p:spPr>
            <a:xfrm>
              <a:off x="7713512" y="1810131"/>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3"/>
            <p:cNvSpPr txBox="1"/>
            <p:nvPr/>
          </p:nvSpPr>
          <p:spPr>
            <a:xfrm>
              <a:off x="7850720" y="1810131"/>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549" name="Google Shape;549;p43"/>
            <p:cNvSpPr/>
            <p:nvPr/>
          </p:nvSpPr>
          <p:spPr>
            <a:xfrm>
              <a:off x="8291870" y="2862972"/>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3"/>
            <p:cNvSpPr txBox="1"/>
            <p:nvPr/>
          </p:nvSpPr>
          <p:spPr>
            <a:xfrm>
              <a:off x="8429078" y="2862972"/>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551" name="Google Shape;551;p43"/>
            <p:cNvSpPr/>
            <p:nvPr/>
          </p:nvSpPr>
          <p:spPr>
            <a:xfrm>
              <a:off x="8870228" y="3941872"/>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3"/>
            <p:cNvSpPr txBox="1"/>
            <p:nvPr/>
          </p:nvSpPr>
          <p:spPr>
            <a:xfrm>
              <a:off x="9007436" y="3941872"/>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id="553" name="Google Shape;553;p43"/>
          <p:cNvPicPr preferRelativeResize="0"/>
          <p:nvPr/>
        </p:nvPicPr>
        <p:blipFill rotWithShape="1">
          <a:blip r:embed="rId3">
            <a:alphaModFix/>
          </a:blip>
          <a:srcRect b="0" l="0" r="0" t="0"/>
          <a:stretch/>
        </p:blipFill>
        <p:spPr>
          <a:xfrm>
            <a:off x="9915600" y="613583"/>
            <a:ext cx="1417983" cy="1350571"/>
          </a:xfrm>
          <a:prstGeom prst="rect">
            <a:avLst/>
          </a:prstGeom>
          <a:noFill/>
          <a:ln>
            <a:noFill/>
          </a:ln>
        </p:spPr>
      </p:pic>
      <p:pic>
        <p:nvPicPr>
          <p:cNvPr id="554" name="Google Shape;554;p43"/>
          <p:cNvPicPr preferRelativeResize="0"/>
          <p:nvPr/>
        </p:nvPicPr>
        <p:blipFill rotWithShape="1">
          <a:blip r:embed="rId4">
            <a:alphaModFix/>
          </a:blip>
          <a:srcRect b="0" l="6228" r="0" t="0"/>
          <a:stretch/>
        </p:blipFill>
        <p:spPr>
          <a:xfrm>
            <a:off x="10228594" y="3277626"/>
            <a:ext cx="1383739" cy="1044844"/>
          </a:xfrm>
          <a:prstGeom prst="rect">
            <a:avLst/>
          </a:prstGeom>
          <a:noFill/>
          <a:ln>
            <a:noFill/>
          </a:ln>
        </p:spPr>
      </p:pic>
      <p:pic>
        <p:nvPicPr>
          <p:cNvPr id="555" name="Google Shape;555;p43"/>
          <p:cNvPicPr preferRelativeResize="0"/>
          <p:nvPr/>
        </p:nvPicPr>
        <p:blipFill rotWithShape="1">
          <a:blip r:embed="rId5">
            <a:alphaModFix/>
          </a:blip>
          <a:srcRect b="0" l="13771" r="0" t="0"/>
          <a:stretch/>
        </p:blipFill>
        <p:spPr>
          <a:xfrm>
            <a:off x="10228594" y="4408710"/>
            <a:ext cx="1497119" cy="1011430"/>
          </a:xfrm>
          <a:prstGeom prst="rect">
            <a:avLst/>
          </a:prstGeom>
          <a:noFill/>
          <a:ln>
            <a:noFill/>
          </a:ln>
        </p:spPr>
      </p:pic>
      <p:pic>
        <p:nvPicPr>
          <p:cNvPr id="556" name="Google Shape;556;p43"/>
          <p:cNvPicPr preferRelativeResize="0"/>
          <p:nvPr/>
        </p:nvPicPr>
        <p:blipFill rotWithShape="1">
          <a:blip r:embed="rId6">
            <a:alphaModFix/>
          </a:blip>
          <a:srcRect b="0" l="0" r="0" t="0"/>
          <a:stretch/>
        </p:blipFill>
        <p:spPr>
          <a:xfrm>
            <a:off x="9175665" y="1983769"/>
            <a:ext cx="1126022" cy="120761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44"/>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000"/>
              <a:buFont typeface="Garamond"/>
              <a:buNone/>
            </a:pPr>
            <a:r>
              <a:rPr b="1" lang="es-BO" sz="4000"/>
              <a:t>Bomba Centrifuga</a:t>
            </a:r>
            <a:endParaRPr b="1" sz="4000"/>
          </a:p>
        </p:txBody>
      </p:sp>
      <p:grpSp>
        <p:nvGrpSpPr>
          <p:cNvPr id="562" name="Google Shape;562;p44"/>
          <p:cNvGrpSpPr/>
          <p:nvPr/>
        </p:nvGrpSpPr>
        <p:grpSpPr>
          <a:xfrm>
            <a:off x="163286" y="1175657"/>
            <a:ext cx="11064239" cy="5212079"/>
            <a:chOff x="-502920" y="0"/>
            <a:chExt cx="11064239" cy="5212079"/>
          </a:xfrm>
        </p:grpSpPr>
        <p:sp>
          <p:nvSpPr>
            <p:cNvPr id="563" name="Google Shape;563;p44"/>
            <p:cNvSpPr/>
            <p:nvPr/>
          </p:nvSpPr>
          <p:spPr>
            <a:xfrm>
              <a:off x="-502920" y="0"/>
              <a:ext cx="8046720" cy="1146657"/>
            </a:xfrm>
            <a:prstGeom prst="roundRect">
              <a:avLst>
                <a:gd fmla="val 10000" name="adj"/>
              </a:avLst>
            </a:prstGeom>
            <a:solidFill>
              <a:srgbClr val="C19015"/>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44"/>
            <p:cNvSpPr txBox="1"/>
            <p:nvPr/>
          </p:nvSpPr>
          <p:spPr>
            <a:xfrm>
              <a:off x="-469336" y="33584"/>
              <a:ext cx="6712495" cy="1079489"/>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Garamond"/>
                <a:buNone/>
              </a:pPr>
              <a:r>
                <a:rPr b="0" i="0" lang="es-BO" sz="2000">
                  <a:solidFill>
                    <a:schemeClr val="lt1"/>
                  </a:solidFill>
                  <a:latin typeface="Garamond"/>
                  <a:ea typeface="Garamond"/>
                  <a:cs typeface="Garamond"/>
                  <a:sym typeface="Garamond"/>
                </a:rPr>
                <a:t>Utiliza un motor asíncrono trifásico, también conocido como motor de inducción trifásico, es un tipo de motor eléctrico que utiliza tres corrientes eléctricas alternas que son desfasadas entre sí en 120 grados para crear un campo magnético rotativo que hace girar el motor.</a:t>
              </a:r>
              <a:endParaRPr sz="2000">
                <a:solidFill>
                  <a:schemeClr val="dk1"/>
                </a:solidFill>
                <a:latin typeface="Garamond"/>
                <a:ea typeface="Garamond"/>
                <a:cs typeface="Garamond"/>
                <a:sym typeface="Garamond"/>
              </a:endParaRPr>
            </a:p>
          </p:txBody>
        </p:sp>
        <p:sp>
          <p:nvSpPr>
            <p:cNvPr id="565" name="Google Shape;565;p44"/>
            <p:cNvSpPr/>
            <p:nvPr/>
          </p:nvSpPr>
          <p:spPr>
            <a:xfrm>
              <a:off x="170992" y="1355140"/>
              <a:ext cx="8046720" cy="1146657"/>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4"/>
            <p:cNvSpPr txBox="1"/>
            <p:nvPr/>
          </p:nvSpPr>
          <p:spPr>
            <a:xfrm>
              <a:off x="204576" y="1388724"/>
              <a:ext cx="6560311" cy="1079489"/>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Garamond"/>
                <a:buNone/>
              </a:pPr>
              <a:r>
                <a:rPr b="0" i="0" lang="es-BO" sz="1800">
                  <a:solidFill>
                    <a:schemeClr val="lt1"/>
                  </a:solidFill>
                  <a:latin typeface="Garamond"/>
                  <a:ea typeface="Garamond"/>
                  <a:cs typeface="Garamond"/>
                  <a:sym typeface="Garamond"/>
                </a:rPr>
                <a:t>Este tipo de motor se compone principalmente de dos partes: el estator y el rotor. El estator es la parte fija del motor y se compone de un núcleo de hierro laminado, que contiene tres devanados de cobre, conectados en estrella o en triángulo, a través de los cuales circulan las corrientes eléctricas alternas trifásicas.</a:t>
              </a:r>
              <a:endParaRPr sz="1800">
                <a:solidFill>
                  <a:schemeClr val="dk1"/>
                </a:solidFill>
                <a:latin typeface="Garamond"/>
                <a:ea typeface="Garamond"/>
                <a:cs typeface="Garamond"/>
                <a:sym typeface="Garamond"/>
              </a:endParaRPr>
            </a:p>
          </p:txBody>
        </p:sp>
        <p:sp>
          <p:nvSpPr>
            <p:cNvPr id="567" name="Google Shape;567;p44"/>
            <p:cNvSpPr/>
            <p:nvPr/>
          </p:nvSpPr>
          <p:spPr>
            <a:xfrm>
              <a:off x="70408" y="2710281"/>
              <a:ext cx="9575596" cy="1146657"/>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4"/>
            <p:cNvSpPr txBox="1"/>
            <p:nvPr/>
          </p:nvSpPr>
          <p:spPr>
            <a:xfrm>
              <a:off x="103992" y="2743865"/>
              <a:ext cx="7831502" cy="1079489"/>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Garamond"/>
                <a:buNone/>
              </a:pPr>
              <a:r>
                <a:rPr b="0" i="0" lang="es-BO" sz="2000">
                  <a:solidFill>
                    <a:schemeClr val="lt1"/>
                  </a:solidFill>
                  <a:latin typeface="Garamond"/>
                  <a:ea typeface="Garamond"/>
                  <a:cs typeface="Garamond"/>
                  <a:sym typeface="Garamond"/>
                </a:rPr>
                <a:t>El rotor, por otro lado, es la parte móvil del motor y se compone de un conjunto de conductores de cobre dispuestos en ranuras de un núcleo de hierro laminado, los cuales están aislados eléctricamente y que forman una jaula de ardilla.</a:t>
              </a:r>
              <a:endParaRPr sz="2000">
                <a:solidFill>
                  <a:schemeClr val="dk1"/>
                </a:solidFill>
                <a:latin typeface="Garamond"/>
                <a:ea typeface="Garamond"/>
                <a:cs typeface="Garamond"/>
                <a:sym typeface="Garamond"/>
              </a:endParaRPr>
            </a:p>
          </p:txBody>
        </p:sp>
        <p:sp>
          <p:nvSpPr>
            <p:cNvPr id="569" name="Google Shape;569;p44"/>
            <p:cNvSpPr/>
            <p:nvPr/>
          </p:nvSpPr>
          <p:spPr>
            <a:xfrm>
              <a:off x="502920" y="4065422"/>
              <a:ext cx="10058399" cy="1146657"/>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4"/>
            <p:cNvSpPr txBox="1"/>
            <p:nvPr/>
          </p:nvSpPr>
          <p:spPr>
            <a:xfrm>
              <a:off x="536504" y="4099006"/>
              <a:ext cx="8217181" cy="1079489"/>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Garamond"/>
                <a:buNone/>
              </a:pPr>
              <a:r>
                <a:rPr b="0" i="0" lang="es-BO" sz="2000">
                  <a:solidFill>
                    <a:schemeClr val="lt1"/>
                  </a:solidFill>
                  <a:latin typeface="Garamond"/>
                  <a:ea typeface="Garamond"/>
                  <a:cs typeface="Garamond"/>
                  <a:sym typeface="Garamond"/>
                </a:rPr>
                <a:t>Cuando se aplica corriente eléctrica al estator, se produce un campo magnético rotativo que induce corrientes eléctricas en la jaula de ardilla del rotor. Estas corrientes crean un campo magnético en el rotor que interactúa con el campo magnético del estator, haciendo que el rotor comience a girar.</a:t>
              </a:r>
              <a:endParaRPr sz="2000">
                <a:solidFill>
                  <a:schemeClr val="dk1"/>
                </a:solidFill>
                <a:latin typeface="Garamond"/>
                <a:ea typeface="Garamond"/>
                <a:cs typeface="Garamond"/>
                <a:sym typeface="Garamond"/>
              </a:endParaRPr>
            </a:p>
          </p:txBody>
        </p:sp>
        <p:sp>
          <p:nvSpPr>
            <p:cNvPr id="571" name="Google Shape;571;p44"/>
            <p:cNvSpPr/>
            <p:nvPr/>
          </p:nvSpPr>
          <p:spPr>
            <a:xfrm>
              <a:off x="6798472" y="878235"/>
              <a:ext cx="745327" cy="745327"/>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4"/>
            <p:cNvSpPr txBox="1"/>
            <p:nvPr/>
          </p:nvSpPr>
          <p:spPr>
            <a:xfrm>
              <a:off x="6966171" y="878235"/>
              <a:ext cx="409929" cy="560859"/>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Garamond"/>
                <a:buNone/>
              </a:pPr>
              <a:r>
                <a:t/>
              </a:r>
              <a:endParaRPr sz="3600">
                <a:solidFill>
                  <a:schemeClr val="dk1"/>
                </a:solidFill>
                <a:latin typeface="Garamond"/>
                <a:ea typeface="Garamond"/>
                <a:cs typeface="Garamond"/>
                <a:sym typeface="Garamond"/>
              </a:endParaRPr>
            </a:p>
          </p:txBody>
        </p:sp>
        <p:sp>
          <p:nvSpPr>
            <p:cNvPr id="573" name="Google Shape;573;p44"/>
            <p:cNvSpPr/>
            <p:nvPr/>
          </p:nvSpPr>
          <p:spPr>
            <a:xfrm>
              <a:off x="7472385" y="2233376"/>
              <a:ext cx="745327" cy="745327"/>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4"/>
            <p:cNvSpPr txBox="1"/>
            <p:nvPr/>
          </p:nvSpPr>
          <p:spPr>
            <a:xfrm>
              <a:off x="7640084" y="2233376"/>
              <a:ext cx="409929" cy="560859"/>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Garamond"/>
                <a:buNone/>
              </a:pPr>
              <a:r>
                <a:t/>
              </a:r>
              <a:endParaRPr sz="3600">
                <a:solidFill>
                  <a:schemeClr val="dk1"/>
                </a:solidFill>
                <a:latin typeface="Garamond"/>
                <a:ea typeface="Garamond"/>
                <a:cs typeface="Garamond"/>
                <a:sym typeface="Garamond"/>
              </a:endParaRPr>
            </a:p>
          </p:txBody>
        </p:sp>
        <p:sp>
          <p:nvSpPr>
            <p:cNvPr id="575" name="Google Shape;575;p44"/>
            <p:cNvSpPr/>
            <p:nvPr/>
          </p:nvSpPr>
          <p:spPr>
            <a:xfrm>
              <a:off x="8136239" y="3588517"/>
              <a:ext cx="745327" cy="745327"/>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44"/>
            <p:cNvSpPr txBox="1"/>
            <p:nvPr/>
          </p:nvSpPr>
          <p:spPr>
            <a:xfrm>
              <a:off x="8303938" y="3588517"/>
              <a:ext cx="409929" cy="560859"/>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Garamond"/>
                <a:buNone/>
              </a:pPr>
              <a:r>
                <a:t/>
              </a:r>
              <a:endParaRPr sz="3600">
                <a:solidFill>
                  <a:schemeClr val="dk1"/>
                </a:solidFill>
                <a:latin typeface="Garamond"/>
                <a:ea typeface="Garamond"/>
                <a:cs typeface="Garamond"/>
                <a:sym typeface="Garamond"/>
              </a:endParaRPr>
            </a:p>
          </p:txBody>
        </p:sp>
      </p:grpSp>
      <p:pic>
        <p:nvPicPr>
          <p:cNvPr id="577" name="Google Shape;577;p44"/>
          <p:cNvPicPr preferRelativeResize="0"/>
          <p:nvPr/>
        </p:nvPicPr>
        <p:blipFill rotWithShape="1">
          <a:blip r:embed="rId3">
            <a:alphaModFix/>
          </a:blip>
          <a:srcRect b="0" l="0" r="0" t="0"/>
          <a:stretch/>
        </p:blipFill>
        <p:spPr>
          <a:xfrm>
            <a:off x="9304117" y="414083"/>
            <a:ext cx="2469982" cy="174957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45"/>
          <p:cNvSpPr txBox="1"/>
          <p:nvPr>
            <p:ph type="title"/>
          </p:nvPr>
        </p:nvSpPr>
        <p:spPr>
          <a:xfrm>
            <a:off x="1066800" y="642594"/>
            <a:ext cx="10058400" cy="88392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b="1" lang="es-BO"/>
              <a:t>Bomba  Características</a:t>
            </a:r>
            <a:endParaRPr b="1"/>
          </a:p>
        </p:txBody>
      </p:sp>
      <p:graphicFrame>
        <p:nvGraphicFramePr>
          <p:cNvPr id="583" name="Google Shape;583;p45"/>
          <p:cNvGraphicFramePr/>
          <p:nvPr/>
        </p:nvGraphicFramePr>
        <p:xfrm>
          <a:off x="1066800" y="1526515"/>
          <a:ext cx="3000000" cy="3000000"/>
        </p:xfrm>
        <a:graphic>
          <a:graphicData uri="http://schemas.openxmlformats.org/drawingml/2006/table">
            <a:tbl>
              <a:tblPr>
                <a:noFill/>
                <a:tableStyleId>{BC709364-A7B2-4693-9990-78690F8EEA3F}</a:tableStyleId>
              </a:tblPr>
              <a:tblGrid>
                <a:gridCol w="1262450"/>
                <a:gridCol w="3511425"/>
              </a:tblGrid>
              <a:tr h="178650">
                <a:tc gridSpan="2">
                  <a:txBody>
                    <a:bodyPr/>
                    <a:lstStyle/>
                    <a:p>
                      <a:pPr indent="0" lvl="0" marL="0" marR="0" rtl="0" algn="ctr">
                        <a:spcBef>
                          <a:spcPts val="0"/>
                        </a:spcBef>
                        <a:spcAft>
                          <a:spcPts val="0"/>
                        </a:spcAft>
                        <a:buNone/>
                      </a:pPr>
                      <a:r>
                        <a:rPr b="1" i="0" lang="es-BO" sz="1400" u="none" cap="none" strike="noStrike"/>
                        <a:t>Características Pentax CMT 100/00</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b"/>
                </a:tc>
                <a:tc hMerge="1"/>
              </a:tr>
              <a:tr h="178650">
                <a:tc>
                  <a:txBody>
                    <a:bodyPr/>
                    <a:lstStyle/>
                    <a:p>
                      <a:pPr indent="0" lvl="0" marL="0" marR="0" rtl="0" algn="l">
                        <a:spcBef>
                          <a:spcPts val="0"/>
                        </a:spcBef>
                        <a:spcAft>
                          <a:spcPts val="0"/>
                        </a:spcAft>
                        <a:buNone/>
                      </a:pPr>
                      <a:r>
                        <a:rPr lang="es-BO" sz="1400" u="none" cap="none" strike="noStrike"/>
                        <a:t>Q (l/min)</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cap="none" strike="noStrike"/>
                        <a:t>20 / 90</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r h="416875">
                <a:tc>
                  <a:txBody>
                    <a:bodyPr/>
                    <a:lstStyle/>
                    <a:p>
                      <a:pPr indent="0" lvl="0" marL="0" marR="0" rtl="0" algn="l">
                        <a:spcBef>
                          <a:spcPts val="0"/>
                        </a:spcBef>
                        <a:spcAft>
                          <a:spcPts val="0"/>
                        </a:spcAft>
                        <a:buNone/>
                      </a:pPr>
                      <a:r>
                        <a:rPr lang="es-BO" sz="1400" u="none" cap="none" strike="noStrike"/>
                        <a:t>H (m)</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cap="none" strike="noStrike"/>
                        <a:t>32.5 / 25</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cap="none" strike="noStrike"/>
                        <a:t>HP</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cap="none" strike="noStrike"/>
                        <a:t>1</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cap="none" strike="noStrike"/>
                        <a:t>kW</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cap="none" strike="noStrike"/>
                        <a:t>0.74</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cap="none" strike="noStrike"/>
                        <a:t>V∆</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cap="none" strike="noStrike"/>
                        <a:t>230V</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cap="none" strike="noStrike"/>
                        <a:t>Vℷ</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cap="none" strike="noStrike"/>
                        <a:t>400V</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r h="357325">
                <a:tc>
                  <a:txBody>
                    <a:bodyPr/>
                    <a:lstStyle/>
                    <a:p>
                      <a:pPr indent="0" lvl="0" marL="0" marR="0" rtl="0" algn="l">
                        <a:spcBef>
                          <a:spcPts val="0"/>
                        </a:spcBef>
                        <a:spcAft>
                          <a:spcPts val="0"/>
                        </a:spcAft>
                        <a:buNone/>
                      </a:pPr>
                      <a:r>
                        <a:rPr lang="es-BO" sz="1400" u="none" cap="none" strike="noStrike"/>
                        <a:t>CL</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cap="none" strike="noStrike"/>
                        <a:t>Máxima temperatura de operación °F = 155°C</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cap="none" strike="noStrike"/>
                        <a:t>A</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cap="none" strike="noStrike"/>
                        <a:t>3.4   2</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r h="357325">
                <a:tc>
                  <a:txBody>
                    <a:bodyPr/>
                    <a:lstStyle/>
                    <a:p>
                      <a:pPr indent="0" lvl="0" marL="0" marR="0" rtl="0" algn="l">
                        <a:spcBef>
                          <a:spcPts val="0"/>
                        </a:spcBef>
                        <a:spcAft>
                          <a:spcPts val="0"/>
                        </a:spcAft>
                        <a:buNone/>
                      </a:pPr>
                      <a:r>
                        <a:rPr lang="es-BO" sz="1400" u="none" cap="none" strike="noStrike"/>
                        <a:t>Hz</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cap="none" strike="noStrike"/>
                        <a:t>50</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cap="none" strike="noStrike"/>
                        <a:t>RPM del motor</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cap="none" strike="noStrike"/>
                        <a:t>2800</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cap="none" strike="noStrike"/>
                        <a:t>IP  44</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cap="none" strike="noStrike"/>
                        <a:t>Protección (resistente al agua)</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r h="357325">
                <a:tc>
                  <a:txBody>
                    <a:bodyPr/>
                    <a:lstStyle/>
                    <a:p>
                      <a:pPr indent="0" lvl="0" marL="0" marR="0" rtl="0" algn="l">
                        <a:spcBef>
                          <a:spcPts val="0"/>
                        </a:spcBef>
                        <a:spcAft>
                          <a:spcPts val="0"/>
                        </a:spcAft>
                        <a:buNone/>
                      </a:pPr>
                      <a:r>
                        <a:rPr lang="es-BO" sz="1400" u="none" cap="none" strike="noStrike"/>
                        <a:t>Continuous Duty</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cap="none" strike="noStrike"/>
                        <a:t>Funcionamiento de motor de forma continua</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cap="none" strike="noStrike"/>
                        <a:t>3 phase</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cap="none" strike="noStrike"/>
                        <a:t>Motor trifásico para CA</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r h="357325">
                <a:tc>
                  <a:txBody>
                    <a:bodyPr/>
                    <a:lstStyle/>
                    <a:p>
                      <a:pPr indent="0" lvl="0" marL="0" marR="0" rtl="0" algn="l">
                        <a:spcBef>
                          <a:spcPts val="0"/>
                        </a:spcBef>
                        <a:spcAft>
                          <a:spcPts val="0"/>
                        </a:spcAft>
                        <a:buNone/>
                      </a:pPr>
                      <a:r>
                        <a:rPr lang="es-BO" sz="1400" u="none" cap="none" strike="noStrike"/>
                        <a:t>CMT</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lang="es-BO" sz="1400" u="none" cap="none" strike="noStrike"/>
                        <a:t>Motor Centrífugo - Trifásico</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cap="none" strike="noStrike"/>
                        <a:t>100</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b="0" i="0" lang="es-BO" sz="1400" u="none" cap="none" strike="noStrike">
                          <a:solidFill>
                            <a:schemeClr val="dk1"/>
                          </a:solidFill>
                          <a:latin typeface="Garamond"/>
                          <a:ea typeface="Garamond"/>
                          <a:cs typeface="Garamond"/>
                          <a:sym typeface="Garamond"/>
                        </a:rPr>
                        <a:t>100 pies max</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r h="178650">
                <a:tc>
                  <a:txBody>
                    <a:bodyPr/>
                    <a:lstStyle/>
                    <a:p>
                      <a:pPr indent="0" lvl="0" marL="0" marR="0" rtl="0" algn="l">
                        <a:spcBef>
                          <a:spcPts val="0"/>
                        </a:spcBef>
                        <a:spcAft>
                          <a:spcPts val="0"/>
                        </a:spcAft>
                        <a:buNone/>
                      </a:pPr>
                      <a:r>
                        <a:rPr lang="es-BO" sz="1400" u="none" cap="none" strike="noStrike"/>
                        <a:t>00</a:t>
                      </a:r>
                      <a:endParaRPr b="1" i="0" sz="1400" u="none" cap="none" strike="noStrike">
                        <a:solidFill>
                          <a:srgbClr val="000000"/>
                        </a:solidFill>
                        <a:latin typeface="Times New Roman"/>
                        <a:ea typeface="Times New Roman"/>
                        <a:cs typeface="Times New Roman"/>
                        <a:sym typeface="Times New Roman"/>
                      </a:endParaRPr>
                    </a:p>
                  </a:txBody>
                  <a:tcPr marT="8500" marB="0" marR="8500" marL="8500" anchor="ctr"/>
                </a:tc>
                <a:tc>
                  <a:txBody>
                    <a:bodyPr/>
                    <a:lstStyle/>
                    <a:p>
                      <a:pPr indent="0" lvl="0" marL="0" marR="0" rtl="0" algn="l">
                        <a:spcBef>
                          <a:spcPts val="0"/>
                        </a:spcBef>
                        <a:spcAft>
                          <a:spcPts val="0"/>
                        </a:spcAft>
                        <a:buNone/>
                      </a:pPr>
                      <a:r>
                        <a:rPr b="0" i="0" lang="es-BO" sz="1400" u="none" cap="none" strike="noStrike">
                          <a:solidFill>
                            <a:schemeClr val="dk1"/>
                          </a:solidFill>
                          <a:latin typeface="Garamond"/>
                          <a:ea typeface="Garamond"/>
                          <a:cs typeface="Garamond"/>
                          <a:sym typeface="Garamond"/>
                        </a:rPr>
                        <a:t>Armazón de hierro/Impulsor de Noryl</a:t>
                      </a:r>
                      <a:endParaRPr b="0" i="0" sz="1400" u="none" cap="none" strike="noStrike">
                        <a:solidFill>
                          <a:srgbClr val="000000"/>
                        </a:solidFill>
                        <a:latin typeface="Times New Roman"/>
                        <a:ea typeface="Times New Roman"/>
                        <a:cs typeface="Times New Roman"/>
                        <a:sym typeface="Times New Roman"/>
                      </a:endParaRPr>
                    </a:p>
                  </a:txBody>
                  <a:tcPr marT="8500" marB="0" marR="8500" marL="8500" anchor="ctr"/>
                </a:tc>
              </a:tr>
            </a:tbl>
          </a:graphicData>
        </a:graphic>
      </p:graphicFrame>
      <p:pic>
        <p:nvPicPr>
          <p:cNvPr id="584" name="Google Shape;584;p45"/>
          <p:cNvPicPr preferRelativeResize="0"/>
          <p:nvPr/>
        </p:nvPicPr>
        <p:blipFill rotWithShape="1">
          <a:blip r:embed="rId3">
            <a:alphaModFix/>
          </a:blip>
          <a:srcRect b="0" l="0" r="0" t="0"/>
          <a:stretch/>
        </p:blipFill>
        <p:spPr>
          <a:xfrm>
            <a:off x="6960121" y="3313286"/>
            <a:ext cx="4165079" cy="3136508"/>
          </a:xfrm>
          <a:prstGeom prst="rect">
            <a:avLst/>
          </a:prstGeom>
          <a:noFill/>
          <a:ln>
            <a:noFill/>
          </a:ln>
        </p:spPr>
      </p:pic>
      <p:pic>
        <p:nvPicPr>
          <p:cNvPr id="585" name="Google Shape;585;p45"/>
          <p:cNvPicPr preferRelativeResize="0"/>
          <p:nvPr/>
        </p:nvPicPr>
        <p:blipFill rotWithShape="1">
          <a:blip r:embed="rId4">
            <a:alphaModFix/>
          </a:blip>
          <a:srcRect b="0" l="0" r="0" t="0"/>
          <a:stretch/>
        </p:blipFill>
        <p:spPr>
          <a:xfrm>
            <a:off x="7421219" y="858423"/>
            <a:ext cx="3554082" cy="234860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46"/>
          <p:cNvSpPr txBox="1"/>
          <p:nvPr>
            <p:ph type="title"/>
          </p:nvPr>
        </p:nvSpPr>
        <p:spPr>
          <a:xfrm>
            <a:off x="1066800" y="642594"/>
            <a:ext cx="10058400" cy="868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000"/>
              <a:buFont typeface="Garamond"/>
              <a:buNone/>
            </a:pPr>
            <a:r>
              <a:rPr b="1" lang="es-BO" sz="4000"/>
              <a:t>Motor (Bomba de agua)</a:t>
            </a:r>
            <a:endParaRPr b="1" sz="4000"/>
          </a:p>
        </p:txBody>
      </p:sp>
      <p:graphicFrame>
        <p:nvGraphicFramePr>
          <p:cNvPr id="591" name="Google Shape;591;p46"/>
          <p:cNvGraphicFramePr/>
          <p:nvPr/>
        </p:nvGraphicFramePr>
        <p:xfrm>
          <a:off x="2265792" y="2129473"/>
          <a:ext cx="3000000" cy="3000000"/>
        </p:xfrm>
        <a:graphic>
          <a:graphicData uri="http://schemas.openxmlformats.org/drawingml/2006/table">
            <a:tbl>
              <a:tblPr bandRow="1" firstRow="1">
                <a:noFill/>
                <a:tableStyleId>{BC709364-A7B2-4693-9990-78690F8EEA3F}</a:tableStyleId>
              </a:tblPr>
              <a:tblGrid>
                <a:gridCol w="993375"/>
                <a:gridCol w="1219950"/>
              </a:tblGrid>
              <a:tr h="484625">
                <a:tc>
                  <a:txBody>
                    <a:bodyPr/>
                    <a:lstStyle/>
                    <a:p>
                      <a:pPr indent="0" lvl="0" marL="0" marR="0" rtl="0" algn="ctr">
                        <a:spcBef>
                          <a:spcPts val="0"/>
                        </a:spcBef>
                        <a:spcAft>
                          <a:spcPts val="0"/>
                        </a:spcAft>
                        <a:buNone/>
                      </a:pPr>
                      <a:r>
                        <a:rPr lang="es-BO" sz="1100" u="none" cap="none" strike="noStrike">
                          <a:solidFill>
                            <a:schemeClr val="dk1"/>
                          </a:solidFill>
                        </a:rPr>
                        <a:t>FRECUENCIA</a:t>
                      </a:r>
                      <a:endParaRPr b="0" i="0" sz="1100" u="none" cap="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s-BO" sz="1100" u="none" cap="none" strike="noStrike">
                          <a:solidFill>
                            <a:schemeClr val="dk1"/>
                          </a:solidFill>
                        </a:rPr>
                        <a:t>CORRIENTE(SIN AGUA)</a:t>
                      </a:r>
                      <a:endParaRPr b="0" i="0" sz="1100" u="none" cap="none" strike="noStrike">
                        <a:solidFill>
                          <a:schemeClr val="dk1"/>
                        </a:solidFill>
                        <a:latin typeface="Calibri"/>
                        <a:ea typeface="Calibri"/>
                        <a:cs typeface="Calibri"/>
                        <a:sym typeface="Calibri"/>
                      </a:endParaRPr>
                    </a:p>
                  </a:txBody>
                  <a:tcPr marT="7625" marB="0" marR="7625" marL="7625" anchor="ctr"/>
                </a:tc>
              </a:tr>
              <a:tr h="255775">
                <a:tc>
                  <a:txBody>
                    <a:bodyPr/>
                    <a:lstStyle/>
                    <a:p>
                      <a:pPr indent="0" lvl="0" marL="0" marR="0" rtl="0" algn="ctr">
                        <a:spcBef>
                          <a:spcPts val="0"/>
                        </a:spcBef>
                        <a:spcAft>
                          <a:spcPts val="0"/>
                        </a:spcAft>
                        <a:buNone/>
                      </a:pPr>
                      <a:r>
                        <a:rPr lang="es-BO" sz="1100" u="none" cap="none" strike="noStrike"/>
                        <a:t>0</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100" u="none" cap="none" strike="noStrike"/>
                        <a:t>0,9</a:t>
                      </a:r>
                      <a:endParaRPr b="0" i="0" sz="1100" u="none" cap="none" strike="noStrike">
                        <a:solidFill>
                          <a:srgbClr val="000000"/>
                        </a:solidFill>
                        <a:latin typeface="Calibri"/>
                        <a:ea typeface="Calibri"/>
                        <a:cs typeface="Calibri"/>
                        <a:sym typeface="Calibri"/>
                      </a:endParaRPr>
                    </a:p>
                  </a:txBody>
                  <a:tcPr marT="7625" marB="0" marR="7625" marL="7625" anchor="b"/>
                </a:tc>
              </a:tr>
              <a:tr h="255775">
                <a:tc>
                  <a:txBody>
                    <a:bodyPr/>
                    <a:lstStyle/>
                    <a:p>
                      <a:pPr indent="0" lvl="0" marL="0" marR="0" rtl="0" algn="ctr">
                        <a:spcBef>
                          <a:spcPts val="0"/>
                        </a:spcBef>
                        <a:spcAft>
                          <a:spcPts val="0"/>
                        </a:spcAft>
                        <a:buNone/>
                      </a:pPr>
                      <a:r>
                        <a:rPr lang="es-BO" sz="1100" u="none" cap="none" strike="noStrike"/>
                        <a:t>5</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100" u="none" cap="none" strike="noStrike"/>
                        <a:t>1,68</a:t>
                      </a:r>
                      <a:endParaRPr b="0" i="0" sz="1100" u="none" cap="none" strike="noStrike">
                        <a:solidFill>
                          <a:srgbClr val="000000"/>
                        </a:solidFill>
                        <a:latin typeface="Calibri"/>
                        <a:ea typeface="Calibri"/>
                        <a:cs typeface="Calibri"/>
                        <a:sym typeface="Calibri"/>
                      </a:endParaRPr>
                    </a:p>
                  </a:txBody>
                  <a:tcPr marT="7625" marB="0" marR="7625" marL="7625" anchor="b"/>
                </a:tc>
              </a:tr>
              <a:tr h="255775">
                <a:tc>
                  <a:txBody>
                    <a:bodyPr/>
                    <a:lstStyle/>
                    <a:p>
                      <a:pPr indent="0" lvl="0" marL="0" marR="0" rtl="0" algn="ctr">
                        <a:spcBef>
                          <a:spcPts val="0"/>
                        </a:spcBef>
                        <a:spcAft>
                          <a:spcPts val="0"/>
                        </a:spcAft>
                        <a:buNone/>
                      </a:pPr>
                      <a:r>
                        <a:rPr lang="es-BO" sz="1100" u="none" cap="none" strike="noStrike"/>
                        <a:t>10</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100" u="none" cap="none" strike="noStrike"/>
                        <a:t>1,79</a:t>
                      </a:r>
                      <a:endParaRPr b="0" i="0" sz="1100" u="none" cap="none" strike="noStrike">
                        <a:solidFill>
                          <a:srgbClr val="000000"/>
                        </a:solidFill>
                        <a:latin typeface="Calibri"/>
                        <a:ea typeface="Calibri"/>
                        <a:cs typeface="Calibri"/>
                        <a:sym typeface="Calibri"/>
                      </a:endParaRPr>
                    </a:p>
                  </a:txBody>
                  <a:tcPr marT="7625" marB="0" marR="7625" marL="7625" anchor="b"/>
                </a:tc>
              </a:tr>
              <a:tr h="255775">
                <a:tc>
                  <a:txBody>
                    <a:bodyPr/>
                    <a:lstStyle/>
                    <a:p>
                      <a:pPr indent="0" lvl="0" marL="0" marR="0" rtl="0" algn="ctr">
                        <a:spcBef>
                          <a:spcPts val="0"/>
                        </a:spcBef>
                        <a:spcAft>
                          <a:spcPts val="0"/>
                        </a:spcAft>
                        <a:buNone/>
                      </a:pPr>
                      <a:r>
                        <a:rPr lang="es-BO" sz="1100" u="none" cap="none" strike="noStrike"/>
                        <a:t>15</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100" u="none" cap="none" strike="noStrike"/>
                        <a:t>1,82</a:t>
                      </a:r>
                      <a:endParaRPr b="0" i="0" sz="1100" u="none" cap="none" strike="noStrike">
                        <a:solidFill>
                          <a:srgbClr val="000000"/>
                        </a:solidFill>
                        <a:latin typeface="Calibri"/>
                        <a:ea typeface="Calibri"/>
                        <a:cs typeface="Calibri"/>
                        <a:sym typeface="Calibri"/>
                      </a:endParaRPr>
                    </a:p>
                  </a:txBody>
                  <a:tcPr marT="7625" marB="0" marR="7625" marL="7625" anchor="b"/>
                </a:tc>
              </a:tr>
              <a:tr h="255775">
                <a:tc>
                  <a:txBody>
                    <a:bodyPr/>
                    <a:lstStyle/>
                    <a:p>
                      <a:pPr indent="0" lvl="0" marL="0" marR="0" rtl="0" algn="ctr">
                        <a:spcBef>
                          <a:spcPts val="0"/>
                        </a:spcBef>
                        <a:spcAft>
                          <a:spcPts val="0"/>
                        </a:spcAft>
                        <a:buNone/>
                      </a:pPr>
                      <a:r>
                        <a:rPr lang="es-BO" sz="1100" u="none" cap="none" strike="noStrike"/>
                        <a:t>20</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100" u="none" cap="none" strike="noStrike"/>
                        <a:t>1,85</a:t>
                      </a:r>
                      <a:endParaRPr b="0" i="0" sz="1100" u="none" cap="none" strike="noStrike">
                        <a:solidFill>
                          <a:srgbClr val="000000"/>
                        </a:solidFill>
                        <a:latin typeface="Calibri"/>
                        <a:ea typeface="Calibri"/>
                        <a:cs typeface="Calibri"/>
                        <a:sym typeface="Calibri"/>
                      </a:endParaRPr>
                    </a:p>
                  </a:txBody>
                  <a:tcPr marT="7625" marB="0" marR="7625" marL="7625" anchor="b"/>
                </a:tc>
              </a:tr>
              <a:tr h="255775">
                <a:tc>
                  <a:txBody>
                    <a:bodyPr/>
                    <a:lstStyle/>
                    <a:p>
                      <a:pPr indent="0" lvl="0" marL="0" marR="0" rtl="0" algn="ctr">
                        <a:spcBef>
                          <a:spcPts val="0"/>
                        </a:spcBef>
                        <a:spcAft>
                          <a:spcPts val="0"/>
                        </a:spcAft>
                        <a:buNone/>
                      </a:pPr>
                      <a:r>
                        <a:rPr lang="es-BO" sz="1100" u="none" cap="none" strike="noStrike"/>
                        <a:t>25</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100" u="none" cap="none" strike="noStrike"/>
                        <a:t>1,93</a:t>
                      </a:r>
                      <a:endParaRPr b="0" i="0" sz="1100" u="none" cap="none" strike="noStrike">
                        <a:solidFill>
                          <a:srgbClr val="000000"/>
                        </a:solidFill>
                        <a:latin typeface="Calibri"/>
                        <a:ea typeface="Calibri"/>
                        <a:cs typeface="Calibri"/>
                        <a:sym typeface="Calibri"/>
                      </a:endParaRPr>
                    </a:p>
                  </a:txBody>
                  <a:tcPr marT="7625" marB="0" marR="7625" marL="7625" anchor="b"/>
                </a:tc>
              </a:tr>
              <a:tr h="255775">
                <a:tc>
                  <a:txBody>
                    <a:bodyPr/>
                    <a:lstStyle/>
                    <a:p>
                      <a:pPr indent="0" lvl="0" marL="0" marR="0" rtl="0" algn="ctr">
                        <a:spcBef>
                          <a:spcPts val="0"/>
                        </a:spcBef>
                        <a:spcAft>
                          <a:spcPts val="0"/>
                        </a:spcAft>
                        <a:buNone/>
                      </a:pPr>
                      <a:r>
                        <a:rPr lang="es-BO" sz="1100" u="none" cap="none" strike="noStrike"/>
                        <a:t>30</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100" u="none" cap="none" strike="noStrike"/>
                        <a:t>2,08</a:t>
                      </a:r>
                      <a:endParaRPr b="0" i="0" sz="1100" u="none" cap="none" strike="noStrike">
                        <a:solidFill>
                          <a:srgbClr val="000000"/>
                        </a:solidFill>
                        <a:latin typeface="Calibri"/>
                        <a:ea typeface="Calibri"/>
                        <a:cs typeface="Calibri"/>
                        <a:sym typeface="Calibri"/>
                      </a:endParaRPr>
                    </a:p>
                  </a:txBody>
                  <a:tcPr marT="7625" marB="0" marR="7625" marL="7625" anchor="b"/>
                </a:tc>
              </a:tr>
              <a:tr h="255775">
                <a:tc>
                  <a:txBody>
                    <a:bodyPr/>
                    <a:lstStyle/>
                    <a:p>
                      <a:pPr indent="0" lvl="0" marL="0" marR="0" rtl="0" algn="ctr">
                        <a:spcBef>
                          <a:spcPts val="0"/>
                        </a:spcBef>
                        <a:spcAft>
                          <a:spcPts val="0"/>
                        </a:spcAft>
                        <a:buNone/>
                      </a:pPr>
                      <a:r>
                        <a:rPr lang="es-BO" sz="1100" u="none" cap="none" strike="noStrike"/>
                        <a:t>35</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100" u="none" cap="none" strike="noStrike"/>
                        <a:t>2,26</a:t>
                      </a:r>
                      <a:endParaRPr b="0" i="0" sz="1100" u="none" cap="none" strike="noStrike">
                        <a:solidFill>
                          <a:srgbClr val="000000"/>
                        </a:solidFill>
                        <a:latin typeface="Calibri"/>
                        <a:ea typeface="Calibri"/>
                        <a:cs typeface="Calibri"/>
                        <a:sym typeface="Calibri"/>
                      </a:endParaRPr>
                    </a:p>
                  </a:txBody>
                  <a:tcPr marT="7625" marB="0" marR="7625" marL="7625" anchor="b"/>
                </a:tc>
              </a:tr>
              <a:tr h="255775">
                <a:tc>
                  <a:txBody>
                    <a:bodyPr/>
                    <a:lstStyle/>
                    <a:p>
                      <a:pPr indent="0" lvl="0" marL="0" marR="0" rtl="0" algn="ctr">
                        <a:spcBef>
                          <a:spcPts val="0"/>
                        </a:spcBef>
                        <a:spcAft>
                          <a:spcPts val="0"/>
                        </a:spcAft>
                        <a:buNone/>
                      </a:pPr>
                      <a:r>
                        <a:rPr lang="es-BO" sz="1100" u="none" cap="none" strike="noStrike"/>
                        <a:t>40</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100" u="none" cap="none" strike="noStrike"/>
                        <a:t>2,47</a:t>
                      </a:r>
                      <a:endParaRPr b="0" i="0" sz="1100" u="none" cap="none" strike="noStrike">
                        <a:solidFill>
                          <a:srgbClr val="000000"/>
                        </a:solidFill>
                        <a:latin typeface="Calibri"/>
                        <a:ea typeface="Calibri"/>
                        <a:cs typeface="Calibri"/>
                        <a:sym typeface="Calibri"/>
                      </a:endParaRPr>
                    </a:p>
                  </a:txBody>
                  <a:tcPr marT="7625" marB="0" marR="7625" marL="7625" anchor="b"/>
                </a:tc>
              </a:tr>
              <a:tr h="255775">
                <a:tc>
                  <a:txBody>
                    <a:bodyPr/>
                    <a:lstStyle/>
                    <a:p>
                      <a:pPr indent="0" lvl="0" marL="0" marR="0" rtl="0" algn="ctr">
                        <a:spcBef>
                          <a:spcPts val="0"/>
                        </a:spcBef>
                        <a:spcAft>
                          <a:spcPts val="0"/>
                        </a:spcAft>
                        <a:buNone/>
                      </a:pPr>
                      <a:r>
                        <a:rPr lang="es-BO" sz="1100" u="none" cap="none" strike="noStrike"/>
                        <a:t>45</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100" u="none" cap="none" strike="noStrike"/>
                        <a:t>2,75</a:t>
                      </a:r>
                      <a:endParaRPr b="0" i="0" sz="1100" u="none" cap="none" strike="noStrike">
                        <a:solidFill>
                          <a:srgbClr val="000000"/>
                        </a:solidFill>
                        <a:latin typeface="Calibri"/>
                        <a:ea typeface="Calibri"/>
                        <a:cs typeface="Calibri"/>
                        <a:sym typeface="Calibri"/>
                      </a:endParaRPr>
                    </a:p>
                  </a:txBody>
                  <a:tcPr marT="7625" marB="0" marR="7625" marL="7625" anchor="b"/>
                </a:tc>
              </a:tr>
              <a:tr h="174325">
                <a:tc>
                  <a:txBody>
                    <a:bodyPr/>
                    <a:lstStyle/>
                    <a:p>
                      <a:pPr indent="0" lvl="0" marL="0" marR="0" rtl="0" algn="ctr">
                        <a:spcBef>
                          <a:spcPts val="0"/>
                        </a:spcBef>
                        <a:spcAft>
                          <a:spcPts val="0"/>
                        </a:spcAft>
                        <a:buNone/>
                      </a:pPr>
                      <a:r>
                        <a:rPr lang="es-BO" sz="1100" u="none" cap="none" strike="noStrike"/>
                        <a:t>50</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100" u="none" cap="none" strike="noStrike"/>
                        <a:t>2,95</a:t>
                      </a:r>
                      <a:endParaRPr b="0" i="0" sz="1100" u="none" cap="none" strike="noStrike">
                        <a:solidFill>
                          <a:srgbClr val="000000"/>
                        </a:solidFill>
                        <a:latin typeface="Calibri"/>
                        <a:ea typeface="Calibri"/>
                        <a:cs typeface="Calibri"/>
                        <a:sym typeface="Calibri"/>
                      </a:endParaRPr>
                    </a:p>
                  </a:txBody>
                  <a:tcPr marT="7625" marB="0" marR="7625" marL="7625" anchor="b"/>
                </a:tc>
              </a:tr>
            </a:tbl>
          </a:graphicData>
        </a:graphic>
      </p:graphicFrame>
      <p:graphicFrame>
        <p:nvGraphicFramePr>
          <p:cNvPr id="592" name="Google Shape;592;p46" title="Gráfico"/>
          <p:cNvGraphicFramePr/>
          <p:nvPr/>
        </p:nvGraphicFramePr>
        <p:xfrm>
          <a:off x="5123543" y="1757907"/>
          <a:ext cx="6001657" cy="3960722"/>
        </p:xfrm>
        <a:graphic>
          <a:graphicData uri="http://schemas.openxmlformats.org/drawingml/2006/chart">
            <c:chart r:id="rId3"/>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7"/>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000"/>
              <a:buFont typeface="Garamond"/>
              <a:buNone/>
            </a:pPr>
            <a:r>
              <a:rPr b="1" lang="es-BO" sz="4000"/>
              <a:t>ELECTROVALVULA</a:t>
            </a:r>
            <a:endParaRPr b="1" sz="4000"/>
          </a:p>
        </p:txBody>
      </p:sp>
      <p:grpSp>
        <p:nvGrpSpPr>
          <p:cNvPr id="598" name="Google Shape;598;p47"/>
          <p:cNvGrpSpPr/>
          <p:nvPr/>
        </p:nvGrpSpPr>
        <p:grpSpPr>
          <a:xfrm>
            <a:off x="666206" y="1175657"/>
            <a:ext cx="10058399" cy="5212079"/>
            <a:chOff x="0" y="0"/>
            <a:chExt cx="10058399" cy="5212079"/>
          </a:xfrm>
        </p:grpSpPr>
        <p:sp>
          <p:nvSpPr>
            <p:cNvPr id="599" name="Google Shape;599;p47"/>
            <p:cNvSpPr/>
            <p:nvPr/>
          </p:nvSpPr>
          <p:spPr>
            <a:xfrm>
              <a:off x="0" y="0"/>
              <a:ext cx="7744967" cy="938174"/>
            </a:xfrm>
            <a:prstGeom prst="roundRect">
              <a:avLst>
                <a:gd fmla="val 10000" name="adj"/>
              </a:avLst>
            </a:prstGeom>
            <a:solidFill>
              <a:srgbClr val="C19015"/>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7"/>
            <p:cNvSpPr txBox="1"/>
            <p:nvPr/>
          </p:nvSpPr>
          <p:spPr>
            <a:xfrm>
              <a:off x="27478" y="27478"/>
              <a:ext cx="6622838" cy="883218"/>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PRINCION DE FUNCIONAMIENTO</a:t>
              </a:r>
              <a:endParaRPr/>
            </a:p>
            <a:p>
              <a:pPr indent="0" lvl="0" marL="0" marR="0" rtl="0" algn="ctr">
                <a:lnSpc>
                  <a:spcPct val="90000"/>
                </a:lnSpc>
                <a:spcBef>
                  <a:spcPts val="70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El dispositivo cuya función es regular el flujo, en este caso hablamos del agua. </a:t>
              </a:r>
              <a:endParaRPr sz="2000">
                <a:solidFill>
                  <a:schemeClr val="dk1"/>
                </a:solidFill>
                <a:latin typeface="Garamond"/>
                <a:ea typeface="Garamond"/>
                <a:cs typeface="Garamond"/>
                <a:sym typeface="Garamond"/>
              </a:endParaRPr>
            </a:p>
          </p:txBody>
        </p:sp>
        <p:sp>
          <p:nvSpPr>
            <p:cNvPr id="601" name="Google Shape;601;p47"/>
            <p:cNvSpPr/>
            <p:nvPr/>
          </p:nvSpPr>
          <p:spPr>
            <a:xfrm>
              <a:off x="578358" y="1068476"/>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7"/>
            <p:cNvSpPr txBox="1"/>
            <p:nvPr/>
          </p:nvSpPr>
          <p:spPr>
            <a:xfrm>
              <a:off x="605836" y="1095954"/>
              <a:ext cx="6501840" cy="883218"/>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dk1"/>
                </a:buClr>
                <a:buSzPts val="1800"/>
                <a:buFont typeface="Garamond"/>
                <a:buNone/>
              </a:pPr>
              <a:r>
                <a:rPr b="0" lang="es-BO" sz="1800">
                  <a:solidFill>
                    <a:schemeClr val="dk1"/>
                  </a:solidFill>
                  <a:latin typeface="Garamond"/>
                  <a:ea typeface="Garamond"/>
                  <a:cs typeface="Garamond"/>
                  <a:sym typeface="Garamond"/>
                </a:rPr>
                <a:t>La membrana de la válvula se apoya en el cuerpo con la ayuda del muelle y evita que el agua pase por la presión que ella misma ejerce.</a:t>
              </a:r>
              <a:endParaRPr sz="1800">
                <a:solidFill>
                  <a:schemeClr val="dk1"/>
                </a:solidFill>
                <a:latin typeface="Garamond"/>
                <a:ea typeface="Garamond"/>
                <a:cs typeface="Garamond"/>
                <a:sym typeface="Garamond"/>
              </a:endParaRPr>
            </a:p>
          </p:txBody>
        </p:sp>
        <p:sp>
          <p:nvSpPr>
            <p:cNvPr id="603" name="Google Shape;603;p47"/>
            <p:cNvSpPr/>
            <p:nvPr/>
          </p:nvSpPr>
          <p:spPr>
            <a:xfrm>
              <a:off x="1156716" y="2136952"/>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7"/>
            <p:cNvSpPr txBox="1"/>
            <p:nvPr/>
          </p:nvSpPr>
          <p:spPr>
            <a:xfrm>
              <a:off x="1184194" y="2164430"/>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Al momento de mandar una señal electrica al solenoide de la valvula, la bobina se imanta y levanta el embolo.</a:t>
              </a:r>
              <a:endParaRPr/>
            </a:p>
          </p:txBody>
        </p:sp>
        <p:sp>
          <p:nvSpPr>
            <p:cNvPr id="605" name="Google Shape;605;p47"/>
            <p:cNvSpPr/>
            <p:nvPr/>
          </p:nvSpPr>
          <p:spPr>
            <a:xfrm>
              <a:off x="1424810" y="3241942"/>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7"/>
            <p:cNvSpPr txBox="1"/>
            <p:nvPr/>
          </p:nvSpPr>
          <p:spPr>
            <a:xfrm>
              <a:off x="1452288" y="3269420"/>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De esta manera queda un pequeño agujero en la tapa de la válvula y permite salir al liquido de la cámara superior.</a:t>
              </a:r>
              <a:endParaRPr sz="2000">
                <a:solidFill>
                  <a:schemeClr val="dk1"/>
                </a:solidFill>
                <a:latin typeface="Garamond"/>
                <a:ea typeface="Garamond"/>
                <a:cs typeface="Garamond"/>
                <a:sym typeface="Garamond"/>
              </a:endParaRPr>
            </a:p>
          </p:txBody>
        </p:sp>
        <p:sp>
          <p:nvSpPr>
            <p:cNvPr id="607" name="Google Shape;607;p47"/>
            <p:cNvSpPr/>
            <p:nvPr/>
          </p:nvSpPr>
          <p:spPr>
            <a:xfrm>
              <a:off x="2313432" y="427390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7"/>
            <p:cNvSpPr txBox="1"/>
            <p:nvPr/>
          </p:nvSpPr>
          <p:spPr>
            <a:xfrm>
              <a:off x="2340910" y="4301383"/>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b="0" lang="es-BO" sz="2000">
                  <a:solidFill>
                    <a:schemeClr val="dk1"/>
                  </a:solidFill>
                  <a:latin typeface="Garamond"/>
                  <a:ea typeface="Garamond"/>
                  <a:cs typeface="Garamond"/>
                  <a:sym typeface="Garamond"/>
                </a:rPr>
                <a:t>Esto hace que funcione como un actuador que hace que se comuniquen la entrada y la salida de liquido del cuerpo de la válvula</a:t>
              </a:r>
              <a:endParaRPr sz="2000">
                <a:solidFill>
                  <a:schemeClr val="dk1"/>
                </a:solidFill>
                <a:latin typeface="Garamond"/>
                <a:ea typeface="Garamond"/>
                <a:cs typeface="Garamond"/>
                <a:sym typeface="Garamond"/>
              </a:endParaRPr>
            </a:p>
          </p:txBody>
        </p:sp>
        <p:sp>
          <p:nvSpPr>
            <p:cNvPr id="609" name="Google Shape;609;p47"/>
            <p:cNvSpPr/>
            <p:nvPr/>
          </p:nvSpPr>
          <p:spPr>
            <a:xfrm>
              <a:off x="7135154" y="685388"/>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7"/>
            <p:cNvSpPr txBox="1"/>
            <p:nvPr/>
          </p:nvSpPr>
          <p:spPr>
            <a:xfrm>
              <a:off x="7272362" y="685388"/>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611" name="Google Shape;611;p47"/>
            <p:cNvSpPr/>
            <p:nvPr/>
          </p:nvSpPr>
          <p:spPr>
            <a:xfrm>
              <a:off x="7713512" y="1753864"/>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7"/>
            <p:cNvSpPr txBox="1"/>
            <p:nvPr/>
          </p:nvSpPr>
          <p:spPr>
            <a:xfrm>
              <a:off x="7850720" y="1753864"/>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613" name="Google Shape;613;p47"/>
            <p:cNvSpPr/>
            <p:nvPr/>
          </p:nvSpPr>
          <p:spPr>
            <a:xfrm>
              <a:off x="8291870" y="28067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7"/>
            <p:cNvSpPr txBox="1"/>
            <p:nvPr/>
          </p:nvSpPr>
          <p:spPr>
            <a:xfrm>
              <a:off x="8429078" y="28067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615" name="Google Shape;615;p47"/>
            <p:cNvSpPr/>
            <p:nvPr/>
          </p:nvSpPr>
          <p:spPr>
            <a:xfrm>
              <a:off x="8870228" y="38856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7"/>
            <p:cNvSpPr txBox="1"/>
            <p:nvPr/>
          </p:nvSpPr>
          <p:spPr>
            <a:xfrm>
              <a:off x="9007436" y="38856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id="617" name="Google Shape;617;p47"/>
          <p:cNvPicPr preferRelativeResize="0"/>
          <p:nvPr/>
        </p:nvPicPr>
        <p:blipFill rotWithShape="1">
          <a:blip r:embed="rId3">
            <a:alphaModFix/>
          </a:blip>
          <a:srcRect b="0" l="0" r="0" t="0"/>
          <a:stretch/>
        </p:blipFill>
        <p:spPr>
          <a:xfrm>
            <a:off x="9098079" y="1502229"/>
            <a:ext cx="2595531" cy="1649186"/>
          </a:xfrm>
          <a:prstGeom prst="rect">
            <a:avLst/>
          </a:prstGeom>
          <a:noFill/>
          <a:ln>
            <a:noFill/>
          </a:ln>
        </p:spPr>
      </p:pic>
      <p:sp>
        <p:nvSpPr>
          <p:cNvPr id="618" name="Google Shape;618;p47"/>
          <p:cNvSpPr txBox="1"/>
          <p:nvPr/>
        </p:nvSpPr>
        <p:spPr>
          <a:xfrm>
            <a:off x="9991357" y="3151415"/>
            <a:ext cx="1879514"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s-BO" sz="1800">
                <a:solidFill>
                  <a:srgbClr val="333333"/>
                </a:solidFill>
                <a:latin typeface="Hind"/>
                <a:ea typeface="Hind"/>
                <a:cs typeface="Hind"/>
                <a:sym typeface="Hind"/>
              </a:rPr>
              <a:t>bobina (A); armadura (B); anillo de sombra (C); muelle (D); émbolo (E); junta (F); cuerpo de la válvula (G)</a:t>
            </a:r>
            <a:endParaRPr sz="1800">
              <a:solidFill>
                <a:schemeClr val="dk1"/>
              </a:solidFill>
              <a:latin typeface="Garamond"/>
              <a:ea typeface="Garamond"/>
              <a:cs typeface="Garamond"/>
              <a:sym typeface="Garamon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8"/>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lang="es-BO"/>
              <a:t>ELECTROVALVULA</a:t>
            </a:r>
            <a:endParaRPr/>
          </a:p>
        </p:txBody>
      </p:sp>
      <p:sp>
        <p:nvSpPr>
          <p:cNvPr id="624" name="Google Shape;624;p48"/>
          <p:cNvSpPr txBox="1"/>
          <p:nvPr>
            <p:ph idx="1" type="body"/>
          </p:nvPr>
        </p:nvSpPr>
        <p:spPr>
          <a:xfrm>
            <a:off x="1066800" y="2103120"/>
            <a:ext cx="5676900" cy="39319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lang="es-BO"/>
              <a:t>CARACTERISTICAS </a:t>
            </a:r>
            <a:endParaRPr/>
          </a:p>
          <a:p>
            <a:pPr indent="-182880" lvl="0" marL="182880" rtl="0" algn="l">
              <a:lnSpc>
                <a:spcPct val="100000"/>
              </a:lnSpc>
              <a:spcBef>
                <a:spcPts val="900"/>
              </a:spcBef>
              <a:spcAft>
                <a:spcPts val="0"/>
              </a:spcAft>
              <a:buSzPts val="2000"/>
              <a:buFont typeface="Noto Sans Symbols"/>
              <a:buChar char="⮚"/>
            </a:pPr>
            <a:r>
              <a:rPr lang="es-BO" sz="2000"/>
              <a:t>Tipo de electroválvula:  2/2 NC (2 posiciones, 2 vías, normalmente cerrado )</a:t>
            </a:r>
            <a:endParaRPr/>
          </a:p>
          <a:p>
            <a:pPr indent="-182880" lvl="0" marL="182880" rtl="0" algn="l">
              <a:lnSpc>
                <a:spcPct val="100000"/>
              </a:lnSpc>
              <a:spcBef>
                <a:spcPts val="900"/>
              </a:spcBef>
              <a:spcAft>
                <a:spcPts val="0"/>
              </a:spcAft>
              <a:buSzPts val="2000"/>
              <a:buFont typeface="Noto Sans Symbols"/>
              <a:buChar char="⮚"/>
            </a:pPr>
            <a:r>
              <a:rPr lang="es-BO" sz="2000"/>
              <a:t>Suministro de voltaje: 230 V AC</a:t>
            </a:r>
            <a:endParaRPr/>
          </a:p>
          <a:p>
            <a:pPr indent="-182880" lvl="0" marL="182880" rtl="0" algn="l">
              <a:lnSpc>
                <a:spcPct val="100000"/>
              </a:lnSpc>
              <a:spcBef>
                <a:spcPts val="900"/>
              </a:spcBef>
              <a:spcAft>
                <a:spcPts val="0"/>
              </a:spcAft>
              <a:buSzPts val="2000"/>
              <a:buFont typeface="Noto Sans Symbols"/>
              <a:buChar char="⮚"/>
            </a:pPr>
            <a:r>
              <a:rPr lang="es-BO" sz="2000"/>
              <a:t>Orificio: 13.0mm </a:t>
            </a:r>
            <a:endParaRPr/>
          </a:p>
          <a:p>
            <a:pPr indent="-182880" lvl="0" marL="182880" rtl="0" algn="l">
              <a:lnSpc>
                <a:spcPct val="100000"/>
              </a:lnSpc>
              <a:spcBef>
                <a:spcPts val="900"/>
              </a:spcBef>
              <a:spcAft>
                <a:spcPts val="0"/>
              </a:spcAft>
              <a:buSzPts val="2000"/>
              <a:buFont typeface="Noto Sans Symbols"/>
              <a:buChar char="⮚"/>
            </a:pPr>
            <a:r>
              <a:rPr lang="es-BO" sz="2000"/>
              <a:t>Material de sellado: NBR</a:t>
            </a:r>
            <a:endParaRPr/>
          </a:p>
          <a:p>
            <a:pPr indent="-182880" lvl="0" marL="182880" rtl="0" algn="l">
              <a:lnSpc>
                <a:spcPct val="100000"/>
              </a:lnSpc>
              <a:spcBef>
                <a:spcPts val="900"/>
              </a:spcBef>
              <a:spcAft>
                <a:spcPts val="0"/>
              </a:spcAft>
              <a:buSzPts val="2000"/>
              <a:buFont typeface="Noto Sans Symbols"/>
              <a:buChar char="⮚"/>
            </a:pPr>
            <a:r>
              <a:rPr lang="es-BO" sz="2000"/>
              <a:t>Presión nominal: 5 – 10 bar</a:t>
            </a:r>
            <a:endParaRPr/>
          </a:p>
          <a:p>
            <a:pPr indent="-182880" lvl="0" marL="182880" rtl="0" algn="l">
              <a:lnSpc>
                <a:spcPct val="100000"/>
              </a:lnSpc>
              <a:spcBef>
                <a:spcPts val="900"/>
              </a:spcBef>
              <a:spcAft>
                <a:spcPts val="0"/>
              </a:spcAft>
              <a:buSzPts val="2000"/>
              <a:buFont typeface="Noto Sans Symbols"/>
              <a:buChar char="⮚"/>
            </a:pPr>
            <a:r>
              <a:rPr lang="es-BO" sz="2000"/>
              <a:t>Potencia de consumo: 4W</a:t>
            </a:r>
            <a:endParaRPr/>
          </a:p>
          <a:p>
            <a:pPr indent="-182880" lvl="0" marL="182880" rtl="0" algn="l">
              <a:lnSpc>
                <a:spcPct val="100000"/>
              </a:lnSpc>
              <a:spcBef>
                <a:spcPts val="900"/>
              </a:spcBef>
              <a:spcAft>
                <a:spcPts val="0"/>
              </a:spcAft>
              <a:buSzPts val="2000"/>
              <a:buFont typeface="Noto Sans Symbols"/>
              <a:buChar char="⮚"/>
            </a:pPr>
            <a:r>
              <a:rPr lang="es-BO" sz="2000"/>
              <a:t>Temperatura de funcionamiento: 0 – 70</a:t>
            </a:r>
            <a:r>
              <a:rPr b="0" i="0" lang="es-BO" sz="2000">
                <a:solidFill>
                  <a:srgbClr val="4D5156"/>
                </a:solidFill>
                <a:latin typeface="arial"/>
                <a:ea typeface="arial"/>
                <a:cs typeface="arial"/>
                <a:sym typeface="arial"/>
              </a:rPr>
              <a:t>°</a:t>
            </a:r>
            <a:r>
              <a:rPr lang="es-BO" sz="2000"/>
              <a:t>C</a:t>
            </a:r>
            <a:endParaRPr sz="2000"/>
          </a:p>
          <a:p>
            <a:pPr indent="-68579" lvl="0" marL="182880" rtl="0" algn="l">
              <a:lnSpc>
                <a:spcPct val="100000"/>
              </a:lnSpc>
              <a:spcBef>
                <a:spcPts val="900"/>
              </a:spcBef>
              <a:spcAft>
                <a:spcPts val="0"/>
              </a:spcAft>
              <a:buSzPts val="1800"/>
              <a:buNone/>
            </a:pPr>
            <a:r>
              <a:t/>
            </a:r>
            <a:endParaRPr/>
          </a:p>
        </p:txBody>
      </p:sp>
      <p:pic>
        <p:nvPicPr>
          <p:cNvPr id="625" name="Google Shape;625;p48"/>
          <p:cNvPicPr preferRelativeResize="0"/>
          <p:nvPr/>
        </p:nvPicPr>
        <p:blipFill rotWithShape="1">
          <a:blip r:embed="rId3">
            <a:alphaModFix/>
          </a:blip>
          <a:srcRect b="0" l="0" r="0" t="0"/>
          <a:stretch/>
        </p:blipFill>
        <p:spPr>
          <a:xfrm>
            <a:off x="7060607" y="2449977"/>
            <a:ext cx="4064593" cy="304844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49"/>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lang="es-BO"/>
              <a:t>ELECTROVALVULA</a:t>
            </a:r>
            <a:endParaRPr/>
          </a:p>
        </p:txBody>
      </p:sp>
      <p:sp>
        <p:nvSpPr>
          <p:cNvPr id="631" name="Google Shape;631;p49"/>
          <p:cNvSpPr txBox="1"/>
          <p:nvPr>
            <p:ph idx="1" type="body"/>
          </p:nvPr>
        </p:nvSpPr>
        <p:spPr>
          <a:xfrm>
            <a:off x="1066800" y="2103120"/>
            <a:ext cx="10058400" cy="3931920"/>
          </a:xfrm>
          <a:prstGeom prst="rect">
            <a:avLst/>
          </a:prstGeom>
          <a:noFill/>
          <a:ln>
            <a:noFill/>
          </a:ln>
        </p:spPr>
        <p:txBody>
          <a:bodyPr anchorCtr="0" anchor="t" bIns="45700" lIns="91425" spcFirstLastPara="1" rIns="91425" wrap="square" tIns="45700">
            <a:normAutofit/>
          </a:bodyPr>
          <a:lstStyle/>
          <a:p>
            <a:pPr indent="-203200" lvl="0" marL="182880" rtl="0" algn="l">
              <a:lnSpc>
                <a:spcPct val="100000"/>
              </a:lnSpc>
              <a:spcBef>
                <a:spcPts val="0"/>
              </a:spcBef>
              <a:spcAft>
                <a:spcPts val="0"/>
              </a:spcAft>
              <a:buSzPts val="3200"/>
              <a:buChar char="◦"/>
            </a:pPr>
            <a:r>
              <a:rPr lang="es-BO" sz="3200"/>
              <a:t>Esquema interno</a:t>
            </a:r>
            <a:endParaRPr/>
          </a:p>
          <a:p>
            <a:pPr indent="-68579" lvl="0" marL="182880" rtl="0" algn="l">
              <a:lnSpc>
                <a:spcPct val="100000"/>
              </a:lnSpc>
              <a:spcBef>
                <a:spcPts val="900"/>
              </a:spcBef>
              <a:spcAft>
                <a:spcPts val="0"/>
              </a:spcAft>
              <a:buSzPts val="1800"/>
              <a:buNone/>
            </a:pPr>
            <a:r>
              <a:t/>
            </a:r>
            <a:endParaRPr/>
          </a:p>
        </p:txBody>
      </p:sp>
      <p:pic>
        <p:nvPicPr>
          <p:cNvPr id="632" name="Google Shape;632;p49"/>
          <p:cNvPicPr preferRelativeResize="0"/>
          <p:nvPr/>
        </p:nvPicPr>
        <p:blipFill rotWithShape="1">
          <a:blip r:embed="rId3">
            <a:alphaModFix/>
          </a:blip>
          <a:srcRect b="0" l="0" r="0" t="0"/>
          <a:stretch/>
        </p:blipFill>
        <p:spPr>
          <a:xfrm>
            <a:off x="948689" y="2710270"/>
            <a:ext cx="2977664" cy="3505136"/>
          </a:xfrm>
          <a:prstGeom prst="rect">
            <a:avLst/>
          </a:prstGeom>
          <a:noFill/>
          <a:ln>
            <a:noFill/>
          </a:ln>
        </p:spPr>
      </p:pic>
      <p:pic>
        <p:nvPicPr>
          <p:cNvPr id="633" name="Google Shape;633;p49"/>
          <p:cNvPicPr preferRelativeResize="0"/>
          <p:nvPr/>
        </p:nvPicPr>
        <p:blipFill rotWithShape="1">
          <a:blip r:embed="rId4">
            <a:alphaModFix/>
          </a:blip>
          <a:srcRect b="0" l="0" r="0" t="0"/>
          <a:stretch/>
        </p:blipFill>
        <p:spPr>
          <a:xfrm>
            <a:off x="7862573" y="2385644"/>
            <a:ext cx="3584260" cy="3612820"/>
          </a:xfrm>
          <a:prstGeom prst="rect">
            <a:avLst/>
          </a:prstGeom>
          <a:noFill/>
          <a:ln>
            <a:noFill/>
          </a:ln>
        </p:spPr>
      </p:pic>
      <p:pic>
        <p:nvPicPr>
          <p:cNvPr id="634" name="Google Shape;634;p49"/>
          <p:cNvPicPr preferRelativeResize="0"/>
          <p:nvPr/>
        </p:nvPicPr>
        <p:blipFill rotWithShape="1">
          <a:blip r:embed="rId5">
            <a:alphaModFix/>
          </a:blip>
          <a:srcRect b="0" l="0" r="0" t="0"/>
          <a:stretch/>
        </p:blipFill>
        <p:spPr>
          <a:xfrm>
            <a:off x="3969044" y="3690147"/>
            <a:ext cx="3762900" cy="165758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50"/>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ELECTROVALVULA</a:t>
            </a:r>
            <a:endParaRPr b="1"/>
          </a:p>
        </p:txBody>
      </p:sp>
      <p:grpSp>
        <p:nvGrpSpPr>
          <p:cNvPr id="640" name="Google Shape;640;p50"/>
          <p:cNvGrpSpPr/>
          <p:nvPr/>
        </p:nvGrpSpPr>
        <p:grpSpPr>
          <a:xfrm>
            <a:off x="666206" y="1179334"/>
            <a:ext cx="10058399" cy="5208402"/>
            <a:chOff x="0" y="3677"/>
            <a:chExt cx="10058399" cy="5208402"/>
          </a:xfrm>
        </p:grpSpPr>
        <p:sp>
          <p:nvSpPr>
            <p:cNvPr id="641" name="Google Shape;641;p50"/>
            <p:cNvSpPr/>
            <p:nvPr/>
          </p:nvSpPr>
          <p:spPr>
            <a:xfrm>
              <a:off x="0" y="3677"/>
              <a:ext cx="7744967" cy="930819"/>
            </a:xfrm>
            <a:prstGeom prst="roundRect">
              <a:avLst>
                <a:gd fmla="val 10000" name="adj"/>
              </a:avLst>
            </a:prstGeom>
            <a:solidFill>
              <a:srgbClr val="F3CAB0"/>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50"/>
            <p:cNvSpPr txBox="1"/>
            <p:nvPr/>
          </p:nvSpPr>
          <p:spPr>
            <a:xfrm>
              <a:off x="27263" y="30940"/>
              <a:ext cx="6623268" cy="876293"/>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dk1"/>
                </a:buClr>
                <a:buSzPts val="2000"/>
                <a:buFont typeface="Garamond"/>
                <a:buNone/>
              </a:pPr>
              <a:r>
                <a:rPr b="1" lang="es-BO" sz="2000">
                  <a:solidFill>
                    <a:schemeClr val="dk1"/>
                  </a:solidFill>
                  <a:latin typeface="Garamond"/>
                  <a:ea typeface="Garamond"/>
                  <a:cs typeface="Garamond"/>
                  <a:sym typeface="Garamond"/>
                </a:rPr>
                <a:t>DIAGNOSTICO</a:t>
              </a:r>
              <a:endParaRPr/>
            </a:p>
          </p:txBody>
        </p:sp>
        <p:sp>
          <p:nvSpPr>
            <p:cNvPr id="643" name="Google Shape;643;p50"/>
            <p:cNvSpPr/>
            <p:nvPr/>
          </p:nvSpPr>
          <p:spPr>
            <a:xfrm>
              <a:off x="548617" y="1050895"/>
              <a:ext cx="7744967" cy="938174"/>
            </a:xfrm>
            <a:prstGeom prst="roundRect">
              <a:avLst>
                <a:gd fmla="val 10000" name="adj"/>
              </a:avLst>
            </a:prstGeom>
            <a:solidFill>
              <a:srgbClr val="FAF0D5"/>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50"/>
            <p:cNvSpPr txBox="1"/>
            <p:nvPr/>
          </p:nvSpPr>
          <p:spPr>
            <a:xfrm>
              <a:off x="576095" y="1078373"/>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El día 13 de abril , se llevo a cabo la limpieza interna de una electroválvula que presentaba fallas en su funcionamiento. </a:t>
              </a:r>
              <a:endParaRPr sz="1900">
                <a:solidFill>
                  <a:schemeClr val="dk1"/>
                </a:solidFill>
                <a:latin typeface="Garamond"/>
                <a:ea typeface="Garamond"/>
                <a:cs typeface="Garamond"/>
                <a:sym typeface="Garamond"/>
              </a:endParaRPr>
            </a:p>
          </p:txBody>
        </p:sp>
        <p:sp>
          <p:nvSpPr>
            <p:cNvPr id="645" name="Google Shape;645;p50"/>
            <p:cNvSpPr/>
            <p:nvPr/>
          </p:nvSpPr>
          <p:spPr>
            <a:xfrm>
              <a:off x="1156716" y="2136952"/>
              <a:ext cx="7744967" cy="938174"/>
            </a:xfrm>
            <a:prstGeom prst="roundRect">
              <a:avLst>
                <a:gd fmla="val 10000" name="adj"/>
              </a:avLst>
            </a:prstGeom>
            <a:solidFill>
              <a:srgbClr val="FAF0D5"/>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50"/>
            <p:cNvSpPr txBox="1"/>
            <p:nvPr/>
          </p:nvSpPr>
          <p:spPr>
            <a:xfrm>
              <a:off x="1184194" y="2164430"/>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Se desmonto la válvula y se procedió a limpiar minuciosamente su interior, eliminando los residuos acumulados que obstruían el flujo de liquido.</a:t>
              </a:r>
              <a:endParaRPr sz="1900">
                <a:solidFill>
                  <a:schemeClr val="dk1"/>
                </a:solidFill>
                <a:latin typeface="Garamond"/>
                <a:ea typeface="Garamond"/>
                <a:cs typeface="Garamond"/>
                <a:sym typeface="Garamond"/>
              </a:endParaRPr>
            </a:p>
          </p:txBody>
        </p:sp>
        <p:sp>
          <p:nvSpPr>
            <p:cNvPr id="647" name="Google Shape;647;p50"/>
            <p:cNvSpPr/>
            <p:nvPr/>
          </p:nvSpPr>
          <p:spPr>
            <a:xfrm>
              <a:off x="1735073" y="3205429"/>
              <a:ext cx="7744967" cy="938174"/>
            </a:xfrm>
            <a:prstGeom prst="roundRect">
              <a:avLst>
                <a:gd fmla="val 10000" name="adj"/>
              </a:avLst>
            </a:prstGeom>
            <a:solidFill>
              <a:srgbClr val="FAF0D5"/>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50"/>
            <p:cNvSpPr txBox="1"/>
            <p:nvPr/>
          </p:nvSpPr>
          <p:spPr>
            <a:xfrm>
              <a:off x="1762551" y="3232907"/>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Una vez realizada la limpieza, se realizo una prueba de funcionamiento. </a:t>
              </a:r>
              <a:endParaRPr sz="1900">
                <a:solidFill>
                  <a:schemeClr val="dk1"/>
                </a:solidFill>
                <a:latin typeface="Garamond"/>
                <a:ea typeface="Garamond"/>
                <a:cs typeface="Garamond"/>
                <a:sym typeface="Garamond"/>
              </a:endParaRPr>
            </a:p>
          </p:txBody>
        </p:sp>
        <p:sp>
          <p:nvSpPr>
            <p:cNvPr id="649" name="Google Shape;649;p50"/>
            <p:cNvSpPr/>
            <p:nvPr/>
          </p:nvSpPr>
          <p:spPr>
            <a:xfrm>
              <a:off x="2313432" y="4273905"/>
              <a:ext cx="7744967" cy="938174"/>
            </a:xfrm>
            <a:prstGeom prst="roundRect">
              <a:avLst>
                <a:gd fmla="val 10000" name="adj"/>
              </a:avLst>
            </a:prstGeom>
            <a:solidFill>
              <a:srgbClr val="FAF0D5"/>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50"/>
            <p:cNvSpPr txBox="1"/>
            <p:nvPr/>
          </p:nvSpPr>
          <p:spPr>
            <a:xfrm>
              <a:off x="2340910" y="4301383"/>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Se pudo comprobar que la electroválvula funciona con normalidad y sin inconvenientes.</a:t>
              </a:r>
              <a:endParaRPr sz="1900">
                <a:solidFill>
                  <a:schemeClr val="dk1"/>
                </a:solidFill>
                <a:latin typeface="Garamond"/>
                <a:ea typeface="Garamond"/>
                <a:cs typeface="Garamond"/>
                <a:sym typeface="Garamond"/>
              </a:endParaRPr>
            </a:p>
          </p:txBody>
        </p:sp>
        <p:sp>
          <p:nvSpPr>
            <p:cNvPr id="651" name="Google Shape;651;p50"/>
            <p:cNvSpPr/>
            <p:nvPr/>
          </p:nvSpPr>
          <p:spPr>
            <a:xfrm>
              <a:off x="7135154" y="685388"/>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50"/>
            <p:cNvSpPr txBox="1"/>
            <p:nvPr/>
          </p:nvSpPr>
          <p:spPr>
            <a:xfrm>
              <a:off x="7272362" y="685388"/>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653" name="Google Shape;653;p50"/>
            <p:cNvSpPr/>
            <p:nvPr/>
          </p:nvSpPr>
          <p:spPr>
            <a:xfrm>
              <a:off x="7713512" y="1753864"/>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50"/>
            <p:cNvSpPr txBox="1"/>
            <p:nvPr/>
          </p:nvSpPr>
          <p:spPr>
            <a:xfrm>
              <a:off x="7850720" y="1753864"/>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655" name="Google Shape;655;p50"/>
            <p:cNvSpPr/>
            <p:nvPr/>
          </p:nvSpPr>
          <p:spPr>
            <a:xfrm>
              <a:off x="8291870" y="28067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50"/>
            <p:cNvSpPr txBox="1"/>
            <p:nvPr/>
          </p:nvSpPr>
          <p:spPr>
            <a:xfrm>
              <a:off x="8429078" y="28067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657" name="Google Shape;657;p50"/>
            <p:cNvSpPr/>
            <p:nvPr/>
          </p:nvSpPr>
          <p:spPr>
            <a:xfrm>
              <a:off x="8870228" y="38856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50"/>
            <p:cNvSpPr txBox="1"/>
            <p:nvPr/>
          </p:nvSpPr>
          <p:spPr>
            <a:xfrm>
              <a:off x="9007436" y="38856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id="659" name="Google Shape;659;p50"/>
          <p:cNvPicPr preferRelativeResize="0"/>
          <p:nvPr/>
        </p:nvPicPr>
        <p:blipFill rotWithShape="1">
          <a:blip r:embed="rId3">
            <a:alphaModFix/>
          </a:blip>
          <a:srcRect b="0" l="0" r="0" t="0"/>
          <a:stretch/>
        </p:blipFill>
        <p:spPr>
          <a:xfrm>
            <a:off x="10043752" y="3224084"/>
            <a:ext cx="836420" cy="1115226"/>
          </a:xfrm>
          <a:prstGeom prst="rect">
            <a:avLst/>
          </a:prstGeom>
          <a:noFill/>
          <a:ln>
            <a:noFill/>
          </a:ln>
        </p:spPr>
      </p:pic>
      <p:pic>
        <p:nvPicPr>
          <p:cNvPr id="660" name="Google Shape;660;p50"/>
          <p:cNvPicPr preferRelativeResize="0"/>
          <p:nvPr/>
        </p:nvPicPr>
        <p:blipFill rotWithShape="1">
          <a:blip r:embed="rId4">
            <a:alphaModFix/>
          </a:blip>
          <a:srcRect b="0" l="0" r="0" t="0"/>
          <a:stretch/>
        </p:blipFill>
        <p:spPr>
          <a:xfrm>
            <a:off x="9207332" y="1859938"/>
            <a:ext cx="836420" cy="1115226"/>
          </a:xfrm>
          <a:prstGeom prst="rect">
            <a:avLst/>
          </a:prstGeom>
          <a:noFill/>
          <a:ln>
            <a:noFill/>
          </a:ln>
        </p:spPr>
      </p:pic>
      <p:pic>
        <p:nvPicPr>
          <p:cNvPr id="661" name="Google Shape;661;p50"/>
          <p:cNvPicPr preferRelativeResize="0"/>
          <p:nvPr/>
        </p:nvPicPr>
        <p:blipFill rotWithShape="1">
          <a:blip r:embed="rId5">
            <a:alphaModFix/>
          </a:blip>
          <a:srcRect b="0" l="0" r="0" t="0"/>
          <a:stretch/>
        </p:blipFill>
        <p:spPr>
          <a:xfrm>
            <a:off x="10977154" y="4482802"/>
            <a:ext cx="716082" cy="95477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51"/>
          <p:cNvSpPr txBox="1"/>
          <p:nvPr>
            <p:ph type="title"/>
          </p:nvPr>
        </p:nvSpPr>
        <p:spPr>
          <a:xfrm>
            <a:off x="1563623" y="2324099"/>
            <a:ext cx="9070848" cy="2357961"/>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rgbClr val="262626"/>
              </a:buClr>
              <a:buSzPts val="7200"/>
              <a:buFont typeface="Garamond"/>
              <a:buNone/>
            </a:pPr>
            <a:r>
              <a:rPr lang="es-BO"/>
              <a:t>SENSORES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52"/>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000"/>
              <a:buFont typeface="Garamond"/>
              <a:buNone/>
            </a:pPr>
            <a:r>
              <a:rPr b="1" lang="es-BO" sz="4000"/>
              <a:t>SENSOR DE VIBRACION</a:t>
            </a:r>
            <a:endParaRPr b="1" sz="4000"/>
          </a:p>
        </p:txBody>
      </p:sp>
      <p:grpSp>
        <p:nvGrpSpPr>
          <p:cNvPr id="672" name="Google Shape;672;p52"/>
          <p:cNvGrpSpPr/>
          <p:nvPr/>
        </p:nvGrpSpPr>
        <p:grpSpPr>
          <a:xfrm>
            <a:off x="448173" y="1159328"/>
            <a:ext cx="9733188" cy="5241471"/>
            <a:chOff x="325211" y="0"/>
            <a:chExt cx="9733188" cy="5241471"/>
          </a:xfrm>
        </p:grpSpPr>
        <p:sp>
          <p:nvSpPr>
            <p:cNvPr id="673" name="Google Shape;673;p52"/>
            <p:cNvSpPr/>
            <p:nvPr/>
          </p:nvSpPr>
          <p:spPr>
            <a:xfrm>
              <a:off x="325211" y="0"/>
              <a:ext cx="7744967" cy="943464"/>
            </a:xfrm>
            <a:prstGeom prst="roundRect">
              <a:avLst>
                <a:gd fmla="val 10000" name="adj"/>
              </a:avLst>
            </a:prstGeom>
            <a:solidFill>
              <a:srgbClr val="C19015"/>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2"/>
            <p:cNvSpPr txBox="1"/>
            <p:nvPr/>
          </p:nvSpPr>
          <p:spPr>
            <a:xfrm>
              <a:off x="352844" y="27633"/>
              <a:ext cx="6616510" cy="888198"/>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PRINCIPO DE FUNCIONAMIENTO</a:t>
              </a:r>
              <a:endParaRPr/>
            </a:p>
            <a:p>
              <a:pPr indent="0" lvl="0" marL="0" marR="0" rtl="0" algn="ctr">
                <a:lnSpc>
                  <a:spcPct val="90000"/>
                </a:lnSpc>
                <a:spcBef>
                  <a:spcPts val="700"/>
                </a:spcBef>
                <a:spcAft>
                  <a:spcPts val="0"/>
                </a:spcAft>
                <a:buClr>
                  <a:schemeClr val="lt1"/>
                </a:buClr>
                <a:buSzPts val="2000"/>
                <a:buFont typeface="Garamond"/>
                <a:buNone/>
              </a:pPr>
              <a:r>
                <a:rPr lang="es-BO" sz="2000">
                  <a:solidFill>
                    <a:schemeClr val="lt1"/>
                  </a:solidFill>
                  <a:latin typeface="Garamond"/>
                  <a:ea typeface="Garamond"/>
                  <a:cs typeface="Garamond"/>
                  <a:sym typeface="Garamond"/>
                </a:rPr>
                <a:t>Cuando se produce una vibración o movimiento oscilante, las horquillas oscilan en direcciones opuestas debido a su flexibilidad</a:t>
              </a:r>
              <a:endParaRPr sz="2000">
                <a:solidFill>
                  <a:schemeClr val="dk1"/>
                </a:solidFill>
                <a:latin typeface="Garamond"/>
                <a:ea typeface="Garamond"/>
                <a:cs typeface="Garamond"/>
                <a:sym typeface="Garamond"/>
              </a:endParaRPr>
            </a:p>
          </p:txBody>
        </p:sp>
        <p:sp>
          <p:nvSpPr>
            <p:cNvPr id="675" name="Google Shape;675;p52"/>
            <p:cNvSpPr/>
            <p:nvPr/>
          </p:nvSpPr>
          <p:spPr>
            <a:xfrm>
              <a:off x="1409238" y="2109001"/>
              <a:ext cx="7744967" cy="94346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2"/>
            <p:cNvSpPr txBox="1"/>
            <p:nvPr/>
          </p:nvSpPr>
          <p:spPr>
            <a:xfrm>
              <a:off x="1436871" y="2136634"/>
              <a:ext cx="6498091" cy="88819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Garamond"/>
                <a:buNone/>
              </a:pPr>
              <a:r>
                <a:rPr lang="es-BO" sz="2000">
                  <a:solidFill>
                    <a:schemeClr val="lt1"/>
                  </a:solidFill>
                  <a:latin typeface="Garamond"/>
                  <a:ea typeface="Garamond"/>
                  <a:cs typeface="Garamond"/>
                  <a:sym typeface="Garamond"/>
                </a:rPr>
                <a:t>El efecto piezoeléctrico implica que ciertos materiales generan una carga eléctrica cuando se deforman mecánicamente</a:t>
              </a:r>
              <a:endParaRPr sz="2000">
                <a:solidFill>
                  <a:schemeClr val="dk1"/>
                </a:solidFill>
                <a:latin typeface="Garamond"/>
                <a:ea typeface="Garamond"/>
                <a:cs typeface="Garamond"/>
                <a:sym typeface="Garamond"/>
              </a:endParaRPr>
            </a:p>
          </p:txBody>
        </p:sp>
        <p:sp>
          <p:nvSpPr>
            <p:cNvPr id="677" name="Google Shape;677;p52"/>
            <p:cNvSpPr/>
            <p:nvPr/>
          </p:nvSpPr>
          <p:spPr>
            <a:xfrm>
              <a:off x="748478" y="1048819"/>
              <a:ext cx="7744967" cy="94346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52"/>
            <p:cNvSpPr txBox="1"/>
            <p:nvPr/>
          </p:nvSpPr>
          <p:spPr>
            <a:xfrm>
              <a:off x="776111" y="1076452"/>
              <a:ext cx="6498091" cy="88819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Garamond"/>
                <a:buNone/>
              </a:pPr>
              <a:r>
                <a:rPr lang="es-BO" sz="2000">
                  <a:solidFill>
                    <a:schemeClr val="lt1"/>
                  </a:solidFill>
                  <a:latin typeface="Garamond"/>
                  <a:ea typeface="Garamond"/>
                  <a:cs typeface="Garamond"/>
                  <a:sym typeface="Garamond"/>
                </a:rPr>
                <a:t>Estas oscilaciones generan cambios en la resistencia eléctrica de las horquillas debido a un fenómeno conocido como </a:t>
              </a:r>
              <a:r>
                <a:rPr b="1" lang="es-BO" sz="2000">
                  <a:solidFill>
                    <a:schemeClr val="lt1"/>
                  </a:solidFill>
                  <a:latin typeface="Garamond"/>
                  <a:ea typeface="Garamond"/>
                  <a:cs typeface="Garamond"/>
                  <a:sym typeface="Garamond"/>
                </a:rPr>
                <a:t>efecto piezoeléctrico.</a:t>
              </a:r>
              <a:endParaRPr b="1" sz="2000">
                <a:solidFill>
                  <a:schemeClr val="dk1"/>
                </a:solidFill>
                <a:latin typeface="Garamond"/>
                <a:ea typeface="Garamond"/>
                <a:cs typeface="Garamond"/>
                <a:sym typeface="Garamond"/>
              </a:endParaRPr>
            </a:p>
          </p:txBody>
        </p:sp>
        <p:sp>
          <p:nvSpPr>
            <p:cNvPr id="679" name="Google Shape;679;p52"/>
            <p:cNvSpPr/>
            <p:nvPr/>
          </p:nvSpPr>
          <p:spPr>
            <a:xfrm>
              <a:off x="1735073" y="3223505"/>
              <a:ext cx="7744967" cy="94346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52"/>
            <p:cNvSpPr txBox="1"/>
            <p:nvPr/>
          </p:nvSpPr>
          <p:spPr>
            <a:xfrm>
              <a:off x="1762706" y="3251138"/>
              <a:ext cx="6498091" cy="88819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Garamond"/>
                <a:buNone/>
              </a:pPr>
              <a:r>
                <a:rPr lang="es-BO" sz="2000">
                  <a:solidFill>
                    <a:schemeClr val="lt1"/>
                  </a:solidFill>
                  <a:latin typeface="Garamond"/>
                  <a:ea typeface="Garamond"/>
                  <a:cs typeface="Garamond"/>
                  <a:sym typeface="Garamond"/>
                </a:rPr>
                <a:t>las horquillas del sensor vibratorio, están hechas de un material piezoeléctrico que genera una señal eléctrica proporcional a la amplitud y frecuencia de la vibración.</a:t>
              </a:r>
              <a:endParaRPr sz="2000">
                <a:solidFill>
                  <a:schemeClr val="dk1"/>
                </a:solidFill>
                <a:latin typeface="Garamond"/>
                <a:ea typeface="Garamond"/>
                <a:cs typeface="Garamond"/>
                <a:sym typeface="Garamond"/>
              </a:endParaRPr>
            </a:p>
          </p:txBody>
        </p:sp>
        <p:sp>
          <p:nvSpPr>
            <p:cNvPr id="681" name="Google Shape;681;p52"/>
            <p:cNvSpPr/>
            <p:nvPr/>
          </p:nvSpPr>
          <p:spPr>
            <a:xfrm>
              <a:off x="2313432" y="4298007"/>
              <a:ext cx="7744967" cy="94346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52"/>
            <p:cNvSpPr txBox="1"/>
            <p:nvPr/>
          </p:nvSpPr>
          <p:spPr>
            <a:xfrm>
              <a:off x="2341065" y="4325640"/>
              <a:ext cx="6498091" cy="88819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Garamond"/>
                <a:buNone/>
              </a:pPr>
              <a:r>
                <a:rPr lang="es-BO" sz="2000">
                  <a:solidFill>
                    <a:schemeClr val="lt1"/>
                  </a:solidFill>
                  <a:latin typeface="Garamond"/>
                  <a:ea typeface="Garamond"/>
                  <a:cs typeface="Garamond"/>
                  <a:sym typeface="Garamond"/>
                </a:rPr>
                <a:t>Cuando las horquillas oscilan, la resistencia eléctrica del material cambia, lo que se traduce en una variación en la corriente eléctrica que fluye a través de ellas. Esta variación de corriente se detecta y se convierte en una señal eléctrica de salida</a:t>
              </a:r>
              <a:endParaRPr sz="2000">
                <a:solidFill>
                  <a:schemeClr val="dk1"/>
                </a:solidFill>
                <a:latin typeface="Garamond"/>
                <a:ea typeface="Garamond"/>
                <a:cs typeface="Garamond"/>
                <a:sym typeface="Garamond"/>
              </a:endParaRPr>
            </a:p>
          </p:txBody>
        </p:sp>
        <p:sp>
          <p:nvSpPr>
            <p:cNvPr id="683" name="Google Shape;683;p52"/>
            <p:cNvSpPr/>
            <p:nvPr/>
          </p:nvSpPr>
          <p:spPr>
            <a:xfrm>
              <a:off x="7131715" y="689253"/>
              <a:ext cx="613252" cy="613252"/>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nvSpPr>
          <p:spPr>
            <a:xfrm>
              <a:off x="7269697" y="689253"/>
              <a:ext cx="337288" cy="461472"/>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685" name="Google Shape;685;p52"/>
            <p:cNvSpPr/>
            <p:nvPr/>
          </p:nvSpPr>
          <p:spPr>
            <a:xfrm>
              <a:off x="7710073" y="1763755"/>
              <a:ext cx="613252" cy="613252"/>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52"/>
            <p:cNvSpPr txBox="1"/>
            <p:nvPr/>
          </p:nvSpPr>
          <p:spPr>
            <a:xfrm>
              <a:off x="7848055" y="1763755"/>
              <a:ext cx="337288" cy="461472"/>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687" name="Google Shape;687;p52"/>
            <p:cNvSpPr/>
            <p:nvPr/>
          </p:nvSpPr>
          <p:spPr>
            <a:xfrm>
              <a:off x="8288431" y="2822532"/>
              <a:ext cx="613252" cy="613252"/>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52"/>
            <p:cNvSpPr txBox="1"/>
            <p:nvPr/>
          </p:nvSpPr>
          <p:spPr>
            <a:xfrm>
              <a:off x="8426413" y="2822532"/>
              <a:ext cx="337288" cy="461472"/>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689" name="Google Shape;689;p52"/>
            <p:cNvSpPr/>
            <p:nvPr/>
          </p:nvSpPr>
          <p:spPr>
            <a:xfrm>
              <a:off x="8866789" y="3907517"/>
              <a:ext cx="613252" cy="613252"/>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52"/>
            <p:cNvSpPr txBox="1"/>
            <p:nvPr/>
          </p:nvSpPr>
          <p:spPr>
            <a:xfrm>
              <a:off x="9004771" y="3907517"/>
              <a:ext cx="337288" cy="461472"/>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id="691" name="Google Shape;691;p52"/>
          <p:cNvPicPr preferRelativeResize="0"/>
          <p:nvPr/>
        </p:nvPicPr>
        <p:blipFill rotWithShape="1">
          <a:blip r:embed="rId3">
            <a:alphaModFix/>
          </a:blip>
          <a:srcRect b="0" l="0" r="0" t="0"/>
          <a:stretch/>
        </p:blipFill>
        <p:spPr>
          <a:xfrm>
            <a:off x="9414157" y="1159328"/>
            <a:ext cx="2190489" cy="3006879"/>
          </a:xfrm>
          <a:prstGeom prst="rect">
            <a:avLst/>
          </a:prstGeom>
          <a:noFill/>
          <a:ln>
            <a:noFill/>
          </a:ln>
        </p:spPr>
      </p:pic>
      <p:pic>
        <p:nvPicPr>
          <p:cNvPr id="692" name="Google Shape;692;p52"/>
          <p:cNvPicPr preferRelativeResize="0"/>
          <p:nvPr/>
        </p:nvPicPr>
        <p:blipFill rotWithShape="1">
          <a:blip r:embed="rId4">
            <a:alphaModFix/>
          </a:blip>
          <a:srcRect b="0" l="0" r="0" t="0"/>
          <a:stretch/>
        </p:blipFill>
        <p:spPr>
          <a:xfrm>
            <a:off x="9989750" y="4352591"/>
            <a:ext cx="660809" cy="930912"/>
          </a:xfrm>
          <a:prstGeom prst="rect">
            <a:avLst/>
          </a:prstGeom>
          <a:noFill/>
          <a:ln>
            <a:noFill/>
          </a:ln>
        </p:spPr>
      </p:pic>
      <p:pic>
        <p:nvPicPr>
          <p:cNvPr id="693" name="Google Shape;693;p52"/>
          <p:cNvPicPr preferRelativeResize="0"/>
          <p:nvPr/>
        </p:nvPicPr>
        <p:blipFill rotWithShape="1">
          <a:blip r:embed="rId4">
            <a:alphaModFix/>
          </a:blip>
          <a:srcRect b="0" l="0" r="0" t="0"/>
          <a:stretch/>
        </p:blipFill>
        <p:spPr>
          <a:xfrm>
            <a:off x="10943836" y="4341481"/>
            <a:ext cx="660810" cy="930913"/>
          </a:xfrm>
          <a:prstGeom prst="rect">
            <a:avLst/>
          </a:prstGeom>
          <a:noFill/>
          <a:ln>
            <a:noFill/>
          </a:ln>
        </p:spPr>
      </p:pic>
      <p:pic>
        <p:nvPicPr>
          <p:cNvPr id="694" name="Google Shape;694;p52"/>
          <p:cNvPicPr preferRelativeResize="0"/>
          <p:nvPr/>
        </p:nvPicPr>
        <p:blipFill rotWithShape="1">
          <a:blip r:embed="rId5">
            <a:alphaModFix/>
          </a:blip>
          <a:srcRect b="0" l="0" r="0" t="0"/>
          <a:stretch/>
        </p:blipFill>
        <p:spPr>
          <a:xfrm>
            <a:off x="11119757" y="5556148"/>
            <a:ext cx="660809" cy="842238"/>
          </a:xfrm>
          <a:prstGeom prst="rect">
            <a:avLst/>
          </a:prstGeom>
          <a:noFill/>
          <a:ln>
            <a:noFill/>
          </a:ln>
        </p:spPr>
      </p:pic>
      <p:pic>
        <p:nvPicPr>
          <p:cNvPr id="695" name="Google Shape;695;p52"/>
          <p:cNvPicPr preferRelativeResize="0"/>
          <p:nvPr/>
        </p:nvPicPr>
        <p:blipFill rotWithShape="1">
          <a:blip r:embed="rId5">
            <a:alphaModFix/>
          </a:blip>
          <a:srcRect b="0" l="0" r="0" t="0"/>
          <a:stretch/>
        </p:blipFill>
        <p:spPr>
          <a:xfrm>
            <a:off x="10304544" y="5556147"/>
            <a:ext cx="692031" cy="842238"/>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53"/>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lang="es-BO"/>
              <a:t>SENSOR DE VIBRACION</a:t>
            </a:r>
            <a:endParaRPr/>
          </a:p>
        </p:txBody>
      </p:sp>
      <p:sp>
        <p:nvSpPr>
          <p:cNvPr id="701" name="Google Shape;701;p53"/>
          <p:cNvSpPr txBox="1"/>
          <p:nvPr>
            <p:ph idx="1" type="body"/>
          </p:nvPr>
        </p:nvSpPr>
        <p:spPr>
          <a:xfrm>
            <a:off x="1064080" y="1748118"/>
            <a:ext cx="10058400" cy="39319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200"/>
              <a:buNone/>
            </a:pPr>
            <a:r>
              <a:rPr lang="es-BO" sz="3200"/>
              <a:t>CARACTERISTICAS</a:t>
            </a:r>
            <a:endParaRPr/>
          </a:p>
          <a:p>
            <a:pPr indent="-182880" lvl="0" marL="182880" rtl="0" algn="l">
              <a:lnSpc>
                <a:spcPct val="100000"/>
              </a:lnSpc>
              <a:spcBef>
                <a:spcPts val="900"/>
              </a:spcBef>
              <a:spcAft>
                <a:spcPts val="0"/>
              </a:spcAft>
              <a:buSzPts val="1800"/>
              <a:buChar char="◦"/>
            </a:pPr>
            <a:r>
              <a:rPr lang="es-BO"/>
              <a:t>Suministro: 10-35 [V] DC</a:t>
            </a:r>
            <a:endParaRPr/>
          </a:p>
          <a:p>
            <a:pPr indent="-182880" lvl="0" marL="182880" rtl="0" algn="l">
              <a:lnSpc>
                <a:spcPct val="100000"/>
              </a:lnSpc>
              <a:spcBef>
                <a:spcPts val="900"/>
              </a:spcBef>
              <a:spcAft>
                <a:spcPts val="0"/>
              </a:spcAft>
              <a:buSzPts val="1800"/>
              <a:buChar char="◦"/>
            </a:pPr>
            <a:r>
              <a:rPr lang="es-BO"/>
              <a:t>Temperatura del proceso: -40C – 150C</a:t>
            </a:r>
            <a:endParaRPr/>
          </a:p>
          <a:p>
            <a:pPr indent="-182880" lvl="0" marL="182880" rtl="0" algn="l">
              <a:lnSpc>
                <a:spcPct val="100000"/>
              </a:lnSpc>
              <a:spcBef>
                <a:spcPts val="900"/>
              </a:spcBef>
              <a:spcAft>
                <a:spcPts val="0"/>
              </a:spcAft>
              <a:buSzPts val="1800"/>
              <a:buChar char="◦"/>
            </a:pPr>
            <a:r>
              <a:rPr lang="es-BO"/>
              <a:t>Presión de proceso absoluta: vacío 40 [Bar]</a:t>
            </a:r>
            <a:endParaRPr/>
          </a:p>
          <a:p>
            <a:pPr indent="-182880" lvl="0" marL="182880" rtl="0" algn="l">
              <a:lnSpc>
                <a:spcPct val="100000"/>
              </a:lnSpc>
              <a:spcBef>
                <a:spcPts val="900"/>
              </a:spcBef>
              <a:spcAft>
                <a:spcPts val="0"/>
              </a:spcAft>
              <a:buSzPts val="1800"/>
              <a:buChar char="◦"/>
            </a:pPr>
            <a:r>
              <a:rPr lang="es-BO"/>
              <a:t>Densidad mínima del medio: 0.7 [g/cm^3]</a:t>
            </a:r>
            <a:endParaRPr/>
          </a:p>
          <a:p>
            <a:pPr indent="-182880" lvl="0" marL="182880" rtl="0" algn="l">
              <a:lnSpc>
                <a:spcPct val="100000"/>
              </a:lnSpc>
              <a:spcBef>
                <a:spcPts val="900"/>
              </a:spcBef>
              <a:spcAft>
                <a:spcPts val="0"/>
              </a:spcAft>
              <a:buSzPts val="1800"/>
              <a:buChar char="◦"/>
            </a:pPr>
            <a:r>
              <a:rPr lang="es-BO"/>
              <a:t>Longitud del sensor: 64 [mm]</a:t>
            </a:r>
            <a:endParaRPr/>
          </a:p>
          <a:p>
            <a:pPr indent="-182880" lvl="0" marL="182880" rtl="0" algn="l">
              <a:lnSpc>
                <a:spcPct val="100000"/>
              </a:lnSpc>
              <a:spcBef>
                <a:spcPts val="900"/>
              </a:spcBef>
              <a:spcAft>
                <a:spcPts val="0"/>
              </a:spcAft>
              <a:buSzPts val="1800"/>
              <a:buChar char="◦"/>
            </a:pPr>
            <a:r>
              <a:rPr lang="es-BO"/>
              <a:t>Frecuencia de medición: 1100Hz aprox. en aire</a:t>
            </a:r>
            <a:endParaRPr/>
          </a:p>
          <a:p>
            <a:pPr indent="-182880" lvl="0" marL="182880" rtl="0" algn="l">
              <a:lnSpc>
                <a:spcPct val="100000"/>
              </a:lnSpc>
              <a:spcBef>
                <a:spcPts val="900"/>
              </a:spcBef>
              <a:spcAft>
                <a:spcPts val="0"/>
              </a:spcAft>
              <a:buSzPts val="1800"/>
              <a:buChar char="◦"/>
            </a:pPr>
            <a:r>
              <a:rPr lang="es-BO"/>
              <a:t>Tiempo de estabilización: 2 [seg]</a:t>
            </a:r>
            <a:endParaRPr/>
          </a:p>
          <a:p>
            <a:pPr indent="-68579" lvl="0" marL="182880" rtl="0" algn="l">
              <a:lnSpc>
                <a:spcPct val="100000"/>
              </a:lnSpc>
              <a:spcBef>
                <a:spcPts val="900"/>
              </a:spcBef>
              <a:spcAft>
                <a:spcPts val="0"/>
              </a:spcAft>
              <a:buSzPts val="1800"/>
              <a:buNone/>
            </a:pPr>
            <a:r>
              <a:t/>
            </a:r>
            <a:endParaRPr/>
          </a:p>
        </p:txBody>
      </p:sp>
      <p:pic>
        <p:nvPicPr>
          <p:cNvPr id="702" name="Google Shape;702;p53"/>
          <p:cNvPicPr preferRelativeResize="0"/>
          <p:nvPr/>
        </p:nvPicPr>
        <p:blipFill rotWithShape="1">
          <a:blip r:embed="rId3">
            <a:alphaModFix/>
          </a:blip>
          <a:srcRect b="0" l="0" r="0" t="0"/>
          <a:stretch/>
        </p:blipFill>
        <p:spPr>
          <a:xfrm>
            <a:off x="5654742" y="2585170"/>
            <a:ext cx="3011516" cy="2258637"/>
          </a:xfrm>
          <a:prstGeom prst="rect">
            <a:avLst/>
          </a:prstGeom>
          <a:noFill/>
          <a:ln>
            <a:noFill/>
          </a:ln>
        </p:spPr>
      </p:pic>
      <p:pic>
        <p:nvPicPr>
          <p:cNvPr id="703" name="Google Shape;703;p53"/>
          <p:cNvPicPr preferRelativeResize="0"/>
          <p:nvPr/>
        </p:nvPicPr>
        <p:blipFill rotWithShape="1">
          <a:blip r:embed="rId4">
            <a:alphaModFix/>
          </a:blip>
          <a:srcRect b="0" l="0" r="0" t="0"/>
          <a:stretch/>
        </p:blipFill>
        <p:spPr>
          <a:xfrm>
            <a:off x="8734747" y="2585171"/>
            <a:ext cx="3011513" cy="2258636"/>
          </a:xfrm>
          <a:prstGeom prst="rect">
            <a:avLst/>
          </a:prstGeom>
          <a:noFill/>
          <a:ln>
            <a:noFill/>
          </a:ln>
        </p:spPr>
      </p:pic>
      <p:sp>
        <p:nvSpPr>
          <p:cNvPr id="704" name="Google Shape;704;p53"/>
          <p:cNvSpPr txBox="1"/>
          <p:nvPr/>
        </p:nvSpPr>
        <p:spPr>
          <a:xfrm>
            <a:off x="5785369" y="4974755"/>
            <a:ext cx="250706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800">
                <a:solidFill>
                  <a:schemeClr val="dk1"/>
                </a:solidFill>
                <a:latin typeface="Garamond"/>
                <a:ea typeface="Garamond"/>
                <a:cs typeface="Garamond"/>
                <a:sym typeface="Garamond"/>
              </a:rPr>
              <a:t>Sensor vibratorio superior</a:t>
            </a:r>
            <a:endParaRPr/>
          </a:p>
        </p:txBody>
      </p:sp>
      <p:sp>
        <p:nvSpPr>
          <p:cNvPr id="705" name="Google Shape;705;p53"/>
          <p:cNvSpPr txBox="1"/>
          <p:nvPr/>
        </p:nvSpPr>
        <p:spPr>
          <a:xfrm>
            <a:off x="9103433" y="4974755"/>
            <a:ext cx="251596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800">
                <a:solidFill>
                  <a:schemeClr val="dk1"/>
                </a:solidFill>
                <a:latin typeface="Garamond"/>
                <a:ea typeface="Garamond"/>
                <a:cs typeface="Garamond"/>
                <a:sym typeface="Garamond"/>
              </a:rPr>
              <a:t>Sensor vibratorio inferior</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54"/>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lang="es-BO"/>
              <a:t>SENSOR DE VIBRACION</a:t>
            </a:r>
            <a:endParaRPr/>
          </a:p>
        </p:txBody>
      </p:sp>
      <p:sp>
        <p:nvSpPr>
          <p:cNvPr id="711" name="Google Shape;711;p54"/>
          <p:cNvSpPr txBox="1"/>
          <p:nvPr>
            <p:ph idx="1" type="body"/>
          </p:nvPr>
        </p:nvSpPr>
        <p:spPr>
          <a:xfrm>
            <a:off x="1066800" y="2103120"/>
            <a:ext cx="10058400" cy="3931920"/>
          </a:xfrm>
          <a:prstGeom prst="rect">
            <a:avLst/>
          </a:prstGeom>
          <a:noFill/>
          <a:ln>
            <a:noFill/>
          </a:ln>
        </p:spPr>
        <p:txBody>
          <a:bodyPr anchorCtr="0" anchor="t" bIns="45700" lIns="91425" spcFirstLastPara="1" rIns="91425" wrap="square" tIns="45700">
            <a:normAutofit/>
          </a:bodyPr>
          <a:lstStyle/>
          <a:p>
            <a:pPr indent="-182880" lvl="0" marL="182880" rtl="0" algn="l">
              <a:lnSpc>
                <a:spcPct val="100000"/>
              </a:lnSpc>
              <a:spcBef>
                <a:spcPts val="0"/>
              </a:spcBef>
              <a:spcAft>
                <a:spcPts val="0"/>
              </a:spcAft>
              <a:buSzPts val="1800"/>
              <a:buChar char="◦"/>
            </a:pPr>
            <a:r>
              <a:rPr lang="es-BO"/>
              <a:t>ESQUEMA DE CONEXION</a:t>
            </a:r>
            <a:endParaRPr/>
          </a:p>
        </p:txBody>
      </p:sp>
      <p:pic>
        <p:nvPicPr>
          <p:cNvPr id="712" name="Google Shape;712;p54"/>
          <p:cNvPicPr preferRelativeResize="0"/>
          <p:nvPr/>
        </p:nvPicPr>
        <p:blipFill rotWithShape="1">
          <a:blip r:embed="rId3">
            <a:alphaModFix/>
          </a:blip>
          <a:srcRect b="0" l="0" r="0" t="0"/>
          <a:stretch/>
        </p:blipFill>
        <p:spPr>
          <a:xfrm>
            <a:off x="627278" y="2808513"/>
            <a:ext cx="4286468" cy="2425959"/>
          </a:xfrm>
          <a:prstGeom prst="rect">
            <a:avLst/>
          </a:prstGeom>
          <a:noFill/>
          <a:ln>
            <a:noFill/>
          </a:ln>
        </p:spPr>
      </p:pic>
      <p:pic>
        <p:nvPicPr>
          <p:cNvPr id="713" name="Google Shape;713;p54"/>
          <p:cNvPicPr preferRelativeResize="0"/>
          <p:nvPr/>
        </p:nvPicPr>
        <p:blipFill rotWithShape="1">
          <a:blip r:embed="rId4">
            <a:alphaModFix/>
          </a:blip>
          <a:srcRect b="0" l="0" r="0" t="0"/>
          <a:stretch/>
        </p:blipFill>
        <p:spPr>
          <a:xfrm>
            <a:off x="5197151" y="2297562"/>
            <a:ext cx="6288831" cy="40309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55"/>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000"/>
              <a:buFont typeface="Garamond"/>
              <a:buNone/>
            </a:pPr>
            <a:r>
              <a:rPr b="1" lang="es-BO" sz="4000"/>
              <a:t>SENSOR DE PRESION</a:t>
            </a:r>
            <a:endParaRPr b="1" sz="4000"/>
          </a:p>
        </p:txBody>
      </p:sp>
      <p:grpSp>
        <p:nvGrpSpPr>
          <p:cNvPr id="720" name="Google Shape;720;p55"/>
          <p:cNvGrpSpPr/>
          <p:nvPr/>
        </p:nvGrpSpPr>
        <p:grpSpPr>
          <a:xfrm>
            <a:off x="468178" y="1144838"/>
            <a:ext cx="10268713" cy="5212079"/>
            <a:chOff x="-105157" y="0"/>
            <a:chExt cx="10268713" cy="5212079"/>
          </a:xfrm>
        </p:grpSpPr>
        <p:sp>
          <p:nvSpPr>
            <p:cNvPr id="721" name="Google Shape;721;p55"/>
            <p:cNvSpPr/>
            <p:nvPr/>
          </p:nvSpPr>
          <p:spPr>
            <a:xfrm>
              <a:off x="-105157" y="0"/>
              <a:ext cx="8165597" cy="938174"/>
            </a:xfrm>
            <a:prstGeom prst="roundRect">
              <a:avLst>
                <a:gd fmla="val 10000" name="adj"/>
              </a:avLst>
            </a:prstGeom>
            <a:solidFill>
              <a:srgbClr val="C19015"/>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55"/>
            <p:cNvSpPr txBox="1"/>
            <p:nvPr/>
          </p:nvSpPr>
          <p:spPr>
            <a:xfrm>
              <a:off x="-77679" y="27478"/>
              <a:ext cx="6985509" cy="883218"/>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PRINCIPO DE FUNCIONAMIENTO</a:t>
              </a:r>
              <a:endParaRPr/>
            </a:p>
            <a:p>
              <a:pPr indent="0" lvl="0" marL="0" marR="0" rtl="0" algn="ctr">
                <a:lnSpc>
                  <a:spcPct val="90000"/>
                </a:lnSpc>
                <a:spcBef>
                  <a:spcPts val="70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El dispositivo detecta la presión utilizando una cavidad de presión y un diafragma de aislamiento para formar un capacitor variable</a:t>
              </a:r>
              <a:endParaRPr sz="2000">
                <a:solidFill>
                  <a:schemeClr val="dk1"/>
                </a:solidFill>
                <a:latin typeface="Garamond"/>
                <a:ea typeface="Garamond"/>
                <a:cs typeface="Garamond"/>
                <a:sym typeface="Garamond"/>
              </a:endParaRPr>
            </a:p>
          </p:txBody>
        </p:sp>
        <p:sp>
          <p:nvSpPr>
            <p:cNvPr id="723" name="Google Shape;723;p55"/>
            <p:cNvSpPr/>
            <p:nvPr/>
          </p:nvSpPr>
          <p:spPr>
            <a:xfrm>
              <a:off x="683515" y="1068476"/>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55"/>
            <p:cNvSpPr txBox="1"/>
            <p:nvPr/>
          </p:nvSpPr>
          <p:spPr>
            <a:xfrm>
              <a:off x="710993" y="1095954"/>
              <a:ext cx="6501840" cy="883218"/>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dk1"/>
                </a:buClr>
                <a:buSzPts val="1800"/>
                <a:buFont typeface="Garamond"/>
                <a:buNone/>
              </a:pPr>
              <a:r>
                <a:rPr b="0" lang="es-BO" sz="1800">
                  <a:solidFill>
                    <a:schemeClr val="dk1"/>
                  </a:solidFill>
                  <a:latin typeface="Garamond"/>
                  <a:ea typeface="Garamond"/>
                  <a:cs typeface="Garamond"/>
                  <a:sym typeface="Garamond"/>
                </a:rPr>
                <a:t>La presión del proceso provoca una ligera desviación del diafragma de aislamiento del proceso del sensor cerámico.</a:t>
              </a:r>
              <a:endParaRPr sz="1800">
                <a:solidFill>
                  <a:schemeClr val="dk1"/>
                </a:solidFill>
                <a:latin typeface="Garamond"/>
                <a:ea typeface="Garamond"/>
                <a:cs typeface="Garamond"/>
                <a:sym typeface="Garamond"/>
              </a:endParaRPr>
            </a:p>
          </p:txBody>
        </p:sp>
        <p:sp>
          <p:nvSpPr>
            <p:cNvPr id="725" name="Google Shape;725;p55"/>
            <p:cNvSpPr/>
            <p:nvPr/>
          </p:nvSpPr>
          <p:spPr>
            <a:xfrm>
              <a:off x="1261873" y="2136952"/>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5"/>
            <p:cNvSpPr txBox="1"/>
            <p:nvPr/>
          </p:nvSpPr>
          <p:spPr>
            <a:xfrm>
              <a:off x="1289351" y="2164430"/>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El cambio proporcional a la presión en la capacitancia se mide en los electrodos del sensor cerámico.</a:t>
              </a:r>
              <a:endParaRPr sz="2000">
                <a:solidFill>
                  <a:schemeClr val="dk1"/>
                </a:solidFill>
                <a:latin typeface="Garamond"/>
                <a:ea typeface="Garamond"/>
                <a:cs typeface="Garamond"/>
                <a:sym typeface="Garamond"/>
              </a:endParaRPr>
            </a:p>
          </p:txBody>
        </p:sp>
        <p:sp>
          <p:nvSpPr>
            <p:cNvPr id="727" name="Google Shape;727;p55"/>
            <p:cNvSpPr/>
            <p:nvPr/>
          </p:nvSpPr>
          <p:spPr>
            <a:xfrm>
              <a:off x="1840231" y="3205429"/>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55"/>
            <p:cNvSpPr txBox="1"/>
            <p:nvPr/>
          </p:nvSpPr>
          <p:spPr>
            <a:xfrm>
              <a:off x="1867709" y="3232907"/>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Este cambio en la capacidad se puede medir eléctricamente y correlacionarse con la presión aplicada.</a:t>
              </a:r>
              <a:endParaRPr sz="2000">
                <a:solidFill>
                  <a:schemeClr val="dk1"/>
                </a:solidFill>
                <a:latin typeface="Garamond"/>
                <a:ea typeface="Garamond"/>
                <a:cs typeface="Garamond"/>
                <a:sym typeface="Garamond"/>
              </a:endParaRPr>
            </a:p>
          </p:txBody>
        </p:sp>
        <p:sp>
          <p:nvSpPr>
            <p:cNvPr id="729" name="Google Shape;729;p55"/>
            <p:cNvSpPr/>
            <p:nvPr/>
          </p:nvSpPr>
          <p:spPr>
            <a:xfrm>
              <a:off x="2418589" y="427390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55"/>
            <p:cNvSpPr txBox="1"/>
            <p:nvPr/>
          </p:nvSpPr>
          <p:spPr>
            <a:xfrm>
              <a:off x="2446067" y="4301383"/>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b="0" lang="es-BO" sz="2000">
                  <a:solidFill>
                    <a:schemeClr val="dk1"/>
                  </a:solidFill>
                  <a:latin typeface="Garamond"/>
                  <a:ea typeface="Garamond"/>
                  <a:cs typeface="Garamond"/>
                  <a:sym typeface="Garamond"/>
                </a:rPr>
                <a:t>El sensor capacitivo no requiere liquido de llenado, por tanto, también puede trabajar en aire.</a:t>
              </a:r>
              <a:endParaRPr sz="2000">
                <a:solidFill>
                  <a:schemeClr val="dk1"/>
                </a:solidFill>
                <a:latin typeface="Garamond"/>
                <a:ea typeface="Garamond"/>
                <a:cs typeface="Garamond"/>
                <a:sym typeface="Garamond"/>
              </a:endParaRPr>
            </a:p>
          </p:txBody>
        </p:sp>
        <p:sp>
          <p:nvSpPr>
            <p:cNvPr id="731" name="Google Shape;731;p55"/>
            <p:cNvSpPr/>
            <p:nvPr/>
          </p:nvSpPr>
          <p:spPr>
            <a:xfrm>
              <a:off x="7240311" y="685388"/>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55"/>
            <p:cNvSpPr txBox="1"/>
            <p:nvPr/>
          </p:nvSpPr>
          <p:spPr>
            <a:xfrm>
              <a:off x="7377519" y="685388"/>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733" name="Google Shape;733;p55"/>
            <p:cNvSpPr/>
            <p:nvPr/>
          </p:nvSpPr>
          <p:spPr>
            <a:xfrm>
              <a:off x="7818669" y="1753864"/>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55"/>
            <p:cNvSpPr txBox="1"/>
            <p:nvPr/>
          </p:nvSpPr>
          <p:spPr>
            <a:xfrm>
              <a:off x="7955877" y="1753864"/>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735" name="Google Shape;735;p55"/>
            <p:cNvSpPr/>
            <p:nvPr/>
          </p:nvSpPr>
          <p:spPr>
            <a:xfrm>
              <a:off x="8397027" y="28067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55"/>
            <p:cNvSpPr txBox="1"/>
            <p:nvPr/>
          </p:nvSpPr>
          <p:spPr>
            <a:xfrm>
              <a:off x="8534235" y="28067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737" name="Google Shape;737;p55"/>
            <p:cNvSpPr/>
            <p:nvPr/>
          </p:nvSpPr>
          <p:spPr>
            <a:xfrm>
              <a:off x="8975385" y="38856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55"/>
            <p:cNvSpPr txBox="1"/>
            <p:nvPr/>
          </p:nvSpPr>
          <p:spPr>
            <a:xfrm>
              <a:off x="9112593" y="38856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descr="Cómo funciona un transmisor de presión? - Blog de WIKA" id="739" name="Google Shape;739;p55"/>
          <p:cNvPicPr preferRelativeResize="0"/>
          <p:nvPr/>
        </p:nvPicPr>
        <p:blipFill rotWithShape="1">
          <a:blip r:embed="rId3">
            <a:alphaModFix/>
          </a:blip>
          <a:srcRect b="0" l="0" r="0" t="0"/>
          <a:stretch/>
        </p:blipFill>
        <p:spPr>
          <a:xfrm>
            <a:off x="9696137" y="1843472"/>
            <a:ext cx="2013968" cy="1131956"/>
          </a:xfrm>
          <a:prstGeom prst="rect">
            <a:avLst/>
          </a:prstGeom>
          <a:noFill/>
          <a:ln>
            <a:noFill/>
          </a:ln>
        </p:spPr>
      </p:pic>
      <p:pic>
        <p:nvPicPr>
          <p:cNvPr descr="Cómo funciona un transmisor de presión? - Blog de WIKA" id="740" name="Google Shape;740;p55"/>
          <p:cNvPicPr preferRelativeResize="0"/>
          <p:nvPr/>
        </p:nvPicPr>
        <p:blipFill rotWithShape="1">
          <a:blip r:embed="rId3">
            <a:alphaModFix/>
          </a:blip>
          <a:srcRect b="0" l="0" r="0" t="0"/>
          <a:stretch/>
        </p:blipFill>
        <p:spPr>
          <a:xfrm>
            <a:off x="2309404" y="1494155"/>
            <a:ext cx="6884925" cy="38696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40"/>
                                        </p:tgtEl>
                                        <p:attrNameLst>
                                          <p:attrName>style.visibility</p:attrName>
                                        </p:attrNameLst>
                                      </p:cBhvr>
                                      <p:to>
                                        <p:strVal val="visible"/>
                                      </p:to>
                                    </p:set>
                                    <p:anim calcmode="lin" valueType="num">
                                      <p:cBhvr additive="base">
                                        <p:cTn dur="500"/>
                                        <p:tgtEl>
                                          <p:spTgt spid="740"/>
                                        </p:tgtEl>
                                        <p:attrNameLst>
                                          <p:attrName>ppt_w</p:attrName>
                                        </p:attrNameLst>
                                      </p:cBhvr>
                                      <p:tavLst>
                                        <p:tav fmla="" tm="0">
                                          <p:val>
                                            <p:strVal val="0"/>
                                          </p:val>
                                        </p:tav>
                                        <p:tav fmla="" tm="100000">
                                          <p:val>
                                            <p:strVal val="#ppt_w"/>
                                          </p:val>
                                        </p:tav>
                                      </p:tavLst>
                                    </p:anim>
                                    <p:anim calcmode="lin" valueType="num">
                                      <p:cBhvr additive="base">
                                        <p:cTn dur="500"/>
                                        <p:tgtEl>
                                          <p:spTgt spid="74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5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lang="es-BO"/>
              <a:t>SENSOR DE PRESION</a:t>
            </a:r>
            <a:endParaRPr/>
          </a:p>
        </p:txBody>
      </p:sp>
      <p:sp>
        <p:nvSpPr>
          <p:cNvPr id="746" name="Google Shape;746;p56"/>
          <p:cNvSpPr txBox="1"/>
          <p:nvPr>
            <p:ph idx="1" type="body"/>
          </p:nvPr>
        </p:nvSpPr>
        <p:spPr>
          <a:xfrm>
            <a:off x="1066800" y="2103120"/>
            <a:ext cx="10058400" cy="39319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lang="es-BO"/>
              <a:t>CARACTERISTICAS</a:t>
            </a:r>
            <a:endParaRPr/>
          </a:p>
          <a:p>
            <a:pPr indent="0" lvl="0" marL="0" rtl="0" algn="l">
              <a:lnSpc>
                <a:spcPct val="100000"/>
              </a:lnSpc>
              <a:spcBef>
                <a:spcPts val="900"/>
              </a:spcBef>
              <a:spcAft>
                <a:spcPts val="0"/>
              </a:spcAft>
              <a:buSzPts val="1800"/>
              <a:buNone/>
            </a:pPr>
            <a:r>
              <a:rPr b="1" i="1" lang="es-BO" sz="1800">
                <a:latin typeface="Calibri"/>
                <a:ea typeface="Calibri"/>
                <a:cs typeface="Calibri"/>
                <a:sym typeface="Calibri"/>
              </a:rPr>
              <a:t>CERABAR T-PMC131</a:t>
            </a:r>
            <a:endParaRPr b="1" i="1"/>
          </a:p>
          <a:p>
            <a:pPr indent="-182880" lvl="0" marL="182880" rtl="0" algn="l">
              <a:lnSpc>
                <a:spcPct val="100000"/>
              </a:lnSpc>
              <a:spcBef>
                <a:spcPts val="900"/>
              </a:spcBef>
              <a:spcAft>
                <a:spcPts val="0"/>
              </a:spcAft>
              <a:buSzPts val="1800"/>
              <a:buFont typeface="Noto Sans Symbols"/>
              <a:buChar char="⮚"/>
            </a:pPr>
            <a:r>
              <a:rPr lang="es-BO"/>
              <a:t>Tipo de sensor de presión: sensor capacitivo de cerámica</a:t>
            </a:r>
            <a:endParaRPr/>
          </a:p>
          <a:p>
            <a:pPr indent="-182880" lvl="0" marL="182880" rtl="0" algn="l">
              <a:lnSpc>
                <a:spcPct val="100000"/>
              </a:lnSpc>
              <a:spcBef>
                <a:spcPts val="900"/>
              </a:spcBef>
              <a:spcAft>
                <a:spcPts val="0"/>
              </a:spcAft>
              <a:buSzPts val="1800"/>
              <a:buFont typeface="Noto Sans Symbols"/>
              <a:buChar char="⮚"/>
            </a:pPr>
            <a:r>
              <a:rPr lang="es-BO"/>
              <a:t>Suministro de voltaje: 11 – 30 [V] DC</a:t>
            </a:r>
            <a:endParaRPr/>
          </a:p>
          <a:p>
            <a:pPr indent="-182880" lvl="0" marL="182880" rtl="0" algn="l">
              <a:lnSpc>
                <a:spcPct val="100000"/>
              </a:lnSpc>
              <a:spcBef>
                <a:spcPts val="900"/>
              </a:spcBef>
              <a:spcAft>
                <a:spcPts val="0"/>
              </a:spcAft>
              <a:buSzPts val="1800"/>
              <a:buFont typeface="Noto Sans Symbols"/>
              <a:buChar char="⮚"/>
            </a:pPr>
            <a:r>
              <a:rPr lang="es-BO"/>
              <a:t>Temperatura del proceso: -20C – 100C</a:t>
            </a:r>
            <a:endParaRPr/>
          </a:p>
          <a:p>
            <a:pPr indent="-182880" lvl="0" marL="182880" rtl="0" algn="l">
              <a:lnSpc>
                <a:spcPct val="100000"/>
              </a:lnSpc>
              <a:spcBef>
                <a:spcPts val="900"/>
              </a:spcBef>
              <a:spcAft>
                <a:spcPts val="0"/>
              </a:spcAft>
              <a:buSzPts val="1800"/>
              <a:buFont typeface="Noto Sans Symbols"/>
              <a:buChar char="⮚"/>
            </a:pPr>
            <a:r>
              <a:rPr lang="es-BO"/>
              <a:t>Celda de medición: 100 mbar – 40 Bar</a:t>
            </a:r>
            <a:endParaRPr/>
          </a:p>
          <a:p>
            <a:pPr indent="-182880" lvl="0" marL="182880" rtl="0" algn="l">
              <a:lnSpc>
                <a:spcPct val="100000"/>
              </a:lnSpc>
              <a:spcBef>
                <a:spcPts val="900"/>
              </a:spcBef>
              <a:spcAft>
                <a:spcPts val="0"/>
              </a:spcAft>
              <a:buSzPts val="1800"/>
              <a:buFont typeface="Noto Sans Symbols"/>
              <a:buChar char="⮚"/>
            </a:pPr>
            <a:r>
              <a:rPr lang="es-BO"/>
              <a:t>Limite máx.. de sobre presión: 60 bar</a:t>
            </a:r>
            <a:endParaRPr/>
          </a:p>
          <a:p>
            <a:pPr indent="-182880" lvl="0" marL="182880" rtl="0" algn="l">
              <a:lnSpc>
                <a:spcPct val="100000"/>
              </a:lnSpc>
              <a:spcBef>
                <a:spcPts val="900"/>
              </a:spcBef>
              <a:spcAft>
                <a:spcPts val="0"/>
              </a:spcAft>
              <a:buSzPts val="1800"/>
              <a:buFont typeface="Noto Sans Symbols"/>
              <a:buChar char="⮚"/>
            </a:pPr>
            <a:r>
              <a:rPr lang="es-BO"/>
              <a:t>Comunicación: 4- 20mA (analógico)</a:t>
            </a:r>
            <a:endParaRPr/>
          </a:p>
          <a:p>
            <a:pPr indent="-182880" lvl="0" marL="182880" rtl="0" algn="l">
              <a:lnSpc>
                <a:spcPct val="100000"/>
              </a:lnSpc>
              <a:spcBef>
                <a:spcPts val="900"/>
              </a:spcBef>
              <a:spcAft>
                <a:spcPts val="0"/>
              </a:spcAft>
              <a:buSzPts val="1800"/>
              <a:buFont typeface="Noto Sans Symbols"/>
              <a:buChar char="⮚"/>
            </a:pPr>
            <a:r>
              <a:rPr lang="es-BO"/>
              <a:t>Potencia máxima 6W</a:t>
            </a:r>
            <a:endParaRPr/>
          </a:p>
          <a:p>
            <a:pPr indent="-68579" lvl="0" marL="182880" rtl="0" algn="l">
              <a:lnSpc>
                <a:spcPct val="100000"/>
              </a:lnSpc>
              <a:spcBef>
                <a:spcPts val="900"/>
              </a:spcBef>
              <a:spcAft>
                <a:spcPts val="0"/>
              </a:spcAft>
              <a:buSzPts val="1800"/>
              <a:buNone/>
            </a:pPr>
            <a:r>
              <a:t/>
            </a:r>
            <a:endParaRPr/>
          </a:p>
        </p:txBody>
      </p:sp>
      <p:pic>
        <p:nvPicPr>
          <p:cNvPr id="747" name="Google Shape;747;p56"/>
          <p:cNvPicPr preferRelativeResize="0"/>
          <p:nvPr/>
        </p:nvPicPr>
        <p:blipFill rotWithShape="1">
          <a:blip r:embed="rId3">
            <a:alphaModFix/>
          </a:blip>
          <a:srcRect b="0" l="0" r="0" t="0"/>
          <a:stretch/>
        </p:blipFill>
        <p:spPr>
          <a:xfrm>
            <a:off x="6871607" y="1663752"/>
            <a:ext cx="3413741" cy="455165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57"/>
          <p:cNvSpPr txBox="1"/>
          <p:nvPr>
            <p:ph type="title"/>
          </p:nvPr>
        </p:nvSpPr>
        <p:spPr>
          <a:xfrm>
            <a:off x="1066800" y="642594"/>
            <a:ext cx="10058400" cy="103961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lang="es-BO"/>
              <a:t>SENSOR DE PRESIÓN</a:t>
            </a:r>
            <a:endParaRPr/>
          </a:p>
        </p:txBody>
      </p:sp>
      <p:sp>
        <p:nvSpPr>
          <p:cNvPr id="753" name="Google Shape;753;p57"/>
          <p:cNvSpPr txBox="1"/>
          <p:nvPr>
            <p:ph idx="1" type="body"/>
          </p:nvPr>
        </p:nvSpPr>
        <p:spPr>
          <a:xfrm>
            <a:off x="1066800" y="1682205"/>
            <a:ext cx="10058400" cy="39319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lang="es-BO"/>
              <a:t>ESQUEMA DE CONEXIÓN</a:t>
            </a:r>
            <a:endParaRPr b="1"/>
          </a:p>
        </p:txBody>
      </p:sp>
      <p:pic>
        <p:nvPicPr>
          <p:cNvPr id="754" name="Google Shape;754;p57"/>
          <p:cNvPicPr preferRelativeResize="0"/>
          <p:nvPr/>
        </p:nvPicPr>
        <p:blipFill rotWithShape="1">
          <a:blip r:embed="rId3">
            <a:alphaModFix/>
          </a:blip>
          <a:srcRect b="0" l="0" r="0" t="0"/>
          <a:stretch/>
        </p:blipFill>
        <p:spPr>
          <a:xfrm>
            <a:off x="6945504" y="2202422"/>
            <a:ext cx="3374764" cy="2671688"/>
          </a:xfrm>
          <a:prstGeom prst="rect">
            <a:avLst/>
          </a:prstGeom>
          <a:noFill/>
          <a:ln>
            <a:noFill/>
          </a:ln>
        </p:spPr>
      </p:pic>
      <p:pic>
        <p:nvPicPr>
          <p:cNvPr descr="12. Esquema de un sensor capacitivo de presión con su encapsulado. |  Download Scientific Diagram" id="755" name="Google Shape;755;p57"/>
          <p:cNvPicPr preferRelativeResize="0"/>
          <p:nvPr/>
        </p:nvPicPr>
        <p:blipFill rotWithShape="1">
          <a:blip r:embed="rId4">
            <a:alphaModFix/>
          </a:blip>
          <a:srcRect b="0" l="0" r="0" t="0"/>
          <a:stretch/>
        </p:blipFill>
        <p:spPr>
          <a:xfrm>
            <a:off x="1118538" y="2202422"/>
            <a:ext cx="5659855" cy="2725614"/>
          </a:xfrm>
          <a:prstGeom prst="rect">
            <a:avLst/>
          </a:prstGeom>
          <a:noFill/>
          <a:ln>
            <a:noFill/>
          </a:ln>
        </p:spPr>
      </p:pic>
      <p:sp>
        <p:nvSpPr>
          <p:cNvPr id="756" name="Google Shape;756;p57"/>
          <p:cNvSpPr txBox="1"/>
          <p:nvPr/>
        </p:nvSpPr>
        <p:spPr>
          <a:xfrm>
            <a:off x="1133052" y="5219506"/>
            <a:ext cx="959725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1800">
                <a:solidFill>
                  <a:schemeClr val="dk1"/>
                </a:solidFill>
                <a:latin typeface="Garamond"/>
                <a:ea typeface="Garamond"/>
                <a:cs typeface="Garamond"/>
                <a:sym typeface="Garamond"/>
              </a:rPr>
              <a:t>DIAGNÓSTICO</a:t>
            </a:r>
            <a:endParaRPr/>
          </a:p>
          <a:p>
            <a:pPr indent="0" lvl="0" marL="0" marR="0" rtl="0" algn="l">
              <a:spcBef>
                <a:spcPts val="0"/>
              </a:spcBef>
              <a:spcAft>
                <a:spcPts val="0"/>
              </a:spcAft>
              <a:buNone/>
            </a:pPr>
            <a:r>
              <a:rPr lang="es-BO" sz="1800">
                <a:solidFill>
                  <a:schemeClr val="dk1"/>
                </a:solidFill>
                <a:latin typeface="Garamond"/>
                <a:ea typeface="Garamond"/>
                <a:cs typeface="Garamond"/>
                <a:sym typeface="Garamond"/>
              </a:rPr>
              <a:t>No se encontró ninguna observación visual, externa e interna, debido a ello se procedió a realizar pruebas de funcionamiento y obtener una tabla de valores respecto con el llenado del liquido.</a:t>
            </a:r>
            <a:endParaRPr sz="1800">
              <a:solidFill>
                <a:schemeClr val="dk1"/>
              </a:solidFill>
              <a:latin typeface="Garamond"/>
              <a:ea typeface="Garamond"/>
              <a:cs typeface="Garamond"/>
              <a:sym typeface="Garamon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58"/>
          <p:cNvSpPr txBox="1"/>
          <p:nvPr>
            <p:ph type="title"/>
          </p:nvPr>
        </p:nvSpPr>
        <p:spPr>
          <a:xfrm>
            <a:off x="1066800" y="642594"/>
            <a:ext cx="10058400" cy="8378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400"/>
              <a:buFont typeface="Garamond"/>
              <a:buNone/>
            </a:pPr>
            <a:r>
              <a:rPr b="1" lang="es-BO" sz="4400"/>
              <a:t>SENSOR DE PRESIÓN</a:t>
            </a:r>
            <a:endParaRPr sz="4400"/>
          </a:p>
        </p:txBody>
      </p:sp>
      <p:graphicFrame>
        <p:nvGraphicFramePr>
          <p:cNvPr id="762" name="Google Shape;762;p58"/>
          <p:cNvGraphicFramePr/>
          <p:nvPr/>
        </p:nvGraphicFramePr>
        <p:xfrm>
          <a:off x="1066800" y="2061391"/>
          <a:ext cx="3000000" cy="3000000"/>
        </p:xfrm>
        <a:graphic>
          <a:graphicData uri="http://schemas.openxmlformats.org/drawingml/2006/table">
            <a:tbl>
              <a:tblPr bandCol="1" bandRow="1" firstCol="1" firstRow="1" lastCol="1" lastRow="1">
                <a:gradFill>
                  <a:gsLst>
                    <a:gs pos="0">
                      <a:srgbClr val="F5DFBC"/>
                    </a:gs>
                    <a:gs pos="100000">
                      <a:srgbClr val="F0D3A1"/>
                    </a:gs>
                  </a:gsLst>
                  <a:lin ang="5400000" scaled="0"/>
                </a:gradFill>
                <a:tableStyleId>{E9B0015F-6B1D-432F-86ED-4B0E651A7965}</a:tableStyleId>
              </a:tblPr>
              <a:tblGrid>
                <a:gridCol w="1651475"/>
                <a:gridCol w="1516350"/>
                <a:gridCol w="1111000"/>
              </a:tblGrid>
              <a:tr h="144775">
                <a:tc>
                  <a:txBody>
                    <a:bodyPr/>
                    <a:lstStyle/>
                    <a:p>
                      <a:pPr indent="0" lvl="0" marL="0" marR="0" rtl="0" algn="ctr">
                        <a:spcBef>
                          <a:spcPts val="0"/>
                        </a:spcBef>
                        <a:spcAft>
                          <a:spcPts val="0"/>
                        </a:spcAft>
                        <a:buNone/>
                      </a:pPr>
                      <a:r>
                        <a:rPr lang="es-BO" sz="1800" u="none" cap="none" strike="noStrike"/>
                        <a:t>ALTURA[CM]</a:t>
                      </a:r>
                      <a:endParaRPr/>
                    </a:p>
                  </a:txBody>
                  <a:tcPr marT="0" marB="0" marR="22850" marL="22850" anchor="ctr"/>
                </a:tc>
                <a:tc>
                  <a:txBody>
                    <a:bodyPr/>
                    <a:lstStyle/>
                    <a:p>
                      <a:pPr indent="0" lvl="0" marL="0" marR="0" rtl="0" algn="ctr">
                        <a:spcBef>
                          <a:spcPts val="0"/>
                        </a:spcBef>
                        <a:spcAft>
                          <a:spcPts val="0"/>
                        </a:spcAft>
                        <a:buNone/>
                      </a:pPr>
                      <a:r>
                        <a:rPr lang="es-BO" sz="1800" u="none" cap="none" strike="noStrike"/>
                        <a:t>CORRIENTE[Ma]</a:t>
                      </a:r>
                      <a:endParaRPr/>
                    </a:p>
                  </a:txBody>
                  <a:tcPr marT="0" marB="0" marR="22850" marL="22850" anchor="ctr"/>
                </a:tc>
                <a:tc>
                  <a:txBody>
                    <a:bodyPr/>
                    <a:lstStyle/>
                    <a:p>
                      <a:pPr indent="0" lvl="0" marL="0" marR="0" rtl="0" algn="ctr">
                        <a:spcBef>
                          <a:spcPts val="0"/>
                        </a:spcBef>
                        <a:spcAft>
                          <a:spcPts val="0"/>
                        </a:spcAft>
                        <a:buNone/>
                      </a:pPr>
                      <a:r>
                        <a:rPr lang="es-BO" sz="1800" u="none" cap="none" strike="noStrike"/>
                        <a:t>Corriente prueba</a:t>
                      </a:r>
                      <a:endParaRPr sz="1800" u="none" cap="none" strike="noStrike"/>
                    </a:p>
                  </a:txBody>
                  <a:tcPr marT="0" marB="0" marR="22850" marL="22850" anchor="ctr"/>
                </a:tc>
              </a:tr>
              <a:tr h="144775">
                <a:tc>
                  <a:txBody>
                    <a:bodyPr/>
                    <a:lstStyle/>
                    <a:p>
                      <a:pPr indent="0" lvl="0" marL="0" marR="0" rtl="0" algn="ctr">
                        <a:spcBef>
                          <a:spcPts val="0"/>
                        </a:spcBef>
                        <a:spcAft>
                          <a:spcPts val="0"/>
                        </a:spcAft>
                        <a:buNone/>
                      </a:pPr>
                      <a:r>
                        <a:rPr lang="es-BO" sz="1800" u="none" cap="none" strike="noStrike"/>
                        <a:t>0</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3,8</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3,8</a:t>
                      </a:r>
                      <a:endParaRPr/>
                    </a:p>
                  </a:txBody>
                  <a:tcPr marT="0" marB="0" marR="22850" marL="22850" anchor="b"/>
                </a:tc>
              </a:tr>
              <a:tr h="144775">
                <a:tc>
                  <a:txBody>
                    <a:bodyPr/>
                    <a:lstStyle/>
                    <a:p>
                      <a:pPr indent="0" lvl="0" marL="0" marR="0" rtl="0" algn="ctr">
                        <a:spcBef>
                          <a:spcPts val="0"/>
                        </a:spcBef>
                        <a:spcAft>
                          <a:spcPts val="0"/>
                        </a:spcAft>
                        <a:buNone/>
                      </a:pPr>
                      <a:r>
                        <a:rPr lang="es-BO" sz="1800" u="none" cap="none" strike="noStrike"/>
                        <a:t>5</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4,2</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3,97</a:t>
                      </a:r>
                      <a:endParaRPr/>
                    </a:p>
                  </a:txBody>
                  <a:tcPr marT="0" marB="0" marR="22850" marL="22850" anchor="b"/>
                </a:tc>
              </a:tr>
              <a:tr h="144775">
                <a:tc>
                  <a:txBody>
                    <a:bodyPr/>
                    <a:lstStyle/>
                    <a:p>
                      <a:pPr indent="0" lvl="0" marL="0" marR="0" rtl="0" algn="ctr">
                        <a:spcBef>
                          <a:spcPts val="0"/>
                        </a:spcBef>
                        <a:spcAft>
                          <a:spcPts val="0"/>
                        </a:spcAft>
                        <a:buNone/>
                      </a:pPr>
                      <a:r>
                        <a:rPr lang="es-BO" sz="1800" u="none" cap="none" strike="noStrike"/>
                        <a:t>10</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4,2</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4,36</a:t>
                      </a:r>
                      <a:endParaRPr/>
                    </a:p>
                  </a:txBody>
                  <a:tcPr marT="0" marB="0" marR="22850" marL="22850" anchor="b"/>
                </a:tc>
              </a:tr>
              <a:tr h="144775">
                <a:tc>
                  <a:txBody>
                    <a:bodyPr/>
                    <a:lstStyle/>
                    <a:p>
                      <a:pPr indent="0" lvl="0" marL="0" marR="0" rtl="0" algn="ctr">
                        <a:spcBef>
                          <a:spcPts val="0"/>
                        </a:spcBef>
                        <a:spcAft>
                          <a:spcPts val="0"/>
                        </a:spcAft>
                        <a:buNone/>
                      </a:pPr>
                      <a:r>
                        <a:rPr lang="es-BO" sz="1800" u="none" cap="none" strike="noStrike"/>
                        <a:t>15</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4,7</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4,75</a:t>
                      </a:r>
                      <a:endParaRPr/>
                    </a:p>
                  </a:txBody>
                  <a:tcPr marT="0" marB="0" marR="22850" marL="22850" anchor="b"/>
                </a:tc>
              </a:tr>
              <a:tr h="144775">
                <a:tc>
                  <a:txBody>
                    <a:bodyPr/>
                    <a:lstStyle/>
                    <a:p>
                      <a:pPr indent="0" lvl="0" marL="0" marR="0" rtl="0" algn="ctr">
                        <a:spcBef>
                          <a:spcPts val="0"/>
                        </a:spcBef>
                        <a:spcAft>
                          <a:spcPts val="0"/>
                        </a:spcAft>
                        <a:buNone/>
                      </a:pPr>
                      <a:r>
                        <a:rPr lang="es-BO" sz="1800" u="none" cap="none" strike="noStrike"/>
                        <a:t>20</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5,19</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5,15</a:t>
                      </a:r>
                      <a:endParaRPr/>
                    </a:p>
                  </a:txBody>
                  <a:tcPr marT="0" marB="0" marR="22850" marL="22850" anchor="b"/>
                </a:tc>
              </a:tr>
              <a:tr h="144775">
                <a:tc>
                  <a:txBody>
                    <a:bodyPr/>
                    <a:lstStyle/>
                    <a:p>
                      <a:pPr indent="0" lvl="0" marL="0" marR="0" rtl="0" algn="ctr">
                        <a:spcBef>
                          <a:spcPts val="0"/>
                        </a:spcBef>
                        <a:spcAft>
                          <a:spcPts val="0"/>
                        </a:spcAft>
                        <a:buNone/>
                      </a:pPr>
                      <a:r>
                        <a:rPr lang="es-BO" sz="1800" u="none" cap="none" strike="noStrike"/>
                        <a:t>25</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5,4</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5,54</a:t>
                      </a:r>
                      <a:endParaRPr/>
                    </a:p>
                  </a:txBody>
                  <a:tcPr marT="0" marB="0" marR="22850" marL="22850" anchor="b"/>
                </a:tc>
              </a:tr>
              <a:tr h="144775">
                <a:tc>
                  <a:txBody>
                    <a:bodyPr/>
                    <a:lstStyle/>
                    <a:p>
                      <a:pPr indent="0" lvl="0" marL="0" marR="0" rtl="0" algn="ctr">
                        <a:spcBef>
                          <a:spcPts val="0"/>
                        </a:spcBef>
                        <a:spcAft>
                          <a:spcPts val="0"/>
                        </a:spcAft>
                        <a:buNone/>
                      </a:pPr>
                      <a:r>
                        <a:rPr lang="es-BO" sz="1800" u="none" cap="none" strike="noStrike"/>
                        <a:t>30</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5,8</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5,92</a:t>
                      </a:r>
                      <a:endParaRPr/>
                    </a:p>
                  </a:txBody>
                  <a:tcPr marT="0" marB="0" marR="22850" marL="22850" anchor="b"/>
                </a:tc>
              </a:tr>
              <a:tr h="144775">
                <a:tc>
                  <a:txBody>
                    <a:bodyPr/>
                    <a:lstStyle/>
                    <a:p>
                      <a:pPr indent="0" lvl="0" marL="0" marR="0" rtl="0" algn="ctr">
                        <a:spcBef>
                          <a:spcPts val="0"/>
                        </a:spcBef>
                        <a:spcAft>
                          <a:spcPts val="0"/>
                        </a:spcAft>
                        <a:buNone/>
                      </a:pPr>
                      <a:r>
                        <a:rPr lang="es-BO" sz="1800" u="none" cap="none" strike="noStrike"/>
                        <a:t>35</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6,3</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6,31</a:t>
                      </a:r>
                      <a:endParaRPr/>
                    </a:p>
                  </a:txBody>
                  <a:tcPr marT="0" marB="0" marR="22850" marL="22850" anchor="b"/>
                </a:tc>
              </a:tr>
              <a:tr h="144775">
                <a:tc>
                  <a:txBody>
                    <a:bodyPr/>
                    <a:lstStyle/>
                    <a:p>
                      <a:pPr indent="0" lvl="0" marL="0" marR="0" rtl="0" algn="ctr">
                        <a:spcBef>
                          <a:spcPts val="0"/>
                        </a:spcBef>
                        <a:spcAft>
                          <a:spcPts val="0"/>
                        </a:spcAft>
                        <a:buNone/>
                      </a:pPr>
                      <a:r>
                        <a:rPr lang="es-BO" sz="1800" u="none" cap="none" strike="noStrike"/>
                        <a:t>40</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6,72</a:t>
                      </a:r>
                      <a:endParaRPr/>
                    </a:p>
                  </a:txBody>
                  <a:tcPr marT="0" marB="0" marR="22850" marL="22850" anchor="b"/>
                </a:tc>
                <a:tc>
                  <a:txBody>
                    <a:bodyPr/>
                    <a:lstStyle/>
                    <a:p>
                      <a:pPr indent="0" lvl="0" marL="0" marR="0" rtl="0" algn="ctr">
                        <a:spcBef>
                          <a:spcPts val="0"/>
                        </a:spcBef>
                        <a:spcAft>
                          <a:spcPts val="0"/>
                        </a:spcAft>
                        <a:buNone/>
                      </a:pPr>
                      <a:r>
                        <a:rPr lang="es-BO" sz="1800" u="none" cap="none" strike="noStrike"/>
                        <a:t>6,72</a:t>
                      </a:r>
                      <a:endParaRPr/>
                    </a:p>
                  </a:txBody>
                  <a:tcPr marT="0" marB="0" marR="22850" marL="22850" anchor="b"/>
                </a:tc>
              </a:tr>
            </a:tbl>
          </a:graphicData>
        </a:graphic>
      </p:graphicFrame>
      <p:graphicFrame>
        <p:nvGraphicFramePr>
          <p:cNvPr id="763" name="Google Shape;763;p58"/>
          <p:cNvGraphicFramePr/>
          <p:nvPr/>
        </p:nvGraphicFramePr>
        <p:xfrm>
          <a:off x="5345612" y="1493881"/>
          <a:ext cx="6209212" cy="4152175"/>
        </p:xfrm>
        <a:graphic>
          <a:graphicData uri="http://schemas.openxmlformats.org/drawingml/2006/chart">
            <c:chart r:id="rId3"/>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59"/>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000"/>
              <a:buFont typeface="Garamond"/>
              <a:buNone/>
            </a:pPr>
            <a:r>
              <a:rPr b="1" lang="es-BO" sz="4000"/>
              <a:t>SENSOR TC</a:t>
            </a:r>
            <a:endParaRPr b="1" sz="4000"/>
          </a:p>
        </p:txBody>
      </p:sp>
      <p:grpSp>
        <p:nvGrpSpPr>
          <p:cNvPr id="769" name="Google Shape;769;p59"/>
          <p:cNvGrpSpPr/>
          <p:nvPr/>
        </p:nvGrpSpPr>
        <p:grpSpPr>
          <a:xfrm>
            <a:off x="456445" y="1172994"/>
            <a:ext cx="9825120" cy="5212079"/>
            <a:chOff x="0" y="0"/>
            <a:chExt cx="9825120" cy="5212079"/>
          </a:xfrm>
        </p:grpSpPr>
        <p:sp>
          <p:nvSpPr>
            <p:cNvPr id="770" name="Google Shape;770;p59"/>
            <p:cNvSpPr/>
            <p:nvPr/>
          </p:nvSpPr>
          <p:spPr>
            <a:xfrm>
              <a:off x="0" y="0"/>
              <a:ext cx="7744967" cy="938174"/>
            </a:xfrm>
            <a:prstGeom prst="roundRect">
              <a:avLst>
                <a:gd fmla="val 10000" name="adj"/>
              </a:avLst>
            </a:prstGeom>
            <a:solidFill>
              <a:srgbClr val="C19015"/>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59"/>
            <p:cNvSpPr txBox="1"/>
            <p:nvPr/>
          </p:nvSpPr>
          <p:spPr>
            <a:xfrm>
              <a:off x="27478" y="27478"/>
              <a:ext cx="6622838" cy="883218"/>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PRINCIPIO DE FUNCIONAMIENTO</a:t>
              </a:r>
              <a:endParaRPr/>
            </a:p>
            <a:p>
              <a:pPr indent="0" lvl="0" marL="0" marR="0" rtl="0" algn="ctr">
                <a:lnSpc>
                  <a:spcPct val="90000"/>
                </a:lnSpc>
                <a:spcBef>
                  <a:spcPts val="70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Los termopares son sensores de temperatura robustos cuyo principio de medición se basa en el efecto Seebeck </a:t>
              </a:r>
              <a:endParaRPr sz="2000">
                <a:solidFill>
                  <a:schemeClr val="dk1"/>
                </a:solidFill>
                <a:latin typeface="Garamond"/>
                <a:ea typeface="Garamond"/>
                <a:cs typeface="Garamond"/>
                <a:sym typeface="Garamond"/>
              </a:endParaRPr>
            </a:p>
          </p:txBody>
        </p:sp>
        <p:sp>
          <p:nvSpPr>
            <p:cNvPr id="772" name="Google Shape;772;p59"/>
            <p:cNvSpPr/>
            <p:nvPr/>
          </p:nvSpPr>
          <p:spPr>
            <a:xfrm>
              <a:off x="578358" y="1068476"/>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59"/>
            <p:cNvSpPr txBox="1"/>
            <p:nvPr/>
          </p:nvSpPr>
          <p:spPr>
            <a:xfrm>
              <a:off x="605836" y="1095954"/>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b="0" lang="es-BO" sz="2000">
                  <a:solidFill>
                    <a:schemeClr val="dk1"/>
                  </a:solidFill>
                  <a:latin typeface="Garamond"/>
                  <a:ea typeface="Garamond"/>
                  <a:cs typeface="Garamond"/>
                  <a:sym typeface="Garamond"/>
                </a:rPr>
                <a:t>Consta de dos hilos metálicos homogéneos pero diferentes entre si y aislados en toda su longitud. Los dos cables son soldados juntos en un extremo.</a:t>
              </a:r>
              <a:endParaRPr sz="2000">
                <a:solidFill>
                  <a:schemeClr val="dk1"/>
                </a:solidFill>
                <a:latin typeface="Garamond"/>
                <a:ea typeface="Garamond"/>
                <a:cs typeface="Garamond"/>
                <a:sym typeface="Garamond"/>
              </a:endParaRPr>
            </a:p>
          </p:txBody>
        </p:sp>
        <p:sp>
          <p:nvSpPr>
            <p:cNvPr id="774" name="Google Shape;774;p59"/>
            <p:cNvSpPr/>
            <p:nvPr/>
          </p:nvSpPr>
          <p:spPr>
            <a:xfrm>
              <a:off x="1156716" y="2169620"/>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59"/>
            <p:cNvSpPr txBox="1"/>
            <p:nvPr/>
          </p:nvSpPr>
          <p:spPr>
            <a:xfrm>
              <a:off x="1184194" y="2197098"/>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El extremo es llamado “unión caliente o de medición” y el otro extremo es conocido como “unión fría o de referencia”</a:t>
              </a:r>
              <a:endParaRPr sz="2000">
                <a:solidFill>
                  <a:schemeClr val="dk1"/>
                </a:solidFill>
                <a:latin typeface="Garamond"/>
                <a:ea typeface="Garamond"/>
                <a:cs typeface="Garamond"/>
                <a:sym typeface="Garamond"/>
              </a:endParaRPr>
            </a:p>
          </p:txBody>
        </p:sp>
        <p:sp>
          <p:nvSpPr>
            <p:cNvPr id="776" name="Google Shape;776;p59"/>
            <p:cNvSpPr/>
            <p:nvPr/>
          </p:nvSpPr>
          <p:spPr>
            <a:xfrm>
              <a:off x="1735073" y="3205429"/>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59"/>
            <p:cNvSpPr txBox="1"/>
            <p:nvPr/>
          </p:nvSpPr>
          <p:spPr>
            <a:xfrm>
              <a:off x="1762551" y="3232907"/>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Cuando se conectan en un punto los dos conductores eléctricos de distintos materiales, puede medirse una tensión eléctrica débil entre los dos extremos abiertos </a:t>
              </a:r>
              <a:endParaRPr/>
            </a:p>
          </p:txBody>
        </p:sp>
        <p:sp>
          <p:nvSpPr>
            <p:cNvPr id="778" name="Google Shape;778;p59"/>
            <p:cNvSpPr/>
            <p:nvPr/>
          </p:nvSpPr>
          <p:spPr>
            <a:xfrm>
              <a:off x="2080153" y="427390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59"/>
            <p:cNvSpPr txBox="1"/>
            <p:nvPr/>
          </p:nvSpPr>
          <p:spPr>
            <a:xfrm>
              <a:off x="2107631" y="4301383"/>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b="0" lang="es-BO" sz="2000">
                  <a:solidFill>
                    <a:schemeClr val="dk1"/>
                  </a:solidFill>
                  <a:latin typeface="Garamond"/>
                  <a:ea typeface="Garamond"/>
                  <a:cs typeface="Garamond"/>
                  <a:sym typeface="Garamond"/>
                </a:rPr>
                <a:t>Siempre que haya un gradiente de temperatura en los conductores, esta tensión es denominada “tensión termo eléctrica”</a:t>
              </a:r>
              <a:endParaRPr sz="2000">
                <a:solidFill>
                  <a:schemeClr val="dk1"/>
                </a:solidFill>
                <a:latin typeface="Garamond"/>
                <a:ea typeface="Garamond"/>
                <a:cs typeface="Garamond"/>
                <a:sym typeface="Garamond"/>
              </a:endParaRPr>
            </a:p>
          </p:txBody>
        </p:sp>
        <p:sp>
          <p:nvSpPr>
            <p:cNvPr id="780" name="Google Shape;780;p59"/>
            <p:cNvSpPr/>
            <p:nvPr/>
          </p:nvSpPr>
          <p:spPr>
            <a:xfrm>
              <a:off x="7135154" y="685388"/>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59"/>
            <p:cNvSpPr txBox="1"/>
            <p:nvPr/>
          </p:nvSpPr>
          <p:spPr>
            <a:xfrm>
              <a:off x="7272362" y="685388"/>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782" name="Google Shape;782;p59"/>
            <p:cNvSpPr/>
            <p:nvPr/>
          </p:nvSpPr>
          <p:spPr>
            <a:xfrm>
              <a:off x="7713512" y="1753864"/>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59"/>
            <p:cNvSpPr txBox="1"/>
            <p:nvPr/>
          </p:nvSpPr>
          <p:spPr>
            <a:xfrm>
              <a:off x="7850720" y="1753864"/>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784" name="Google Shape;784;p59"/>
            <p:cNvSpPr/>
            <p:nvPr/>
          </p:nvSpPr>
          <p:spPr>
            <a:xfrm>
              <a:off x="8291870" y="28067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59"/>
            <p:cNvSpPr txBox="1"/>
            <p:nvPr/>
          </p:nvSpPr>
          <p:spPr>
            <a:xfrm>
              <a:off x="8429078" y="28067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786" name="Google Shape;786;p59"/>
            <p:cNvSpPr/>
            <p:nvPr/>
          </p:nvSpPr>
          <p:spPr>
            <a:xfrm>
              <a:off x="8870228" y="38856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59"/>
            <p:cNvSpPr txBox="1"/>
            <p:nvPr/>
          </p:nvSpPr>
          <p:spPr>
            <a:xfrm>
              <a:off x="9007436" y="38856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descr="trabajo de fin de grado" id="788" name="Google Shape;788;p59"/>
          <p:cNvPicPr preferRelativeResize="0"/>
          <p:nvPr/>
        </p:nvPicPr>
        <p:blipFill rotWithShape="1">
          <a:blip r:embed="rId3">
            <a:alphaModFix/>
          </a:blip>
          <a:srcRect b="0" l="0" r="0" t="0"/>
          <a:stretch/>
        </p:blipFill>
        <p:spPr>
          <a:xfrm>
            <a:off x="8890597" y="1779220"/>
            <a:ext cx="2527100" cy="1190133"/>
          </a:xfrm>
          <a:prstGeom prst="rect">
            <a:avLst/>
          </a:prstGeom>
          <a:noFill/>
          <a:ln>
            <a:noFill/>
          </a:ln>
        </p:spPr>
      </p:pic>
      <p:pic>
        <p:nvPicPr>
          <p:cNvPr descr="Ciencia, inventos y experimentos en casa: Efecto Seebeck Peltier" id="789" name="Google Shape;789;p59"/>
          <p:cNvPicPr preferRelativeResize="0"/>
          <p:nvPr/>
        </p:nvPicPr>
        <p:blipFill rotWithShape="1">
          <a:blip r:embed="rId4">
            <a:alphaModFix/>
          </a:blip>
          <a:srcRect b="0" l="0" r="0" t="0"/>
          <a:stretch/>
        </p:blipFill>
        <p:spPr>
          <a:xfrm>
            <a:off x="9938704" y="3124919"/>
            <a:ext cx="1478993" cy="1044539"/>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60"/>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lang="es-BO"/>
              <a:t>SENSOR DE TEMPERATURA TC</a:t>
            </a:r>
            <a:endParaRPr/>
          </a:p>
        </p:txBody>
      </p:sp>
      <p:sp>
        <p:nvSpPr>
          <p:cNvPr id="795" name="Google Shape;795;p60"/>
          <p:cNvSpPr txBox="1"/>
          <p:nvPr>
            <p:ph idx="1" type="body"/>
          </p:nvPr>
        </p:nvSpPr>
        <p:spPr>
          <a:xfrm>
            <a:off x="1066800" y="2103120"/>
            <a:ext cx="5676900" cy="39319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lang="es-BO"/>
              <a:t>CARACTERISTICAS</a:t>
            </a:r>
            <a:endParaRPr/>
          </a:p>
          <a:p>
            <a:pPr indent="0" lvl="0" marL="0" rtl="0" algn="l">
              <a:lnSpc>
                <a:spcPct val="100000"/>
              </a:lnSpc>
              <a:spcBef>
                <a:spcPts val="900"/>
              </a:spcBef>
              <a:spcAft>
                <a:spcPts val="0"/>
              </a:spcAft>
              <a:buSzPts val="1800"/>
              <a:buNone/>
            </a:pPr>
            <a:r>
              <a:rPr b="1" i="1" lang="es-BO"/>
              <a:t>TERMOCUPLA TD12</a:t>
            </a:r>
            <a:endParaRPr/>
          </a:p>
          <a:p>
            <a:pPr indent="-182880" lvl="0" marL="182880" rtl="0" algn="l">
              <a:lnSpc>
                <a:spcPct val="100000"/>
              </a:lnSpc>
              <a:spcBef>
                <a:spcPts val="900"/>
              </a:spcBef>
              <a:spcAft>
                <a:spcPts val="0"/>
              </a:spcAft>
              <a:buSzPts val="1800"/>
              <a:buChar char="◦"/>
            </a:pPr>
            <a:r>
              <a:rPr lang="es-BO"/>
              <a:t>Tipo de sensor: TC12 “J” termómetro TC modular</a:t>
            </a:r>
            <a:endParaRPr/>
          </a:p>
          <a:p>
            <a:pPr indent="-182880" lvl="0" marL="182880" rtl="0" algn="l">
              <a:lnSpc>
                <a:spcPct val="100000"/>
              </a:lnSpc>
              <a:spcBef>
                <a:spcPts val="900"/>
              </a:spcBef>
              <a:spcAft>
                <a:spcPts val="0"/>
              </a:spcAft>
              <a:buSzPts val="1800"/>
              <a:buChar char="◦"/>
            </a:pPr>
            <a:r>
              <a:rPr lang="es-BO"/>
              <a:t>Rango de temperatura de operacion: -40</a:t>
            </a:r>
            <a:r>
              <a:rPr b="0" i="0" lang="es-BO">
                <a:solidFill>
                  <a:srgbClr val="333333"/>
                </a:solidFill>
                <a:latin typeface="Arial"/>
                <a:ea typeface="Arial"/>
                <a:cs typeface="Arial"/>
                <a:sym typeface="Arial"/>
              </a:rPr>
              <a:t>°</a:t>
            </a:r>
            <a:r>
              <a:rPr lang="es-BO"/>
              <a:t>C – 750</a:t>
            </a:r>
            <a:r>
              <a:rPr b="0" i="0" lang="es-BO">
                <a:solidFill>
                  <a:srgbClr val="333333"/>
                </a:solidFill>
                <a:latin typeface="Arial"/>
                <a:ea typeface="Arial"/>
                <a:cs typeface="Arial"/>
                <a:sym typeface="Arial"/>
              </a:rPr>
              <a:t>°</a:t>
            </a:r>
            <a:r>
              <a:rPr lang="es-BO"/>
              <a:t>C</a:t>
            </a:r>
            <a:endParaRPr/>
          </a:p>
          <a:p>
            <a:pPr indent="-182880" lvl="0" marL="182880" rtl="0" algn="l">
              <a:lnSpc>
                <a:spcPct val="100000"/>
              </a:lnSpc>
              <a:spcBef>
                <a:spcPts val="900"/>
              </a:spcBef>
              <a:spcAft>
                <a:spcPts val="0"/>
              </a:spcAft>
              <a:buSzPts val="1800"/>
              <a:buChar char="◦"/>
            </a:pPr>
            <a:r>
              <a:rPr lang="es-BO"/>
              <a:t>Máxima presión de proceso: a 20</a:t>
            </a:r>
            <a:r>
              <a:rPr b="0" i="0" lang="es-BO">
                <a:solidFill>
                  <a:srgbClr val="333333"/>
                </a:solidFill>
                <a:latin typeface="Arial"/>
                <a:ea typeface="Arial"/>
                <a:cs typeface="Arial"/>
                <a:sym typeface="Arial"/>
              </a:rPr>
              <a:t>°</a:t>
            </a:r>
            <a:r>
              <a:rPr b="0" i="0" lang="es-BO">
                <a:solidFill>
                  <a:srgbClr val="333333"/>
                </a:solidFill>
                <a:latin typeface="Times New Roman"/>
                <a:ea typeface="Times New Roman"/>
                <a:cs typeface="Times New Roman"/>
                <a:sym typeface="Times New Roman"/>
              </a:rPr>
              <a:t>C es 40 bar (580psi)</a:t>
            </a:r>
            <a:endParaRPr>
              <a:latin typeface="Times New Roman"/>
              <a:ea typeface="Times New Roman"/>
              <a:cs typeface="Times New Roman"/>
              <a:sym typeface="Times New Roman"/>
            </a:endParaRPr>
          </a:p>
          <a:p>
            <a:pPr indent="-182880" lvl="0" marL="182880" rtl="0" algn="l">
              <a:lnSpc>
                <a:spcPct val="100000"/>
              </a:lnSpc>
              <a:spcBef>
                <a:spcPts val="900"/>
              </a:spcBef>
              <a:spcAft>
                <a:spcPts val="0"/>
              </a:spcAft>
              <a:buSzPts val="1800"/>
              <a:buChar char="◦"/>
            </a:pPr>
            <a:r>
              <a:rPr lang="es-BO"/>
              <a:t>Consumo de corriente: &lt; 50mA</a:t>
            </a:r>
            <a:endParaRPr/>
          </a:p>
          <a:p>
            <a:pPr indent="-182880" lvl="0" marL="182880" rtl="0" algn="l">
              <a:lnSpc>
                <a:spcPct val="100000"/>
              </a:lnSpc>
              <a:spcBef>
                <a:spcPts val="900"/>
              </a:spcBef>
              <a:spcAft>
                <a:spcPts val="0"/>
              </a:spcAft>
              <a:buSzPts val="1800"/>
              <a:buChar char="◦"/>
            </a:pPr>
            <a:r>
              <a:rPr lang="es-BO"/>
              <a:t>Rango de temperatura: - 20 </a:t>
            </a:r>
            <a:r>
              <a:rPr b="0" i="0" lang="es-BO">
                <a:solidFill>
                  <a:srgbClr val="333333"/>
                </a:solidFill>
                <a:latin typeface="Arial"/>
                <a:ea typeface="Arial"/>
                <a:cs typeface="Arial"/>
                <a:sym typeface="Arial"/>
              </a:rPr>
              <a:t>°C</a:t>
            </a:r>
            <a:r>
              <a:rPr lang="es-BO"/>
              <a:t>– 70</a:t>
            </a:r>
            <a:r>
              <a:rPr b="0" i="0" lang="es-BO">
                <a:solidFill>
                  <a:srgbClr val="333333"/>
                </a:solidFill>
                <a:latin typeface="Arial"/>
                <a:ea typeface="Arial"/>
                <a:cs typeface="Arial"/>
                <a:sym typeface="Arial"/>
              </a:rPr>
              <a:t> ° </a:t>
            </a:r>
            <a:r>
              <a:rPr lang="es-BO"/>
              <a:t>C</a:t>
            </a:r>
            <a:endParaRPr/>
          </a:p>
          <a:p>
            <a:pPr indent="-182880" lvl="0" marL="182880" rtl="0" algn="l">
              <a:lnSpc>
                <a:spcPct val="100000"/>
              </a:lnSpc>
              <a:spcBef>
                <a:spcPts val="900"/>
              </a:spcBef>
              <a:spcAft>
                <a:spcPts val="0"/>
              </a:spcAft>
              <a:buSzPts val="1800"/>
              <a:buChar char="◦"/>
            </a:pPr>
            <a:r>
              <a:rPr lang="es-BO"/>
              <a:t>Material: plástico - PBT</a:t>
            </a:r>
            <a:endParaRPr/>
          </a:p>
        </p:txBody>
      </p:sp>
      <p:pic>
        <p:nvPicPr>
          <p:cNvPr id="796" name="Google Shape;796;p60"/>
          <p:cNvPicPr preferRelativeResize="0"/>
          <p:nvPr/>
        </p:nvPicPr>
        <p:blipFill rotWithShape="1">
          <a:blip r:embed="rId3">
            <a:alphaModFix/>
          </a:blip>
          <a:srcRect b="0" l="0" r="0" t="0"/>
          <a:stretch/>
        </p:blipFill>
        <p:spPr>
          <a:xfrm>
            <a:off x="6333744" y="2007108"/>
            <a:ext cx="5370576" cy="4027932"/>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61"/>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lang="es-BO"/>
              <a:t>SENSOR DE TEMPERATURA TC</a:t>
            </a:r>
            <a:endParaRPr/>
          </a:p>
        </p:txBody>
      </p:sp>
      <p:sp>
        <p:nvSpPr>
          <p:cNvPr id="802" name="Google Shape;802;p61"/>
          <p:cNvSpPr txBox="1"/>
          <p:nvPr>
            <p:ph idx="1" type="body"/>
          </p:nvPr>
        </p:nvSpPr>
        <p:spPr>
          <a:xfrm>
            <a:off x="1066800" y="2103120"/>
            <a:ext cx="5676900" cy="39319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lang="es-BO"/>
              <a:t>DIAGNOSTICO</a:t>
            </a:r>
            <a:endParaRPr/>
          </a:p>
          <a:p>
            <a:pPr indent="0" lvl="0" marL="0" rtl="0" algn="l">
              <a:lnSpc>
                <a:spcPct val="100000"/>
              </a:lnSpc>
              <a:spcBef>
                <a:spcPts val="900"/>
              </a:spcBef>
              <a:spcAft>
                <a:spcPts val="0"/>
              </a:spcAft>
              <a:buSzPts val="1800"/>
              <a:buNone/>
            </a:pPr>
            <a:r>
              <a:rPr lang="es-BO"/>
              <a:t>El sensor no presentaba daños visualmente, por lo que se procede a realizar las pruebas de funcionamiento.</a:t>
            </a:r>
            <a:endParaRPr/>
          </a:p>
          <a:p>
            <a:pPr indent="0" lvl="0" marL="0" rtl="0" algn="l">
              <a:lnSpc>
                <a:spcPct val="100000"/>
              </a:lnSpc>
              <a:spcBef>
                <a:spcPts val="900"/>
              </a:spcBef>
              <a:spcAft>
                <a:spcPts val="0"/>
              </a:spcAft>
              <a:buSzPts val="1800"/>
              <a:buNone/>
            </a:pPr>
            <a:r>
              <a:rPr lang="es-BO"/>
              <a:t>Por lo que procedemos a conectar el los pines del sensor un termómetro digital para obtener los datos de salida.</a:t>
            </a:r>
            <a:endParaRPr/>
          </a:p>
          <a:p>
            <a:pPr indent="0" lvl="0" marL="0" rtl="0" algn="l">
              <a:lnSpc>
                <a:spcPct val="100000"/>
              </a:lnSpc>
              <a:spcBef>
                <a:spcPts val="900"/>
              </a:spcBef>
              <a:spcAft>
                <a:spcPts val="0"/>
              </a:spcAft>
              <a:buSzPts val="1800"/>
              <a:buNone/>
            </a:pPr>
            <a:r>
              <a:rPr lang="es-BO"/>
              <a:t>Para poder obtener </a:t>
            </a:r>
            <a:endParaRPr/>
          </a:p>
        </p:txBody>
      </p:sp>
      <p:pic>
        <p:nvPicPr>
          <p:cNvPr id="803" name="Google Shape;803;p61"/>
          <p:cNvPicPr preferRelativeResize="0"/>
          <p:nvPr/>
        </p:nvPicPr>
        <p:blipFill rotWithShape="1">
          <a:blip r:embed="rId3">
            <a:alphaModFix/>
          </a:blip>
          <a:srcRect b="0" l="0" r="0" t="0"/>
          <a:stretch/>
        </p:blipFill>
        <p:spPr>
          <a:xfrm>
            <a:off x="6999732" y="2103120"/>
            <a:ext cx="3706368" cy="277977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62"/>
          <p:cNvSpPr txBox="1"/>
          <p:nvPr>
            <p:ph type="title"/>
          </p:nvPr>
        </p:nvSpPr>
        <p:spPr>
          <a:xfrm>
            <a:off x="1066800" y="642594"/>
            <a:ext cx="10058400" cy="9394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62626"/>
              </a:buClr>
              <a:buSzPct val="100000"/>
              <a:buFont typeface="Garamond"/>
              <a:buNone/>
            </a:pPr>
            <a:r>
              <a:rPr b="1" lang="es-BO" sz="4400"/>
              <a:t>SENSOR DE TEMPERATURA</a:t>
            </a:r>
            <a:br>
              <a:rPr b="1" lang="es-BO" sz="4400"/>
            </a:br>
            <a:r>
              <a:rPr b="1" lang="es-BO" sz="3600"/>
              <a:t>Termocupla TC </a:t>
            </a:r>
            <a:endParaRPr b="1" sz="4400"/>
          </a:p>
        </p:txBody>
      </p:sp>
      <p:graphicFrame>
        <p:nvGraphicFramePr>
          <p:cNvPr id="809" name="Google Shape;809;p62"/>
          <p:cNvGraphicFramePr/>
          <p:nvPr/>
        </p:nvGraphicFramePr>
        <p:xfrm>
          <a:off x="1193800" y="1988457"/>
          <a:ext cx="3000000" cy="3000000"/>
        </p:xfrm>
        <a:graphic>
          <a:graphicData uri="http://schemas.openxmlformats.org/drawingml/2006/table">
            <a:tbl>
              <a:tblPr bandRow="1" firstCol="1" firstRow="1" lastCol="1">
                <a:noFill/>
                <a:tableStyleId>{BC709364-A7B2-4693-9990-78690F8EEA3F}</a:tableStyleId>
              </a:tblPr>
              <a:tblGrid>
                <a:gridCol w="1739900"/>
                <a:gridCol w="1181150"/>
                <a:gridCol w="1026800"/>
              </a:tblGrid>
              <a:tr h="194825">
                <a:tc gridSpan="3">
                  <a:txBody>
                    <a:bodyPr/>
                    <a:lstStyle/>
                    <a:p>
                      <a:pPr indent="0" lvl="0" marL="0" marR="0" rtl="0" algn="ctr">
                        <a:spcBef>
                          <a:spcPts val="0"/>
                        </a:spcBef>
                        <a:spcAft>
                          <a:spcPts val="0"/>
                        </a:spcAft>
                        <a:buNone/>
                      </a:pPr>
                      <a:r>
                        <a:rPr lang="es-BO" sz="1600" u="none" cap="none" strike="noStrike"/>
                        <a:t> SENSOR TC</a:t>
                      </a:r>
                      <a:endParaRPr/>
                    </a:p>
                  </a:txBody>
                  <a:tcPr marT="7625" marB="0" marR="7625" marL="7625" anchor="b"/>
                </a:tc>
                <a:tc hMerge="1"/>
                <a:tc hMerge="1"/>
              </a:tr>
              <a:tr h="194825">
                <a:tc>
                  <a:txBody>
                    <a:bodyPr/>
                    <a:lstStyle/>
                    <a:p>
                      <a:pPr indent="0" lvl="0" marL="0" marR="0" rtl="0" algn="ctr">
                        <a:spcBef>
                          <a:spcPts val="0"/>
                        </a:spcBef>
                        <a:spcAft>
                          <a:spcPts val="0"/>
                        </a:spcAft>
                        <a:buNone/>
                      </a:pPr>
                      <a:r>
                        <a:rPr lang="es-BO" sz="1600" u="none" cap="none" strike="noStrike"/>
                        <a:t>MULTIMETRO °C</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T [°C]</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V [mV]</a:t>
                      </a:r>
                      <a:endParaRPr b="0" i="0" sz="1600" u="none" cap="none" strike="noStrike">
                        <a:solidFill>
                          <a:srgbClr val="000000"/>
                        </a:solidFill>
                        <a:latin typeface="Calibri"/>
                        <a:ea typeface="Calibri"/>
                        <a:cs typeface="Calibri"/>
                        <a:sym typeface="Calibri"/>
                      </a:endParaRPr>
                    </a:p>
                  </a:txBody>
                  <a:tcPr marT="7625" marB="0" marR="7625" marL="7625" anchor="b"/>
                </a:tc>
              </a:tr>
              <a:tr h="194825">
                <a:tc>
                  <a:txBody>
                    <a:bodyPr/>
                    <a:lstStyle/>
                    <a:p>
                      <a:pPr indent="0" lvl="0" marL="0" marR="0" rtl="0" algn="ctr">
                        <a:spcBef>
                          <a:spcPts val="0"/>
                        </a:spcBef>
                        <a:spcAft>
                          <a:spcPts val="0"/>
                        </a:spcAft>
                        <a:buNone/>
                      </a:pPr>
                      <a:r>
                        <a:rPr lang="es-BO" sz="1600" u="none" cap="none" strike="noStrike"/>
                        <a:t>24</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26</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0</a:t>
                      </a:r>
                      <a:endParaRPr b="0" i="0" sz="1600" u="none" cap="none" strike="noStrike">
                        <a:solidFill>
                          <a:srgbClr val="000000"/>
                        </a:solidFill>
                        <a:latin typeface="Calibri"/>
                        <a:ea typeface="Calibri"/>
                        <a:cs typeface="Calibri"/>
                        <a:sym typeface="Calibri"/>
                      </a:endParaRPr>
                    </a:p>
                  </a:txBody>
                  <a:tcPr marT="7625" marB="0" marR="7625" marL="7625" anchor="b"/>
                </a:tc>
              </a:tr>
              <a:tr h="194825">
                <a:tc>
                  <a:txBody>
                    <a:bodyPr/>
                    <a:lstStyle/>
                    <a:p>
                      <a:pPr indent="0" lvl="0" marL="0" marR="0" rtl="0" algn="ctr">
                        <a:spcBef>
                          <a:spcPts val="0"/>
                        </a:spcBef>
                        <a:spcAft>
                          <a:spcPts val="0"/>
                        </a:spcAft>
                        <a:buNone/>
                      </a:pPr>
                      <a:r>
                        <a:rPr lang="es-BO" sz="1600" u="none" cap="none" strike="noStrike"/>
                        <a:t>30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30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0,1</a:t>
                      </a:r>
                      <a:endParaRPr b="0" i="0" sz="1600" u="none" cap="none" strike="noStrike">
                        <a:solidFill>
                          <a:srgbClr val="000000"/>
                        </a:solidFill>
                        <a:latin typeface="Calibri"/>
                        <a:ea typeface="Calibri"/>
                        <a:cs typeface="Calibri"/>
                        <a:sym typeface="Calibri"/>
                      </a:endParaRPr>
                    </a:p>
                  </a:txBody>
                  <a:tcPr marT="7625" marB="0" marR="7625" marL="7625" anchor="b"/>
                </a:tc>
              </a:tr>
              <a:tr h="194825">
                <a:tc>
                  <a:txBody>
                    <a:bodyPr/>
                    <a:lstStyle/>
                    <a:p>
                      <a:pPr indent="0" lvl="0" marL="0" marR="0" rtl="0" algn="ctr">
                        <a:spcBef>
                          <a:spcPts val="0"/>
                        </a:spcBef>
                        <a:spcAft>
                          <a:spcPts val="0"/>
                        </a:spcAft>
                        <a:buNone/>
                      </a:pPr>
                      <a:r>
                        <a:rPr lang="es-BO" sz="1600" u="none" cap="none" strike="noStrike"/>
                        <a:t>40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46</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0,1</a:t>
                      </a:r>
                      <a:endParaRPr b="0" i="0" sz="1600" u="none" cap="none" strike="noStrike">
                        <a:solidFill>
                          <a:srgbClr val="000000"/>
                        </a:solidFill>
                        <a:latin typeface="Calibri"/>
                        <a:ea typeface="Calibri"/>
                        <a:cs typeface="Calibri"/>
                        <a:sym typeface="Calibri"/>
                      </a:endParaRPr>
                    </a:p>
                  </a:txBody>
                  <a:tcPr marT="7625" marB="0" marR="7625" marL="7625" anchor="b"/>
                </a:tc>
              </a:tr>
              <a:tr h="194825">
                <a:tc>
                  <a:txBody>
                    <a:bodyPr/>
                    <a:lstStyle/>
                    <a:p>
                      <a:pPr indent="0" lvl="0" marL="0" marR="0" rtl="0" algn="ctr">
                        <a:spcBef>
                          <a:spcPts val="0"/>
                        </a:spcBef>
                        <a:spcAft>
                          <a:spcPts val="0"/>
                        </a:spcAft>
                        <a:buNone/>
                      </a:pPr>
                      <a:r>
                        <a:rPr lang="es-BO" sz="1600" u="none" cap="none" strike="noStrike"/>
                        <a:t>50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64</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0,3</a:t>
                      </a:r>
                      <a:endParaRPr b="0" i="0" sz="1600" u="none" cap="none" strike="noStrike">
                        <a:solidFill>
                          <a:srgbClr val="000000"/>
                        </a:solidFill>
                        <a:latin typeface="Calibri"/>
                        <a:ea typeface="Calibri"/>
                        <a:cs typeface="Calibri"/>
                        <a:sym typeface="Calibri"/>
                      </a:endParaRPr>
                    </a:p>
                  </a:txBody>
                  <a:tcPr marT="7625" marB="0" marR="7625" marL="7625" anchor="b"/>
                </a:tc>
              </a:tr>
              <a:tr h="194825">
                <a:tc>
                  <a:txBody>
                    <a:bodyPr/>
                    <a:lstStyle/>
                    <a:p>
                      <a:pPr indent="0" lvl="0" marL="0" marR="0" rtl="0" algn="ctr">
                        <a:spcBef>
                          <a:spcPts val="0"/>
                        </a:spcBef>
                        <a:spcAft>
                          <a:spcPts val="0"/>
                        </a:spcAft>
                        <a:buNone/>
                      </a:pPr>
                      <a:r>
                        <a:rPr lang="es-BO" sz="1600" u="none" cap="none" strike="noStrike"/>
                        <a:t>60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78</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0,6</a:t>
                      </a:r>
                      <a:endParaRPr b="0" i="0" sz="1600" u="none" cap="none" strike="noStrike">
                        <a:solidFill>
                          <a:srgbClr val="000000"/>
                        </a:solidFill>
                        <a:latin typeface="Calibri"/>
                        <a:ea typeface="Calibri"/>
                        <a:cs typeface="Calibri"/>
                        <a:sym typeface="Calibri"/>
                      </a:endParaRPr>
                    </a:p>
                  </a:txBody>
                  <a:tcPr marT="7625" marB="0" marR="7625" marL="7625" anchor="b"/>
                </a:tc>
              </a:tr>
              <a:tr h="194825">
                <a:tc>
                  <a:txBody>
                    <a:bodyPr/>
                    <a:lstStyle/>
                    <a:p>
                      <a:pPr indent="0" lvl="0" marL="0" marR="0" rtl="0" algn="ctr">
                        <a:spcBef>
                          <a:spcPts val="0"/>
                        </a:spcBef>
                        <a:spcAft>
                          <a:spcPts val="0"/>
                        </a:spcAft>
                        <a:buNone/>
                      </a:pPr>
                      <a:r>
                        <a:rPr lang="es-BO" sz="1600" u="none" cap="none" strike="noStrike"/>
                        <a:t>70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97</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0,8</a:t>
                      </a:r>
                      <a:endParaRPr b="0" i="0" sz="1600" u="none" cap="none" strike="noStrike">
                        <a:solidFill>
                          <a:srgbClr val="000000"/>
                        </a:solidFill>
                        <a:latin typeface="Calibri"/>
                        <a:ea typeface="Calibri"/>
                        <a:cs typeface="Calibri"/>
                        <a:sym typeface="Calibri"/>
                      </a:endParaRPr>
                    </a:p>
                  </a:txBody>
                  <a:tcPr marT="7625" marB="0" marR="7625" marL="7625" anchor="b"/>
                </a:tc>
              </a:tr>
              <a:tr h="194825">
                <a:tc>
                  <a:txBody>
                    <a:bodyPr/>
                    <a:lstStyle/>
                    <a:p>
                      <a:pPr indent="0" lvl="0" marL="0" marR="0" rtl="0" algn="ctr">
                        <a:spcBef>
                          <a:spcPts val="0"/>
                        </a:spcBef>
                        <a:spcAft>
                          <a:spcPts val="0"/>
                        </a:spcAft>
                        <a:buNone/>
                      </a:pPr>
                      <a:r>
                        <a:rPr lang="es-BO" sz="1600" u="none" cap="none" strike="noStrike"/>
                        <a:t>80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109</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1</a:t>
                      </a:r>
                      <a:endParaRPr b="0" i="0" sz="1600" u="none" cap="none" strike="noStrike">
                        <a:solidFill>
                          <a:srgbClr val="000000"/>
                        </a:solidFill>
                        <a:latin typeface="Calibri"/>
                        <a:ea typeface="Calibri"/>
                        <a:cs typeface="Calibri"/>
                        <a:sym typeface="Calibri"/>
                      </a:endParaRPr>
                    </a:p>
                  </a:txBody>
                  <a:tcPr marT="7625" marB="0" marR="7625" marL="7625" anchor="b"/>
                </a:tc>
              </a:tr>
              <a:tr h="194825">
                <a:tc>
                  <a:txBody>
                    <a:bodyPr/>
                    <a:lstStyle/>
                    <a:p>
                      <a:pPr indent="0" lvl="0" marL="0" marR="0" rtl="0" algn="ctr">
                        <a:spcBef>
                          <a:spcPts val="0"/>
                        </a:spcBef>
                        <a:spcAft>
                          <a:spcPts val="0"/>
                        </a:spcAft>
                        <a:buNone/>
                      </a:pPr>
                      <a:r>
                        <a:rPr lang="es-BO" sz="1600" u="none" cap="none" strike="noStrike"/>
                        <a:t>90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124</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1,3</a:t>
                      </a:r>
                      <a:endParaRPr b="0" i="0" sz="1600" u="none" cap="none" strike="noStrike">
                        <a:solidFill>
                          <a:srgbClr val="000000"/>
                        </a:solidFill>
                        <a:latin typeface="Calibri"/>
                        <a:ea typeface="Calibri"/>
                        <a:cs typeface="Calibri"/>
                        <a:sym typeface="Calibri"/>
                      </a:endParaRPr>
                    </a:p>
                  </a:txBody>
                  <a:tcPr marT="7625" marB="0" marR="7625" marL="7625" anchor="b"/>
                </a:tc>
              </a:tr>
              <a:tr h="194825">
                <a:tc>
                  <a:txBody>
                    <a:bodyPr/>
                    <a:lstStyle/>
                    <a:p>
                      <a:pPr indent="0" lvl="0" marL="0" marR="0" rtl="0" algn="ctr">
                        <a:spcBef>
                          <a:spcPts val="0"/>
                        </a:spcBef>
                        <a:spcAft>
                          <a:spcPts val="0"/>
                        </a:spcAft>
                        <a:buNone/>
                      </a:pPr>
                      <a:r>
                        <a:rPr lang="es-BO" sz="1600" u="none" cap="none" strike="noStrike"/>
                        <a:t>100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137</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1,4</a:t>
                      </a:r>
                      <a:endParaRPr b="0" i="0" sz="1600" u="none" cap="none" strike="noStrike">
                        <a:solidFill>
                          <a:srgbClr val="000000"/>
                        </a:solidFill>
                        <a:latin typeface="Calibri"/>
                        <a:ea typeface="Calibri"/>
                        <a:cs typeface="Calibri"/>
                        <a:sym typeface="Calibri"/>
                      </a:endParaRPr>
                    </a:p>
                  </a:txBody>
                  <a:tcPr marT="7625" marB="0" marR="7625" marL="7625" anchor="b"/>
                </a:tc>
              </a:tr>
              <a:tr h="194825">
                <a:tc>
                  <a:txBody>
                    <a:bodyPr/>
                    <a:lstStyle/>
                    <a:p>
                      <a:pPr indent="0" lvl="0" marL="0" marR="0" rtl="0" algn="ctr">
                        <a:spcBef>
                          <a:spcPts val="0"/>
                        </a:spcBef>
                        <a:spcAft>
                          <a:spcPts val="0"/>
                        </a:spcAft>
                        <a:buNone/>
                      </a:pPr>
                      <a:r>
                        <a:rPr lang="es-BO" sz="1600" u="none" cap="none" strike="noStrike"/>
                        <a:t>110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150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1,7</a:t>
                      </a:r>
                      <a:endParaRPr b="0" i="0" sz="1600" u="none" cap="none" strike="noStrike">
                        <a:solidFill>
                          <a:srgbClr val="000000"/>
                        </a:solidFill>
                        <a:latin typeface="Calibri"/>
                        <a:ea typeface="Calibri"/>
                        <a:cs typeface="Calibri"/>
                        <a:sym typeface="Calibri"/>
                      </a:endParaRPr>
                    </a:p>
                  </a:txBody>
                  <a:tcPr marT="7625" marB="0" marR="7625" marL="7625" anchor="b"/>
                </a:tc>
              </a:tr>
              <a:tr h="194825">
                <a:tc>
                  <a:txBody>
                    <a:bodyPr/>
                    <a:lstStyle/>
                    <a:p>
                      <a:pPr indent="0" lvl="0" marL="0" marR="0" rtl="0" algn="ctr">
                        <a:spcBef>
                          <a:spcPts val="0"/>
                        </a:spcBef>
                        <a:spcAft>
                          <a:spcPts val="0"/>
                        </a:spcAft>
                        <a:buNone/>
                      </a:pPr>
                      <a:r>
                        <a:rPr lang="es-BO" sz="1600" u="none" cap="none" strike="noStrike"/>
                        <a:t>120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172</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2,2</a:t>
                      </a:r>
                      <a:endParaRPr b="0" i="0" sz="1600" u="none" cap="none" strike="noStrike">
                        <a:solidFill>
                          <a:srgbClr val="000000"/>
                        </a:solidFill>
                        <a:latin typeface="Calibri"/>
                        <a:ea typeface="Calibri"/>
                        <a:cs typeface="Calibri"/>
                        <a:sym typeface="Calibri"/>
                      </a:endParaRPr>
                    </a:p>
                  </a:txBody>
                  <a:tcPr marT="7625" marB="0" marR="7625" marL="7625" anchor="b"/>
                </a:tc>
              </a:tr>
              <a:tr h="194825">
                <a:tc>
                  <a:txBody>
                    <a:bodyPr/>
                    <a:lstStyle/>
                    <a:p>
                      <a:pPr indent="0" lvl="0" marL="0" marR="0" rtl="0" algn="ctr">
                        <a:spcBef>
                          <a:spcPts val="0"/>
                        </a:spcBef>
                        <a:spcAft>
                          <a:spcPts val="0"/>
                        </a:spcAft>
                        <a:buNone/>
                      </a:pPr>
                      <a:r>
                        <a:rPr lang="es-BO" sz="1600" u="none" cap="none" strike="noStrike"/>
                        <a:t>130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182</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2,3</a:t>
                      </a:r>
                      <a:endParaRPr b="0" i="0" sz="1600" u="none" cap="none" strike="noStrike">
                        <a:solidFill>
                          <a:srgbClr val="000000"/>
                        </a:solidFill>
                        <a:latin typeface="Calibri"/>
                        <a:ea typeface="Calibri"/>
                        <a:cs typeface="Calibri"/>
                        <a:sym typeface="Calibri"/>
                      </a:endParaRPr>
                    </a:p>
                  </a:txBody>
                  <a:tcPr marT="7625" marB="0" marR="7625" marL="7625" anchor="b"/>
                </a:tc>
              </a:tr>
              <a:tr h="256500">
                <a:tc>
                  <a:txBody>
                    <a:bodyPr/>
                    <a:lstStyle/>
                    <a:p>
                      <a:pPr indent="0" lvl="0" marL="0" marR="0" rtl="0" algn="ctr">
                        <a:spcBef>
                          <a:spcPts val="0"/>
                        </a:spcBef>
                        <a:spcAft>
                          <a:spcPts val="0"/>
                        </a:spcAft>
                        <a:buNone/>
                      </a:pPr>
                      <a:r>
                        <a:rPr lang="es-BO" sz="1600" u="none" cap="none" strike="noStrike"/>
                        <a:t>140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190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2,4</a:t>
                      </a:r>
                      <a:endParaRPr b="0" i="0" sz="1600" u="none" cap="none" strike="noStrike">
                        <a:solidFill>
                          <a:srgbClr val="000000"/>
                        </a:solidFill>
                        <a:latin typeface="Calibri"/>
                        <a:ea typeface="Calibri"/>
                        <a:cs typeface="Calibri"/>
                        <a:sym typeface="Calibri"/>
                      </a:endParaRPr>
                    </a:p>
                  </a:txBody>
                  <a:tcPr marT="7625" marB="0" marR="7625" marL="7625" anchor="b"/>
                </a:tc>
              </a:tr>
              <a:tr h="194825">
                <a:tc>
                  <a:txBody>
                    <a:bodyPr/>
                    <a:lstStyle/>
                    <a:p>
                      <a:pPr indent="0" lvl="0" marL="0" marR="0" rtl="0" algn="ctr">
                        <a:spcBef>
                          <a:spcPts val="0"/>
                        </a:spcBef>
                        <a:spcAft>
                          <a:spcPts val="0"/>
                        </a:spcAft>
                        <a:buNone/>
                      </a:pPr>
                      <a:r>
                        <a:rPr lang="es-BO" sz="1600" u="none" cap="none" strike="noStrike"/>
                        <a:t>150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200</a:t>
                      </a:r>
                      <a:endParaRPr b="0" i="0" sz="16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1600" u="none" cap="none" strike="noStrike"/>
                        <a:t>2,5</a:t>
                      </a:r>
                      <a:endParaRPr b="0" i="0" sz="1600" u="none" cap="none" strike="noStrike">
                        <a:solidFill>
                          <a:srgbClr val="000000"/>
                        </a:solidFill>
                        <a:latin typeface="Calibri"/>
                        <a:ea typeface="Calibri"/>
                        <a:cs typeface="Calibri"/>
                        <a:sym typeface="Calibri"/>
                      </a:endParaRPr>
                    </a:p>
                  </a:txBody>
                  <a:tcPr marT="7625" marB="0" marR="7625" marL="7625" anchor="b"/>
                </a:tc>
              </a:tr>
            </a:tbl>
          </a:graphicData>
        </a:graphic>
      </p:graphicFrame>
      <p:graphicFrame>
        <p:nvGraphicFramePr>
          <p:cNvPr id="810" name="Google Shape;810;p62" title="Gráfico"/>
          <p:cNvGraphicFramePr/>
          <p:nvPr/>
        </p:nvGraphicFramePr>
        <p:xfrm>
          <a:off x="5446439" y="1988457"/>
          <a:ext cx="6034360" cy="3799840"/>
        </p:xfrm>
        <a:graphic>
          <a:graphicData uri="http://schemas.openxmlformats.org/drawingml/2006/chart">
            <c:chart r:id="rId3"/>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63"/>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000"/>
              <a:buFont typeface="Garamond"/>
              <a:buNone/>
            </a:pPr>
            <a:r>
              <a:rPr b="1" lang="es-BO" sz="4000"/>
              <a:t>SENSOR RTD</a:t>
            </a:r>
            <a:endParaRPr b="1" sz="4000"/>
          </a:p>
        </p:txBody>
      </p:sp>
      <p:grpSp>
        <p:nvGrpSpPr>
          <p:cNvPr id="816" name="Google Shape;816;p63"/>
          <p:cNvGrpSpPr/>
          <p:nvPr/>
        </p:nvGrpSpPr>
        <p:grpSpPr>
          <a:xfrm>
            <a:off x="183842" y="1172994"/>
            <a:ext cx="10370328" cy="5212079"/>
            <a:chOff x="-272603" y="0"/>
            <a:chExt cx="10370328" cy="5212079"/>
          </a:xfrm>
        </p:grpSpPr>
        <p:sp>
          <p:nvSpPr>
            <p:cNvPr id="817" name="Google Shape;817;p63"/>
            <p:cNvSpPr/>
            <p:nvPr/>
          </p:nvSpPr>
          <p:spPr>
            <a:xfrm>
              <a:off x="-272603" y="0"/>
              <a:ext cx="7744967" cy="938174"/>
            </a:xfrm>
            <a:prstGeom prst="roundRect">
              <a:avLst>
                <a:gd fmla="val 10000" name="adj"/>
              </a:avLst>
            </a:prstGeom>
            <a:solidFill>
              <a:srgbClr val="C19015"/>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63"/>
            <p:cNvSpPr txBox="1"/>
            <p:nvPr/>
          </p:nvSpPr>
          <p:spPr>
            <a:xfrm>
              <a:off x="-245125" y="27478"/>
              <a:ext cx="6622838" cy="883218"/>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PRINCIPIO DE FUNCIONAMIENTO</a:t>
              </a:r>
              <a:endParaRPr/>
            </a:p>
            <a:p>
              <a:pPr indent="0" lvl="0" marL="0" marR="0" rtl="0" algn="ctr">
                <a:lnSpc>
                  <a:spcPct val="90000"/>
                </a:lnSpc>
                <a:spcBef>
                  <a:spcPts val="70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El dispositivo realiza medidas de temperatura utilizando como factor principal de medición la resistencia de un metal.</a:t>
              </a:r>
              <a:endParaRPr sz="2000">
                <a:solidFill>
                  <a:schemeClr val="dk1"/>
                </a:solidFill>
                <a:latin typeface="Garamond"/>
                <a:ea typeface="Garamond"/>
                <a:cs typeface="Garamond"/>
                <a:sym typeface="Garamond"/>
              </a:endParaRPr>
            </a:p>
          </p:txBody>
        </p:sp>
        <p:sp>
          <p:nvSpPr>
            <p:cNvPr id="819" name="Google Shape;819;p63"/>
            <p:cNvSpPr/>
            <p:nvPr/>
          </p:nvSpPr>
          <p:spPr>
            <a:xfrm>
              <a:off x="305754" y="1068476"/>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63"/>
            <p:cNvSpPr txBox="1"/>
            <p:nvPr/>
          </p:nvSpPr>
          <p:spPr>
            <a:xfrm>
              <a:off x="333232" y="1095954"/>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b="0" lang="es-BO" sz="2000">
                  <a:solidFill>
                    <a:schemeClr val="dk1"/>
                  </a:solidFill>
                  <a:latin typeface="Garamond"/>
                  <a:ea typeface="Garamond"/>
                  <a:cs typeface="Garamond"/>
                  <a:sym typeface="Garamond"/>
                </a:rPr>
                <a:t>La resistencia del alambre de metal se transforma con relación a la temperatura, el funcionamiento de la RTD comienza al calentarse un metal.</a:t>
              </a:r>
              <a:endParaRPr sz="2000">
                <a:solidFill>
                  <a:schemeClr val="dk1"/>
                </a:solidFill>
                <a:latin typeface="Garamond"/>
                <a:ea typeface="Garamond"/>
                <a:cs typeface="Garamond"/>
                <a:sym typeface="Garamond"/>
              </a:endParaRPr>
            </a:p>
          </p:txBody>
        </p:sp>
        <p:sp>
          <p:nvSpPr>
            <p:cNvPr id="821" name="Google Shape;821;p63"/>
            <p:cNvSpPr/>
            <p:nvPr/>
          </p:nvSpPr>
          <p:spPr>
            <a:xfrm>
              <a:off x="884112" y="2136952"/>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63"/>
            <p:cNvSpPr txBox="1"/>
            <p:nvPr/>
          </p:nvSpPr>
          <p:spPr>
            <a:xfrm>
              <a:off x="911590" y="2164430"/>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Esta acción permite un aumento de temperatura induciendo una mayor agitación térmica y aumento de la resistencia.</a:t>
              </a:r>
              <a:endParaRPr sz="2000">
                <a:solidFill>
                  <a:schemeClr val="dk1"/>
                </a:solidFill>
                <a:latin typeface="Garamond"/>
                <a:ea typeface="Garamond"/>
                <a:cs typeface="Garamond"/>
                <a:sym typeface="Garamond"/>
              </a:endParaRPr>
            </a:p>
          </p:txBody>
        </p:sp>
        <p:sp>
          <p:nvSpPr>
            <p:cNvPr id="823" name="Google Shape;823;p63"/>
            <p:cNvSpPr/>
            <p:nvPr/>
          </p:nvSpPr>
          <p:spPr>
            <a:xfrm>
              <a:off x="1462470" y="3205429"/>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63"/>
            <p:cNvSpPr txBox="1"/>
            <p:nvPr/>
          </p:nvSpPr>
          <p:spPr>
            <a:xfrm>
              <a:off x="1489948" y="3232907"/>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Se maneja el concepto de a mayor temperatura, mayor agitancion y mayor Resistencia y a menor temperatura, se tiene menor agitacion y menor Resistencia.</a:t>
              </a:r>
              <a:endParaRPr/>
            </a:p>
          </p:txBody>
        </p:sp>
        <p:sp>
          <p:nvSpPr>
            <p:cNvPr id="825" name="Google Shape;825;p63"/>
            <p:cNvSpPr/>
            <p:nvPr/>
          </p:nvSpPr>
          <p:spPr>
            <a:xfrm>
              <a:off x="1262343" y="4273905"/>
              <a:ext cx="8835382"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63"/>
            <p:cNvSpPr txBox="1"/>
            <p:nvPr/>
          </p:nvSpPr>
          <p:spPr>
            <a:xfrm>
              <a:off x="1289821" y="4301383"/>
              <a:ext cx="7424972"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b="0" lang="es-BO" sz="2000">
                  <a:solidFill>
                    <a:schemeClr val="dk1"/>
                  </a:solidFill>
                  <a:latin typeface="Garamond"/>
                  <a:ea typeface="Garamond"/>
                  <a:cs typeface="Garamond"/>
                  <a:sym typeface="Garamond"/>
                </a:rPr>
                <a:t>La relación resistencia-temperatura se representa con la siguiente formula: R=Ro[1+a(T-To)]</a:t>
              </a:r>
              <a:endParaRPr/>
            </a:p>
          </p:txBody>
        </p:sp>
        <p:sp>
          <p:nvSpPr>
            <p:cNvPr id="827" name="Google Shape;827;p63"/>
            <p:cNvSpPr/>
            <p:nvPr/>
          </p:nvSpPr>
          <p:spPr>
            <a:xfrm>
              <a:off x="6862551" y="685388"/>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63"/>
            <p:cNvSpPr txBox="1"/>
            <p:nvPr/>
          </p:nvSpPr>
          <p:spPr>
            <a:xfrm>
              <a:off x="6999759" y="685388"/>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829" name="Google Shape;829;p63"/>
            <p:cNvSpPr/>
            <p:nvPr/>
          </p:nvSpPr>
          <p:spPr>
            <a:xfrm>
              <a:off x="7440909" y="1753864"/>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63"/>
            <p:cNvSpPr txBox="1"/>
            <p:nvPr/>
          </p:nvSpPr>
          <p:spPr>
            <a:xfrm>
              <a:off x="7578117" y="1753864"/>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831" name="Google Shape;831;p63"/>
            <p:cNvSpPr/>
            <p:nvPr/>
          </p:nvSpPr>
          <p:spPr>
            <a:xfrm>
              <a:off x="8019267" y="28067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63"/>
            <p:cNvSpPr txBox="1"/>
            <p:nvPr/>
          </p:nvSpPr>
          <p:spPr>
            <a:xfrm>
              <a:off x="8156475" y="28067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833" name="Google Shape;833;p63"/>
            <p:cNvSpPr/>
            <p:nvPr/>
          </p:nvSpPr>
          <p:spPr>
            <a:xfrm>
              <a:off x="8597625" y="38856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63"/>
            <p:cNvSpPr txBox="1"/>
            <p:nvPr/>
          </p:nvSpPr>
          <p:spPr>
            <a:xfrm>
              <a:off x="8734833" y="38856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descr="RTD sensor – Industrias GSL" id="835" name="Google Shape;835;p63"/>
          <p:cNvPicPr preferRelativeResize="0"/>
          <p:nvPr/>
        </p:nvPicPr>
        <p:blipFill rotWithShape="1">
          <a:blip r:embed="rId3">
            <a:alphaModFix/>
          </a:blip>
          <a:srcRect b="0" l="0" r="0" t="0"/>
          <a:stretch/>
        </p:blipFill>
        <p:spPr>
          <a:xfrm>
            <a:off x="8553611" y="1113726"/>
            <a:ext cx="2286000" cy="100965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64"/>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lang="es-BO"/>
              <a:t>SENSOR RTD</a:t>
            </a:r>
            <a:endParaRPr/>
          </a:p>
        </p:txBody>
      </p:sp>
      <p:sp>
        <p:nvSpPr>
          <p:cNvPr id="841" name="Google Shape;841;p64"/>
          <p:cNvSpPr txBox="1"/>
          <p:nvPr>
            <p:ph idx="1" type="body"/>
          </p:nvPr>
        </p:nvSpPr>
        <p:spPr>
          <a:xfrm>
            <a:off x="1066800" y="2118110"/>
            <a:ext cx="6068518" cy="39319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lang="es-BO">
                <a:latin typeface="Times New Roman"/>
                <a:ea typeface="Times New Roman"/>
                <a:cs typeface="Times New Roman"/>
                <a:sym typeface="Times New Roman"/>
              </a:rPr>
              <a:t>CARACTERISTICAS</a:t>
            </a:r>
            <a:endParaRPr/>
          </a:p>
          <a:p>
            <a:pPr indent="0" lvl="0" marL="0" rtl="0" algn="l">
              <a:lnSpc>
                <a:spcPct val="100000"/>
              </a:lnSpc>
              <a:spcBef>
                <a:spcPts val="900"/>
              </a:spcBef>
              <a:spcAft>
                <a:spcPts val="0"/>
              </a:spcAft>
              <a:buSzPts val="2000"/>
              <a:buNone/>
            </a:pPr>
            <a:r>
              <a:rPr b="1" i="1" lang="es-BO" sz="2000"/>
              <a:t>RTD OMNIGRAND T TST487</a:t>
            </a:r>
            <a:endParaRPr b="1" i="1" sz="2000"/>
          </a:p>
          <a:p>
            <a:pPr indent="-182880" lvl="0" marL="182880" rtl="0" algn="l">
              <a:lnSpc>
                <a:spcPct val="100000"/>
              </a:lnSpc>
              <a:spcBef>
                <a:spcPts val="900"/>
              </a:spcBef>
              <a:spcAft>
                <a:spcPts val="0"/>
              </a:spcAft>
              <a:buSzPts val="1800"/>
              <a:buFont typeface="Noto Sans Symbols"/>
              <a:buChar char="⮚"/>
            </a:pPr>
            <a:r>
              <a:rPr lang="es-BO">
                <a:latin typeface="Times New Roman"/>
                <a:ea typeface="Times New Roman"/>
                <a:cs typeface="Times New Roman"/>
                <a:sym typeface="Times New Roman"/>
              </a:rPr>
              <a:t>Tipo:  A, Métrico, porta sondas de temperatura modular conexión a proceso roscada sin cuello</a:t>
            </a:r>
            <a:endParaRPr/>
          </a:p>
          <a:p>
            <a:pPr indent="-182880" lvl="0" marL="182880" rtl="0" algn="l">
              <a:lnSpc>
                <a:spcPct val="100000"/>
              </a:lnSpc>
              <a:spcBef>
                <a:spcPts val="900"/>
              </a:spcBef>
              <a:spcAft>
                <a:spcPts val="0"/>
              </a:spcAft>
              <a:buSzPts val="1800"/>
              <a:buFont typeface="Noto Sans Symbols"/>
              <a:buChar char="⮚"/>
            </a:pPr>
            <a:r>
              <a:rPr lang="es-BO">
                <a:latin typeface="Times New Roman"/>
                <a:ea typeface="Times New Roman"/>
                <a:cs typeface="Times New Roman"/>
                <a:sym typeface="Times New Roman"/>
              </a:rPr>
              <a:t>Elemento sensible: resistencia de platino</a:t>
            </a:r>
            <a:endParaRPr/>
          </a:p>
          <a:p>
            <a:pPr indent="-182880" lvl="0" marL="182880" rtl="0" algn="l">
              <a:lnSpc>
                <a:spcPct val="100000"/>
              </a:lnSpc>
              <a:spcBef>
                <a:spcPts val="900"/>
              </a:spcBef>
              <a:spcAft>
                <a:spcPts val="0"/>
              </a:spcAft>
              <a:buSzPts val="1800"/>
              <a:buFont typeface="Noto Sans Symbols"/>
              <a:buChar char="⮚"/>
            </a:pPr>
            <a:r>
              <a:rPr lang="es-BO">
                <a:latin typeface="Times New Roman"/>
                <a:ea typeface="Times New Roman"/>
                <a:cs typeface="Times New Roman"/>
                <a:sym typeface="Times New Roman"/>
              </a:rPr>
              <a:t>Conexión a proceso: rosca macho G1/2</a:t>
            </a:r>
            <a:endParaRPr/>
          </a:p>
          <a:p>
            <a:pPr indent="-182880" lvl="0" marL="182880" rtl="0" algn="l">
              <a:lnSpc>
                <a:spcPct val="100000"/>
              </a:lnSpc>
              <a:spcBef>
                <a:spcPts val="900"/>
              </a:spcBef>
              <a:spcAft>
                <a:spcPts val="0"/>
              </a:spcAft>
              <a:buSzPts val="1800"/>
              <a:buFont typeface="Noto Sans Symbols"/>
              <a:buChar char="⮚"/>
            </a:pPr>
            <a:r>
              <a:rPr lang="es-BO">
                <a:latin typeface="Times New Roman"/>
                <a:ea typeface="Times New Roman"/>
                <a:cs typeface="Times New Roman"/>
                <a:sym typeface="Times New Roman"/>
              </a:rPr>
              <a:t>Rango de temperatura: -50</a:t>
            </a:r>
            <a:r>
              <a:rPr b="0" i="0" lang="es-BO">
                <a:solidFill>
                  <a:srgbClr val="333333"/>
                </a:solidFill>
                <a:latin typeface="Times New Roman"/>
                <a:ea typeface="Times New Roman"/>
                <a:cs typeface="Times New Roman"/>
                <a:sym typeface="Times New Roman"/>
              </a:rPr>
              <a:t>°</a:t>
            </a:r>
            <a:r>
              <a:rPr lang="es-BO">
                <a:latin typeface="Times New Roman"/>
                <a:ea typeface="Times New Roman"/>
                <a:cs typeface="Times New Roman"/>
                <a:sym typeface="Times New Roman"/>
              </a:rPr>
              <a:t>C – 300</a:t>
            </a:r>
            <a:r>
              <a:rPr b="0" i="0" lang="es-BO">
                <a:solidFill>
                  <a:srgbClr val="333333"/>
                </a:solidFill>
                <a:latin typeface="Times New Roman"/>
                <a:ea typeface="Times New Roman"/>
                <a:cs typeface="Times New Roman"/>
                <a:sym typeface="Times New Roman"/>
              </a:rPr>
              <a:t>°</a:t>
            </a:r>
            <a:r>
              <a:rPr lang="es-BO">
                <a:latin typeface="Times New Roman"/>
                <a:ea typeface="Times New Roman"/>
                <a:cs typeface="Times New Roman"/>
                <a:sym typeface="Times New Roman"/>
              </a:rPr>
              <a:t>C </a:t>
            </a:r>
            <a:endParaRPr/>
          </a:p>
          <a:p>
            <a:pPr indent="-182880" lvl="0" marL="182880" rtl="0" algn="l">
              <a:lnSpc>
                <a:spcPct val="100000"/>
              </a:lnSpc>
              <a:spcBef>
                <a:spcPts val="900"/>
              </a:spcBef>
              <a:spcAft>
                <a:spcPts val="0"/>
              </a:spcAft>
              <a:buSzPts val="1800"/>
              <a:buFont typeface="Noto Sans Symbols"/>
              <a:buChar char="⮚"/>
            </a:pPr>
            <a:r>
              <a:rPr lang="es-BO">
                <a:latin typeface="Times New Roman"/>
                <a:ea typeface="Times New Roman"/>
                <a:cs typeface="Times New Roman"/>
                <a:sym typeface="Times New Roman"/>
              </a:rPr>
              <a:t>Max. Presión de proceso: a 20</a:t>
            </a:r>
            <a:r>
              <a:rPr b="0" i="0" lang="es-BO">
                <a:solidFill>
                  <a:srgbClr val="333333"/>
                </a:solidFill>
                <a:latin typeface="Times New Roman"/>
                <a:ea typeface="Times New Roman"/>
                <a:cs typeface="Times New Roman"/>
                <a:sym typeface="Times New Roman"/>
              </a:rPr>
              <a:t>°</a:t>
            </a:r>
            <a:r>
              <a:rPr lang="es-BO">
                <a:solidFill>
                  <a:srgbClr val="333333"/>
                </a:solidFill>
                <a:latin typeface="Times New Roman"/>
                <a:ea typeface="Times New Roman"/>
                <a:cs typeface="Times New Roman"/>
                <a:sym typeface="Times New Roman"/>
              </a:rPr>
              <a:t>C 20bar</a:t>
            </a:r>
            <a:endParaRPr/>
          </a:p>
          <a:p>
            <a:pPr indent="-182880" lvl="0" marL="182880" rtl="0" algn="l">
              <a:lnSpc>
                <a:spcPct val="100000"/>
              </a:lnSpc>
              <a:spcBef>
                <a:spcPts val="900"/>
              </a:spcBef>
              <a:spcAft>
                <a:spcPts val="0"/>
              </a:spcAft>
              <a:buSzPts val="1800"/>
              <a:buFont typeface="Noto Sans Symbols"/>
              <a:buChar char="⮚"/>
            </a:pPr>
            <a:r>
              <a:rPr lang="es-BO">
                <a:latin typeface="Times New Roman"/>
                <a:ea typeface="Times New Roman"/>
                <a:cs typeface="Times New Roman"/>
                <a:sym typeface="Times New Roman"/>
              </a:rPr>
              <a:t>Alambrado: conexión de 4 hilos, aislamiento de fibra de vidrio.</a:t>
            </a:r>
            <a:endParaRPr/>
          </a:p>
        </p:txBody>
      </p:sp>
      <p:pic>
        <p:nvPicPr>
          <p:cNvPr id="842" name="Google Shape;842;p64"/>
          <p:cNvPicPr preferRelativeResize="0"/>
          <p:nvPr/>
        </p:nvPicPr>
        <p:blipFill rotWithShape="1">
          <a:blip r:embed="rId3">
            <a:alphaModFix/>
          </a:blip>
          <a:srcRect b="0" l="25508" r="0" t="0"/>
          <a:stretch/>
        </p:blipFill>
        <p:spPr>
          <a:xfrm>
            <a:off x="7741920" y="1158241"/>
            <a:ext cx="3576320" cy="3600690"/>
          </a:xfrm>
          <a:prstGeom prst="rect">
            <a:avLst/>
          </a:prstGeom>
          <a:noFill/>
          <a:ln>
            <a:noFill/>
          </a:ln>
        </p:spPr>
      </p:pic>
      <p:pic>
        <p:nvPicPr>
          <p:cNvPr id="843" name="Google Shape;843;p64"/>
          <p:cNvPicPr preferRelativeResize="0"/>
          <p:nvPr/>
        </p:nvPicPr>
        <p:blipFill rotWithShape="1">
          <a:blip r:embed="rId4">
            <a:alphaModFix/>
          </a:blip>
          <a:srcRect b="0" l="0" r="0" t="0"/>
          <a:stretch/>
        </p:blipFill>
        <p:spPr>
          <a:xfrm rot="5400000">
            <a:off x="8480932" y="3486419"/>
            <a:ext cx="2098294" cy="357631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graphicFrame>
        <p:nvGraphicFramePr>
          <p:cNvPr id="848" name="Google Shape;848;p65"/>
          <p:cNvGraphicFramePr/>
          <p:nvPr/>
        </p:nvGraphicFramePr>
        <p:xfrm>
          <a:off x="885826" y="1689659"/>
          <a:ext cx="3000000" cy="3000000"/>
        </p:xfrm>
        <a:graphic>
          <a:graphicData uri="http://schemas.openxmlformats.org/drawingml/2006/table">
            <a:tbl>
              <a:tblPr bandRow="1" firstCol="1" firstRow="1">
                <a:noFill/>
                <a:tableStyleId>{BC709364-A7B2-4693-9990-78690F8EEA3F}</a:tableStyleId>
              </a:tblPr>
              <a:tblGrid>
                <a:gridCol w="1683400"/>
                <a:gridCol w="544325"/>
                <a:gridCol w="682200"/>
                <a:gridCol w="631525"/>
                <a:gridCol w="817825"/>
              </a:tblGrid>
              <a:tr h="376575">
                <a:tc gridSpan="5">
                  <a:txBody>
                    <a:bodyPr/>
                    <a:lstStyle/>
                    <a:p>
                      <a:pPr indent="0" lvl="0" marL="0" marR="0" rtl="0" algn="ctr">
                        <a:spcBef>
                          <a:spcPts val="0"/>
                        </a:spcBef>
                        <a:spcAft>
                          <a:spcPts val="0"/>
                        </a:spcAft>
                        <a:buNone/>
                      </a:pPr>
                      <a:r>
                        <a:rPr b="1" lang="es-BO" sz="1600" u="none" cap="none" strike="noStrike"/>
                        <a:t>SENSOR RTD</a:t>
                      </a:r>
                      <a:endParaRPr/>
                    </a:p>
                  </a:txBody>
                  <a:tcPr marT="7625" marB="0" marR="7625" marL="7625" anchor="ctr"/>
                </a:tc>
                <a:tc hMerge="1"/>
                <a:tc hMerge="1"/>
                <a:tc hMerge="1"/>
                <a:tc hMerge="1"/>
              </a:tr>
              <a:tr h="361150">
                <a:tc>
                  <a:txBody>
                    <a:bodyPr/>
                    <a:lstStyle/>
                    <a:p>
                      <a:pPr indent="0" lvl="0" marL="0" marR="0" rtl="0" algn="ctr">
                        <a:spcBef>
                          <a:spcPts val="0"/>
                        </a:spcBef>
                        <a:spcAft>
                          <a:spcPts val="0"/>
                        </a:spcAft>
                        <a:buNone/>
                      </a:pPr>
                      <a:r>
                        <a:rPr b="1" lang="es-BO" sz="1600" u="none" cap="none" strike="noStrike">
                          <a:solidFill>
                            <a:schemeClr val="dk1"/>
                          </a:solidFill>
                          <a:latin typeface="Garamond"/>
                          <a:ea typeface="Garamond"/>
                          <a:cs typeface="Garamond"/>
                          <a:sym typeface="Garamond"/>
                        </a:rPr>
                        <a:t>MULTIMETRO </a:t>
                      </a:r>
                      <a:endParaRPr/>
                    </a:p>
                    <a:p>
                      <a:pPr indent="0" lvl="0" marL="0" marR="0" rtl="0" algn="ctr">
                        <a:spcBef>
                          <a:spcPts val="0"/>
                        </a:spcBef>
                        <a:spcAft>
                          <a:spcPts val="0"/>
                        </a:spcAft>
                        <a:buNone/>
                      </a:pPr>
                      <a:r>
                        <a:rPr b="1" i="0" lang="es-BO" sz="1600" u="none" cap="none" strike="noStrike">
                          <a:solidFill>
                            <a:schemeClr val="dk1"/>
                          </a:solidFill>
                          <a:latin typeface="Garamond"/>
                          <a:ea typeface="Garamond"/>
                          <a:cs typeface="Garamond"/>
                          <a:sym typeface="Garamond"/>
                        </a:rPr>
                        <a:t>°C</a:t>
                      </a:r>
                      <a:endParaRPr/>
                    </a:p>
                  </a:txBody>
                  <a:tcPr marT="7625" marB="0" marR="7625" marL="7625" anchor="ctr">
                    <a:solidFill>
                      <a:srgbClr val="E8EEF3"/>
                    </a:solidFill>
                  </a:tcPr>
                </a:tc>
                <a:tc>
                  <a:txBody>
                    <a:bodyPr/>
                    <a:lstStyle/>
                    <a:p>
                      <a:pPr indent="0" lvl="0" marL="0" marR="0" rtl="0" algn="ctr">
                        <a:spcBef>
                          <a:spcPts val="0"/>
                        </a:spcBef>
                        <a:spcAft>
                          <a:spcPts val="0"/>
                        </a:spcAft>
                        <a:buNone/>
                      </a:pPr>
                      <a:r>
                        <a:rPr b="1" lang="es-BO" sz="1600" u="none" cap="none" strike="noStrike">
                          <a:latin typeface="Garamond"/>
                          <a:ea typeface="Garamond"/>
                          <a:cs typeface="Garamond"/>
                          <a:sym typeface="Garamond"/>
                        </a:rPr>
                        <a:t>T[°C]</a:t>
                      </a:r>
                      <a:endParaRPr b="1" i="0" sz="1600" u="none" cap="none" strike="noStrike">
                        <a:solidFill>
                          <a:srgbClr val="000000"/>
                        </a:solidFill>
                        <a:latin typeface="Garamond"/>
                        <a:ea typeface="Garamond"/>
                        <a:cs typeface="Garamond"/>
                        <a:sym typeface="Garamond"/>
                      </a:endParaRPr>
                    </a:p>
                  </a:txBody>
                  <a:tcPr marT="7625" marB="0" marR="7625" marL="7625" anchor="ctr">
                    <a:solidFill>
                      <a:srgbClr val="BCCEDD"/>
                    </a:solidFill>
                  </a:tcPr>
                </a:tc>
                <a:tc>
                  <a:txBody>
                    <a:bodyPr/>
                    <a:lstStyle/>
                    <a:p>
                      <a:pPr indent="0" lvl="0" marL="0" marR="0" rtl="0" algn="ctr">
                        <a:spcBef>
                          <a:spcPts val="0"/>
                        </a:spcBef>
                        <a:spcAft>
                          <a:spcPts val="0"/>
                        </a:spcAft>
                        <a:buNone/>
                      </a:pPr>
                      <a:r>
                        <a:rPr b="1" lang="es-BO" sz="1600" u="none" cap="none" strike="noStrike">
                          <a:latin typeface="Garamond"/>
                          <a:ea typeface="Garamond"/>
                          <a:cs typeface="Garamond"/>
                          <a:sym typeface="Garamond"/>
                        </a:rPr>
                        <a:t>V [mV]</a:t>
                      </a:r>
                      <a:endParaRPr b="1" i="0" sz="1600" u="none" cap="none" strike="noStrike">
                        <a:solidFill>
                          <a:srgbClr val="000000"/>
                        </a:solidFill>
                        <a:latin typeface="Garamond"/>
                        <a:ea typeface="Garamond"/>
                        <a:cs typeface="Garamond"/>
                        <a:sym typeface="Garamond"/>
                      </a:endParaRPr>
                    </a:p>
                  </a:txBody>
                  <a:tcPr marT="7625" marB="0" marR="7625" marL="7625" anchor="ctr">
                    <a:solidFill>
                      <a:srgbClr val="E8EEF3"/>
                    </a:solidFill>
                  </a:tcPr>
                </a:tc>
                <a:tc>
                  <a:txBody>
                    <a:bodyPr/>
                    <a:lstStyle/>
                    <a:p>
                      <a:pPr indent="0" lvl="0" marL="0" marR="0" rtl="0" algn="ctr">
                        <a:spcBef>
                          <a:spcPts val="0"/>
                        </a:spcBef>
                        <a:spcAft>
                          <a:spcPts val="0"/>
                        </a:spcAft>
                        <a:buNone/>
                      </a:pPr>
                      <a:r>
                        <a:rPr b="1" i="0" lang="es-BO" sz="1600" u="none" cap="none" strike="noStrike">
                          <a:solidFill>
                            <a:srgbClr val="000000"/>
                          </a:solidFill>
                          <a:latin typeface="Garamond"/>
                          <a:ea typeface="Garamond"/>
                          <a:cs typeface="Garamond"/>
                          <a:sym typeface="Garamond"/>
                        </a:rPr>
                        <a:t>I[mA]</a:t>
                      </a:r>
                      <a:endParaRPr/>
                    </a:p>
                  </a:txBody>
                  <a:tcPr marT="7625" marB="0" marR="7625" marL="7625" anchor="ctr">
                    <a:solidFill>
                      <a:srgbClr val="E8EEF3"/>
                    </a:solidFill>
                  </a:tcPr>
                </a:tc>
                <a:tc>
                  <a:txBody>
                    <a:bodyPr/>
                    <a:lstStyle/>
                    <a:p>
                      <a:pPr indent="0" lvl="0" marL="0" marR="0" rtl="0" algn="ctr">
                        <a:spcBef>
                          <a:spcPts val="0"/>
                        </a:spcBef>
                        <a:spcAft>
                          <a:spcPts val="0"/>
                        </a:spcAft>
                        <a:buNone/>
                      </a:pPr>
                      <a:r>
                        <a:rPr b="1" i="0" lang="es-BO" sz="1600" u="none" cap="none" strike="noStrike">
                          <a:solidFill>
                            <a:srgbClr val="000000"/>
                          </a:solidFill>
                          <a:latin typeface="Garamond"/>
                          <a:ea typeface="Garamond"/>
                          <a:cs typeface="Garamond"/>
                          <a:sym typeface="Garamond"/>
                        </a:rPr>
                        <a:t>R[Ω]</a:t>
                      </a:r>
                      <a:endParaRPr/>
                    </a:p>
                  </a:txBody>
                  <a:tcPr marT="7625" marB="0" marR="7625" marL="7625" anchor="ctr">
                    <a:solidFill>
                      <a:srgbClr val="BCCEDD"/>
                    </a:solidFill>
                  </a:tcPr>
                </a:tc>
              </a:tr>
              <a:tr h="215450">
                <a:tc>
                  <a:txBody>
                    <a:bodyPr/>
                    <a:lstStyle/>
                    <a:p>
                      <a:pPr indent="0" lvl="0" marL="0" marR="0" rtl="0" algn="ctr">
                        <a:spcBef>
                          <a:spcPts val="0"/>
                        </a:spcBef>
                        <a:spcAft>
                          <a:spcPts val="0"/>
                        </a:spcAft>
                        <a:buNone/>
                      </a:pPr>
                      <a:r>
                        <a:rPr lang="es-BO" sz="1600" u="none" cap="none" strike="noStrike">
                          <a:solidFill>
                            <a:schemeClr val="dk1"/>
                          </a:solidFill>
                          <a:latin typeface="Garamond"/>
                          <a:ea typeface="Garamond"/>
                          <a:cs typeface="Garamond"/>
                          <a:sym typeface="Garamond"/>
                        </a:rPr>
                        <a:t>40</a:t>
                      </a:r>
                      <a:endParaRPr b="0" i="0" sz="1600" u="none" cap="none" strike="noStrike">
                        <a:solidFill>
                          <a:schemeClr val="dk1"/>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44</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118</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b="0" i="0" lang="es-BO" sz="1600" u="none" cap="none" strike="noStrike">
                          <a:solidFill>
                            <a:srgbClr val="000000"/>
                          </a:solidFill>
                          <a:latin typeface="Garamond"/>
                          <a:ea typeface="Garamond"/>
                          <a:cs typeface="Garamond"/>
                          <a:sym typeface="Garamond"/>
                        </a:rPr>
                        <a:t>1</a:t>
                      </a:r>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118</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r>
              <a:tr h="215450">
                <a:tc>
                  <a:txBody>
                    <a:bodyPr/>
                    <a:lstStyle/>
                    <a:p>
                      <a:pPr indent="0" lvl="0" marL="0" marR="0" rtl="0" algn="ctr">
                        <a:spcBef>
                          <a:spcPts val="0"/>
                        </a:spcBef>
                        <a:spcAft>
                          <a:spcPts val="0"/>
                        </a:spcAft>
                        <a:buNone/>
                      </a:pPr>
                      <a:r>
                        <a:rPr lang="es-BO" sz="1600" u="none" cap="none" strike="noStrike">
                          <a:solidFill>
                            <a:schemeClr val="dk1"/>
                          </a:solidFill>
                          <a:latin typeface="Garamond"/>
                          <a:ea typeface="Garamond"/>
                          <a:cs typeface="Garamond"/>
                          <a:sym typeface="Garamond"/>
                        </a:rPr>
                        <a:t>60</a:t>
                      </a:r>
                      <a:endParaRPr b="0" i="0" sz="1600" u="none" cap="none" strike="noStrike">
                        <a:solidFill>
                          <a:schemeClr val="dk1"/>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71,4</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127,8</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b="0" i="0" lang="es-BO" sz="1600" u="none" cap="none" strike="noStrike">
                          <a:solidFill>
                            <a:srgbClr val="000000"/>
                          </a:solidFill>
                          <a:latin typeface="Garamond"/>
                          <a:ea typeface="Garamond"/>
                          <a:cs typeface="Garamond"/>
                          <a:sym typeface="Garamond"/>
                        </a:rPr>
                        <a:t>1</a:t>
                      </a:r>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127,8</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r>
              <a:tr h="215450">
                <a:tc>
                  <a:txBody>
                    <a:bodyPr/>
                    <a:lstStyle/>
                    <a:p>
                      <a:pPr indent="0" lvl="0" marL="0" marR="0" rtl="0" algn="ctr">
                        <a:spcBef>
                          <a:spcPts val="0"/>
                        </a:spcBef>
                        <a:spcAft>
                          <a:spcPts val="0"/>
                        </a:spcAft>
                        <a:buNone/>
                      </a:pPr>
                      <a:r>
                        <a:rPr lang="es-BO" sz="1600" u="none" cap="none" strike="noStrike">
                          <a:solidFill>
                            <a:schemeClr val="dk1"/>
                          </a:solidFill>
                          <a:latin typeface="Garamond"/>
                          <a:ea typeface="Garamond"/>
                          <a:cs typeface="Garamond"/>
                          <a:sym typeface="Garamond"/>
                        </a:rPr>
                        <a:t>70</a:t>
                      </a:r>
                      <a:endParaRPr b="0" i="0" sz="1600" u="none" cap="none" strike="noStrike">
                        <a:solidFill>
                          <a:schemeClr val="dk1"/>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87,5</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134,6</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b="0" i="0" lang="es-BO" sz="1600" u="none" cap="none" strike="noStrike">
                          <a:solidFill>
                            <a:srgbClr val="000000"/>
                          </a:solidFill>
                          <a:latin typeface="Garamond"/>
                          <a:ea typeface="Garamond"/>
                          <a:cs typeface="Garamond"/>
                          <a:sym typeface="Garamond"/>
                        </a:rPr>
                        <a:t>1</a:t>
                      </a:r>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134,6</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r>
              <a:tr h="215450">
                <a:tc>
                  <a:txBody>
                    <a:bodyPr/>
                    <a:lstStyle/>
                    <a:p>
                      <a:pPr indent="0" lvl="0" marL="0" marR="0" rtl="0" algn="ctr">
                        <a:spcBef>
                          <a:spcPts val="0"/>
                        </a:spcBef>
                        <a:spcAft>
                          <a:spcPts val="0"/>
                        </a:spcAft>
                        <a:buNone/>
                      </a:pPr>
                      <a:r>
                        <a:rPr lang="es-BO" sz="1600" u="none" cap="none" strike="noStrike">
                          <a:solidFill>
                            <a:schemeClr val="dk1"/>
                          </a:solidFill>
                          <a:latin typeface="Garamond"/>
                          <a:ea typeface="Garamond"/>
                          <a:cs typeface="Garamond"/>
                          <a:sym typeface="Garamond"/>
                        </a:rPr>
                        <a:t>80</a:t>
                      </a:r>
                      <a:endParaRPr b="0" i="0" sz="1600" u="none" cap="none" strike="noStrike">
                        <a:solidFill>
                          <a:schemeClr val="dk1"/>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92,9</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136,4</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b="0" i="0" lang="es-BO" sz="1600" u="none" cap="none" strike="noStrike">
                          <a:solidFill>
                            <a:srgbClr val="000000"/>
                          </a:solidFill>
                          <a:latin typeface="Garamond"/>
                          <a:ea typeface="Garamond"/>
                          <a:cs typeface="Garamond"/>
                          <a:sym typeface="Garamond"/>
                        </a:rPr>
                        <a:t>1</a:t>
                      </a:r>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136,4</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r>
              <a:tr h="215450">
                <a:tc>
                  <a:txBody>
                    <a:bodyPr/>
                    <a:lstStyle/>
                    <a:p>
                      <a:pPr indent="0" lvl="0" marL="0" marR="0" rtl="0" algn="ctr">
                        <a:spcBef>
                          <a:spcPts val="0"/>
                        </a:spcBef>
                        <a:spcAft>
                          <a:spcPts val="0"/>
                        </a:spcAft>
                        <a:buNone/>
                      </a:pPr>
                      <a:r>
                        <a:rPr lang="es-BO" sz="1600" u="none" cap="none" strike="noStrike">
                          <a:solidFill>
                            <a:schemeClr val="dk1"/>
                          </a:solidFill>
                          <a:latin typeface="Garamond"/>
                          <a:ea typeface="Garamond"/>
                          <a:cs typeface="Garamond"/>
                          <a:sym typeface="Garamond"/>
                        </a:rPr>
                        <a:t>90</a:t>
                      </a:r>
                      <a:endParaRPr b="0" i="0" sz="1600" u="none" cap="none" strike="noStrike">
                        <a:solidFill>
                          <a:schemeClr val="dk1"/>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98,7</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138,6</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b="0" i="0" lang="es-BO" sz="1600" u="none" cap="none" strike="noStrike">
                          <a:solidFill>
                            <a:srgbClr val="000000"/>
                          </a:solidFill>
                          <a:latin typeface="Garamond"/>
                          <a:ea typeface="Garamond"/>
                          <a:cs typeface="Garamond"/>
                          <a:sym typeface="Garamond"/>
                        </a:rPr>
                        <a:t>1</a:t>
                      </a:r>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138,6</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r>
              <a:tr h="215450">
                <a:tc>
                  <a:txBody>
                    <a:bodyPr/>
                    <a:lstStyle/>
                    <a:p>
                      <a:pPr indent="0" lvl="0" marL="0" marR="0" rtl="0" algn="ctr">
                        <a:spcBef>
                          <a:spcPts val="0"/>
                        </a:spcBef>
                        <a:spcAft>
                          <a:spcPts val="0"/>
                        </a:spcAft>
                        <a:buNone/>
                      </a:pPr>
                      <a:r>
                        <a:rPr lang="es-BO" sz="1600" u="none" cap="none" strike="noStrike">
                          <a:solidFill>
                            <a:schemeClr val="dk1"/>
                          </a:solidFill>
                          <a:latin typeface="Garamond"/>
                          <a:ea typeface="Garamond"/>
                          <a:cs typeface="Garamond"/>
                          <a:sym typeface="Garamond"/>
                        </a:rPr>
                        <a:t>100</a:t>
                      </a:r>
                      <a:endParaRPr b="0" i="0" sz="1600" u="none" cap="none" strike="noStrike">
                        <a:solidFill>
                          <a:schemeClr val="dk1"/>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104,1</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141</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b="0" i="0" lang="es-BO" sz="1600" u="none" cap="none" strike="noStrike">
                          <a:solidFill>
                            <a:srgbClr val="000000"/>
                          </a:solidFill>
                          <a:latin typeface="Garamond"/>
                          <a:ea typeface="Garamond"/>
                          <a:cs typeface="Garamond"/>
                          <a:sym typeface="Garamond"/>
                        </a:rPr>
                        <a:t>1</a:t>
                      </a:r>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141</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r>
              <a:tr h="215450">
                <a:tc>
                  <a:txBody>
                    <a:bodyPr/>
                    <a:lstStyle/>
                    <a:p>
                      <a:pPr indent="0" lvl="0" marL="0" marR="0" rtl="0" algn="ctr">
                        <a:spcBef>
                          <a:spcPts val="0"/>
                        </a:spcBef>
                        <a:spcAft>
                          <a:spcPts val="0"/>
                        </a:spcAft>
                        <a:buNone/>
                      </a:pPr>
                      <a:r>
                        <a:rPr lang="es-BO" sz="1600" u="none" cap="none" strike="noStrike">
                          <a:solidFill>
                            <a:schemeClr val="dk1"/>
                          </a:solidFill>
                          <a:latin typeface="Garamond"/>
                          <a:ea typeface="Garamond"/>
                          <a:cs typeface="Garamond"/>
                          <a:sym typeface="Garamond"/>
                        </a:rPr>
                        <a:t>110</a:t>
                      </a:r>
                      <a:endParaRPr b="0" i="0" sz="1600" u="none" cap="none" strike="noStrike">
                        <a:solidFill>
                          <a:schemeClr val="dk1"/>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110,8</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142,8</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b="0" i="0" lang="es-BO" sz="1600" u="none" cap="none" strike="noStrike">
                          <a:solidFill>
                            <a:srgbClr val="000000"/>
                          </a:solidFill>
                          <a:latin typeface="Garamond"/>
                          <a:ea typeface="Garamond"/>
                          <a:cs typeface="Garamond"/>
                          <a:sym typeface="Garamond"/>
                        </a:rPr>
                        <a:t>1</a:t>
                      </a:r>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142,8</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r>
              <a:tr h="215450">
                <a:tc>
                  <a:txBody>
                    <a:bodyPr/>
                    <a:lstStyle/>
                    <a:p>
                      <a:pPr indent="0" lvl="0" marL="0" marR="0" rtl="0" algn="ctr">
                        <a:spcBef>
                          <a:spcPts val="0"/>
                        </a:spcBef>
                        <a:spcAft>
                          <a:spcPts val="0"/>
                        </a:spcAft>
                        <a:buNone/>
                      </a:pPr>
                      <a:r>
                        <a:rPr lang="es-BO" sz="1600" u="none" cap="none" strike="noStrike">
                          <a:solidFill>
                            <a:schemeClr val="dk1"/>
                          </a:solidFill>
                          <a:latin typeface="Garamond"/>
                          <a:ea typeface="Garamond"/>
                          <a:cs typeface="Garamond"/>
                          <a:sym typeface="Garamond"/>
                        </a:rPr>
                        <a:t>120</a:t>
                      </a:r>
                      <a:endParaRPr b="0" i="0" sz="1600" u="none" cap="none" strike="noStrike">
                        <a:solidFill>
                          <a:schemeClr val="dk1"/>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131,8</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150,9</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b="0" i="0" lang="es-BO" sz="1600" u="none" cap="none" strike="noStrike">
                          <a:solidFill>
                            <a:srgbClr val="000000"/>
                          </a:solidFill>
                          <a:latin typeface="Garamond"/>
                          <a:ea typeface="Garamond"/>
                          <a:cs typeface="Garamond"/>
                          <a:sym typeface="Garamond"/>
                        </a:rPr>
                        <a:t>1</a:t>
                      </a:r>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150,9</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r>
              <a:tr h="215450">
                <a:tc>
                  <a:txBody>
                    <a:bodyPr/>
                    <a:lstStyle/>
                    <a:p>
                      <a:pPr indent="0" lvl="0" marL="0" marR="0" rtl="0" algn="ctr">
                        <a:spcBef>
                          <a:spcPts val="0"/>
                        </a:spcBef>
                        <a:spcAft>
                          <a:spcPts val="0"/>
                        </a:spcAft>
                        <a:buNone/>
                      </a:pPr>
                      <a:r>
                        <a:rPr lang="es-BO" sz="1600" u="none" cap="none" strike="noStrike">
                          <a:solidFill>
                            <a:schemeClr val="dk1"/>
                          </a:solidFill>
                          <a:latin typeface="Garamond"/>
                          <a:ea typeface="Garamond"/>
                          <a:cs typeface="Garamond"/>
                          <a:sym typeface="Garamond"/>
                        </a:rPr>
                        <a:t>140</a:t>
                      </a:r>
                      <a:endParaRPr b="0" i="0" sz="1600" u="none" cap="none" strike="noStrike">
                        <a:solidFill>
                          <a:schemeClr val="dk1"/>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134,5</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151,6</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b="0" i="0" lang="es-BO" sz="1600" u="none" cap="none" strike="noStrike">
                          <a:solidFill>
                            <a:srgbClr val="000000"/>
                          </a:solidFill>
                          <a:latin typeface="Garamond"/>
                          <a:ea typeface="Garamond"/>
                          <a:cs typeface="Garamond"/>
                          <a:sym typeface="Garamond"/>
                        </a:rPr>
                        <a:t>1</a:t>
                      </a:r>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151,6</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r>
              <a:tr h="215450">
                <a:tc>
                  <a:txBody>
                    <a:bodyPr/>
                    <a:lstStyle/>
                    <a:p>
                      <a:pPr indent="0" lvl="0" marL="0" marR="0" rtl="0" algn="ctr">
                        <a:spcBef>
                          <a:spcPts val="0"/>
                        </a:spcBef>
                        <a:spcAft>
                          <a:spcPts val="0"/>
                        </a:spcAft>
                        <a:buNone/>
                      </a:pPr>
                      <a:r>
                        <a:rPr lang="es-BO" sz="1600" u="none" cap="none" strike="noStrike">
                          <a:solidFill>
                            <a:schemeClr val="dk1"/>
                          </a:solidFill>
                          <a:latin typeface="Garamond"/>
                          <a:ea typeface="Garamond"/>
                          <a:cs typeface="Garamond"/>
                          <a:sym typeface="Garamond"/>
                        </a:rPr>
                        <a:t>150</a:t>
                      </a:r>
                      <a:endParaRPr b="0" i="0" sz="1600" u="none" cap="none" strike="noStrike">
                        <a:solidFill>
                          <a:schemeClr val="dk1"/>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150,1</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157,7</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b="0" i="0" lang="es-BO" sz="1600" u="none" cap="none" strike="noStrike">
                          <a:solidFill>
                            <a:srgbClr val="000000"/>
                          </a:solidFill>
                          <a:latin typeface="Garamond"/>
                          <a:ea typeface="Garamond"/>
                          <a:cs typeface="Garamond"/>
                          <a:sym typeface="Garamond"/>
                        </a:rPr>
                        <a:t>1</a:t>
                      </a:r>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157,7</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r>
              <a:tr h="215450">
                <a:tc>
                  <a:txBody>
                    <a:bodyPr/>
                    <a:lstStyle/>
                    <a:p>
                      <a:pPr indent="0" lvl="0" marL="0" marR="0" rtl="0" algn="ctr">
                        <a:spcBef>
                          <a:spcPts val="0"/>
                        </a:spcBef>
                        <a:spcAft>
                          <a:spcPts val="0"/>
                        </a:spcAft>
                        <a:buNone/>
                      </a:pPr>
                      <a:r>
                        <a:rPr lang="es-BO" sz="1600" u="none" cap="none" strike="noStrike">
                          <a:solidFill>
                            <a:schemeClr val="dk1"/>
                          </a:solidFill>
                          <a:latin typeface="Garamond"/>
                          <a:ea typeface="Garamond"/>
                          <a:cs typeface="Garamond"/>
                          <a:sym typeface="Garamond"/>
                        </a:rPr>
                        <a:t>160</a:t>
                      </a:r>
                      <a:endParaRPr b="0" i="0" sz="1600" u="none" cap="none" strike="noStrike">
                        <a:solidFill>
                          <a:schemeClr val="dk1"/>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154,9</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158,9</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b="0" i="0" lang="es-BO" sz="1600" u="none" cap="none" strike="noStrike">
                          <a:solidFill>
                            <a:srgbClr val="000000"/>
                          </a:solidFill>
                          <a:latin typeface="Garamond"/>
                          <a:ea typeface="Garamond"/>
                          <a:cs typeface="Garamond"/>
                          <a:sym typeface="Garamond"/>
                        </a:rPr>
                        <a:t>1</a:t>
                      </a:r>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158,9</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r>
              <a:tr h="215450">
                <a:tc>
                  <a:txBody>
                    <a:bodyPr/>
                    <a:lstStyle/>
                    <a:p>
                      <a:pPr indent="0" lvl="0" marL="0" marR="0" rtl="0" algn="ctr">
                        <a:spcBef>
                          <a:spcPts val="0"/>
                        </a:spcBef>
                        <a:spcAft>
                          <a:spcPts val="0"/>
                        </a:spcAft>
                        <a:buNone/>
                      </a:pPr>
                      <a:r>
                        <a:rPr lang="es-BO" sz="1600" u="none" cap="none" strike="noStrike">
                          <a:solidFill>
                            <a:schemeClr val="dk1"/>
                          </a:solidFill>
                          <a:latin typeface="Garamond"/>
                          <a:ea typeface="Garamond"/>
                          <a:cs typeface="Garamond"/>
                          <a:sym typeface="Garamond"/>
                        </a:rPr>
                        <a:t>170</a:t>
                      </a:r>
                      <a:endParaRPr b="0" i="0" sz="1600" u="none" cap="none" strike="noStrike">
                        <a:solidFill>
                          <a:schemeClr val="dk1"/>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159,3</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160,2</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b="0" i="0" lang="es-BO" sz="1600" u="none" cap="none" strike="noStrike">
                          <a:solidFill>
                            <a:srgbClr val="000000"/>
                          </a:solidFill>
                          <a:latin typeface="Garamond"/>
                          <a:ea typeface="Garamond"/>
                          <a:cs typeface="Garamond"/>
                          <a:sym typeface="Garamond"/>
                        </a:rPr>
                        <a:t>1</a:t>
                      </a:r>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160,2</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r>
              <a:tr h="215450">
                <a:tc>
                  <a:txBody>
                    <a:bodyPr/>
                    <a:lstStyle/>
                    <a:p>
                      <a:pPr indent="0" lvl="0" marL="0" marR="0" rtl="0" algn="ctr">
                        <a:spcBef>
                          <a:spcPts val="0"/>
                        </a:spcBef>
                        <a:spcAft>
                          <a:spcPts val="0"/>
                        </a:spcAft>
                        <a:buNone/>
                      </a:pPr>
                      <a:r>
                        <a:rPr lang="es-BO" sz="1600" u="none" cap="none" strike="noStrike">
                          <a:solidFill>
                            <a:schemeClr val="dk1"/>
                          </a:solidFill>
                          <a:latin typeface="Garamond"/>
                          <a:ea typeface="Garamond"/>
                          <a:cs typeface="Garamond"/>
                          <a:sym typeface="Garamond"/>
                        </a:rPr>
                        <a:t>180</a:t>
                      </a:r>
                      <a:endParaRPr b="0" i="0" sz="1600" u="none" cap="none" strike="noStrike">
                        <a:solidFill>
                          <a:schemeClr val="dk1"/>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167,7</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163,7</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b="0" i="0" lang="es-BO" sz="1600" u="none" cap="none" strike="noStrike">
                          <a:solidFill>
                            <a:srgbClr val="000000"/>
                          </a:solidFill>
                          <a:latin typeface="Garamond"/>
                          <a:ea typeface="Garamond"/>
                          <a:cs typeface="Garamond"/>
                          <a:sym typeface="Garamond"/>
                        </a:rPr>
                        <a:t>1</a:t>
                      </a:r>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163,7</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r>
              <a:tr h="215450">
                <a:tc>
                  <a:txBody>
                    <a:bodyPr/>
                    <a:lstStyle/>
                    <a:p>
                      <a:pPr indent="0" lvl="0" marL="0" marR="0" rtl="0" algn="ctr">
                        <a:spcBef>
                          <a:spcPts val="0"/>
                        </a:spcBef>
                        <a:spcAft>
                          <a:spcPts val="0"/>
                        </a:spcAft>
                        <a:buNone/>
                      </a:pPr>
                      <a:r>
                        <a:rPr lang="es-BO" sz="1600" u="none" cap="none" strike="noStrike">
                          <a:solidFill>
                            <a:schemeClr val="dk1"/>
                          </a:solidFill>
                          <a:latin typeface="Garamond"/>
                          <a:ea typeface="Garamond"/>
                          <a:cs typeface="Garamond"/>
                          <a:sym typeface="Garamond"/>
                        </a:rPr>
                        <a:t>190</a:t>
                      </a:r>
                      <a:endParaRPr b="0" i="0" sz="1600" u="none" cap="none" strike="noStrike">
                        <a:solidFill>
                          <a:schemeClr val="dk1"/>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170,5</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164</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b="0" i="0" lang="es-BO" sz="1600" u="none" cap="none" strike="noStrike">
                          <a:solidFill>
                            <a:srgbClr val="000000"/>
                          </a:solidFill>
                          <a:latin typeface="Garamond"/>
                          <a:ea typeface="Garamond"/>
                          <a:cs typeface="Garamond"/>
                          <a:sym typeface="Garamond"/>
                        </a:rPr>
                        <a:t>1</a:t>
                      </a:r>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164</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r>
              <a:tr h="203200">
                <a:tc>
                  <a:txBody>
                    <a:bodyPr/>
                    <a:lstStyle/>
                    <a:p>
                      <a:pPr indent="0" lvl="0" marL="0" marR="0" rtl="0" algn="ctr">
                        <a:spcBef>
                          <a:spcPts val="0"/>
                        </a:spcBef>
                        <a:spcAft>
                          <a:spcPts val="0"/>
                        </a:spcAft>
                        <a:buNone/>
                      </a:pPr>
                      <a:r>
                        <a:rPr lang="es-BO" sz="1600" u="none" cap="none" strike="noStrike">
                          <a:solidFill>
                            <a:schemeClr val="dk1"/>
                          </a:solidFill>
                          <a:latin typeface="Garamond"/>
                          <a:ea typeface="Garamond"/>
                          <a:cs typeface="Garamond"/>
                          <a:sym typeface="Garamond"/>
                        </a:rPr>
                        <a:t>200</a:t>
                      </a:r>
                      <a:endParaRPr b="0" i="0" sz="1600" u="none" cap="none" strike="noStrike">
                        <a:solidFill>
                          <a:schemeClr val="dk1"/>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179,1</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168,7</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E8EEF3"/>
                    </a:solidFill>
                  </a:tcPr>
                </a:tc>
                <a:tc>
                  <a:txBody>
                    <a:bodyPr/>
                    <a:lstStyle/>
                    <a:p>
                      <a:pPr indent="0" lvl="0" marL="0" marR="0" rtl="0" algn="ctr">
                        <a:spcBef>
                          <a:spcPts val="0"/>
                        </a:spcBef>
                        <a:spcAft>
                          <a:spcPts val="0"/>
                        </a:spcAft>
                        <a:buNone/>
                      </a:pPr>
                      <a:r>
                        <a:rPr b="0" i="0" lang="es-BO" sz="1600" u="none" cap="none" strike="noStrike">
                          <a:solidFill>
                            <a:srgbClr val="000000"/>
                          </a:solidFill>
                          <a:latin typeface="Garamond"/>
                          <a:ea typeface="Garamond"/>
                          <a:cs typeface="Garamond"/>
                          <a:sym typeface="Garamond"/>
                        </a:rPr>
                        <a:t>1</a:t>
                      </a:r>
                      <a:endParaRPr/>
                    </a:p>
                  </a:txBody>
                  <a:tcPr marT="7625" marB="0" marR="7625" marL="7625" anchor="b">
                    <a:solidFill>
                      <a:srgbClr val="E8EEF3"/>
                    </a:solidFill>
                  </a:tcPr>
                </a:tc>
                <a:tc>
                  <a:txBody>
                    <a:bodyPr/>
                    <a:lstStyle/>
                    <a:p>
                      <a:pPr indent="0" lvl="0" marL="0" marR="0" rtl="0" algn="ctr">
                        <a:spcBef>
                          <a:spcPts val="0"/>
                        </a:spcBef>
                        <a:spcAft>
                          <a:spcPts val="0"/>
                        </a:spcAft>
                        <a:buNone/>
                      </a:pPr>
                      <a:r>
                        <a:rPr lang="es-BO" sz="1600" u="none" cap="none" strike="noStrike">
                          <a:latin typeface="Garamond"/>
                          <a:ea typeface="Garamond"/>
                          <a:cs typeface="Garamond"/>
                          <a:sym typeface="Garamond"/>
                        </a:rPr>
                        <a:t>168,7</a:t>
                      </a:r>
                      <a:endParaRPr b="0" i="0" sz="1600" u="none" cap="none" strike="noStrike">
                        <a:solidFill>
                          <a:srgbClr val="000000"/>
                        </a:solidFill>
                        <a:latin typeface="Garamond"/>
                        <a:ea typeface="Garamond"/>
                        <a:cs typeface="Garamond"/>
                        <a:sym typeface="Garamond"/>
                      </a:endParaRPr>
                    </a:p>
                  </a:txBody>
                  <a:tcPr marT="7625" marB="0" marR="7625" marL="7625" anchor="b">
                    <a:solidFill>
                      <a:srgbClr val="BCCEDD"/>
                    </a:solidFill>
                  </a:tcPr>
                </a:tc>
              </a:tr>
            </a:tbl>
          </a:graphicData>
        </a:graphic>
      </p:graphicFrame>
      <p:graphicFrame>
        <p:nvGraphicFramePr>
          <p:cNvPr id="849" name="Google Shape;849;p65" title="Gráfico"/>
          <p:cNvGraphicFramePr/>
          <p:nvPr/>
        </p:nvGraphicFramePr>
        <p:xfrm>
          <a:off x="5363754" y="2064990"/>
          <a:ext cx="6398259" cy="3994723"/>
        </p:xfrm>
        <a:graphic>
          <a:graphicData uri="http://schemas.openxmlformats.org/drawingml/2006/chart">
            <c:chart r:id="rId3"/>
          </a:graphicData>
        </a:graphic>
      </p:graphicFrame>
      <p:sp>
        <p:nvSpPr>
          <p:cNvPr id="850" name="Google Shape;850;p65"/>
          <p:cNvSpPr txBox="1"/>
          <p:nvPr>
            <p:ph type="title"/>
          </p:nvPr>
        </p:nvSpPr>
        <p:spPr>
          <a:xfrm>
            <a:off x="1066800" y="684797"/>
            <a:ext cx="10058400" cy="9394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62626"/>
              </a:buClr>
              <a:buSzPct val="100000"/>
              <a:buFont typeface="Garamond"/>
              <a:buNone/>
            </a:pPr>
            <a:r>
              <a:rPr b="1" lang="es-BO" sz="4400"/>
              <a:t>SENSOR DE TEMPERATURA</a:t>
            </a:r>
            <a:br>
              <a:rPr b="1" lang="es-BO" sz="4400"/>
            </a:br>
            <a:r>
              <a:rPr b="1" lang="es-BO" sz="2700"/>
              <a:t>SENSOR DE TEMPERATURA RESISTIVO RTD (TR12) </a:t>
            </a:r>
            <a:endParaRPr b="1" sz="22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66"/>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000"/>
              <a:buFont typeface="Garamond"/>
              <a:buNone/>
            </a:pPr>
            <a:r>
              <a:rPr b="1" lang="es-BO" sz="4000"/>
              <a:t>SENSOR ULTRASONIDO</a:t>
            </a:r>
            <a:endParaRPr b="1" sz="4000"/>
          </a:p>
        </p:txBody>
      </p:sp>
      <p:grpSp>
        <p:nvGrpSpPr>
          <p:cNvPr id="856" name="Google Shape;856;p66"/>
          <p:cNvGrpSpPr/>
          <p:nvPr/>
        </p:nvGrpSpPr>
        <p:grpSpPr>
          <a:xfrm>
            <a:off x="307258" y="1172994"/>
            <a:ext cx="10123495" cy="5212079"/>
            <a:chOff x="-149187" y="0"/>
            <a:chExt cx="10123495" cy="5212079"/>
          </a:xfrm>
        </p:grpSpPr>
        <p:sp>
          <p:nvSpPr>
            <p:cNvPr id="857" name="Google Shape;857;p66"/>
            <p:cNvSpPr/>
            <p:nvPr/>
          </p:nvSpPr>
          <p:spPr>
            <a:xfrm>
              <a:off x="-149187" y="0"/>
              <a:ext cx="7744967" cy="938174"/>
            </a:xfrm>
            <a:prstGeom prst="roundRect">
              <a:avLst>
                <a:gd fmla="val 10000" name="adj"/>
              </a:avLst>
            </a:prstGeom>
            <a:solidFill>
              <a:srgbClr val="C19015"/>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66"/>
            <p:cNvSpPr txBox="1"/>
            <p:nvPr/>
          </p:nvSpPr>
          <p:spPr>
            <a:xfrm>
              <a:off x="-121709" y="27478"/>
              <a:ext cx="6622838" cy="883218"/>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PRINCIPIO DE FUNCIONAMIENTO</a:t>
              </a:r>
              <a:endParaRPr/>
            </a:p>
            <a:p>
              <a:pPr indent="0" lvl="0" marL="0" marR="0" rtl="0" algn="ctr">
                <a:lnSpc>
                  <a:spcPct val="90000"/>
                </a:lnSpc>
                <a:spcBef>
                  <a:spcPts val="70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Se basa en el principio de medida “Time of flight” y van detectando continuamente el nivel del liquido en el tanque.</a:t>
              </a:r>
              <a:endParaRPr sz="2000">
                <a:solidFill>
                  <a:schemeClr val="dk1"/>
                </a:solidFill>
                <a:latin typeface="Garamond"/>
                <a:ea typeface="Garamond"/>
                <a:cs typeface="Garamond"/>
                <a:sym typeface="Garamond"/>
              </a:endParaRPr>
            </a:p>
          </p:txBody>
        </p:sp>
        <p:sp>
          <p:nvSpPr>
            <p:cNvPr id="859" name="Google Shape;859;p66"/>
            <p:cNvSpPr/>
            <p:nvPr/>
          </p:nvSpPr>
          <p:spPr>
            <a:xfrm>
              <a:off x="429170" y="1068476"/>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66"/>
            <p:cNvSpPr txBox="1"/>
            <p:nvPr/>
          </p:nvSpPr>
          <p:spPr>
            <a:xfrm>
              <a:off x="456648" y="1095954"/>
              <a:ext cx="6501840" cy="883218"/>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dk1"/>
                </a:buClr>
                <a:buSzPts val="1800"/>
                <a:buFont typeface="Garamond"/>
                <a:buNone/>
              </a:pPr>
              <a:r>
                <a:rPr b="0" lang="es-BO" sz="1800">
                  <a:solidFill>
                    <a:schemeClr val="dk1"/>
                  </a:solidFill>
                  <a:latin typeface="Garamond"/>
                  <a:ea typeface="Garamond"/>
                  <a:cs typeface="Garamond"/>
                  <a:sym typeface="Garamond"/>
                </a:rPr>
                <a:t>Pulsos ultrasónicos son emitidos reflejados en la superficie del liquido y son recibidos por el sensor. </a:t>
              </a:r>
              <a:endParaRPr sz="1800">
                <a:solidFill>
                  <a:schemeClr val="dk1"/>
                </a:solidFill>
                <a:latin typeface="Garamond"/>
                <a:ea typeface="Garamond"/>
                <a:cs typeface="Garamond"/>
                <a:sym typeface="Garamond"/>
              </a:endParaRPr>
            </a:p>
          </p:txBody>
        </p:sp>
        <p:sp>
          <p:nvSpPr>
            <p:cNvPr id="861" name="Google Shape;861;p66"/>
            <p:cNvSpPr/>
            <p:nvPr/>
          </p:nvSpPr>
          <p:spPr>
            <a:xfrm>
              <a:off x="1007528" y="2136952"/>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66"/>
            <p:cNvSpPr txBox="1"/>
            <p:nvPr/>
          </p:nvSpPr>
          <p:spPr>
            <a:xfrm>
              <a:off x="1035006" y="2164430"/>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La distancia entre el instrumento y el liquido se puede calcular midiendo el “tiempo de vuelo”. </a:t>
              </a:r>
              <a:endParaRPr sz="2000">
                <a:solidFill>
                  <a:schemeClr val="dk1"/>
                </a:solidFill>
                <a:latin typeface="Garamond"/>
                <a:ea typeface="Garamond"/>
                <a:cs typeface="Garamond"/>
                <a:sym typeface="Garamond"/>
              </a:endParaRPr>
            </a:p>
          </p:txBody>
        </p:sp>
        <p:sp>
          <p:nvSpPr>
            <p:cNvPr id="863" name="Google Shape;863;p66"/>
            <p:cNvSpPr/>
            <p:nvPr/>
          </p:nvSpPr>
          <p:spPr>
            <a:xfrm>
              <a:off x="1585886" y="3205429"/>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66"/>
            <p:cNvSpPr txBox="1"/>
            <p:nvPr/>
          </p:nvSpPr>
          <p:spPr>
            <a:xfrm>
              <a:off x="1613364" y="3232907"/>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Las ondas ultrasónicas, son ondas mecánicas, generados piezo- eléctricamente y reflejados en la superficie del liquido debido a la diferencia de densidad entre el aire y el liquido</a:t>
              </a:r>
              <a:endParaRPr sz="2000">
                <a:solidFill>
                  <a:schemeClr val="dk1"/>
                </a:solidFill>
                <a:latin typeface="Garamond"/>
                <a:ea typeface="Garamond"/>
                <a:cs typeface="Garamond"/>
                <a:sym typeface="Garamond"/>
              </a:endParaRPr>
            </a:p>
          </p:txBody>
        </p:sp>
        <p:sp>
          <p:nvSpPr>
            <p:cNvPr id="865" name="Google Shape;865;p66"/>
            <p:cNvSpPr/>
            <p:nvPr/>
          </p:nvSpPr>
          <p:spPr>
            <a:xfrm>
              <a:off x="1632591" y="4273905"/>
              <a:ext cx="834171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66"/>
            <p:cNvSpPr txBox="1"/>
            <p:nvPr/>
          </p:nvSpPr>
          <p:spPr>
            <a:xfrm>
              <a:off x="1660069" y="4301383"/>
              <a:ext cx="7007041"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b="0" lang="es-BO" sz="2000">
                  <a:solidFill>
                    <a:schemeClr val="dk1"/>
                  </a:solidFill>
                  <a:latin typeface="Garamond"/>
                  <a:ea typeface="Garamond"/>
                  <a:cs typeface="Garamond"/>
                  <a:sym typeface="Garamond"/>
                </a:rPr>
                <a:t>El periodo de tiempo medido y analizado por el instrumento, entre enviar y recibir el pulso, es una medida directa para calcular la distancia entre la membrana del sensor y la superficie del liquido</a:t>
              </a:r>
              <a:endParaRPr sz="2000">
                <a:solidFill>
                  <a:schemeClr val="dk1"/>
                </a:solidFill>
                <a:latin typeface="Garamond"/>
                <a:ea typeface="Garamond"/>
                <a:cs typeface="Garamond"/>
                <a:sym typeface="Garamond"/>
              </a:endParaRPr>
            </a:p>
          </p:txBody>
        </p:sp>
        <p:sp>
          <p:nvSpPr>
            <p:cNvPr id="867" name="Google Shape;867;p66"/>
            <p:cNvSpPr/>
            <p:nvPr/>
          </p:nvSpPr>
          <p:spPr>
            <a:xfrm>
              <a:off x="6985967" y="685388"/>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66"/>
            <p:cNvSpPr txBox="1"/>
            <p:nvPr/>
          </p:nvSpPr>
          <p:spPr>
            <a:xfrm>
              <a:off x="7123175" y="685388"/>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869" name="Google Shape;869;p66"/>
            <p:cNvSpPr/>
            <p:nvPr/>
          </p:nvSpPr>
          <p:spPr>
            <a:xfrm>
              <a:off x="7564325" y="1753864"/>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66"/>
            <p:cNvSpPr txBox="1"/>
            <p:nvPr/>
          </p:nvSpPr>
          <p:spPr>
            <a:xfrm>
              <a:off x="7701533" y="1753864"/>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871" name="Google Shape;871;p66"/>
            <p:cNvSpPr/>
            <p:nvPr/>
          </p:nvSpPr>
          <p:spPr>
            <a:xfrm>
              <a:off x="8142683" y="28067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66"/>
            <p:cNvSpPr txBox="1"/>
            <p:nvPr/>
          </p:nvSpPr>
          <p:spPr>
            <a:xfrm>
              <a:off x="8279891" y="28067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873" name="Google Shape;873;p66"/>
            <p:cNvSpPr/>
            <p:nvPr/>
          </p:nvSpPr>
          <p:spPr>
            <a:xfrm>
              <a:off x="8721041" y="38856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66"/>
            <p:cNvSpPr txBox="1"/>
            <p:nvPr/>
          </p:nvSpPr>
          <p:spPr>
            <a:xfrm>
              <a:off x="8858249" y="38856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id="875" name="Google Shape;875;p66"/>
          <p:cNvPicPr preferRelativeResize="0"/>
          <p:nvPr/>
        </p:nvPicPr>
        <p:blipFill rotWithShape="1">
          <a:blip r:embed="rId3">
            <a:alphaModFix/>
          </a:blip>
          <a:srcRect b="0" l="0" r="0" t="0"/>
          <a:stretch/>
        </p:blipFill>
        <p:spPr>
          <a:xfrm>
            <a:off x="10147437" y="586574"/>
            <a:ext cx="1373060" cy="1491106"/>
          </a:xfrm>
          <a:prstGeom prst="rect">
            <a:avLst/>
          </a:prstGeom>
          <a:noFill/>
          <a:ln>
            <a:noFill/>
          </a:ln>
        </p:spPr>
      </p:pic>
      <p:pic>
        <p:nvPicPr>
          <p:cNvPr id="876" name="Google Shape;876;p66"/>
          <p:cNvPicPr preferRelativeResize="0"/>
          <p:nvPr/>
        </p:nvPicPr>
        <p:blipFill rotWithShape="1">
          <a:blip r:embed="rId4">
            <a:alphaModFix/>
          </a:blip>
          <a:srcRect b="0" l="0" r="0" t="0"/>
          <a:stretch/>
        </p:blipFill>
        <p:spPr>
          <a:xfrm>
            <a:off x="10200645" y="2269635"/>
            <a:ext cx="1319852" cy="1478723"/>
          </a:xfrm>
          <a:prstGeom prst="rect">
            <a:avLst/>
          </a:prstGeom>
          <a:noFill/>
          <a:ln>
            <a:noFill/>
          </a:ln>
        </p:spPr>
      </p:pic>
      <p:pic>
        <p:nvPicPr>
          <p:cNvPr id="877" name="Google Shape;877;p66"/>
          <p:cNvPicPr preferRelativeResize="0"/>
          <p:nvPr/>
        </p:nvPicPr>
        <p:blipFill rotWithShape="1">
          <a:blip r:embed="rId5">
            <a:alphaModFix/>
          </a:blip>
          <a:srcRect b="0" l="0" r="0" t="0"/>
          <a:stretch/>
        </p:blipFill>
        <p:spPr>
          <a:xfrm>
            <a:off x="10617479" y="3940313"/>
            <a:ext cx="1086687" cy="1071207"/>
          </a:xfrm>
          <a:prstGeom prst="rect">
            <a:avLst/>
          </a:prstGeom>
          <a:noFill/>
          <a:ln>
            <a:noFill/>
          </a:ln>
        </p:spPr>
      </p:pic>
      <p:pic>
        <p:nvPicPr>
          <p:cNvPr id="878" name="Google Shape;878;p66"/>
          <p:cNvPicPr preferRelativeResize="0"/>
          <p:nvPr/>
        </p:nvPicPr>
        <p:blipFill rotWithShape="1">
          <a:blip r:embed="rId6">
            <a:alphaModFix/>
          </a:blip>
          <a:srcRect b="0" l="0" r="0" t="0"/>
          <a:stretch/>
        </p:blipFill>
        <p:spPr>
          <a:xfrm>
            <a:off x="10617479" y="5349922"/>
            <a:ext cx="1086686" cy="982639"/>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67"/>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lang="es-BO"/>
              <a:t>SENSOR ULTRASONIDO</a:t>
            </a:r>
            <a:endParaRPr/>
          </a:p>
        </p:txBody>
      </p:sp>
      <p:sp>
        <p:nvSpPr>
          <p:cNvPr id="884" name="Google Shape;884;p67"/>
          <p:cNvSpPr txBox="1"/>
          <p:nvPr>
            <p:ph idx="1" type="body"/>
          </p:nvPr>
        </p:nvSpPr>
        <p:spPr>
          <a:xfrm>
            <a:off x="1066800" y="2103120"/>
            <a:ext cx="5676900" cy="39319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lang="es-BO"/>
              <a:t>CARACTERISTICAS</a:t>
            </a:r>
            <a:endParaRPr/>
          </a:p>
          <a:p>
            <a:pPr indent="-182880" lvl="0" marL="182880" rtl="0" algn="l">
              <a:lnSpc>
                <a:spcPct val="100000"/>
              </a:lnSpc>
              <a:spcBef>
                <a:spcPts val="900"/>
              </a:spcBef>
              <a:spcAft>
                <a:spcPts val="0"/>
              </a:spcAft>
              <a:buSzPts val="1800"/>
              <a:buChar char="◦"/>
            </a:pPr>
            <a:r>
              <a:rPr lang="es-BO"/>
              <a:t>Suministro de voltaje: 12 – 30 V DC</a:t>
            </a:r>
            <a:endParaRPr/>
          </a:p>
          <a:p>
            <a:pPr indent="-182880" lvl="0" marL="182880" rtl="0" algn="l">
              <a:lnSpc>
                <a:spcPct val="100000"/>
              </a:lnSpc>
              <a:spcBef>
                <a:spcPts val="900"/>
              </a:spcBef>
              <a:spcAft>
                <a:spcPts val="0"/>
              </a:spcAft>
              <a:buSzPts val="1800"/>
              <a:buChar char="◦"/>
            </a:pPr>
            <a:r>
              <a:rPr lang="es-BO"/>
              <a:t>Salida: corriente analógica 4-20mA</a:t>
            </a:r>
            <a:endParaRPr/>
          </a:p>
          <a:p>
            <a:pPr indent="-182880" lvl="0" marL="182880" rtl="0" algn="l">
              <a:lnSpc>
                <a:spcPct val="100000"/>
              </a:lnSpc>
              <a:spcBef>
                <a:spcPts val="900"/>
              </a:spcBef>
              <a:spcAft>
                <a:spcPts val="0"/>
              </a:spcAft>
              <a:buSzPts val="1800"/>
              <a:buChar char="◦"/>
            </a:pPr>
            <a:r>
              <a:rPr lang="es-BO"/>
              <a:t>Salida: Voltaje analógico 0-10 V</a:t>
            </a:r>
            <a:endParaRPr/>
          </a:p>
          <a:p>
            <a:pPr indent="-182880" lvl="0" marL="182880" rtl="0" algn="l">
              <a:lnSpc>
                <a:spcPct val="100000"/>
              </a:lnSpc>
              <a:spcBef>
                <a:spcPts val="900"/>
              </a:spcBef>
              <a:spcAft>
                <a:spcPts val="0"/>
              </a:spcAft>
              <a:buSzPts val="1800"/>
              <a:buChar char="◦"/>
            </a:pPr>
            <a:r>
              <a:rPr lang="es-BO"/>
              <a:t>Rango de medición: 150 – 1500mm</a:t>
            </a:r>
            <a:endParaRPr/>
          </a:p>
          <a:p>
            <a:pPr indent="-182880" lvl="0" marL="182880" rtl="0" algn="l">
              <a:lnSpc>
                <a:spcPct val="100000"/>
              </a:lnSpc>
              <a:spcBef>
                <a:spcPts val="900"/>
              </a:spcBef>
              <a:spcAft>
                <a:spcPts val="0"/>
              </a:spcAft>
              <a:buSzPts val="1800"/>
              <a:buChar char="◦"/>
            </a:pPr>
            <a:r>
              <a:rPr lang="es-BO"/>
              <a:t>Consumo de corriente: &lt; 45mA</a:t>
            </a:r>
            <a:endParaRPr/>
          </a:p>
          <a:p>
            <a:pPr indent="-182880" lvl="0" marL="182880" rtl="0" algn="l">
              <a:lnSpc>
                <a:spcPct val="100000"/>
              </a:lnSpc>
              <a:spcBef>
                <a:spcPts val="900"/>
              </a:spcBef>
              <a:spcAft>
                <a:spcPts val="0"/>
              </a:spcAft>
              <a:buSzPts val="1800"/>
              <a:buChar char="◦"/>
            </a:pPr>
            <a:r>
              <a:rPr lang="es-BO"/>
              <a:t>Rango de temperatura: - 20 – 70C</a:t>
            </a:r>
            <a:endParaRPr/>
          </a:p>
          <a:p>
            <a:pPr indent="-182880" lvl="0" marL="182880" rtl="0" algn="l">
              <a:lnSpc>
                <a:spcPct val="100000"/>
              </a:lnSpc>
              <a:spcBef>
                <a:spcPts val="900"/>
              </a:spcBef>
              <a:spcAft>
                <a:spcPts val="0"/>
              </a:spcAft>
              <a:buSzPts val="1800"/>
              <a:buChar char="◦"/>
            </a:pPr>
            <a:r>
              <a:rPr lang="es-BO"/>
              <a:t>Proteccion contra corto circuitos y sobrecarga </a:t>
            </a:r>
            <a:endParaRPr/>
          </a:p>
        </p:txBody>
      </p:sp>
      <p:pic>
        <p:nvPicPr>
          <p:cNvPr id="885" name="Google Shape;885;p67"/>
          <p:cNvPicPr preferRelativeResize="0"/>
          <p:nvPr/>
        </p:nvPicPr>
        <p:blipFill rotWithShape="1">
          <a:blip r:embed="rId3">
            <a:alphaModFix/>
          </a:blip>
          <a:srcRect b="0" l="0" r="0" t="0"/>
          <a:stretch/>
        </p:blipFill>
        <p:spPr>
          <a:xfrm>
            <a:off x="6743700" y="1836264"/>
            <a:ext cx="3149082" cy="4198776"/>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68"/>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lang="es-BO"/>
              <a:t>SENSOR ULTRASONICO</a:t>
            </a:r>
            <a:endParaRPr/>
          </a:p>
        </p:txBody>
      </p:sp>
      <p:sp>
        <p:nvSpPr>
          <p:cNvPr id="891" name="Google Shape;891;p68"/>
          <p:cNvSpPr txBox="1"/>
          <p:nvPr>
            <p:ph idx="1" type="body"/>
          </p:nvPr>
        </p:nvSpPr>
        <p:spPr>
          <a:xfrm>
            <a:off x="1066800" y="2103120"/>
            <a:ext cx="10058400" cy="3931920"/>
          </a:xfrm>
          <a:prstGeom prst="rect">
            <a:avLst/>
          </a:prstGeom>
          <a:noFill/>
          <a:ln>
            <a:noFill/>
          </a:ln>
        </p:spPr>
        <p:txBody>
          <a:bodyPr anchorCtr="0" anchor="t" bIns="45700" lIns="91425" spcFirstLastPara="1" rIns="91425" wrap="square" tIns="45700">
            <a:normAutofit/>
          </a:bodyPr>
          <a:lstStyle/>
          <a:p>
            <a:pPr indent="-182880" lvl="0" marL="182880" rtl="0" algn="l">
              <a:lnSpc>
                <a:spcPct val="100000"/>
              </a:lnSpc>
              <a:spcBef>
                <a:spcPts val="0"/>
              </a:spcBef>
              <a:spcAft>
                <a:spcPts val="0"/>
              </a:spcAft>
              <a:buSzPts val="1800"/>
              <a:buChar char="◦"/>
            </a:pPr>
            <a:r>
              <a:rPr lang="es-BO"/>
              <a:t>ESQUEMA DE CONEXION</a:t>
            </a:r>
            <a:endParaRPr/>
          </a:p>
          <a:p>
            <a:pPr indent="-68579" lvl="0" marL="182880" rtl="0" algn="l">
              <a:lnSpc>
                <a:spcPct val="100000"/>
              </a:lnSpc>
              <a:spcBef>
                <a:spcPts val="900"/>
              </a:spcBef>
              <a:spcAft>
                <a:spcPts val="0"/>
              </a:spcAft>
              <a:buSzPts val="1800"/>
              <a:buNone/>
            </a:pPr>
            <a:r>
              <a:t/>
            </a:r>
            <a:endParaRPr/>
          </a:p>
        </p:txBody>
      </p:sp>
      <p:pic>
        <p:nvPicPr>
          <p:cNvPr id="892" name="Google Shape;892;p68"/>
          <p:cNvPicPr preferRelativeResize="0"/>
          <p:nvPr/>
        </p:nvPicPr>
        <p:blipFill rotWithShape="1">
          <a:blip r:embed="rId3">
            <a:alphaModFix/>
          </a:blip>
          <a:srcRect b="0" l="0" r="0" t="0"/>
          <a:stretch/>
        </p:blipFill>
        <p:spPr>
          <a:xfrm>
            <a:off x="5579705" y="2595076"/>
            <a:ext cx="5369149" cy="2872250"/>
          </a:xfrm>
          <a:prstGeom prst="rect">
            <a:avLst/>
          </a:prstGeom>
          <a:noFill/>
          <a:ln>
            <a:noFill/>
          </a:ln>
        </p:spPr>
      </p:pic>
      <p:pic>
        <p:nvPicPr>
          <p:cNvPr id="893" name="Google Shape;893;p68"/>
          <p:cNvPicPr preferRelativeResize="0"/>
          <p:nvPr/>
        </p:nvPicPr>
        <p:blipFill rotWithShape="1">
          <a:blip r:embed="rId4">
            <a:alphaModFix/>
          </a:blip>
          <a:srcRect b="0" l="0" r="0" t="0"/>
          <a:stretch/>
        </p:blipFill>
        <p:spPr>
          <a:xfrm>
            <a:off x="1066800" y="2595076"/>
            <a:ext cx="3930037" cy="279843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69"/>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000"/>
              <a:buFont typeface="Garamond"/>
              <a:buNone/>
            </a:pPr>
            <a:r>
              <a:rPr b="1" lang="es-BO" sz="4000"/>
              <a:t>SENSOR ULTRASONICO</a:t>
            </a:r>
            <a:endParaRPr b="1" sz="4000"/>
          </a:p>
        </p:txBody>
      </p:sp>
      <p:grpSp>
        <p:nvGrpSpPr>
          <p:cNvPr id="899" name="Google Shape;899;p69"/>
          <p:cNvGrpSpPr/>
          <p:nvPr/>
        </p:nvGrpSpPr>
        <p:grpSpPr>
          <a:xfrm>
            <a:off x="666206" y="1175657"/>
            <a:ext cx="10058399" cy="5212079"/>
            <a:chOff x="0" y="0"/>
            <a:chExt cx="10058399" cy="5212079"/>
          </a:xfrm>
        </p:grpSpPr>
        <p:sp>
          <p:nvSpPr>
            <p:cNvPr id="900" name="Google Shape;900;p69"/>
            <p:cNvSpPr/>
            <p:nvPr/>
          </p:nvSpPr>
          <p:spPr>
            <a:xfrm>
              <a:off x="0" y="0"/>
              <a:ext cx="7744967" cy="938174"/>
            </a:xfrm>
            <a:prstGeom prst="roundRect">
              <a:avLst>
                <a:gd fmla="val 10000" name="adj"/>
              </a:avLst>
            </a:prstGeom>
            <a:solidFill>
              <a:srgbClr val="C19015"/>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69"/>
            <p:cNvSpPr txBox="1"/>
            <p:nvPr/>
          </p:nvSpPr>
          <p:spPr>
            <a:xfrm>
              <a:off x="27478" y="27478"/>
              <a:ext cx="6622838" cy="883218"/>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DIAGNOSTICO</a:t>
              </a:r>
              <a:endParaRPr/>
            </a:p>
            <a:p>
              <a:pPr indent="0" lvl="0" marL="0" marR="0" rtl="0" algn="ctr">
                <a:lnSpc>
                  <a:spcPct val="90000"/>
                </a:lnSpc>
                <a:spcBef>
                  <a:spcPts val="70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El sensor ultrasónico no presentaba ningún problema visualmente, por lo que se procedió a probar su funcionamiento</a:t>
              </a:r>
              <a:endParaRPr/>
            </a:p>
          </p:txBody>
        </p:sp>
        <p:sp>
          <p:nvSpPr>
            <p:cNvPr id="902" name="Google Shape;902;p69"/>
            <p:cNvSpPr/>
            <p:nvPr/>
          </p:nvSpPr>
          <p:spPr>
            <a:xfrm>
              <a:off x="634354" y="1049816"/>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69"/>
            <p:cNvSpPr txBox="1"/>
            <p:nvPr/>
          </p:nvSpPr>
          <p:spPr>
            <a:xfrm>
              <a:off x="661832" y="1077294"/>
              <a:ext cx="6501840" cy="883218"/>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Garamond"/>
                <a:buNone/>
              </a:pPr>
              <a:r>
                <a:rPr lang="es-BO" sz="1800">
                  <a:solidFill>
                    <a:schemeClr val="lt1"/>
                  </a:solidFill>
                  <a:latin typeface="Garamond"/>
                  <a:ea typeface="Garamond"/>
                  <a:cs typeface="Garamond"/>
                  <a:sym typeface="Garamond"/>
                </a:rPr>
                <a:t>El sensor inicialmente ya presentaba una calibración, pero se procedió a realizarlo nuevamente.</a:t>
              </a:r>
              <a:endParaRPr sz="1800">
                <a:solidFill>
                  <a:schemeClr val="dk1"/>
                </a:solidFill>
                <a:latin typeface="Garamond"/>
                <a:ea typeface="Garamond"/>
                <a:cs typeface="Garamond"/>
                <a:sym typeface="Garamond"/>
              </a:endParaRPr>
            </a:p>
          </p:txBody>
        </p:sp>
        <p:sp>
          <p:nvSpPr>
            <p:cNvPr id="904" name="Google Shape;904;p69"/>
            <p:cNvSpPr/>
            <p:nvPr/>
          </p:nvSpPr>
          <p:spPr>
            <a:xfrm>
              <a:off x="1156716" y="2136952"/>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69"/>
            <p:cNvSpPr txBox="1"/>
            <p:nvPr/>
          </p:nvSpPr>
          <p:spPr>
            <a:xfrm>
              <a:off x="1184194" y="2164430"/>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Garamond"/>
                <a:buNone/>
              </a:pPr>
              <a:r>
                <a:rPr lang="es-BO" sz="2000">
                  <a:solidFill>
                    <a:schemeClr val="lt1"/>
                  </a:solidFill>
                  <a:latin typeface="Garamond"/>
                  <a:ea typeface="Garamond"/>
                  <a:cs typeface="Garamond"/>
                  <a:sym typeface="Garamond"/>
                </a:rPr>
                <a:t>Se realizaron las medidas máximas de distancia, que será la menor altura (H=0) y la mínima distancia (Hmax)</a:t>
              </a:r>
              <a:endParaRPr sz="2000">
                <a:solidFill>
                  <a:schemeClr val="dk1"/>
                </a:solidFill>
                <a:latin typeface="Garamond"/>
                <a:ea typeface="Garamond"/>
                <a:cs typeface="Garamond"/>
                <a:sym typeface="Garamond"/>
              </a:endParaRPr>
            </a:p>
          </p:txBody>
        </p:sp>
        <p:sp>
          <p:nvSpPr>
            <p:cNvPr id="906" name="Google Shape;906;p69"/>
            <p:cNvSpPr/>
            <p:nvPr/>
          </p:nvSpPr>
          <p:spPr>
            <a:xfrm>
              <a:off x="1735073" y="3205429"/>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69"/>
            <p:cNvSpPr txBox="1"/>
            <p:nvPr/>
          </p:nvSpPr>
          <p:spPr>
            <a:xfrm>
              <a:off x="1762551" y="3232907"/>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Garamond"/>
                <a:buNone/>
              </a:pPr>
              <a:r>
                <a:rPr lang="es-BO" sz="2000">
                  <a:solidFill>
                    <a:schemeClr val="lt1"/>
                  </a:solidFill>
                  <a:latin typeface="Garamond"/>
                  <a:ea typeface="Garamond"/>
                  <a:cs typeface="Garamond"/>
                  <a:sym typeface="Garamond"/>
                </a:rPr>
                <a:t>La calibración se la realiza mediante el botón de configuración y se procede a guardar el rango de distancia de trabajo con ayuda de la hoja técnica.</a:t>
              </a:r>
              <a:endParaRPr sz="2000">
                <a:solidFill>
                  <a:schemeClr val="dk1"/>
                </a:solidFill>
                <a:latin typeface="Garamond"/>
                <a:ea typeface="Garamond"/>
                <a:cs typeface="Garamond"/>
                <a:sym typeface="Garamond"/>
              </a:endParaRPr>
            </a:p>
          </p:txBody>
        </p:sp>
        <p:sp>
          <p:nvSpPr>
            <p:cNvPr id="908" name="Google Shape;908;p69"/>
            <p:cNvSpPr/>
            <p:nvPr/>
          </p:nvSpPr>
          <p:spPr>
            <a:xfrm>
              <a:off x="2313432" y="427390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69"/>
            <p:cNvSpPr txBox="1"/>
            <p:nvPr/>
          </p:nvSpPr>
          <p:spPr>
            <a:xfrm>
              <a:off x="2340910" y="4301383"/>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Una vez calibrado, procedemos a realizar la prueba de funcionamiento obteniendo la table de datos a continuación.</a:t>
              </a:r>
              <a:endParaRPr/>
            </a:p>
          </p:txBody>
        </p:sp>
        <p:sp>
          <p:nvSpPr>
            <p:cNvPr id="910" name="Google Shape;910;p69"/>
            <p:cNvSpPr/>
            <p:nvPr/>
          </p:nvSpPr>
          <p:spPr>
            <a:xfrm>
              <a:off x="7135154" y="685388"/>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69"/>
            <p:cNvSpPr txBox="1"/>
            <p:nvPr/>
          </p:nvSpPr>
          <p:spPr>
            <a:xfrm>
              <a:off x="7272362" y="685388"/>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912" name="Google Shape;912;p69"/>
            <p:cNvSpPr/>
            <p:nvPr/>
          </p:nvSpPr>
          <p:spPr>
            <a:xfrm>
              <a:off x="7713512" y="1753864"/>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69"/>
            <p:cNvSpPr txBox="1"/>
            <p:nvPr/>
          </p:nvSpPr>
          <p:spPr>
            <a:xfrm>
              <a:off x="7850720" y="1753864"/>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914" name="Google Shape;914;p69"/>
            <p:cNvSpPr/>
            <p:nvPr/>
          </p:nvSpPr>
          <p:spPr>
            <a:xfrm>
              <a:off x="8291870" y="28067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69"/>
            <p:cNvSpPr txBox="1"/>
            <p:nvPr/>
          </p:nvSpPr>
          <p:spPr>
            <a:xfrm>
              <a:off x="8429078" y="28067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916" name="Google Shape;916;p69"/>
            <p:cNvSpPr/>
            <p:nvPr/>
          </p:nvSpPr>
          <p:spPr>
            <a:xfrm>
              <a:off x="8870228" y="38856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69"/>
            <p:cNvSpPr txBox="1"/>
            <p:nvPr/>
          </p:nvSpPr>
          <p:spPr>
            <a:xfrm>
              <a:off x="9007436" y="38856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graphicFrame>
        <p:nvGraphicFramePr>
          <p:cNvPr id="922" name="Google Shape;922;p70"/>
          <p:cNvGraphicFramePr/>
          <p:nvPr/>
        </p:nvGraphicFramePr>
        <p:xfrm>
          <a:off x="1403348" y="2262163"/>
          <a:ext cx="3000000" cy="3000000"/>
        </p:xfrm>
        <a:graphic>
          <a:graphicData uri="http://schemas.openxmlformats.org/drawingml/2006/table">
            <a:tbl>
              <a:tblPr bandCol="1" bandRow="1" firstCol="1" firstRow="1" lastCol="1" lastRow="1">
                <a:noFill/>
                <a:tableStyleId>{FED3901C-BD32-45E1-A63A-D77DC48EF9AD}</a:tableStyleId>
              </a:tblPr>
              <a:tblGrid>
                <a:gridCol w="2019300"/>
                <a:gridCol w="1584775"/>
              </a:tblGrid>
              <a:tr h="376150">
                <a:tc>
                  <a:txBody>
                    <a:bodyPr/>
                    <a:lstStyle/>
                    <a:p>
                      <a:pPr indent="0" lvl="0" marL="0" marR="0" rtl="0" algn="ctr">
                        <a:spcBef>
                          <a:spcPts val="0"/>
                        </a:spcBef>
                        <a:spcAft>
                          <a:spcPts val="0"/>
                        </a:spcAft>
                        <a:buNone/>
                      </a:pPr>
                      <a:r>
                        <a:rPr lang="es-BO" sz="2000" u="none" cap="none" strike="noStrike">
                          <a:solidFill>
                            <a:schemeClr val="dk1"/>
                          </a:solidFill>
                        </a:rPr>
                        <a:t>Altura del tanque [cm]</a:t>
                      </a:r>
                      <a:endParaRPr b="0" i="0" sz="2000" u="none" cap="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s-BO" sz="2000" u="none" cap="none" strike="noStrike">
                          <a:solidFill>
                            <a:schemeClr val="dk1"/>
                          </a:solidFill>
                        </a:rPr>
                        <a:t>Corriente [mA]</a:t>
                      </a:r>
                      <a:endParaRPr b="0" i="0" sz="2000" u="none" cap="none" strike="noStrike">
                        <a:solidFill>
                          <a:schemeClr val="dk1"/>
                        </a:solidFill>
                        <a:latin typeface="Calibri"/>
                        <a:ea typeface="Calibri"/>
                        <a:cs typeface="Calibri"/>
                        <a:sym typeface="Calibri"/>
                      </a:endParaRPr>
                    </a:p>
                  </a:txBody>
                  <a:tcPr marT="7625" marB="0" marR="7625" marL="7625" anchor="ctr"/>
                </a:tc>
              </a:tr>
              <a:tr h="376150">
                <a:tc>
                  <a:txBody>
                    <a:bodyPr/>
                    <a:lstStyle/>
                    <a:p>
                      <a:pPr indent="0" lvl="0" marL="0" marR="0" rtl="0" algn="ctr">
                        <a:spcBef>
                          <a:spcPts val="0"/>
                        </a:spcBef>
                        <a:spcAft>
                          <a:spcPts val="0"/>
                        </a:spcAft>
                        <a:buNone/>
                      </a:pPr>
                      <a:r>
                        <a:rPr lang="es-BO" sz="2000" u="none" cap="none" strike="noStrike">
                          <a:solidFill>
                            <a:schemeClr val="dk1"/>
                          </a:solidFill>
                        </a:rPr>
                        <a:t>20</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19,1</a:t>
                      </a:r>
                      <a:endParaRPr b="0" i="0" sz="2000" u="none" cap="none" strike="noStrike">
                        <a:solidFill>
                          <a:schemeClr val="dk1"/>
                        </a:solidFill>
                        <a:latin typeface="Calibri"/>
                        <a:ea typeface="Calibri"/>
                        <a:cs typeface="Calibri"/>
                        <a:sym typeface="Calibri"/>
                      </a:endParaRPr>
                    </a:p>
                  </a:txBody>
                  <a:tcPr marT="7625" marB="0" marR="7625" marL="7625" anchor="b"/>
                </a:tc>
              </a:tr>
              <a:tr h="376150">
                <a:tc>
                  <a:txBody>
                    <a:bodyPr/>
                    <a:lstStyle/>
                    <a:p>
                      <a:pPr indent="0" lvl="0" marL="0" marR="0" rtl="0" algn="ctr">
                        <a:spcBef>
                          <a:spcPts val="0"/>
                        </a:spcBef>
                        <a:spcAft>
                          <a:spcPts val="0"/>
                        </a:spcAft>
                        <a:buNone/>
                      </a:pPr>
                      <a:r>
                        <a:rPr lang="es-BO" sz="2000" u="none" cap="none" strike="noStrike">
                          <a:solidFill>
                            <a:schemeClr val="dk1"/>
                          </a:solidFill>
                        </a:rPr>
                        <a:t>25</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17,1</a:t>
                      </a:r>
                      <a:endParaRPr b="0" i="0" sz="2000" u="none" cap="none" strike="noStrike">
                        <a:solidFill>
                          <a:schemeClr val="dk1"/>
                        </a:solidFill>
                        <a:latin typeface="Calibri"/>
                        <a:ea typeface="Calibri"/>
                        <a:cs typeface="Calibri"/>
                        <a:sym typeface="Calibri"/>
                      </a:endParaRPr>
                    </a:p>
                  </a:txBody>
                  <a:tcPr marT="7625" marB="0" marR="7625" marL="7625" anchor="b"/>
                </a:tc>
              </a:tr>
              <a:tr h="376150">
                <a:tc>
                  <a:txBody>
                    <a:bodyPr/>
                    <a:lstStyle/>
                    <a:p>
                      <a:pPr indent="0" lvl="0" marL="0" marR="0" rtl="0" algn="ctr">
                        <a:spcBef>
                          <a:spcPts val="0"/>
                        </a:spcBef>
                        <a:spcAft>
                          <a:spcPts val="0"/>
                        </a:spcAft>
                        <a:buNone/>
                      </a:pPr>
                      <a:r>
                        <a:rPr lang="es-BO" sz="2000" u="none" cap="none" strike="noStrike">
                          <a:solidFill>
                            <a:schemeClr val="dk1"/>
                          </a:solidFill>
                        </a:rPr>
                        <a:t>30</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15,1</a:t>
                      </a:r>
                      <a:endParaRPr b="0" i="0" sz="2000" u="none" cap="none" strike="noStrike">
                        <a:solidFill>
                          <a:schemeClr val="dk1"/>
                        </a:solidFill>
                        <a:latin typeface="Calibri"/>
                        <a:ea typeface="Calibri"/>
                        <a:cs typeface="Calibri"/>
                        <a:sym typeface="Calibri"/>
                      </a:endParaRPr>
                    </a:p>
                  </a:txBody>
                  <a:tcPr marT="7625" marB="0" marR="7625" marL="7625" anchor="b"/>
                </a:tc>
              </a:tr>
              <a:tr h="376150">
                <a:tc>
                  <a:txBody>
                    <a:bodyPr/>
                    <a:lstStyle/>
                    <a:p>
                      <a:pPr indent="0" lvl="0" marL="0" marR="0" rtl="0" algn="ctr">
                        <a:spcBef>
                          <a:spcPts val="0"/>
                        </a:spcBef>
                        <a:spcAft>
                          <a:spcPts val="0"/>
                        </a:spcAft>
                        <a:buNone/>
                      </a:pPr>
                      <a:r>
                        <a:rPr lang="es-BO" sz="2000" u="none" cap="none" strike="noStrike">
                          <a:solidFill>
                            <a:schemeClr val="dk1"/>
                          </a:solidFill>
                        </a:rPr>
                        <a:t>35</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13</a:t>
                      </a:r>
                      <a:endParaRPr b="0" i="0" sz="2000" u="none" cap="none" strike="noStrike">
                        <a:solidFill>
                          <a:schemeClr val="dk1"/>
                        </a:solidFill>
                        <a:latin typeface="Calibri"/>
                        <a:ea typeface="Calibri"/>
                        <a:cs typeface="Calibri"/>
                        <a:sym typeface="Calibri"/>
                      </a:endParaRPr>
                    </a:p>
                  </a:txBody>
                  <a:tcPr marT="7625" marB="0" marR="7625" marL="7625" anchor="b"/>
                </a:tc>
              </a:tr>
              <a:tr h="376150">
                <a:tc>
                  <a:txBody>
                    <a:bodyPr/>
                    <a:lstStyle/>
                    <a:p>
                      <a:pPr indent="0" lvl="0" marL="0" marR="0" rtl="0" algn="ctr">
                        <a:spcBef>
                          <a:spcPts val="0"/>
                        </a:spcBef>
                        <a:spcAft>
                          <a:spcPts val="0"/>
                        </a:spcAft>
                        <a:buNone/>
                      </a:pPr>
                      <a:r>
                        <a:rPr lang="es-BO" sz="2000" u="none" cap="none" strike="noStrike">
                          <a:solidFill>
                            <a:schemeClr val="dk1"/>
                          </a:solidFill>
                        </a:rPr>
                        <a:t>40</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10,9</a:t>
                      </a:r>
                      <a:endParaRPr b="0" i="0" sz="2000" u="none" cap="none" strike="noStrike">
                        <a:solidFill>
                          <a:schemeClr val="dk1"/>
                        </a:solidFill>
                        <a:latin typeface="Calibri"/>
                        <a:ea typeface="Calibri"/>
                        <a:cs typeface="Calibri"/>
                        <a:sym typeface="Calibri"/>
                      </a:endParaRPr>
                    </a:p>
                  </a:txBody>
                  <a:tcPr marT="7625" marB="0" marR="7625" marL="7625" anchor="b"/>
                </a:tc>
              </a:tr>
              <a:tr h="376150">
                <a:tc>
                  <a:txBody>
                    <a:bodyPr/>
                    <a:lstStyle/>
                    <a:p>
                      <a:pPr indent="0" lvl="0" marL="0" marR="0" rtl="0" algn="ctr">
                        <a:spcBef>
                          <a:spcPts val="0"/>
                        </a:spcBef>
                        <a:spcAft>
                          <a:spcPts val="0"/>
                        </a:spcAft>
                        <a:buNone/>
                      </a:pPr>
                      <a:r>
                        <a:rPr lang="es-BO" sz="2000" u="none" cap="none" strike="noStrike">
                          <a:solidFill>
                            <a:schemeClr val="dk1"/>
                          </a:solidFill>
                        </a:rPr>
                        <a:t>45</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8,8</a:t>
                      </a:r>
                      <a:endParaRPr b="0" i="0" sz="2000" u="none" cap="none" strike="noStrike">
                        <a:solidFill>
                          <a:schemeClr val="dk1"/>
                        </a:solidFill>
                        <a:latin typeface="Calibri"/>
                        <a:ea typeface="Calibri"/>
                        <a:cs typeface="Calibri"/>
                        <a:sym typeface="Calibri"/>
                      </a:endParaRPr>
                    </a:p>
                  </a:txBody>
                  <a:tcPr marT="7625" marB="0" marR="7625" marL="7625" anchor="b"/>
                </a:tc>
              </a:tr>
              <a:tr h="376150">
                <a:tc>
                  <a:txBody>
                    <a:bodyPr/>
                    <a:lstStyle/>
                    <a:p>
                      <a:pPr indent="0" lvl="0" marL="0" marR="0" rtl="0" algn="ctr">
                        <a:spcBef>
                          <a:spcPts val="0"/>
                        </a:spcBef>
                        <a:spcAft>
                          <a:spcPts val="0"/>
                        </a:spcAft>
                        <a:buNone/>
                      </a:pPr>
                      <a:r>
                        <a:rPr lang="es-BO" sz="2000" u="none" cap="none" strike="noStrike">
                          <a:solidFill>
                            <a:schemeClr val="dk1"/>
                          </a:solidFill>
                        </a:rPr>
                        <a:t>50</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6,8</a:t>
                      </a:r>
                      <a:endParaRPr b="0" i="0" sz="2000" u="none" cap="none" strike="noStrike">
                        <a:solidFill>
                          <a:schemeClr val="dk1"/>
                        </a:solidFill>
                        <a:latin typeface="Calibri"/>
                        <a:ea typeface="Calibri"/>
                        <a:cs typeface="Calibri"/>
                        <a:sym typeface="Calibri"/>
                      </a:endParaRPr>
                    </a:p>
                  </a:txBody>
                  <a:tcPr marT="7625" marB="0" marR="7625" marL="7625" anchor="b"/>
                </a:tc>
              </a:tr>
              <a:tr h="376150">
                <a:tc>
                  <a:txBody>
                    <a:bodyPr/>
                    <a:lstStyle/>
                    <a:p>
                      <a:pPr indent="0" lvl="0" marL="0" marR="0" rtl="0" algn="ctr">
                        <a:spcBef>
                          <a:spcPts val="0"/>
                        </a:spcBef>
                        <a:spcAft>
                          <a:spcPts val="0"/>
                        </a:spcAft>
                        <a:buNone/>
                      </a:pPr>
                      <a:r>
                        <a:rPr lang="es-BO" sz="2000" u="none" cap="none" strike="noStrike">
                          <a:solidFill>
                            <a:schemeClr val="dk1"/>
                          </a:solidFill>
                        </a:rPr>
                        <a:t>55</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4,8</a:t>
                      </a:r>
                      <a:endParaRPr b="0" i="0" sz="2000" u="none" cap="none" strike="noStrike">
                        <a:solidFill>
                          <a:schemeClr val="dk1"/>
                        </a:solidFill>
                        <a:latin typeface="Calibri"/>
                        <a:ea typeface="Calibri"/>
                        <a:cs typeface="Calibri"/>
                        <a:sym typeface="Calibri"/>
                      </a:endParaRPr>
                    </a:p>
                  </a:txBody>
                  <a:tcPr marT="7625" marB="0" marR="7625" marL="7625" anchor="b"/>
                </a:tc>
              </a:tr>
            </a:tbl>
          </a:graphicData>
        </a:graphic>
      </p:graphicFrame>
      <p:graphicFrame>
        <p:nvGraphicFramePr>
          <p:cNvPr id="923" name="Google Shape;923;p70"/>
          <p:cNvGraphicFramePr/>
          <p:nvPr/>
        </p:nvGraphicFramePr>
        <p:xfrm>
          <a:off x="5382531" y="2262163"/>
          <a:ext cx="6446612" cy="3659666"/>
        </p:xfrm>
        <a:graphic>
          <a:graphicData uri="http://schemas.openxmlformats.org/drawingml/2006/chart">
            <c:chart r:id="rId3"/>
          </a:graphicData>
        </a:graphic>
      </p:graphicFrame>
      <p:graphicFrame>
        <p:nvGraphicFramePr>
          <p:cNvPr id="924" name="Google Shape;924;p70"/>
          <p:cNvGraphicFramePr/>
          <p:nvPr/>
        </p:nvGraphicFramePr>
        <p:xfrm>
          <a:off x="1403349" y="1539112"/>
          <a:ext cx="3000000" cy="3000000"/>
        </p:xfrm>
        <a:graphic>
          <a:graphicData uri="http://schemas.openxmlformats.org/drawingml/2006/table">
            <a:tbl>
              <a:tblPr>
                <a:noFill/>
                <a:tableStyleId>{BC709364-A7B2-4693-9990-78690F8EEA3F}</a:tableStyleId>
              </a:tblPr>
              <a:tblGrid>
                <a:gridCol w="5665100"/>
              </a:tblGrid>
              <a:tr h="594475">
                <a:tc>
                  <a:txBody>
                    <a:bodyPr/>
                    <a:lstStyle/>
                    <a:p>
                      <a:pPr indent="0" lvl="0" marL="0" marR="0" rtl="0" algn="ctr">
                        <a:spcBef>
                          <a:spcPts val="0"/>
                        </a:spcBef>
                        <a:spcAft>
                          <a:spcPts val="0"/>
                        </a:spcAft>
                        <a:buNone/>
                      </a:pPr>
                      <a:r>
                        <a:rPr lang="es-BO" sz="1800" u="none" cap="none" strike="noStrike"/>
                        <a:t>MEDICION DE LA ANTERIOR PARAMETRIZACION</a:t>
                      </a:r>
                      <a:endParaRPr b="0" i="0" sz="1800" u="none" cap="none" strike="noStrike">
                        <a:solidFill>
                          <a:srgbClr val="000000"/>
                        </a:solidFill>
                        <a:latin typeface="Calibri"/>
                        <a:ea typeface="Calibri"/>
                        <a:cs typeface="Calibri"/>
                        <a:sym typeface="Calibri"/>
                      </a:endParaRPr>
                    </a:p>
                  </a:txBody>
                  <a:tcPr marT="7625" marB="0" marR="7625" marL="7625" anchor="ctr"/>
                </a:tc>
              </a:tr>
            </a:tbl>
          </a:graphicData>
        </a:graphic>
      </p:graphicFrame>
      <p:sp>
        <p:nvSpPr>
          <p:cNvPr id="925" name="Google Shape;925;p70"/>
          <p:cNvSpPr txBox="1"/>
          <p:nvPr/>
        </p:nvSpPr>
        <p:spPr>
          <a:xfrm>
            <a:off x="918754" y="696014"/>
            <a:ext cx="10058400" cy="1014549"/>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262626"/>
              </a:buClr>
              <a:buSzPts val="4000"/>
              <a:buFont typeface="Garamond"/>
              <a:buNone/>
            </a:pPr>
            <a:r>
              <a:rPr b="1" lang="es-BO" sz="4000" cap="none">
                <a:solidFill>
                  <a:srgbClr val="262626"/>
                </a:solidFill>
                <a:latin typeface="Garamond"/>
                <a:ea typeface="Garamond"/>
                <a:cs typeface="Garamond"/>
                <a:sym typeface="Garamond"/>
              </a:rPr>
              <a:t>SENSOR ULTRASONIDO</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graphicFrame>
        <p:nvGraphicFramePr>
          <p:cNvPr id="930" name="Google Shape;930;p71"/>
          <p:cNvGraphicFramePr/>
          <p:nvPr/>
        </p:nvGraphicFramePr>
        <p:xfrm>
          <a:off x="1455964" y="1428623"/>
          <a:ext cx="3000000" cy="3000000"/>
        </p:xfrm>
        <a:graphic>
          <a:graphicData uri="http://schemas.openxmlformats.org/drawingml/2006/table">
            <a:tbl>
              <a:tblPr>
                <a:noFill/>
                <a:tableStyleId>{BC709364-A7B2-4693-9990-78690F8EEA3F}</a:tableStyleId>
              </a:tblPr>
              <a:tblGrid>
                <a:gridCol w="6236600"/>
              </a:tblGrid>
              <a:tr h="254000">
                <a:tc>
                  <a:txBody>
                    <a:bodyPr/>
                    <a:lstStyle/>
                    <a:p>
                      <a:pPr indent="0" lvl="0" marL="0" marR="0" rtl="0" algn="ctr">
                        <a:spcBef>
                          <a:spcPts val="0"/>
                        </a:spcBef>
                        <a:spcAft>
                          <a:spcPts val="0"/>
                        </a:spcAft>
                        <a:buNone/>
                      </a:pPr>
                      <a:r>
                        <a:rPr lang="es-BO" sz="2000" u="none" cap="none" strike="noStrike"/>
                        <a:t>SENSOR ULTRASONICO CON P1=56,8cm y P2=15cm</a:t>
                      </a:r>
                      <a:endParaRPr b="0" i="0" sz="2000" u="none" cap="none" strike="noStrike">
                        <a:solidFill>
                          <a:srgbClr val="000000"/>
                        </a:solidFill>
                        <a:latin typeface="Calibri"/>
                        <a:ea typeface="Calibri"/>
                        <a:cs typeface="Calibri"/>
                        <a:sym typeface="Calibri"/>
                      </a:endParaRPr>
                    </a:p>
                  </a:txBody>
                  <a:tcPr marT="7625" marB="0" marR="7625" marL="7625" anchor="ctr"/>
                </a:tc>
              </a:tr>
            </a:tbl>
          </a:graphicData>
        </a:graphic>
      </p:graphicFrame>
      <p:graphicFrame>
        <p:nvGraphicFramePr>
          <p:cNvPr id="931" name="Google Shape;931;p71"/>
          <p:cNvGraphicFramePr/>
          <p:nvPr/>
        </p:nvGraphicFramePr>
        <p:xfrm>
          <a:off x="1455964" y="1901371"/>
          <a:ext cx="3000000" cy="3000000"/>
        </p:xfrm>
        <a:graphic>
          <a:graphicData uri="http://schemas.openxmlformats.org/drawingml/2006/table">
            <a:tbl>
              <a:tblPr bandRow="1" firstCol="1" firstRow="1" lastCol="1" lastRow="1">
                <a:noFill/>
                <a:tableStyleId>{FED3901C-BD32-45E1-A63A-D77DC48EF9AD}</a:tableStyleId>
              </a:tblPr>
              <a:tblGrid>
                <a:gridCol w="1925875"/>
                <a:gridCol w="1422400"/>
              </a:tblGrid>
              <a:tr h="646875">
                <a:tc>
                  <a:txBody>
                    <a:bodyPr/>
                    <a:lstStyle/>
                    <a:p>
                      <a:pPr indent="0" lvl="0" marL="0" marR="0" rtl="0" algn="ctr">
                        <a:spcBef>
                          <a:spcPts val="0"/>
                        </a:spcBef>
                        <a:spcAft>
                          <a:spcPts val="0"/>
                        </a:spcAft>
                        <a:buNone/>
                      </a:pPr>
                      <a:r>
                        <a:rPr lang="es-BO" sz="2000" u="none" cap="none" strike="noStrike">
                          <a:solidFill>
                            <a:schemeClr val="dk1"/>
                          </a:solidFill>
                        </a:rPr>
                        <a:t>Altura del tanque [cm]</a:t>
                      </a:r>
                      <a:endParaRPr b="0" i="0" sz="2000" u="none" cap="none" strike="noStrike">
                        <a:solidFill>
                          <a:schemeClr val="dk1"/>
                        </a:solidFill>
                        <a:latin typeface="Calibri"/>
                        <a:ea typeface="Calibri"/>
                        <a:cs typeface="Calibri"/>
                        <a:sym typeface="Calibri"/>
                      </a:endParaRPr>
                    </a:p>
                  </a:txBody>
                  <a:tcPr marT="7625" marB="0" marR="7625" marL="7625" anchor="ctr"/>
                </a:tc>
                <a:tc>
                  <a:txBody>
                    <a:bodyPr/>
                    <a:lstStyle/>
                    <a:p>
                      <a:pPr indent="0" lvl="0" marL="0" marR="0" rtl="0" algn="ctr">
                        <a:spcBef>
                          <a:spcPts val="0"/>
                        </a:spcBef>
                        <a:spcAft>
                          <a:spcPts val="0"/>
                        </a:spcAft>
                        <a:buNone/>
                      </a:pPr>
                      <a:r>
                        <a:rPr lang="es-BO" sz="2000" u="none" cap="none" strike="noStrike">
                          <a:solidFill>
                            <a:schemeClr val="dk1"/>
                          </a:solidFill>
                        </a:rPr>
                        <a:t>Corriente [mA]</a:t>
                      </a:r>
                      <a:endParaRPr b="0" i="0" sz="2000" u="none" cap="none" strike="noStrike">
                        <a:solidFill>
                          <a:schemeClr val="dk1"/>
                        </a:solidFill>
                        <a:latin typeface="Calibri"/>
                        <a:ea typeface="Calibri"/>
                        <a:cs typeface="Calibri"/>
                        <a:sym typeface="Calibri"/>
                      </a:endParaRPr>
                    </a:p>
                  </a:txBody>
                  <a:tcPr marT="7625" marB="0" marR="7625" marL="7625" anchor="ctr"/>
                </a:tc>
              </a:tr>
              <a:tr h="345000">
                <a:tc>
                  <a:txBody>
                    <a:bodyPr/>
                    <a:lstStyle/>
                    <a:p>
                      <a:pPr indent="0" lvl="0" marL="0" marR="0" rtl="0" algn="ctr">
                        <a:spcBef>
                          <a:spcPts val="0"/>
                        </a:spcBef>
                        <a:spcAft>
                          <a:spcPts val="0"/>
                        </a:spcAft>
                        <a:buNone/>
                      </a:pPr>
                      <a:r>
                        <a:rPr lang="es-BO" sz="2000" u="none" cap="none" strike="noStrike">
                          <a:solidFill>
                            <a:schemeClr val="dk1"/>
                          </a:solidFill>
                        </a:rPr>
                        <a:t>0</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3,7</a:t>
                      </a:r>
                      <a:endParaRPr b="0" i="0" sz="2000" u="none" cap="none" strike="noStrike">
                        <a:solidFill>
                          <a:schemeClr val="dk1"/>
                        </a:solidFill>
                        <a:latin typeface="Calibri"/>
                        <a:ea typeface="Calibri"/>
                        <a:cs typeface="Calibri"/>
                        <a:sym typeface="Calibri"/>
                      </a:endParaRPr>
                    </a:p>
                  </a:txBody>
                  <a:tcPr marT="7625" marB="0" marR="7625" marL="7625" anchor="b"/>
                </a:tc>
              </a:tr>
              <a:tr h="345000">
                <a:tc>
                  <a:txBody>
                    <a:bodyPr/>
                    <a:lstStyle/>
                    <a:p>
                      <a:pPr indent="0" lvl="0" marL="0" marR="0" rtl="0" algn="ctr">
                        <a:spcBef>
                          <a:spcPts val="0"/>
                        </a:spcBef>
                        <a:spcAft>
                          <a:spcPts val="0"/>
                        </a:spcAft>
                        <a:buNone/>
                      </a:pPr>
                      <a:r>
                        <a:rPr lang="es-BO" sz="2000" u="none" cap="none" strike="noStrike">
                          <a:solidFill>
                            <a:schemeClr val="dk1"/>
                          </a:solidFill>
                        </a:rPr>
                        <a:t>5</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5,3</a:t>
                      </a:r>
                      <a:endParaRPr b="0" i="0" sz="2000" u="none" cap="none" strike="noStrike">
                        <a:solidFill>
                          <a:schemeClr val="dk1"/>
                        </a:solidFill>
                        <a:latin typeface="Calibri"/>
                        <a:ea typeface="Calibri"/>
                        <a:cs typeface="Calibri"/>
                        <a:sym typeface="Calibri"/>
                      </a:endParaRPr>
                    </a:p>
                  </a:txBody>
                  <a:tcPr marT="7625" marB="0" marR="7625" marL="7625" anchor="b"/>
                </a:tc>
              </a:tr>
              <a:tr h="345000">
                <a:tc>
                  <a:txBody>
                    <a:bodyPr/>
                    <a:lstStyle/>
                    <a:p>
                      <a:pPr indent="0" lvl="0" marL="0" marR="0" rtl="0" algn="ctr">
                        <a:spcBef>
                          <a:spcPts val="0"/>
                        </a:spcBef>
                        <a:spcAft>
                          <a:spcPts val="0"/>
                        </a:spcAft>
                        <a:buNone/>
                      </a:pPr>
                      <a:r>
                        <a:rPr lang="es-BO" sz="2000" u="none" cap="none" strike="noStrike">
                          <a:solidFill>
                            <a:schemeClr val="dk1"/>
                          </a:solidFill>
                        </a:rPr>
                        <a:t>10</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7,1</a:t>
                      </a:r>
                      <a:endParaRPr b="0" i="0" sz="2000" u="none" cap="none" strike="noStrike">
                        <a:solidFill>
                          <a:schemeClr val="dk1"/>
                        </a:solidFill>
                        <a:latin typeface="Calibri"/>
                        <a:ea typeface="Calibri"/>
                        <a:cs typeface="Calibri"/>
                        <a:sym typeface="Calibri"/>
                      </a:endParaRPr>
                    </a:p>
                  </a:txBody>
                  <a:tcPr marT="7625" marB="0" marR="7625" marL="7625" anchor="b"/>
                </a:tc>
              </a:tr>
              <a:tr h="345000">
                <a:tc>
                  <a:txBody>
                    <a:bodyPr/>
                    <a:lstStyle/>
                    <a:p>
                      <a:pPr indent="0" lvl="0" marL="0" marR="0" rtl="0" algn="ctr">
                        <a:spcBef>
                          <a:spcPts val="0"/>
                        </a:spcBef>
                        <a:spcAft>
                          <a:spcPts val="0"/>
                        </a:spcAft>
                        <a:buNone/>
                      </a:pPr>
                      <a:r>
                        <a:rPr lang="es-BO" sz="2000" u="none" cap="none" strike="noStrike">
                          <a:solidFill>
                            <a:schemeClr val="dk1"/>
                          </a:solidFill>
                        </a:rPr>
                        <a:t>15</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9</a:t>
                      </a:r>
                      <a:endParaRPr b="0" i="0" sz="2000" u="none" cap="none" strike="noStrike">
                        <a:solidFill>
                          <a:schemeClr val="dk1"/>
                        </a:solidFill>
                        <a:latin typeface="Calibri"/>
                        <a:ea typeface="Calibri"/>
                        <a:cs typeface="Calibri"/>
                        <a:sym typeface="Calibri"/>
                      </a:endParaRPr>
                    </a:p>
                  </a:txBody>
                  <a:tcPr marT="7625" marB="0" marR="7625" marL="7625" anchor="b"/>
                </a:tc>
              </a:tr>
              <a:tr h="345000">
                <a:tc>
                  <a:txBody>
                    <a:bodyPr/>
                    <a:lstStyle/>
                    <a:p>
                      <a:pPr indent="0" lvl="0" marL="0" marR="0" rtl="0" algn="ctr">
                        <a:spcBef>
                          <a:spcPts val="0"/>
                        </a:spcBef>
                        <a:spcAft>
                          <a:spcPts val="0"/>
                        </a:spcAft>
                        <a:buNone/>
                      </a:pPr>
                      <a:r>
                        <a:rPr lang="es-BO" sz="2000" u="none" cap="none" strike="noStrike">
                          <a:solidFill>
                            <a:schemeClr val="dk1"/>
                          </a:solidFill>
                        </a:rPr>
                        <a:t>20</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11</a:t>
                      </a:r>
                      <a:endParaRPr b="0" i="0" sz="2000" u="none" cap="none" strike="noStrike">
                        <a:solidFill>
                          <a:schemeClr val="dk1"/>
                        </a:solidFill>
                        <a:latin typeface="Calibri"/>
                        <a:ea typeface="Calibri"/>
                        <a:cs typeface="Calibri"/>
                        <a:sym typeface="Calibri"/>
                      </a:endParaRPr>
                    </a:p>
                  </a:txBody>
                  <a:tcPr marT="7625" marB="0" marR="7625" marL="7625" anchor="b"/>
                </a:tc>
              </a:tr>
              <a:tr h="345000">
                <a:tc>
                  <a:txBody>
                    <a:bodyPr/>
                    <a:lstStyle/>
                    <a:p>
                      <a:pPr indent="0" lvl="0" marL="0" marR="0" rtl="0" algn="ctr">
                        <a:spcBef>
                          <a:spcPts val="0"/>
                        </a:spcBef>
                        <a:spcAft>
                          <a:spcPts val="0"/>
                        </a:spcAft>
                        <a:buNone/>
                      </a:pPr>
                      <a:r>
                        <a:rPr lang="es-BO" sz="2000" u="none" cap="none" strike="noStrike">
                          <a:solidFill>
                            <a:schemeClr val="dk1"/>
                          </a:solidFill>
                        </a:rPr>
                        <a:t>25</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12,8</a:t>
                      </a:r>
                      <a:endParaRPr b="0" i="0" sz="2000" u="none" cap="none" strike="noStrike">
                        <a:solidFill>
                          <a:schemeClr val="dk1"/>
                        </a:solidFill>
                        <a:latin typeface="Calibri"/>
                        <a:ea typeface="Calibri"/>
                        <a:cs typeface="Calibri"/>
                        <a:sym typeface="Calibri"/>
                      </a:endParaRPr>
                    </a:p>
                  </a:txBody>
                  <a:tcPr marT="7625" marB="0" marR="7625" marL="7625" anchor="b"/>
                </a:tc>
              </a:tr>
              <a:tr h="345000">
                <a:tc>
                  <a:txBody>
                    <a:bodyPr/>
                    <a:lstStyle/>
                    <a:p>
                      <a:pPr indent="0" lvl="0" marL="0" marR="0" rtl="0" algn="ctr">
                        <a:spcBef>
                          <a:spcPts val="0"/>
                        </a:spcBef>
                        <a:spcAft>
                          <a:spcPts val="0"/>
                        </a:spcAft>
                        <a:buNone/>
                      </a:pPr>
                      <a:r>
                        <a:rPr lang="es-BO" sz="2000" u="none" cap="none" strike="noStrike">
                          <a:solidFill>
                            <a:schemeClr val="dk1"/>
                          </a:solidFill>
                        </a:rPr>
                        <a:t>30</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14,7</a:t>
                      </a:r>
                      <a:endParaRPr b="0" i="0" sz="2000" u="none" cap="none" strike="noStrike">
                        <a:solidFill>
                          <a:schemeClr val="dk1"/>
                        </a:solidFill>
                        <a:latin typeface="Calibri"/>
                        <a:ea typeface="Calibri"/>
                        <a:cs typeface="Calibri"/>
                        <a:sym typeface="Calibri"/>
                      </a:endParaRPr>
                    </a:p>
                  </a:txBody>
                  <a:tcPr marT="7625" marB="0" marR="7625" marL="7625" anchor="b"/>
                </a:tc>
              </a:tr>
              <a:tr h="345000">
                <a:tc>
                  <a:txBody>
                    <a:bodyPr/>
                    <a:lstStyle/>
                    <a:p>
                      <a:pPr indent="0" lvl="0" marL="0" marR="0" rtl="0" algn="ctr">
                        <a:spcBef>
                          <a:spcPts val="0"/>
                        </a:spcBef>
                        <a:spcAft>
                          <a:spcPts val="0"/>
                        </a:spcAft>
                        <a:buNone/>
                      </a:pPr>
                      <a:r>
                        <a:rPr lang="es-BO" sz="2000" u="none" cap="none" strike="noStrike">
                          <a:solidFill>
                            <a:schemeClr val="dk1"/>
                          </a:solidFill>
                        </a:rPr>
                        <a:t>35</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16,5</a:t>
                      </a:r>
                      <a:endParaRPr b="0" i="0" sz="2000" u="none" cap="none" strike="noStrike">
                        <a:solidFill>
                          <a:schemeClr val="dk1"/>
                        </a:solidFill>
                        <a:latin typeface="Calibri"/>
                        <a:ea typeface="Calibri"/>
                        <a:cs typeface="Calibri"/>
                        <a:sym typeface="Calibri"/>
                      </a:endParaRPr>
                    </a:p>
                  </a:txBody>
                  <a:tcPr marT="7625" marB="0" marR="7625" marL="7625" anchor="b"/>
                </a:tc>
              </a:tr>
              <a:tr h="345000">
                <a:tc>
                  <a:txBody>
                    <a:bodyPr/>
                    <a:lstStyle/>
                    <a:p>
                      <a:pPr indent="0" lvl="0" marL="0" marR="0" rtl="0" algn="ctr">
                        <a:spcBef>
                          <a:spcPts val="0"/>
                        </a:spcBef>
                        <a:spcAft>
                          <a:spcPts val="0"/>
                        </a:spcAft>
                        <a:buNone/>
                      </a:pPr>
                      <a:r>
                        <a:rPr lang="es-BO" sz="2000" u="none" cap="none" strike="noStrike">
                          <a:solidFill>
                            <a:schemeClr val="dk1"/>
                          </a:solidFill>
                        </a:rPr>
                        <a:t>40</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18,4</a:t>
                      </a:r>
                      <a:endParaRPr b="0" i="0" sz="2000" u="none" cap="none" strike="noStrike">
                        <a:solidFill>
                          <a:schemeClr val="dk1"/>
                        </a:solidFill>
                        <a:latin typeface="Calibri"/>
                        <a:ea typeface="Calibri"/>
                        <a:cs typeface="Calibri"/>
                        <a:sym typeface="Calibri"/>
                      </a:endParaRPr>
                    </a:p>
                  </a:txBody>
                  <a:tcPr marT="7625" marB="0" marR="7625" marL="7625" anchor="b"/>
                </a:tc>
              </a:tr>
              <a:tr h="345000">
                <a:tc>
                  <a:txBody>
                    <a:bodyPr/>
                    <a:lstStyle/>
                    <a:p>
                      <a:pPr indent="0" lvl="0" marL="0" marR="0" rtl="0" algn="ctr">
                        <a:spcBef>
                          <a:spcPts val="0"/>
                        </a:spcBef>
                        <a:spcAft>
                          <a:spcPts val="0"/>
                        </a:spcAft>
                        <a:buNone/>
                      </a:pPr>
                      <a:r>
                        <a:rPr lang="es-BO" sz="2000" u="none" cap="none" strike="noStrike">
                          <a:solidFill>
                            <a:schemeClr val="dk1"/>
                          </a:solidFill>
                        </a:rPr>
                        <a:t>45</a:t>
                      </a:r>
                      <a:endParaRPr b="0" i="0" sz="2000" u="none" cap="none" strike="noStrike">
                        <a:solidFill>
                          <a:schemeClr val="dk1"/>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BO" sz="2000" u="none" cap="none" strike="noStrike">
                          <a:solidFill>
                            <a:schemeClr val="dk1"/>
                          </a:solidFill>
                        </a:rPr>
                        <a:t>19,3</a:t>
                      </a:r>
                      <a:endParaRPr b="0" i="0" sz="2000" u="none" cap="none" strike="noStrike">
                        <a:solidFill>
                          <a:schemeClr val="dk1"/>
                        </a:solidFill>
                        <a:latin typeface="Calibri"/>
                        <a:ea typeface="Calibri"/>
                        <a:cs typeface="Calibri"/>
                        <a:sym typeface="Calibri"/>
                      </a:endParaRPr>
                    </a:p>
                  </a:txBody>
                  <a:tcPr marT="7625" marB="0" marR="7625" marL="7625" anchor="b"/>
                </a:tc>
              </a:tr>
            </a:tbl>
          </a:graphicData>
        </a:graphic>
      </p:graphicFrame>
      <p:graphicFrame>
        <p:nvGraphicFramePr>
          <p:cNvPr id="932" name="Google Shape;932;p71"/>
          <p:cNvGraphicFramePr/>
          <p:nvPr/>
        </p:nvGraphicFramePr>
        <p:xfrm>
          <a:off x="5947954" y="2013367"/>
          <a:ext cx="5486400" cy="3984843"/>
        </p:xfrm>
        <a:graphic>
          <a:graphicData uri="http://schemas.openxmlformats.org/drawingml/2006/chart">
            <c:chart r:id="rId3"/>
          </a:graphicData>
        </a:graphic>
      </p:graphicFrame>
      <p:sp>
        <p:nvSpPr>
          <p:cNvPr id="933" name="Google Shape;933;p71"/>
          <p:cNvSpPr txBox="1"/>
          <p:nvPr/>
        </p:nvSpPr>
        <p:spPr>
          <a:xfrm>
            <a:off x="918754" y="696014"/>
            <a:ext cx="10058400" cy="1014549"/>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262626"/>
              </a:buClr>
              <a:buSzPts val="4000"/>
              <a:buFont typeface="Garamond"/>
              <a:buNone/>
            </a:pPr>
            <a:r>
              <a:rPr b="1" lang="es-BO" sz="4000" cap="none">
                <a:solidFill>
                  <a:srgbClr val="262626"/>
                </a:solidFill>
                <a:latin typeface="Garamond"/>
                <a:ea typeface="Garamond"/>
                <a:cs typeface="Garamond"/>
                <a:sym typeface="Garamond"/>
              </a:rPr>
              <a:t>SENSOR ULTRASONIDO</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72"/>
          <p:cNvSpPr txBox="1"/>
          <p:nvPr>
            <p:ph type="title"/>
          </p:nvPr>
        </p:nvSpPr>
        <p:spPr>
          <a:xfrm>
            <a:off x="1563623" y="2268477"/>
            <a:ext cx="9070848" cy="2587752"/>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rgbClr val="262626"/>
              </a:buClr>
              <a:buSzPts val="6600"/>
              <a:buFont typeface="Garamond"/>
              <a:buNone/>
            </a:pPr>
            <a:r>
              <a:rPr lang="es-BO" sz="6600"/>
              <a:t>AUTÓMATAS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73"/>
          <p:cNvSpPr txBox="1"/>
          <p:nvPr>
            <p:ph type="title"/>
          </p:nvPr>
        </p:nvSpPr>
        <p:spPr>
          <a:xfrm>
            <a:off x="378823" y="433588"/>
            <a:ext cx="11586754" cy="1371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000"/>
              <a:buFont typeface="Garamond"/>
              <a:buNone/>
            </a:pPr>
            <a:r>
              <a:rPr b="1" lang="es-BO" sz="4000"/>
              <a:t>CONTROLADOR LOGICO PROGRAMABLE</a:t>
            </a:r>
            <a:endParaRPr b="1" sz="4000"/>
          </a:p>
        </p:txBody>
      </p:sp>
      <p:grpSp>
        <p:nvGrpSpPr>
          <p:cNvPr id="944" name="Google Shape;944;p73"/>
          <p:cNvGrpSpPr/>
          <p:nvPr/>
        </p:nvGrpSpPr>
        <p:grpSpPr>
          <a:xfrm>
            <a:off x="984068" y="1604891"/>
            <a:ext cx="10376263" cy="4664453"/>
            <a:chOff x="0" y="0"/>
            <a:chExt cx="10376263" cy="4664453"/>
          </a:xfrm>
        </p:grpSpPr>
        <p:sp>
          <p:nvSpPr>
            <p:cNvPr id="945" name="Google Shape;945;p73"/>
            <p:cNvSpPr/>
            <p:nvPr/>
          </p:nvSpPr>
          <p:spPr>
            <a:xfrm>
              <a:off x="0" y="3511802"/>
              <a:ext cx="10376263" cy="1152651"/>
            </a:xfrm>
            <a:prstGeom prst="rect">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73"/>
            <p:cNvSpPr txBox="1"/>
            <p:nvPr/>
          </p:nvSpPr>
          <p:spPr>
            <a:xfrm>
              <a:off x="0" y="3511802"/>
              <a:ext cx="10376263" cy="1152651"/>
            </a:xfrm>
            <a:prstGeom prst="rect">
              <a:avLst/>
            </a:prstGeom>
            <a:noFill/>
            <a:ln>
              <a:noFill/>
            </a:ln>
          </p:spPr>
          <p:txBody>
            <a:bodyPr anchorCtr="0" anchor="ctr" bIns="170675" lIns="170675" spcFirstLastPara="1" rIns="170675" wrap="square" tIns="170675">
              <a:noAutofit/>
            </a:bodyPr>
            <a:lstStyle/>
            <a:p>
              <a:pPr indent="0" lvl="0" marL="0" marR="0" rtl="0" algn="just">
                <a:lnSpc>
                  <a:spcPct val="90000"/>
                </a:lnSpc>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Partes principales </a:t>
              </a:r>
              <a:r>
                <a:rPr lang="es-BO" sz="2400">
                  <a:solidFill>
                    <a:schemeClr val="dk1"/>
                  </a:solidFill>
                  <a:latin typeface="Garamond"/>
                  <a:ea typeface="Garamond"/>
                  <a:cs typeface="Garamond"/>
                  <a:sym typeface="Garamond"/>
                </a:rPr>
                <a:t>son la CPU, un módulo de memorias y de entra das/salidas, la fuente de alimentación y la unidad de programación.</a:t>
              </a:r>
              <a:endParaRPr sz="2400">
                <a:solidFill>
                  <a:schemeClr val="dk1"/>
                </a:solidFill>
                <a:latin typeface="Garamond"/>
                <a:ea typeface="Garamond"/>
                <a:cs typeface="Garamond"/>
                <a:sym typeface="Garamond"/>
              </a:endParaRPr>
            </a:p>
          </p:txBody>
        </p:sp>
        <p:sp>
          <p:nvSpPr>
            <p:cNvPr id="947" name="Google Shape;947;p73"/>
            <p:cNvSpPr/>
            <p:nvPr/>
          </p:nvSpPr>
          <p:spPr>
            <a:xfrm rot="10800000">
              <a:off x="0" y="1824104"/>
              <a:ext cx="10376263" cy="1772778"/>
            </a:xfrm>
            <a:prstGeom prst="upArrowCallout">
              <a:avLst>
                <a:gd fmla="val 25000" name="adj1"/>
                <a:gd fmla="val 25000" name="adj2"/>
                <a:gd fmla="val 25000" name="adj3"/>
                <a:gd fmla="val 64977" name="adj4"/>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73"/>
            <p:cNvSpPr txBox="1"/>
            <p:nvPr/>
          </p:nvSpPr>
          <p:spPr>
            <a:xfrm>
              <a:off x="0" y="1824104"/>
              <a:ext cx="10376263" cy="1151898"/>
            </a:xfrm>
            <a:prstGeom prst="rect">
              <a:avLst/>
            </a:prstGeom>
            <a:noFill/>
            <a:ln>
              <a:noFill/>
            </a:ln>
          </p:spPr>
          <p:txBody>
            <a:bodyPr anchorCtr="0" anchor="ctr" bIns="170675" lIns="170675" spcFirstLastPara="1" rIns="170675" wrap="square" tIns="170675">
              <a:noAutofit/>
            </a:bodyPr>
            <a:lstStyle/>
            <a:p>
              <a:pPr indent="0" lvl="0" marL="0" marR="0" rtl="0" algn="just">
                <a:lnSpc>
                  <a:spcPct val="90000"/>
                </a:lnSpc>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Función: </a:t>
              </a:r>
              <a:r>
                <a:rPr lang="es-BO" sz="2400">
                  <a:solidFill>
                    <a:schemeClr val="dk1"/>
                  </a:solidFill>
                  <a:latin typeface="Garamond"/>
                  <a:ea typeface="Garamond"/>
                  <a:cs typeface="Garamond"/>
                  <a:sym typeface="Garamond"/>
                </a:rPr>
                <a:t>detectar diversos tipos de señales del proceso, elaborar y enviar acciones, recibe configuraciones de los operadores y da reporte a los mismos.</a:t>
              </a:r>
              <a:endParaRPr sz="2400">
                <a:solidFill>
                  <a:schemeClr val="dk1"/>
                </a:solidFill>
                <a:latin typeface="Garamond"/>
                <a:ea typeface="Garamond"/>
                <a:cs typeface="Garamond"/>
                <a:sym typeface="Garamond"/>
              </a:endParaRPr>
            </a:p>
          </p:txBody>
        </p:sp>
        <p:sp>
          <p:nvSpPr>
            <p:cNvPr id="949" name="Google Shape;949;p73"/>
            <p:cNvSpPr/>
            <p:nvPr/>
          </p:nvSpPr>
          <p:spPr>
            <a:xfrm rot="10800000">
              <a:off x="0" y="0"/>
              <a:ext cx="10376263" cy="1772778"/>
            </a:xfrm>
            <a:prstGeom prst="upArrowCallout">
              <a:avLst>
                <a:gd fmla="val 25000" name="adj1"/>
                <a:gd fmla="val 25000" name="adj2"/>
                <a:gd fmla="val 25000" name="adj3"/>
                <a:gd fmla="val 64977" name="adj4"/>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73"/>
            <p:cNvSpPr txBox="1"/>
            <p:nvPr/>
          </p:nvSpPr>
          <p:spPr>
            <a:xfrm>
              <a:off x="0" y="0"/>
              <a:ext cx="10376263" cy="1151898"/>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Modelo: </a:t>
              </a:r>
              <a:r>
                <a:rPr lang="es-BO" sz="2400">
                  <a:solidFill>
                    <a:schemeClr val="dk1"/>
                  </a:solidFill>
                  <a:latin typeface="Garamond"/>
                  <a:ea typeface="Garamond"/>
                  <a:cs typeface="Garamond"/>
                  <a:sym typeface="Garamond"/>
                </a:rPr>
                <a:t>MicroLogix 1100</a:t>
              </a:r>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74"/>
          <p:cNvSpPr txBox="1"/>
          <p:nvPr>
            <p:ph type="title"/>
          </p:nvPr>
        </p:nvSpPr>
        <p:spPr>
          <a:xfrm>
            <a:off x="2168434" y="484711"/>
            <a:ext cx="6723017" cy="92607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b="1" lang="es-BO"/>
              <a:t>Estructura de un PLC</a:t>
            </a:r>
            <a:endParaRPr/>
          </a:p>
        </p:txBody>
      </p:sp>
      <p:pic>
        <p:nvPicPr>
          <p:cNvPr id="956" name="Google Shape;956;p74"/>
          <p:cNvPicPr preferRelativeResize="0"/>
          <p:nvPr/>
        </p:nvPicPr>
        <p:blipFill rotWithShape="1">
          <a:blip r:embed="rId3">
            <a:alphaModFix/>
          </a:blip>
          <a:srcRect b="0" l="0" r="0" t="0"/>
          <a:stretch/>
        </p:blipFill>
        <p:spPr>
          <a:xfrm>
            <a:off x="1708818" y="1693204"/>
            <a:ext cx="8541171" cy="2634955"/>
          </a:xfrm>
          <a:prstGeom prst="rect">
            <a:avLst/>
          </a:prstGeom>
          <a:noFill/>
          <a:ln>
            <a:noFill/>
          </a:ln>
        </p:spPr>
      </p:pic>
      <p:grpSp>
        <p:nvGrpSpPr>
          <p:cNvPr id="957" name="Google Shape;957;p74"/>
          <p:cNvGrpSpPr/>
          <p:nvPr/>
        </p:nvGrpSpPr>
        <p:grpSpPr>
          <a:xfrm>
            <a:off x="1520306" y="4469852"/>
            <a:ext cx="8638268" cy="1762506"/>
            <a:chOff x="4327" y="0"/>
            <a:chExt cx="8638268" cy="1762506"/>
          </a:xfrm>
        </p:grpSpPr>
        <p:sp>
          <p:nvSpPr>
            <p:cNvPr id="958" name="Google Shape;958;p74"/>
            <p:cNvSpPr/>
            <p:nvPr/>
          </p:nvSpPr>
          <p:spPr>
            <a:xfrm>
              <a:off x="648519" y="0"/>
              <a:ext cx="7349885" cy="1762506"/>
            </a:xfrm>
            <a:prstGeom prst="rightArrow">
              <a:avLst>
                <a:gd fmla="val 50000" name="adj1"/>
                <a:gd fmla="val 50000" name="adj2"/>
              </a:avLst>
            </a:prstGeom>
            <a:solidFill>
              <a:srgbClr val="DBE3EB"/>
            </a:solidFill>
            <a:ln>
              <a:noFill/>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74"/>
            <p:cNvSpPr/>
            <p:nvPr/>
          </p:nvSpPr>
          <p:spPr>
            <a:xfrm>
              <a:off x="4327" y="528751"/>
              <a:ext cx="2081510" cy="705002"/>
            </a:xfrm>
            <a:prstGeom prst="roundRect">
              <a:avLst>
                <a:gd fmla="val 16667"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74"/>
            <p:cNvSpPr txBox="1"/>
            <p:nvPr/>
          </p:nvSpPr>
          <p:spPr>
            <a:xfrm>
              <a:off x="38742" y="563166"/>
              <a:ext cx="2012680" cy="636172"/>
            </a:xfrm>
            <a:prstGeom prst="rect">
              <a:avLst/>
            </a:prstGeom>
            <a:noFill/>
            <a:ln>
              <a:noFill/>
            </a:ln>
          </p:spPr>
          <p:txBody>
            <a:bodyPr anchorCtr="0" anchor="ctr" bIns="49525" lIns="49525" spcFirstLastPara="1" rIns="49525" wrap="square" tIns="49525">
              <a:noAutofit/>
            </a:bodyPr>
            <a:lstStyle/>
            <a:p>
              <a:pPr indent="0" lvl="0" marL="0" marR="0" rtl="0" algn="ctr">
                <a:lnSpc>
                  <a:spcPct val="90000"/>
                </a:lnSpc>
                <a:spcBef>
                  <a:spcPts val="0"/>
                </a:spcBef>
                <a:spcAft>
                  <a:spcPts val="0"/>
                </a:spcAft>
                <a:buClr>
                  <a:schemeClr val="dk1"/>
                </a:buClr>
                <a:buSzPts val="1300"/>
                <a:buFont typeface="Garamond"/>
                <a:buNone/>
              </a:pPr>
              <a:r>
                <a:rPr b="1" lang="es-BO" sz="1300">
                  <a:solidFill>
                    <a:schemeClr val="dk1"/>
                  </a:solidFill>
                  <a:latin typeface="Garamond"/>
                  <a:ea typeface="Garamond"/>
                  <a:cs typeface="Garamond"/>
                  <a:sym typeface="Garamond"/>
                </a:rPr>
                <a:t>Fuente de alimentación DC</a:t>
              </a:r>
              <a:endParaRPr b="1" sz="1300">
                <a:solidFill>
                  <a:schemeClr val="dk1"/>
                </a:solidFill>
                <a:latin typeface="Garamond"/>
                <a:ea typeface="Garamond"/>
                <a:cs typeface="Garamond"/>
                <a:sym typeface="Garamond"/>
              </a:endParaRPr>
            </a:p>
          </p:txBody>
        </p:sp>
        <p:sp>
          <p:nvSpPr>
            <p:cNvPr id="961" name="Google Shape;961;p74"/>
            <p:cNvSpPr/>
            <p:nvPr/>
          </p:nvSpPr>
          <p:spPr>
            <a:xfrm>
              <a:off x="2189913" y="528751"/>
              <a:ext cx="2081510" cy="705002"/>
            </a:xfrm>
            <a:prstGeom prst="roundRect">
              <a:avLst>
                <a:gd fmla="val 16667"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74"/>
            <p:cNvSpPr txBox="1"/>
            <p:nvPr/>
          </p:nvSpPr>
          <p:spPr>
            <a:xfrm>
              <a:off x="2224328" y="563166"/>
              <a:ext cx="2012680" cy="636172"/>
            </a:xfrm>
            <a:prstGeom prst="rect">
              <a:avLst/>
            </a:prstGeom>
            <a:noFill/>
            <a:ln>
              <a:noFill/>
            </a:ln>
          </p:spPr>
          <p:txBody>
            <a:bodyPr anchorCtr="0" anchor="ctr" bIns="49525" lIns="49525" spcFirstLastPara="1" rIns="49525" wrap="square" tIns="49525">
              <a:noAutofit/>
            </a:bodyPr>
            <a:lstStyle/>
            <a:p>
              <a:pPr indent="0" lvl="0" marL="0" marR="0" rtl="0" algn="ctr">
                <a:lnSpc>
                  <a:spcPct val="90000"/>
                </a:lnSpc>
                <a:spcBef>
                  <a:spcPts val="0"/>
                </a:spcBef>
                <a:spcAft>
                  <a:spcPts val="0"/>
                </a:spcAft>
                <a:buClr>
                  <a:schemeClr val="dk1"/>
                </a:buClr>
                <a:buSzPts val="1300"/>
                <a:buFont typeface="Garamond"/>
                <a:buNone/>
              </a:pPr>
              <a:r>
                <a:rPr b="1" lang="es-BO" sz="1300">
                  <a:solidFill>
                    <a:schemeClr val="dk1"/>
                  </a:solidFill>
                  <a:latin typeface="Garamond"/>
                  <a:ea typeface="Garamond"/>
                  <a:cs typeface="Garamond"/>
                  <a:sym typeface="Garamond"/>
                </a:rPr>
                <a:t>Módulos de entrada y salida</a:t>
              </a:r>
              <a:endParaRPr b="1" sz="1300">
                <a:solidFill>
                  <a:schemeClr val="dk1"/>
                </a:solidFill>
                <a:latin typeface="Garamond"/>
                <a:ea typeface="Garamond"/>
                <a:cs typeface="Garamond"/>
                <a:sym typeface="Garamond"/>
              </a:endParaRPr>
            </a:p>
          </p:txBody>
        </p:sp>
        <p:sp>
          <p:nvSpPr>
            <p:cNvPr id="963" name="Google Shape;963;p74"/>
            <p:cNvSpPr/>
            <p:nvPr/>
          </p:nvSpPr>
          <p:spPr>
            <a:xfrm>
              <a:off x="4375499" y="528751"/>
              <a:ext cx="2081510" cy="705002"/>
            </a:xfrm>
            <a:prstGeom prst="roundRect">
              <a:avLst>
                <a:gd fmla="val 16667"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74"/>
            <p:cNvSpPr txBox="1"/>
            <p:nvPr/>
          </p:nvSpPr>
          <p:spPr>
            <a:xfrm>
              <a:off x="4409914" y="563166"/>
              <a:ext cx="2012680" cy="636172"/>
            </a:xfrm>
            <a:prstGeom prst="rect">
              <a:avLst/>
            </a:prstGeom>
            <a:noFill/>
            <a:ln>
              <a:noFill/>
            </a:ln>
          </p:spPr>
          <p:txBody>
            <a:bodyPr anchorCtr="0" anchor="ctr" bIns="49525" lIns="49525" spcFirstLastPara="1" rIns="49525" wrap="square" tIns="49525">
              <a:noAutofit/>
            </a:bodyPr>
            <a:lstStyle/>
            <a:p>
              <a:pPr indent="0" lvl="0" marL="0" marR="0" rtl="0" algn="ctr">
                <a:lnSpc>
                  <a:spcPct val="90000"/>
                </a:lnSpc>
                <a:spcBef>
                  <a:spcPts val="0"/>
                </a:spcBef>
                <a:spcAft>
                  <a:spcPts val="0"/>
                </a:spcAft>
                <a:buClr>
                  <a:schemeClr val="dk1"/>
                </a:buClr>
                <a:buSzPts val="1300"/>
                <a:buFont typeface="Garamond"/>
                <a:buNone/>
              </a:pPr>
              <a:r>
                <a:rPr b="1" lang="es-BO" sz="1300">
                  <a:solidFill>
                    <a:schemeClr val="dk1"/>
                  </a:solidFill>
                  <a:latin typeface="Garamond"/>
                  <a:ea typeface="Garamond"/>
                  <a:cs typeface="Garamond"/>
                  <a:sym typeface="Garamond"/>
                </a:rPr>
                <a:t>Unidad de procesamiento central (CPU)</a:t>
              </a:r>
              <a:endParaRPr b="1" sz="1300">
                <a:solidFill>
                  <a:schemeClr val="dk1"/>
                </a:solidFill>
                <a:latin typeface="Garamond"/>
                <a:ea typeface="Garamond"/>
                <a:cs typeface="Garamond"/>
                <a:sym typeface="Garamond"/>
              </a:endParaRPr>
            </a:p>
          </p:txBody>
        </p:sp>
        <p:sp>
          <p:nvSpPr>
            <p:cNvPr id="965" name="Google Shape;965;p74"/>
            <p:cNvSpPr/>
            <p:nvPr/>
          </p:nvSpPr>
          <p:spPr>
            <a:xfrm>
              <a:off x="6561085" y="528751"/>
              <a:ext cx="2081510" cy="705002"/>
            </a:xfrm>
            <a:prstGeom prst="roundRect">
              <a:avLst>
                <a:gd fmla="val 16667"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74"/>
            <p:cNvSpPr txBox="1"/>
            <p:nvPr/>
          </p:nvSpPr>
          <p:spPr>
            <a:xfrm>
              <a:off x="6595500" y="563166"/>
              <a:ext cx="2012680" cy="636172"/>
            </a:xfrm>
            <a:prstGeom prst="rect">
              <a:avLst/>
            </a:prstGeom>
            <a:noFill/>
            <a:ln>
              <a:noFill/>
            </a:ln>
          </p:spPr>
          <p:txBody>
            <a:bodyPr anchorCtr="0" anchor="ctr" bIns="49525" lIns="49525" spcFirstLastPara="1" rIns="49525" wrap="square" tIns="49525">
              <a:noAutofit/>
            </a:bodyPr>
            <a:lstStyle/>
            <a:p>
              <a:pPr indent="0" lvl="0" marL="0" marR="0" rtl="0" algn="ctr">
                <a:lnSpc>
                  <a:spcPct val="90000"/>
                </a:lnSpc>
                <a:spcBef>
                  <a:spcPts val="0"/>
                </a:spcBef>
                <a:spcAft>
                  <a:spcPts val="0"/>
                </a:spcAft>
                <a:buClr>
                  <a:schemeClr val="dk1"/>
                </a:buClr>
                <a:buSzPts val="1300"/>
                <a:buFont typeface="Garamond"/>
                <a:buNone/>
              </a:pPr>
              <a:r>
                <a:rPr b="1" lang="es-BO" sz="1300">
                  <a:solidFill>
                    <a:schemeClr val="dk1"/>
                  </a:solidFill>
                  <a:latin typeface="Garamond"/>
                  <a:ea typeface="Garamond"/>
                  <a:cs typeface="Garamond"/>
                  <a:sym typeface="Garamond"/>
                </a:rPr>
                <a:t>Equipo de programación</a:t>
              </a:r>
              <a:endParaRPr b="1" sz="1300">
                <a:solidFill>
                  <a:schemeClr val="dk1"/>
                </a:solidFill>
                <a:latin typeface="Garamond"/>
                <a:ea typeface="Garamond"/>
                <a:cs typeface="Garamond"/>
                <a:sym typeface="Garamond"/>
              </a:endParaRPr>
            </a:p>
          </p:txBody>
        </p:sp>
      </p:gr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grpSp>
        <p:nvGrpSpPr>
          <p:cNvPr id="971" name="Google Shape;971;p75"/>
          <p:cNvGrpSpPr/>
          <p:nvPr/>
        </p:nvGrpSpPr>
        <p:grpSpPr>
          <a:xfrm>
            <a:off x="534702" y="396239"/>
            <a:ext cx="10726353" cy="5741147"/>
            <a:chOff x="600018" y="0"/>
            <a:chExt cx="10726353" cy="5741147"/>
          </a:xfrm>
        </p:grpSpPr>
        <p:sp>
          <p:nvSpPr>
            <p:cNvPr id="972" name="Google Shape;972;p75"/>
            <p:cNvSpPr/>
            <p:nvPr/>
          </p:nvSpPr>
          <p:spPr>
            <a:xfrm>
              <a:off x="600018" y="2155"/>
              <a:ext cx="1912997" cy="956498"/>
            </a:xfrm>
            <a:prstGeom prst="roundRect">
              <a:avLst>
                <a:gd fmla="val 10000" name="adj"/>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75"/>
            <p:cNvSpPr txBox="1"/>
            <p:nvPr/>
          </p:nvSpPr>
          <p:spPr>
            <a:xfrm>
              <a:off x="628033" y="30170"/>
              <a:ext cx="1856967" cy="900468"/>
            </a:xfrm>
            <a:prstGeom prst="rect">
              <a:avLst/>
            </a:prstGeom>
            <a:noFill/>
            <a:ln>
              <a:noFill/>
            </a:ln>
          </p:spPr>
          <p:txBody>
            <a:bodyPr anchorCtr="0" anchor="ctr" bIns="30475" lIns="45700" spcFirstLastPara="1" rIns="45700" wrap="square" tIns="30475">
              <a:noAutofit/>
            </a:bodyPr>
            <a:lstStyle/>
            <a:p>
              <a:pPr indent="0" lvl="0" marL="0" marR="0" rtl="0" algn="ctr">
                <a:lnSpc>
                  <a:spcPct val="90000"/>
                </a:lnSpc>
                <a:spcBef>
                  <a:spcPts val="0"/>
                </a:spcBef>
                <a:spcAft>
                  <a:spcPts val="0"/>
                </a:spcAft>
                <a:buClr>
                  <a:schemeClr val="lt1"/>
                </a:buClr>
                <a:buSzPts val="2400"/>
                <a:buFont typeface="Garamond"/>
                <a:buNone/>
              </a:pPr>
              <a:r>
                <a:rPr b="1" lang="es-BO" sz="2400">
                  <a:solidFill>
                    <a:schemeClr val="lt1"/>
                  </a:solidFill>
                  <a:latin typeface="Garamond"/>
                  <a:ea typeface="Garamond"/>
                  <a:cs typeface="Garamond"/>
                  <a:sym typeface="Garamond"/>
                </a:rPr>
                <a:t>Módulos de entrada y salida (E / S)</a:t>
              </a:r>
              <a:endParaRPr sz="2400">
                <a:solidFill>
                  <a:schemeClr val="lt1"/>
                </a:solidFill>
                <a:latin typeface="Garamond"/>
                <a:ea typeface="Garamond"/>
                <a:cs typeface="Garamond"/>
                <a:sym typeface="Garamond"/>
              </a:endParaRPr>
            </a:p>
          </p:txBody>
        </p:sp>
        <p:sp>
          <p:nvSpPr>
            <p:cNvPr id="974" name="Google Shape;974;p75"/>
            <p:cNvSpPr/>
            <p:nvPr/>
          </p:nvSpPr>
          <p:spPr>
            <a:xfrm>
              <a:off x="791317" y="958654"/>
              <a:ext cx="191299" cy="717374"/>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975" name="Google Shape;975;p75"/>
            <p:cNvSpPr/>
            <p:nvPr/>
          </p:nvSpPr>
          <p:spPr>
            <a:xfrm>
              <a:off x="982617" y="1197779"/>
              <a:ext cx="1530398" cy="956498"/>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75"/>
            <p:cNvSpPr txBox="1"/>
            <p:nvPr/>
          </p:nvSpPr>
          <p:spPr>
            <a:xfrm>
              <a:off x="1010632" y="1225794"/>
              <a:ext cx="1474368" cy="900468"/>
            </a:xfrm>
            <a:prstGeom prst="rect">
              <a:avLst/>
            </a:prstGeom>
            <a:noFill/>
            <a:ln>
              <a:noFill/>
            </a:ln>
          </p:spPr>
          <p:txBody>
            <a:bodyPr anchorCtr="0" anchor="ctr" bIns="11425" lIns="17125" spcFirstLastPara="1" rIns="17125" wrap="square" tIns="11425">
              <a:noAutofit/>
            </a:bodyPr>
            <a:lstStyle/>
            <a:p>
              <a:pPr indent="0" lvl="0" marL="0" marR="0" rtl="0" algn="ctr">
                <a:lnSpc>
                  <a:spcPct val="90000"/>
                </a:lnSpc>
                <a:spcBef>
                  <a:spcPts val="0"/>
                </a:spcBef>
                <a:spcAft>
                  <a:spcPts val="0"/>
                </a:spcAft>
                <a:buClr>
                  <a:schemeClr val="dk1"/>
                </a:buClr>
                <a:buSzPts val="900"/>
                <a:buFont typeface="Garamond"/>
                <a:buNone/>
              </a:pPr>
              <a:r>
                <a:rPr lang="es-BO" sz="900">
                  <a:solidFill>
                    <a:schemeClr val="dk1"/>
                  </a:solidFill>
                  <a:latin typeface="Garamond"/>
                  <a:ea typeface="Garamond"/>
                  <a:cs typeface="Garamond"/>
                  <a:sym typeface="Garamond"/>
                </a:rPr>
                <a:t>Son de dos tipos. Puede ser digital o analógico.</a:t>
              </a:r>
              <a:endParaRPr sz="900">
                <a:solidFill>
                  <a:schemeClr val="dk1"/>
                </a:solidFill>
                <a:latin typeface="Garamond"/>
                <a:ea typeface="Garamond"/>
                <a:cs typeface="Garamond"/>
                <a:sym typeface="Garamond"/>
              </a:endParaRPr>
            </a:p>
          </p:txBody>
        </p:sp>
        <p:sp>
          <p:nvSpPr>
            <p:cNvPr id="977" name="Google Shape;977;p75"/>
            <p:cNvSpPr/>
            <p:nvPr/>
          </p:nvSpPr>
          <p:spPr>
            <a:xfrm>
              <a:off x="791317" y="958654"/>
              <a:ext cx="191299" cy="1912997"/>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978" name="Google Shape;978;p75"/>
            <p:cNvSpPr/>
            <p:nvPr/>
          </p:nvSpPr>
          <p:spPr>
            <a:xfrm>
              <a:off x="982617" y="2393402"/>
              <a:ext cx="1530398" cy="956498"/>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75"/>
            <p:cNvSpPr txBox="1"/>
            <p:nvPr/>
          </p:nvSpPr>
          <p:spPr>
            <a:xfrm>
              <a:off x="1010632" y="2421417"/>
              <a:ext cx="1474368" cy="900468"/>
            </a:xfrm>
            <a:prstGeom prst="rect">
              <a:avLst/>
            </a:prstGeom>
            <a:noFill/>
            <a:ln>
              <a:noFill/>
            </a:ln>
          </p:spPr>
          <p:txBody>
            <a:bodyPr anchorCtr="0" anchor="ctr" bIns="11425" lIns="17125" spcFirstLastPara="1" rIns="17125" wrap="square" tIns="11425">
              <a:noAutofit/>
            </a:bodyPr>
            <a:lstStyle/>
            <a:p>
              <a:pPr indent="0" lvl="0" marL="0" marR="0" rtl="0" algn="ctr">
                <a:lnSpc>
                  <a:spcPct val="90000"/>
                </a:lnSpc>
                <a:spcBef>
                  <a:spcPts val="0"/>
                </a:spcBef>
                <a:spcAft>
                  <a:spcPts val="0"/>
                </a:spcAft>
                <a:buClr>
                  <a:schemeClr val="dk1"/>
                </a:buClr>
                <a:buSzPts val="900"/>
                <a:buFont typeface="Garamond"/>
                <a:buNone/>
              </a:pPr>
              <a:r>
                <a:rPr lang="es-BO" sz="900">
                  <a:solidFill>
                    <a:schemeClr val="dk1"/>
                  </a:solidFill>
                  <a:latin typeface="Garamond"/>
                  <a:ea typeface="Garamond"/>
                  <a:cs typeface="Garamond"/>
                  <a:sym typeface="Garamond"/>
                </a:rPr>
                <a:t>Se debe proporcionar información al controlador PLC.</a:t>
              </a:r>
              <a:endParaRPr sz="900">
                <a:solidFill>
                  <a:schemeClr val="dk1"/>
                </a:solidFill>
                <a:latin typeface="Garamond"/>
                <a:ea typeface="Garamond"/>
                <a:cs typeface="Garamond"/>
                <a:sym typeface="Garamond"/>
              </a:endParaRPr>
            </a:p>
          </p:txBody>
        </p:sp>
        <p:sp>
          <p:nvSpPr>
            <p:cNvPr id="980" name="Google Shape;980;p75"/>
            <p:cNvSpPr/>
            <p:nvPr/>
          </p:nvSpPr>
          <p:spPr>
            <a:xfrm>
              <a:off x="791317" y="958654"/>
              <a:ext cx="191299" cy="3108621"/>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981" name="Google Shape;981;p75"/>
            <p:cNvSpPr/>
            <p:nvPr/>
          </p:nvSpPr>
          <p:spPr>
            <a:xfrm>
              <a:off x="982617" y="3589026"/>
              <a:ext cx="1530398" cy="956498"/>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75"/>
            <p:cNvSpPr txBox="1"/>
            <p:nvPr/>
          </p:nvSpPr>
          <p:spPr>
            <a:xfrm>
              <a:off x="1010632" y="3617041"/>
              <a:ext cx="1474368" cy="900468"/>
            </a:xfrm>
            <a:prstGeom prst="rect">
              <a:avLst/>
            </a:prstGeom>
            <a:noFill/>
            <a:ln>
              <a:noFill/>
            </a:ln>
          </p:spPr>
          <p:txBody>
            <a:bodyPr anchorCtr="0" anchor="ctr" bIns="11425" lIns="17125" spcFirstLastPara="1" rIns="17125" wrap="square" tIns="11425">
              <a:noAutofit/>
            </a:bodyPr>
            <a:lstStyle/>
            <a:p>
              <a:pPr indent="0" lvl="0" marL="0" marR="0" rtl="0" algn="ctr">
                <a:lnSpc>
                  <a:spcPct val="90000"/>
                </a:lnSpc>
                <a:spcBef>
                  <a:spcPts val="0"/>
                </a:spcBef>
                <a:spcAft>
                  <a:spcPts val="0"/>
                </a:spcAft>
                <a:buClr>
                  <a:schemeClr val="dk1"/>
                </a:buClr>
                <a:buSzPts val="900"/>
                <a:buFont typeface="Garamond"/>
                <a:buNone/>
              </a:pPr>
              <a:r>
                <a:rPr lang="es-BO" sz="900">
                  <a:solidFill>
                    <a:schemeClr val="dk1"/>
                  </a:solidFill>
                  <a:latin typeface="Garamond"/>
                  <a:ea typeface="Garamond"/>
                  <a:cs typeface="Garamond"/>
                  <a:sym typeface="Garamond"/>
                </a:rPr>
                <a:t>M.E: Proporcionan una interfaz para dispositivos de entrada como diferentes tipos de interruptores (interruptor de botón, interruptor selector, interruptor limitado), sensores, etc.</a:t>
              </a:r>
              <a:endParaRPr sz="900">
                <a:solidFill>
                  <a:schemeClr val="dk1"/>
                </a:solidFill>
                <a:latin typeface="Garamond"/>
                <a:ea typeface="Garamond"/>
                <a:cs typeface="Garamond"/>
                <a:sym typeface="Garamond"/>
              </a:endParaRPr>
            </a:p>
          </p:txBody>
        </p:sp>
        <p:sp>
          <p:nvSpPr>
            <p:cNvPr id="983" name="Google Shape;983;p75"/>
            <p:cNvSpPr/>
            <p:nvPr/>
          </p:nvSpPr>
          <p:spPr>
            <a:xfrm>
              <a:off x="791317" y="958654"/>
              <a:ext cx="191299" cy="4304244"/>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984" name="Google Shape;984;p75"/>
            <p:cNvSpPr/>
            <p:nvPr/>
          </p:nvSpPr>
          <p:spPr>
            <a:xfrm>
              <a:off x="982617" y="4784649"/>
              <a:ext cx="1530398" cy="956498"/>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75"/>
            <p:cNvSpPr txBox="1"/>
            <p:nvPr/>
          </p:nvSpPr>
          <p:spPr>
            <a:xfrm>
              <a:off x="1010632" y="4812664"/>
              <a:ext cx="1474368" cy="900468"/>
            </a:xfrm>
            <a:prstGeom prst="rect">
              <a:avLst/>
            </a:prstGeom>
            <a:noFill/>
            <a:ln>
              <a:noFill/>
            </a:ln>
          </p:spPr>
          <p:txBody>
            <a:bodyPr anchorCtr="0" anchor="ctr" bIns="11425" lIns="17125" spcFirstLastPara="1" rIns="17125" wrap="square" tIns="11425">
              <a:noAutofit/>
            </a:bodyPr>
            <a:lstStyle/>
            <a:p>
              <a:pPr indent="0" lvl="0" marL="0" marR="0" rtl="0" algn="ctr">
                <a:lnSpc>
                  <a:spcPct val="90000"/>
                </a:lnSpc>
                <a:spcBef>
                  <a:spcPts val="0"/>
                </a:spcBef>
                <a:spcAft>
                  <a:spcPts val="0"/>
                </a:spcAft>
                <a:buClr>
                  <a:schemeClr val="dk1"/>
                </a:buClr>
                <a:buSzPts val="900"/>
                <a:buFont typeface="Garamond"/>
                <a:buNone/>
              </a:pPr>
              <a:r>
                <a:rPr lang="es-BO" sz="900">
                  <a:solidFill>
                    <a:schemeClr val="dk1"/>
                  </a:solidFill>
                  <a:latin typeface="Garamond"/>
                  <a:ea typeface="Garamond"/>
                  <a:cs typeface="Garamond"/>
                  <a:sym typeface="Garamond"/>
                </a:rPr>
                <a:t>M.S: proporcionar una interfaz para dispositivos de salida como motor, ventilador, relé, luz, lámpara, calentador eléctrico, válvula solenoide, zumbador, etc.</a:t>
              </a:r>
              <a:endParaRPr sz="900">
                <a:solidFill>
                  <a:schemeClr val="dk1"/>
                </a:solidFill>
                <a:latin typeface="Garamond"/>
                <a:ea typeface="Garamond"/>
                <a:cs typeface="Garamond"/>
                <a:sym typeface="Garamond"/>
              </a:endParaRPr>
            </a:p>
          </p:txBody>
        </p:sp>
        <p:sp>
          <p:nvSpPr>
            <p:cNvPr id="986" name="Google Shape;986;p75"/>
            <p:cNvSpPr/>
            <p:nvPr/>
          </p:nvSpPr>
          <p:spPr>
            <a:xfrm>
              <a:off x="2991265" y="2155"/>
              <a:ext cx="1912997" cy="956498"/>
            </a:xfrm>
            <a:prstGeom prst="roundRect">
              <a:avLst>
                <a:gd fmla="val 10000" name="adj"/>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75"/>
            <p:cNvSpPr txBox="1"/>
            <p:nvPr/>
          </p:nvSpPr>
          <p:spPr>
            <a:xfrm>
              <a:off x="3019280" y="30170"/>
              <a:ext cx="1856967" cy="900468"/>
            </a:xfrm>
            <a:prstGeom prst="rect">
              <a:avLst/>
            </a:prstGeom>
            <a:noFill/>
            <a:ln>
              <a:noFill/>
            </a:ln>
          </p:spPr>
          <p:txBody>
            <a:bodyPr anchorCtr="0" anchor="ctr" bIns="30475" lIns="45700" spcFirstLastPara="1" rIns="45700" wrap="square" tIns="30475">
              <a:noAutofit/>
            </a:bodyPr>
            <a:lstStyle/>
            <a:p>
              <a:pPr indent="0" lvl="0" marL="0" marR="0" rtl="0" algn="ctr">
                <a:lnSpc>
                  <a:spcPct val="90000"/>
                </a:lnSpc>
                <a:spcBef>
                  <a:spcPts val="0"/>
                </a:spcBef>
                <a:spcAft>
                  <a:spcPts val="0"/>
                </a:spcAft>
                <a:buClr>
                  <a:schemeClr val="lt1"/>
                </a:buClr>
                <a:buSzPts val="2400"/>
                <a:buFont typeface="Garamond"/>
                <a:buNone/>
              </a:pPr>
              <a:r>
                <a:rPr b="1" lang="es-BO" sz="2400">
                  <a:solidFill>
                    <a:schemeClr val="lt1"/>
                  </a:solidFill>
                  <a:latin typeface="Garamond"/>
                  <a:ea typeface="Garamond"/>
                  <a:cs typeface="Garamond"/>
                  <a:sym typeface="Garamond"/>
                </a:rPr>
                <a:t>Fuente de alimentación</a:t>
              </a:r>
              <a:endParaRPr sz="2400">
                <a:solidFill>
                  <a:schemeClr val="lt1"/>
                </a:solidFill>
                <a:latin typeface="Garamond"/>
                <a:ea typeface="Garamond"/>
                <a:cs typeface="Garamond"/>
                <a:sym typeface="Garamond"/>
              </a:endParaRPr>
            </a:p>
          </p:txBody>
        </p:sp>
        <p:sp>
          <p:nvSpPr>
            <p:cNvPr id="988" name="Google Shape;988;p75"/>
            <p:cNvSpPr/>
            <p:nvPr/>
          </p:nvSpPr>
          <p:spPr>
            <a:xfrm>
              <a:off x="3182564" y="958654"/>
              <a:ext cx="191299" cy="717374"/>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989" name="Google Shape;989;p75"/>
            <p:cNvSpPr/>
            <p:nvPr/>
          </p:nvSpPr>
          <p:spPr>
            <a:xfrm>
              <a:off x="3373864" y="1197779"/>
              <a:ext cx="1530398" cy="956498"/>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75"/>
            <p:cNvSpPr txBox="1"/>
            <p:nvPr/>
          </p:nvSpPr>
          <p:spPr>
            <a:xfrm>
              <a:off x="3401879" y="1225794"/>
              <a:ext cx="1474368" cy="900468"/>
            </a:xfrm>
            <a:prstGeom prst="rect">
              <a:avLst/>
            </a:prstGeom>
            <a:noFill/>
            <a:ln>
              <a:noFill/>
            </a:ln>
          </p:spPr>
          <p:txBody>
            <a:bodyPr anchorCtr="0" anchor="ctr" bIns="11425" lIns="17125" spcFirstLastPara="1" rIns="17125" wrap="square" tIns="11425">
              <a:noAutofit/>
            </a:bodyPr>
            <a:lstStyle/>
            <a:p>
              <a:pPr indent="0" lvl="0" marL="0" marR="0" rtl="0" algn="ctr">
                <a:lnSpc>
                  <a:spcPct val="90000"/>
                </a:lnSpc>
                <a:spcBef>
                  <a:spcPts val="0"/>
                </a:spcBef>
                <a:spcAft>
                  <a:spcPts val="0"/>
                </a:spcAft>
                <a:buClr>
                  <a:schemeClr val="dk1"/>
                </a:buClr>
                <a:buSzPts val="900"/>
                <a:buFont typeface="Garamond"/>
                <a:buNone/>
              </a:pPr>
              <a:r>
                <a:rPr lang="es-BO" sz="900">
                  <a:solidFill>
                    <a:schemeClr val="dk1"/>
                  </a:solidFill>
                  <a:latin typeface="Garamond"/>
                  <a:ea typeface="Garamond"/>
                  <a:cs typeface="Garamond"/>
                  <a:sym typeface="Garamond"/>
                </a:rPr>
                <a:t>Proporciona energía a todos los demás componentes para operar. Proporciona energía a los módulos de entrada / salida, sistema de memoria y procesador.</a:t>
              </a:r>
              <a:endParaRPr sz="900">
                <a:solidFill>
                  <a:schemeClr val="dk1"/>
                </a:solidFill>
                <a:latin typeface="Garamond"/>
                <a:ea typeface="Garamond"/>
                <a:cs typeface="Garamond"/>
                <a:sym typeface="Garamond"/>
              </a:endParaRPr>
            </a:p>
          </p:txBody>
        </p:sp>
        <p:sp>
          <p:nvSpPr>
            <p:cNvPr id="991" name="Google Shape;991;p75"/>
            <p:cNvSpPr/>
            <p:nvPr/>
          </p:nvSpPr>
          <p:spPr>
            <a:xfrm>
              <a:off x="3182564" y="958654"/>
              <a:ext cx="191299" cy="1912997"/>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992" name="Google Shape;992;p75"/>
            <p:cNvSpPr/>
            <p:nvPr/>
          </p:nvSpPr>
          <p:spPr>
            <a:xfrm>
              <a:off x="3373864" y="2393402"/>
              <a:ext cx="1530398" cy="956498"/>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75"/>
            <p:cNvSpPr txBox="1"/>
            <p:nvPr/>
          </p:nvSpPr>
          <p:spPr>
            <a:xfrm>
              <a:off x="3401879" y="2421417"/>
              <a:ext cx="1474368" cy="900468"/>
            </a:xfrm>
            <a:prstGeom prst="rect">
              <a:avLst/>
            </a:prstGeom>
            <a:noFill/>
            <a:ln>
              <a:noFill/>
            </a:ln>
          </p:spPr>
          <p:txBody>
            <a:bodyPr anchorCtr="0" anchor="ctr" bIns="11425" lIns="17125" spcFirstLastPara="1" rIns="17125" wrap="square" tIns="11425">
              <a:noAutofit/>
            </a:bodyPr>
            <a:lstStyle/>
            <a:p>
              <a:pPr indent="0" lvl="0" marL="0" marR="0" rtl="0" algn="ctr">
                <a:lnSpc>
                  <a:spcPct val="90000"/>
                </a:lnSpc>
                <a:spcBef>
                  <a:spcPts val="0"/>
                </a:spcBef>
                <a:spcAft>
                  <a:spcPts val="0"/>
                </a:spcAft>
                <a:buClr>
                  <a:schemeClr val="dk1"/>
                </a:buClr>
                <a:buSzPts val="900"/>
                <a:buFont typeface="Garamond"/>
                <a:buNone/>
              </a:pPr>
              <a:r>
                <a:rPr lang="es-BO" sz="900">
                  <a:solidFill>
                    <a:schemeClr val="dk1"/>
                  </a:solidFill>
                  <a:latin typeface="Garamond"/>
                  <a:ea typeface="Garamond"/>
                  <a:cs typeface="Garamond"/>
                  <a:sym typeface="Garamond"/>
                </a:rPr>
                <a:t>Proporcionar la alimentación de CC o CA para operar el PLC.</a:t>
              </a:r>
              <a:endParaRPr sz="900">
                <a:solidFill>
                  <a:schemeClr val="dk1"/>
                </a:solidFill>
                <a:latin typeface="Garamond"/>
                <a:ea typeface="Garamond"/>
                <a:cs typeface="Garamond"/>
                <a:sym typeface="Garamond"/>
              </a:endParaRPr>
            </a:p>
          </p:txBody>
        </p:sp>
        <p:sp>
          <p:nvSpPr>
            <p:cNvPr id="994" name="Google Shape;994;p75"/>
            <p:cNvSpPr/>
            <p:nvPr/>
          </p:nvSpPr>
          <p:spPr>
            <a:xfrm>
              <a:off x="5382512" y="0"/>
              <a:ext cx="2228910" cy="956498"/>
            </a:xfrm>
            <a:prstGeom prst="roundRect">
              <a:avLst>
                <a:gd fmla="val 10000" name="adj"/>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75"/>
            <p:cNvSpPr txBox="1"/>
            <p:nvPr/>
          </p:nvSpPr>
          <p:spPr>
            <a:xfrm>
              <a:off x="5410527" y="28015"/>
              <a:ext cx="2172880" cy="900468"/>
            </a:xfrm>
            <a:prstGeom prst="rect">
              <a:avLst/>
            </a:prstGeom>
            <a:noFill/>
            <a:ln>
              <a:noFill/>
            </a:ln>
          </p:spPr>
          <p:txBody>
            <a:bodyPr anchorCtr="0" anchor="ctr" bIns="30475" lIns="45700" spcFirstLastPara="1" rIns="45700" wrap="square" tIns="30475">
              <a:noAutofit/>
            </a:bodyPr>
            <a:lstStyle/>
            <a:p>
              <a:pPr indent="0" lvl="0" marL="0" marR="0" rtl="0" algn="ctr">
                <a:lnSpc>
                  <a:spcPct val="90000"/>
                </a:lnSpc>
                <a:spcBef>
                  <a:spcPts val="0"/>
                </a:spcBef>
                <a:spcAft>
                  <a:spcPts val="0"/>
                </a:spcAft>
                <a:buClr>
                  <a:schemeClr val="lt1"/>
                </a:buClr>
                <a:buSzPts val="2400"/>
                <a:buFont typeface="Garamond"/>
                <a:buNone/>
              </a:pPr>
              <a:r>
                <a:rPr b="1" lang="es-BO" sz="2400">
                  <a:solidFill>
                    <a:schemeClr val="lt1"/>
                  </a:solidFill>
                  <a:latin typeface="Garamond"/>
                  <a:ea typeface="Garamond"/>
                  <a:cs typeface="Garamond"/>
                  <a:sym typeface="Garamond"/>
                </a:rPr>
                <a:t>Unidad de procesamiento central (CPU)</a:t>
              </a:r>
              <a:endParaRPr sz="2400">
                <a:solidFill>
                  <a:schemeClr val="lt1"/>
                </a:solidFill>
                <a:latin typeface="Garamond"/>
                <a:ea typeface="Garamond"/>
                <a:cs typeface="Garamond"/>
                <a:sym typeface="Garamond"/>
              </a:endParaRPr>
            </a:p>
          </p:txBody>
        </p:sp>
        <p:sp>
          <p:nvSpPr>
            <p:cNvPr id="996" name="Google Shape;996;p75"/>
            <p:cNvSpPr/>
            <p:nvPr/>
          </p:nvSpPr>
          <p:spPr>
            <a:xfrm>
              <a:off x="5605403" y="956498"/>
              <a:ext cx="222891" cy="719529"/>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997" name="Google Shape;997;p75"/>
            <p:cNvSpPr/>
            <p:nvPr/>
          </p:nvSpPr>
          <p:spPr>
            <a:xfrm>
              <a:off x="5828294" y="1197779"/>
              <a:ext cx="1530398" cy="956498"/>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75"/>
            <p:cNvSpPr txBox="1"/>
            <p:nvPr/>
          </p:nvSpPr>
          <p:spPr>
            <a:xfrm>
              <a:off x="5856309" y="1225794"/>
              <a:ext cx="1474368" cy="900468"/>
            </a:xfrm>
            <a:prstGeom prst="rect">
              <a:avLst/>
            </a:prstGeom>
            <a:noFill/>
            <a:ln>
              <a:noFill/>
            </a:ln>
          </p:spPr>
          <p:txBody>
            <a:bodyPr anchorCtr="0" anchor="ctr" bIns="11425" lIns="17125" spcFirstLastPara="1" rIns="17125" wrap="square" tIns="11425">
              <a:noAutofit/>
            </a:bodyPr>
            <a:lstStyle/>
            <a:p>
              <a:pPr indent="0" lvl="0" marL="0" marR="0" rtl="0" algn="ctr">
                <a:lnSpc>
                  <a:spcPct val="90000"/>
                </a:lnSpc>
                <a:spcBef>
                  <a:spcPts val="0"/>
                </a:spcBef>
                <a:spcAft>
                  <a:spcPts val="0"/>
                </a:spcAft>
                <a:buClr>
                  <a:schemeClr val="dk1"/>
                </a:buClr>
                <a:buSzPts val="900"/>
                <a:buFont typeface="Garamond"/>
                <a:buNone/>
              </a:pPr>
              <a:r>
                <a:rPr lang="es-BO" sz="900">
                  <a:solidFill>
                    <a:schemeClr val="dk1"/>
                  </a:solidFill>
                  <a:latin typeface="Garamond"/>
                  <a:ea typeface="Garamond"/>
                  <a:cs typeface="Garamond"/>
                  <a:sym typeface="Garamond"/>
                </a:rPr>
                <a:t>La función de la CPU es almacenar y ejecutar los programas de software. </a:t>
              </a:r>
              <a:endParaRPr sz="900">
                <a:solidFill>
                  <a:schemeClr val="dk1"/>
                </a:solidFill>
                <a:latin typeface="Garamond"/>
                <a:ea typeface="Garamond"/>
                <a:cs typeface="Garamond"/>
                <a:sym typeface="Garamond"/>
              </a:endParaRPr>
            </a:p>
          </p:txBody>
        </p:sp>
        <p:sp>
          <p:nvSpPr>
            <p:cNvPr id="999" name="Google Shape;999;p75"/>
            <p:cNvSpPr/>
            <p:nvPr/>
          </p:nvSpPr>
          <p:spPr>
            <a:xfrm>
              <a:off x="5605403" y="956498"/>
              <a:ext cx="222891" cy="1915153"/>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1000" name="Google Shape;1000;p75"/>
            <p:cNvSpPr/>
            <p:nvPr/>
          </p:nvSpPr>
          <p:spPr>
            <a:xfrm>
              <a:off x="5828294" y="2393402"/>
              <a:ext cx="1530398" cy="956498"/>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75"/>
            <p:cNvSpPr txBox="1"/>
            <p:nvPr/>
          </p:nvSpPr>
          <p:spPr>
            <a:xfrm>
              <a:off x="5856309" y="2421417"/>
              <a:ext cx="1474368" cy="900468"/>
            </a:xfrm>
            <a:prstGeom prst="rect">
              <a:avLst/>
            </a:prstGeom>
            <a:noFill/>
            <a:ln>
              <a:noFill/>
            </a:ln>
          </p:spPr>
          <p:txBody>
            <a:bodyPr anchorCtr="0" anchor="ctr" bIns="11425" lIns="17125" spcFirstLastPara="1" rIns="17125" wrap="square" tIns="11425">
              <a:noAutofit/>
            </a:bodyPr>
            <a:lstStyle/>
            <a:p>
              <a:pPr indent="0" lvl="0" marL="0" marR="0" rtl="0" algn="ctr">
                <a:lnSpc>
                  <a:spcPct val="90000"/>
                </a:lnSpc>
                <a:spcBef>
                  <a:spcPts val="0"/>
                </a:spcBef>
                <a:spcAft>
                  <a:spcPts val="0"/>
                </a:spcAft>
                <a:buClr>
                  <a:schemeClr val="dk1"/>
                </a:buClr>
                <a:buSzPts val="900"/>
                <a:buFont typeface="Garamond"/>
                <a:buNone/>
              </a:pPr>
              <a:r>
                <a:rPr lang="es-BO" sz="900">
                  <a:solidFill>
                    <a:schemeClr val="dk1"/>
                  </a:solidFill>
                  <a:latin typeface="Garamond"/>
                  <a:ea typeface="Garamond"/>
                  <a:cs typeface="Garamond"/>
                  <a:sym typeface="Garamond"/>
                </a:rPr>
                <a:t>Es la parte que se encarga del procesamiento de la información y está basado en un microprocesador y memorias.</a:t>
              </a:r>
              <a:endParaRPr sz="900">
                <a:solidFill>
                  <a:schemeClr val="dk1"/>
                </a:solidFill>
                <a:latin typeface="Garamond"/>
                <a:ea typeface="Garamond"/>
                <a:cs typeface="Garamond"/>
                <a:sym typeface="Garamond"/>
              </a:endParaRPr>
            </a:p>
          </p:txBody>
        </p:sp>
        <p:sp>
          <p:nvSpPr>
            <p:cNvPr id="1002" name="Google Shape;1002;p75"/>
            <p:cNvSpPr/>
            <p:nvPr/>
          </p:nvSpPr>
          <p:spPr>
            <a:xfrm>
              <a:off x="5605403" y="956498"/>
              <a:ext cx="222891" cy="3110776"/>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1003" name="Google Shape;1003;p75"/>
            <p:cNvSpPr/>
            <p:nvPr/>
          </p:nvSpPr>
          <p:spPr>
            <a:xfrm>
              <a:off x="5828294" y="3589026"/>
              <a:ext cx="1530398" cy="956498"/>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75"/>
            <p:cNvSpPr txBox="1"/>
            <p:nvPr/>
          </p:nvSpPr>
          <p:spPr>
            <a:xfrm>
              <a:off x="5856309" y="3617041"/>
              <a:ext cx="1474368" cy="900468"/>
            </a:xfrm>
            <a:prstGeom prst="rect">
              <a:avLst/>
            </a:prstGeom>
            <a:noFill/>
            <a:ln>
              <a:noFill/>
            </a:ln>
          </p:spPr>
          <p:txBody>
            <a:bodyPr anchorCtr="0" anchor="ctr" bIns="11425" lIns="17125" spcFirstLastPara="1" rIns="17125" wrap="square" tIns="11425">
              <a:noAutofit/>
            </a:bodyPr>
            <a:lstStyle/>
            <a:p>
              <a:pPr indent="0" lvl="0" marL="0" marR="0" rtl="0" algn="ctr">
                <a:lnSpc>
                  <a:spcPct val="90000"/>
                </a:lnSpc>
                <a:spcBef>
                  <a:spcPts val="0"/>
                </a:spcBef>
                <a:spcAft>
                  <a:spcPts val="0"/>
                </a:spcAft>
                <a:buClr>
                  <a:schemeClr val="dk1"/>
                </a:buClr>
                <a:buSzPts val="900"/>
                <a:buFont typeface="Garamond"/>
                <a:buNone/>
              </a:pPr>
              <a:r>
                <a:rPr lang="es-BO" sz="900">
                  <a:solidFill>
                    <a:schemeClr val="dk1"/>
                  </a:solidFill>
                  <a:latin typeface="Garamond"/>
                  <a:ea typeface="Garamond"/>
                  <a:cs typeface="Garamond"/>
                  <a:sym typeface="Garamond"/>
                </a:rPr>
                <a:t>La unidad de memoria se comunica con el microprocesador para leer y escribir información.</a:t>
              </a:r>
              <a:endParaRPr sz="900">
                <a:solidFill>
                  <a:schemeClr val="dk1"/>
                </a:solidFill>
                <a:latin typeface="Garamond"/>
                <a:ea typeface="Garamond"/>
                <a:cs typeface="Garamond"/>
                <a:sym typeface="Garamond"/>
              </a:endParaRPr>
            </a:p>
          </p:txBody>
        </p:sp>
        <p:sp>
          <p:nvSpPr>
            <p:cNvPr id="1005" name="Google Shape;1005;p75"/>
            <p:cNvSpPr/>
            <p:nvPr/>
          </p:nvSpPr>
          <p:spPr>
            <a:xfrm>
              <a:off x="8089671" y="2155"/>
              <a:ext cx="1912997" cy="956498"/>
            </a:xfrm>
            <a:prstGeom prst="roundRect">
              <a:avLst>
                <a:gd fmla="val 10000" name="adj"/>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75"/>
            <p:cNvSpPr txBox="1"/>
            <p:nvPr/>
          </p:nvSpPr>
          <p:spPr>
            <a:xfrm>
              <a:off x="8117686" y="30170"/>
              <a:ext cx="1856967" cy="900468"/>
            </a:xfrm>
            <a:prstGeom prst="rect">
              <a:avLst/>
            </a:prstGeom>
            <a:noFill/>
            <a:ln>
              <a:noFill/>
            </a:ln>
          </p:spPr>
          <p:txBody>
            <a:bodyPr anchorCtr="0" anchor="ctr" bIns="30475" lIns="45700" spcFirstLastPara="1" rIns="45700" wrap="square" tIns="30475">
              <a:noAutofit/>
            </a:bodyPr>
            <a:lstStyle/>
            <a:p>
              <a:pPr indent="0" lvl="0" marL="0" marR="0" rtl="0" algn="ctr">
                <a:lnSpc>
                  <a:spcPct val="90000"/>
                </a:lnSpc>
                <a:spcBef>
                  <a:spcPts val="0"/>
                </a:spcBef>
                <a:spcAft>
                  <a:spcPts val="0"/>
                </a:spcAft>
                <a:buClr>
                  <a:schemeClr val="lt1"/>
                </a:buClr>
                <a:buSzPts val="2400"/>
                <a:buFont typeface="Garamond"/>
                <a:buNone/>
              </a:pPr>
              <a:r>
                <a:rPr b="1" lang="es-BO" sz="2400">
                  <a:solidFill>
                    <a:schemeClr val="lt1"/>
                  </a:solidFill>
                  <a:latin typeface="Garamond"/>
                  <a:ea typeface="Garamond"/>
                  <a:cs typeface="Garamond"/>
                  <a:sym typeface="Garamond"/>
                </a:rPr>
                <a:t>Sistema de memoria</a:t>
              </a:r>
              <a:endParaRPr sz="2400">
                <a:solidFill>
                  <a:schemeClr val="lt1"/>
                </a:solidFill>
                <a:latin typeface="Garamond"/>
                <a:ea typeface="Garamond"/>
                <a:cs typeface="Garamond"/>
                <a:sym typeface="Garamond"/>
              </a:endParaRPr>
            </a:p>
          </p:txBody>
        </p:sp>
        <p:sp>
          <p:nvSpPr>
            <p:cNvPr id="1007" name="Google Shape;1007;p75"/>
            <p:cNvSpPr/>
            <p:nvPr/>
          </p:nvSpPr>
          <p:spPr>
            <a:xfrm>
              <a:off x="8280971" y="958654"/>
              <a:ext cx="191299" cy="717374"/>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1008" name="Google Shape;1008;p75"/>
            <p:cNvSpPr/>
            <p:nvPr/>
          </p:nvSpPr>
          <p:spPr>
            <a:xfrm>
              <a:off x="8472271" y="1197779"/>
              <a:ext cx="2854100" cy="956498"/>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75"/>
            <p:cNvSpPr txBox="1"/>
            <p:nvPr/>
          </p:nvSpPr>
          <p:spPr>
            <a:xfrm>
              <a:off x="8500286" y="1225794"/>
              <a:ext cx="2798070" cy="900468"/>
            </a:xfrm>
            <a:prstGeom prst="rect">
              <a:avLst/>
            </a:prstGeom>
            <a:noFill/>
            <a:ln>
              <a:noFill/>
            </a:ln>
          </p:spPr>
          <p:txBody>
            <a:bodyPr anchorCtr="0" anchor="ctr" bIns="11425" lIns="17125" spcFirstLastPara="1" rIns="17125" wrap="square" tIns="11425">
              <a:noAutofit/>
            </a:bodyPr>
            <a:lstStyle/>
            <a:p>
              <a:pPr indent="0" lvl="0" marL="0" marR="0" rtl="0" algn="ctr">
                <a:lnSpc>
                  <a:spcPct val="90000"/>
                </a:lnSpc>
                <a:spcBef>
                  <a:spcPts val="0"/>
                </a:spcBef>
                <a:spcAft>
                  <a:spcPts val="0"/>
                </a:spcAft>
                <a:buClr>
                  <a:schemeClr val="dk1"/>
                </a:buClr>
                <a:buSzPts val="900"/>
                <a:buFont typeface="Garamond"/>
                <a:buNone/>
              </a:pPr>
              <a:r>
                <a:rPr lang="es-BO" sz="900">
                  <a:solidFill>
                    <a:schemeClr val="dk1"/>
                  </a:solidFill>
                  <a:latin typeface="Garamond"/>
                  <a:ea typeface="Garamond"/>
                  <a:cs typeface="Garamond"/>
                  <a:sym typeface="Garamond"/>
                </a:rPr>
                <a:t>Todo PLC posee una memoria organizada en área de trabajo específicas que son:</a:t>
              </a:r>
              <a:endParaRPr sz="900">
                <a:solidFill>
                  <a:schemeClr val="dk1"/>
                </a:solidFill>
                <a:latin typeface="Garamond"/>
                <a:ea typeface="Garamond"/>
                <a:cs typeface="Garamond"/>
                <a:sym typeface="Garamond"/>
              </a:endParaRPr>
            </a:p>
          </p:txBody>
        </p:sp>
        <p:sp>
          <p:nvSpPr>
            <p:cNvPr id="1010" name="Google Shape;1010;p75"/>
            <p:cNvSpPr/>
            <p:nvPr/>
          </p:nvSpPr>
          <p:spPr>
            <a:xfrm>
              <a:off x="8280971" y="958654"/>
              <a:ext cx="191299" cy="1912997"/>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1011" name="Google Shape;1011;p75"/>
            <p:cNvSpPr/>
            <p:nvPr/>
          </p:nvSpPr>
          <p:spPr>
            <a:xfrm>
              <a:off x="8472271" y="2393402"/>
              <a:ext cx="2819268" cy="956498"/>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75"/>
            <p:cNvSpPr txBox="1"/>
            <p:nvPr/>
          </p:nvSpPr>
          <p:spPr>
            <a:xfrm>
              <a:off x="8500286" y="2421417"/>
              <a:ext cx="2763238" cy="900468"/>
            </a:xfrm>
            <a:prstGeom prst="rect">
              <a:avLst/>
            </a:prstGeom>
            <a:noFill/>
            <a:ln>
              <a:noFill/>
            </a:ln>
          </p:spPr>
          <p:txBody>
            <a:bodyPr anchorCtr="0" anchor="ctr" bIns="11425" lIns="17125" spcFirstLastPara="1" rIns="17125" wrap="square" tIns="11425">
              <a:noAutofit/>
            </a:bodyPr>
            <a:lstStyle/>
            <a:p>
              <a:pPr indent="0" lvl="0" marL="0" marR="0" rtl="0" algn="ctr">
                <a:lnSpc>
                  <a:spcPct val="90000"/>
                </a:lnSpc>
                <a:spcBef>
                  <a:spcPts val="0"/>
                </a:spcBef>
                <a:spcAft>
                  <a:spcPts val="0"/>
                </a:spcAft>
                <a:buClr>
                  <a:schemeClr val="dk1"/>
                </a:buClr>
                <a:buSzPts val="900"/>
                <a:buFont typeface="Garamond"/>
                <a:buNone/>
              </a:pPr>
              <a:r>
                <a:rPr lang="es-BO" sz="900">
                  <a:solidFill>
                    <a:schemeClr val="dk1"/>
                  </a:solidFill>
                  <a:latin typeface="Garamond"/>
                  <a:ea typeface="Garamond"/>
                  <a:cs typeface="Garamond"/>
                  <a:sym typeface="Garamond"/>
                </a:rPr>
                <a:t>ROM (Read only memory). Memoria de solo lectura o memoria del sistema operativo y no es accesible por el usuario, allí se almacenan los programas.</a:t>
              </a:r>
              <a:endParaRPr sz="900">
                <a:solidFill>
                  <a:schemeClr val="dk1"/>
                </a:solidFill>
                <a:latin typeface="Garamond"/>
                <a:ea typeface="Garamond"/>
                <a:cs typeface="Garamond"/>
                <a:sym typeface="Garamond"/>
              </a:endParaRPr>
            </a:p>
          </p:txBody>
        </p:sp>
        <p:sp>
          <p:nvSpPr>
            <p:cNvPr id="1013" name="Google Shape;1013;p75"/>
            <p:cNvSpPr/>
            <p:nvPr/>
          </p:nvSpPr>
          <p:spPr>
            <a:xfrm>
              <a:off x="8280971" y="958654"/>
              <a:ext cx="191299" cy="3108621"/>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1014" name="Google Shape;1014;p75"/>
            <p:cNvSpPr/>
            <p:nvPr/>
          </p:nvSpPr>
          <p:spPr>
            <a:xfrm>
              <a:off x="8472271" y="3589026"/>
              <a:ext cx="2698000" cy="956498"/>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75"/>
            <p:cNvSpPr txBox="1"/>
            <p:nvPr/>
          </p:nvSpPr>
          <p:spPr>
            <a:xfrm>
              <a:off x="8500286" y="3617041"/>
              <a:ext cx="2641970" cy="900468"/>
            </a:xfrm>
            <a:prstGeom prst="rect">
              <a:avLst/>
            </a:prstGeom>
            <a:noFill/>
            <a:ln>
              <a:noFill/>
            </a:ln>
          </p:spPr>
          <p:txBody>
            <a:bodyPr anchorCtr="0" anchor="ctr" bIns="11425" lIns="17125" spcFirstLastPara="1" rIns="17125" wrap="square" tIns="11425">
              <a:noAutofit/>
            </a:bodyPr>
            <a:lstStyle/>
            <a:p>
              <a:pPr indent="0" lvl="0" marL="0" marR="0" rtl="0" algn="ctr">
                <a:lnSpc>
                  <a:spcPct val="90000"/>
                </a:lnSpc>
                <a:spcBef>
                  <a:spcPts val="0"/>
                </a:spcBef>
                <a:spcAft>
                  <a:spcPts val="0"/>
                </a:spcAft>
                <a:buClr>
                  <a:schemeClr val="dk1"/>
                </a:buClr>
                <a:buSzPts val="900"/>
                <a:buFont typeface="Garamond"/>
                <a:buNone/>
              </a:pPr>
              <a:r>
                <a:rPr lang="es-BO" sz="900">
                  <a:solidFill>
                    <a:schemeClr val="dk1"/>
                  </a:solidFill>
                  <a:latin typeface="Garamond"/>
                  <a:ea typeface="Garamond"/>
                  <a:cs typeface="Garamond"/>
                  <a:sym typeface="Garamond"/>
                </a:rPr>
                <a:t>RAM (Random access memory). Memoria de acceso aleatorio, memoria de datos o memoria de usuario, es una memoria volátil, almacena la información de las variables de entrada y salida.</a:t>
              </a:r>
              <a:endParaRPr sz="900">
                <a:solidFill>
                  <a:schemeClr val="dk1"/>
                </a:solidFill>
                <a:latin typeface="Garamond"/>
                <a:ea typeface="Garamond"/>
                <a:cs typeface="Garamond"/>
                <a:sym typeface="Garamond"/>
              </a:endParaRPr>
            </a:p>
          </p:txBody>
        </p:sp>
        <p:sp>
          <p:nvSpPr>
            <p:cNvPr id="1016" name="Google Shape;1016;p75"/>
            <p:cNvSpPr/>
            <p:nvPr/>
          </p:nvSpPr>
          <p:spPr>
            <a:xfrm>
              <a:off x="8280971" y="958654"/>
              <a:ext cx="191299" cy="4304244"/>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1017" name="Google Shape;1017;p75"/>
            <p:cNvSpPr/>
            <p:nvPr/>
          </p:nvSpPr>
          <p:spPr>
            <a:xfrm>
              <a:off x="8472271" y="4784649"/>
              <a:ext cx="2767679" cy="956498"/>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75"/>
            <p:cNvSpPr txBox="1"/>
            <p:nvPr/>
          </p:nvSpPr>
          <p:spPr>
            <a:xfrm>
              <a:off x="8500286" y="4812664"/>
              <a:ext cx="2711649" cy="900468"/>
            </a:xfrm>
            <a:prstGeom prst="rect">
              <a:avLst/>
            </a:prstGeom>
            <a:noFill/>
            <a:ln>
              <a:noFill/>
            </a:ln>
          </p:spPr>
          <p:txBody>
            <a:bodyPr anchorCtr="0" anchor="ctr" bIns="11425" lIns="17125" spcFirstLastPara="1" rIns="17125" wrap="square" tIns="11425">
              <a:noAutofit/>
            </a:bodyPr>
            <a:lstStyle/>
            <a:p>
              <a:pPr indent="0" lvl="0" marL="0" marR="0" rtl="0" algn="ctr">
                <a:lnSpc>
                  <a:spcPct val="90000"/>
                </a:lnSpc>
                <a:spcBef>
                  <a:spcPts val="0"/>
                </a:spcBef>
                <a:spcAft>
                  <a:spcPts val="0"/>
                </a:spcAft>
                <a:buClr>
                  <a:schemeClr val="dk1"/>
                </a:buClr>
                <a:buSzPts val="900"/>
                <a:buFont typeface="Garamond"/>
                <a:buNone/>
              </a:pPr>
              <a:r>
                <a:rPr lang="es-BO" sz="900">
                  <a:solidFill>
                    <a:schemeClr val="dk1"/>
                  </a:solidFill>
                  <a:latin typeface="Garamond"/>
                  <a:ea typeface="Garamond"/>
                  <a:cs typeface="Garamond"/>
                  <a:sym typeface="Garamond"/>
                </a:rPr>
                <a:t>Memoria insertable (EPROM, EEPROM). Si se quiere garantizar totalmente el contenido de la información sin que se pierda el programa efectuado, éste deberá almacenarse y grabarse en memorias EPROM o EEPROM que son de tipo chips.</a:t>
              </a:r>
              <a:endParaRPr sz="900">
                <a:solidFill>
                  <a:schemeClr val="dk1"/>
                </a:solidFill>
                <a:latin typeface="Garamond"/>
                <a:ea typeface="Garamond"/>
                <a:cs typeface="Garamond"/>
                <a:sym typeface="Garamond"/>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7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62626"/>
              </a:buClr>
              <a:buSzPct val="100000"/>
              <a:buFont typeface="Garamond"/>
              <a:buNone/>
            </a:pPr>
            <a:r>
              <a:rPr lang="es-BO"/>
              <a:t>CONTROLADOR LOGICO PROGRABLE (PLC)</a:t>
            </a:r>
            <a:endParaRPr/>
          </a:p>
        </p:txBody>
      </p:sp>
      <p:pic>
        <p:nvPicPr>
          <p:cNvPr id="1024" name="Google Shape;1024;p76"/>
          <p:cNvPicPr preferRelativeResize="0"/>
          <p:nvPr>
            <p:ph idx="1" type="body"/>
          </p:nvPr>
        </p:nvPicPr>
        <p:blipFill rotWithShape="1">
          <a:blip r:embed="rId3">
            <a:alphaModFix/>
          </a:blip>
          <a:srcRect b="0" l="21907" r="23774" t="0"/>
          <a:stretch/>
        </p:blipFill>
        <p:spPr>
          <a:xfrm>
            <a:off x="1236617" y="2216649"/>
            <a:ext cx="4310744" cy="3932237"/>
          </a:xfrm>
          <a:prstGeom prst="rect">
            <a:avLst/>
          </a:prstGeom>
          <a:noFill/>
          <a:ln>
            <a:noFill/>
          </a:ln>
        </p:spPr>
      </p:pic>
      <p:grpSp>
        <p:nvGrpSpPr>
          <p:cNvPr id="1025" name="Google Shape;1025;p76"/>
          <p:cNvGrpSpPr/>
          <p:nvPr/>
        </p:nvGrpSpPr>
        <p:grpSpPr>
          <a:xfrm>
            <a:off x="6556465" y="2638873"/>
            <a:ext cx="4442460" cy="2111853"/>
            <a:chOff x="6608717" y="2830461"/>
            <a:chExt cx="4442460" cy="2111853"/>
          </a:xfrm>
        </p:grpSpPr>
        <p:pic>
          <p:nvPicPr>
            <p:cNvPr id="1026" name="Google Shape;1026;p76"/>
            <p:cNvPicPr preferRelativeResize="0"/>
            <p:nvPr/>
          </p:nvPicPr>
          <p:blipFill rotWithShape="1">
            <a:blip r:embed="rId4">
              <a:alphaModFix/>
            </a:blip>
            <a:srcRect b="90578" l="0" r="0" t="0"/>
            <a:stretch/>
          </p:blipFill>
          <p:spPr>
            <a:xfrm>
              <a:off x="6608717" y="2830461"/>
              <a:ext cx="4442460" cy="295917"/>
            </a:xfrm>
            <a:prstGeom prst="rect">
              <a:avLst/>
            </a:prstGeom>
            <a:noFill/>
            <a:ln>
              <a:noFill/>
            </a:ln>
          </p:spPr>
        </p:pic>
        <p:pic>
          <p:nvPicPr>
            <p:cNvPr id="1027" name="Google Shape;1027;p76"/>
            <p:cNvPicPr preferRelativeResize="0"/>
            <p:nvPr/>
          </p:nvPicPr>
          <p:blipFill rotWithShape="1">
            <a:blip r:embed="rId5">
              <a:alphaModFix/>
            </a:blip>
            <a:srcRect b="0" l="0" r="0" t="21349"/>
            <a:stretch/>
          </p:blipFill>
          <p:spPr>
            <a:xfrm>
              <a:off x="6608717" y="3126378"/>
              <a:ext cx="4442460" cy="1815936"/>
            </a:xfrm>
            <a:prstGeom prst="rect">
              <a:avLst/>
            </a:prstGeom>
            <a:noFill/>
            <a:ln>
              <a:noFill/>
            </a:ln>
          </p:spPr>
        </p:pic>
      </p:grpSp>
      <p:sp>
        <p:nvSpPr>
          <p:cNvPr id="1028" name="Google Shape;1028;p76"/>
          <p:cNvSpPr/>
          <p:nvPr/>
        </p:nvSpPr>
        <p:spPr>
          <a:xfrm>
            <a:off x="6418217" y="2525486"/>
            <a:ext cx="4706983" cy="2447108"/>
          </a:xfrm>
          <a:prstGeom prst="roundRect">
            <a:avLst>
              <a:gd fmla="val 16667" name="adj"/>
            </a:avLst>
          </a:prstGeom>
          <a:noFill/>
          <a:ln cap="flat" cmpd="sng" w="5715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029" name="Google Shape;1029;p76"/>
          <p:cNvSpPr/>
          <p:nvPr/>
        </p:nvSpPr>
        <p:spPr>
          <a:xfrm>
            <a:off x="5347063" y="3004457"/>
            <a:ext cx="1071154" cy="1968137"/>
          </a:xfrm>
          <a:prstGeom prst="stripedRightArrow">
            <a:avLst>
              <a:gd fmla="val 50000" name="adj1"/>
              <a:gd fmla="val 50000" name="adj2"/>
            </a:avLst>
          </a:prstGeom>
          <a:solidFill>
            <a:schemeClr val="accent1"/>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4"/>
                                        </p:tgtEl>
                                        <p:attrNameLst>
                                          <p:attrName>style.visibility</p:attrName>
                                        </p:attrNameLst>
                                      </p:cBhvr>
                                      <p:to>
                                        <p:strVal val="visible"/>
                                      </p:to>
                                    </p:set>
                                    <p:animEffect filter="fade" transition="in">
                                      <p:cBhvr>
                                        <p:cTn dur="500"/>
                                        <p:tgtEl>
                                          <p:spTgt spid="10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pic>
        <p:nvPicPr>
          <p:cNvPr id="1034" name="Google Shape;1034;p77"/>
          <p:cNvPicPr preferRelativeResize="0"/>
          <p:nvPr>
            <p:ph idx="1" type="body"/>
          </p:nvPr>
        </p:nvPicPr>
        <p:blipFill rotWithShape="1">
          <a:blip r:embed="rId3">
            <a:alphaModFix/>
          </a:blip>
          <a:srcRect b="0" l="0" r="0" t="0"/>
          <a:stretch/>
        </p:blipFill>
        <p:spPr>
          <a:xfrm>
            <a:off x="735544" y="657816"/>
            <a:ext cx="5177578" cy="2956241"/>
          </a:xfrm>
          <a:prstGeom prst="rect">
            <a:avLst/>
          </a:prstGeom>
          <a:noFill/>
          <a:ln>
            <a:noFill/>
          </a:ln>
        </p:spPr>
      </p:pic>
      <p:sp>
        <p:nvSpPr>
          <p:cNvPr id="1035" name="Google Shape;1035;p77"/>
          <p:cNvSpPr/>
          <p:nvPr/>
        </p:nvSpPr>
        <p:spPr>
          <a:xfrm>
            <a:off x="827316" y="4075612"/>
            <a:ext cx="3265714" cy="1471748"/>
          </a:xfrm>
          <a:prstGeom prst="roundRect">
            <a:avLst>
              <a:gd fmla="val 16667" name="adj"/>
            </a:avLst>
          </a:prstGeom>
          <a:solidFill>
            <a:schemeClr val="accent1"/>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BO" sz="2400">
                <a:solidFill>
                  <a:schemeClr val="dk1"/>
                </a:solidFill>
                <a:latin typeface="Garamond"/>
                <a:ea typeface="Garamond"/>
                <a:cs typeface="Garamond"/>
                <a:sym typeface="Garamond"/>
              </a:rPr>
              <a:t>CARACTERISTICAS DEL HADWARE</a:t>
            </a:r>
            <a:endParaRPr b="1" sz="2400">
              <a:solidFill>
                <a:schemeClr val="dk1"/>
              </a:solidFill>
              <a:latin typeface="Garamond"/>
              <a:ea typeface="Garamond"/>
              <a:cs typeface="Garamond"/>
              <a:sym typeface="Garamond"/>
            </a:endParaRPr>
          </a:p>
        </p:txBody>
      </p:sp>
      <p:sp>
        <p:nvSpPr>
          <p:cNvPr id="1036" name="Google Shape;1036;p77"/>
          <p:cNvSpPr/>
          <p:nvPr/>
        </p:nvSpPr>
        <p:spPr>
          <a:xfrm>
            <a:off x="4093030" y="4546712"/>
            <a:ext cx="1419499" cy="827314"/>
          </a:xfrm>
          <a:prstGeom prst="stripedRightArrow">
            <a:avLst>
              <a:gd fmla="val 50000" name="adj1"/>
              <a:gd fmla="val 50000" name="adj2"/>
            </a:avLst>
          </a:prstGeom>
          <a:solidFill>
            <a:schemeClr val="accent1"/>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037" name="Google Shape;1037;p77"/>
          <p:cNvSpPr/>
          <p:nvPr/>
        </p:nvSpPr>
        <p:spPr>
          <a:xfrm rot="-4159500">
            <a:off x="7017679" y="-335464"/>
            <a:ext cx="1331101" cy="3568870"/>
          </a:xfrm>
          <a:prstGeom prst="curvedLeftArrow">
            <a:avLst>
              <a:gd fmla="val 25000" name="adj1"/>
              <a:gd fmla="val 50000" name="adj2"/>
              <a:gd fmla="val 25000" name="adj3"/>
            </a:avLst>
          </a:prstGeom>
          <a:solidFill>
            <a:schemeClr val="accent1"/>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graphicFrame>
        <p:nvGraphicFramePr>
          <p:cNvPr id="1038" name="Google Shape;1038;p77"/>
          <p:cNvGraphicFramePr/>
          <p:nvPr/>
        </p:nvGraphicFramePr>
        <p:xfrm>
          <a:off x="6186747" y="2531471"/>
          <a:ext cx="3000000" cy="3000000"/>
        </p:xfrm>
        <a:graphic>
          <a:graphicData uri="http://schemas.openxmlformats.org/drawingml/2006/table">
            <a:tbl>
              <a:tblPr bandRow="1" firstRow="1">
                <a:noFill/>
                <a:tableStyleId>{BC709364-A7B2-4693-9990-78690F8EEA3F}</a:tableStyleId>
              </a:tblPr>
              <a:tblGrid>
                <a:gridCol w="695575"/>
                <a:gridCol w="4891650"/>
              </a:tblGrid>
              <a:tr h="152400">
                <a:tc>
                  <a:txBody>
                    <a:bodyPr/>
                    <a:lstStyle/>
                    <a:p>
                      <a:pPr indent="0" lvl="0" marL="0" marR="0" rtl="0" algn="ctr">
                        <a:spcBef>
                          <a:spcPts val="0"/>
                        </a:spcBef>
                        <a:spcAft>
                          <a:spcPts val="0"/>
                        </a:spcAft>
                        <a:buNone/>
                      </a:pPr>
                      <a:r>
                        <a:rPr b="1" lang="es-BO" sz="1200" u="none" cap="none" strike="noStrike"/>
                        <a:t>CARACTERISTICA</a:t>
                      </a:r>
                      <a:endParaRPr b="1" sz="1200" u="none" cap="none" strike="noStrike"/>
                    </a:p>
                  </a:txBody>
                  <a:tcPr marT="45725" marB="45725" marR="91450" marL="91450"/>
                </a:tc>
                <a:tc>
                  <a:txBody>
                    <a:bodyPr/>
                    <a:lstStyle/>
                    <a:p>
                      <a:pPr indent="0" lvl="0" marL="0" marR="0" rtl="0" algn="l">
                        <a:spcBef>
                          <a:spcPts val="0"/>
                        </a:spcBef>
                        <a:spcAft>
                          <a:spcPts val="0"/>
                        </a:spcAft>
                        <a:buNone/>
                      </a:pPr>
                      <a:r>
                        <a:rPr lang="es-BO" sz="1200" u="none" cap="none" strike="noStrike"/>
                        <a:t>DESCRIPCION</a:t>
                      </a:r>
                      <a:endParaRPr sz="1200"/>
                    </a:p>
                  </a:txBody>
                  <a:tcPr marT="45725" marB="45725" marR="91450" marL="91450"/>
                </a:tc>
              </a:tr>
              <a:tr h="152400">
                <a:tc>
                  <a:txBody>
                    <a:bodyPr/>
                    <a:lstStyle/>
                    <a:p>
                      <a:pPr indent="0" lvl="0" marL="0" marR="0" rtl="0" algn="ctr">
                        <a:spcBef>
                          <a:spcPts val="0"/>
                        </a:spcBef>
                        <a:spcAft>
                          <a:spcPts val="0"/>
                        </a:spcAft>
                        <a:buNone/>
                      </a:pPr>
                      <a:r>
                        <a:rPr b="1" lang="es-BO" sz="1200"/>
                        <a:t>1</a:t>
                      </a:r>
                      <a:endParaRPr b="1" sz="1200"/>
                    </a:p>
                  </a:txBody>
                  <a:tcPr marT="45725" marB="45725" marR="91450" marL="91450"/>
                </a:tc>
                <a:tc>
                  <a:txBody>
                    <a:bodyPr/>
                    <a:lstStyle/>
                    <a:p>
                      <a:pPr indent="0" lvl="0" marL="0" marR="0" rtl="0" algn="l">
                        <a:spcBef>
                          <a:spcPts val="0"/>
                        </a:spcBef>
                        <a:spcAft>
                          <a:spcPts val="0"/>
                        </a:spcAft>
                        <a:buNone/>
                      </a:pPr>
                      <a:r>
                        <a:rPr lang="es-BO" sz="1200"/>
                        <a:t>BLOQUE DE TERMINALES DE SALIDA</a:t>
                      </a:r>
                      <a:endParaRPr sz="1200"/>
                    </a:p>
                  </a:txBody>
                  <a:tcPr marT="45725" marB="45725" marR="91450" marL="91450"/>
                </a:tc>
              </a:tr>
              <a:tr h="152400">
                <a:tc>
                  <a:txBody>
                    <a:bodyPr/>
                    <a:lstStyle/>
                    <a:p>
                      <a:pPr indent="0" lvl="0" marL="0" marR="0" rtl="0" algn="ctr">
                        <a:spcBef>
                          <a:spcPts val="0"/>
                        </a:spcBef>
                        <a:spcAft>
                          <a:spcPts val="0"/>
                        </a:spcAft>
                        <a:buNone/>
                      </a:pPr>
                      <a:r>
                        <a:rPr b="1" lang="es-BO" sz="1200"/>
                        <a:t>2</a:t>
                      </a:r>
                      <a:endParaRPr b="1" sz="1200"/>
                    </a:p>
                  </a:txBody>
                  <a:tcPr marT="45725" marB="45725" marR="91450" marL="91450"/>
                </a:tc>
                <a:tc>
                  <a:txBody>
                    <a:bodyPr/>
                    <a:lstStyle/>
                    <a:p>
                      <a:pPr indent="0" lvl="0" marL="0" marR="0" rtl="0" algn="l">
                        <a:spcBef>
                          <a:spcPts val="0"/>
                        </a:spcBef>
                        <a:spcAft>
                          <a:spcPts val="0"/>
                        </a:spcAft>
                        <a:buNone/>
                      </a:pPr>
                      <a:r>
                        <a:rPr lang="es-BO" sz="1200"/>
                        <a:t>CONECTOR DE BATERIA</a:t>
                      </a:r>
                      <a:endParaRPr sz="1200"/>
                    </a:p>
                  </a:txBody>
                  <a:tcPr marT="45725" marB="45725" marR="91450" marL="91450"/>
                </a:tc>
              </a:tr>
              <a:tr h="152400">
                <a:tc>
                  <a:txBody>
                    <a:bodyPr/>
                    <a:lstStyle/>
                    <a:p>
                      <a:pPr indent="0" lvl="0" marL="0" marR="0" rtl="0" algn="ctr">
                        <a:spcBef>
                          <a:spcPts val="0"/>
                        </a:spcBef>
                        <a:spcAft>
                          <a:spcPts val="0"/>
                        </a:spcAft>
                        <a:buNone/>
                      </a:pPr>
                      <a:r>
                        <a:rPr b="1" lang="es-BO" sz="1200"/>
                        <a:t>3</a:t>
                      </a:r>
                      <a:endParaRPr b="1" sz="1200"/>
                    </a:p>
                  </a:txBody>
                  <a:tcPr marT="45725" marB="45725" marR="91450" marL="91450"/>
                </a:tc>
                <a:tc>
                  <a:txBody>
                    <a:bodyPr/>
                    <a:lstStyle/>
                    <a:p>
                      <a:pPr indent="0" lvl="0" marL="0" marR="0" rtl="0" algn="l">
                        <a:spcBef>
                          <a:spcPts val="0"/>
                        </a:spcBef>
                        <a:spcAft>
                          <a:spcPts val="0"/>
                        </a:spcAft>
                        <a:buNone/>
                      </a:pPr>
                      <a:r>
                        <a:rPr lang="es-BO" sz="1200"/>
                        <a:t>INTERFAZ DE CONECTOR DE BUS A E/S DE EXPANSION</a:t>
                      </a:r>
                      <a:endParaRPr sz="1200"/>
                    </a:p>
                  </a:txBody>
                  <a:tcPr marT="45725" marB="45725" marR="91450" marL="91450"/>
                </a:tc>
              </a:tr>
              <a:tr h="152400">
                <a:tc>
                  <a:txBody>
                    <a:bodyPr/>
                    <a:lstStyle/>
                    <a:p>
                      <a:pPr indent="0" lvl="0" marL="0" marR="0" rtl="0" algn="ctr">
                        <a:spcBef>
                          <a:spcPts val="0"/>
                        </a:spcBef>
                        <a:spcAft>
                          <a:spcPts val="0"/>
                        </a:spcAft>
                        <a:buNone/>
                      </a:pPr>
                      <a:r>
                        <a:rPr b="1" lang="es-BO" sz="1200"/>
                        <a:t>4</a:t>
                      </a:r>
                      <a:endParaRPr b="1" sz="1200"/>
                    </a:p>
                  </a:txBody>
                  <a:tcPr marT="45725" marB="45725" marR="91450" marL="91450"/>
                </a:tc>
                <a:tc>
                  <a:txBody>
                    <a:bodyPr/>
                    <a:lstStyle/>
                    <a:p>
                      <a:pPr indent="0" lvl="0" marL="0" marR="0" rtl="0" algn="l">
                        <a:spcBef>
                          <a:spcPts val="0"/>
                        </a:spcBef>
                        <a:spcAft>
                          <a:spcPts val="0"/>
                        </a:spcAft>
                        <a:buNone/>
                      </a:pPr>
                      <a:r>
                        <a:rPr lang="es-BO" sz="1200"/>
                        <a:t>BATERIA</a:t>
                      </a:r>
                      <a:endParaRPr sz="1200"/>
                    </a:p>
                  </a:txBody>
                  <a:tcPr marT="45725" marB="45725" marR="91450" marL="91450"/>
                </a:tc>
              </a:tr>
              <a:tr h="152400">
                <a:tc>
                  <a:txBody>
                    <a:bodyPr/>
                    <a:lstStyle/>
                    <a:p>
                      <a:pPr indent="0" lvl="0" marL="0" marR="0" rtl="0" algn="ctr">
                        <a:spcBef>
                          <a:spcPts val="0"/>
                        </a:spcBef>
                        <a:spcAft>
                          <a:spcPts val="0"/>
                        </a:spcAft>
                        <a:buNone/>
                      </a:pPr>
                      <a:r>
                        <a:rPr b="1" lang="es-BO" sz="1200"/>
                        <a:t>5</a:t>
                      </a:r>
                      <a:endParaRPr b="1" sz="1200"/>
                    </a:p>
                  </a:txBody>
                  <a:tcPr marT="45725" marB="45725" marR="91450" marL="91450"/>
                </a:tc>
                <a:tc>
                  <a:txBody>
                    <a:bodyPr/>
                    <a:lstStyle/>
                    <a:p>
                      <a:pPr indent="0" lvl="0" marL="0" marR="0" rtl="0" algn="l">
                        <a:spcBef>
                          <a:spcPts val="0"/>
                        </a:spcBef>
                        <a:spcAft>
                          <a:spcPts val="0"/>
                        </a:spcAft>
                        <a:buNone/>
                      </a:pPr>
                      <a:r>
                        <a:rPr lang="es-BO" sz="1200"/>
                        <a:t>BLOQUE DE TERMINALES DE ENTRADA</a:t>
                      </a:r>
                      <a:endParaRPr sz="1200"/>
                    </a:p>
                  </a:txBody>
                  <a:tcPr marT="45725" marB="45725" marR="91450" marL="91450"/>
                </a:tc>
              </a:tr>
              <a:tr h="152400">
                <a:tc>
                  <a:txBody>
                    <a:bodyPr/>
                    <a:lstStyle/>
                    <a:p>
                      <a:pPr indent="0" lvl="0" marL="0" marR="0" rtl="0" algn="ctr">
                        <a:spcBef>
                          <a:spcPts val="0"/>
                        </a:spcBef>
                        <a:spcAft>
                          <a:spcPts val="0"/>
                        </a:spcAft>
                        <a:buNone/>
                      </a:pPr>
                      <a:r>
                        <a:rPr b="1" lang="es-BO" sz="1200"/>
                        <a:t>6</a:t>
                      </a:r>
                      <a:endParaRPr b="1" sz="1200"/>
                    </a:p>
                  </a:txBody>
                  <a:tcPr marT="45725" marB="45725" marR="91450" marL="91450"/>
                </a:tc>
                <a:tc>
                  <a:txBody>
                    <a:bodyPr/>
                    <a:lstStyle/>
                    <a:p>
                      <a:pPr indent="0" lvl="0" marL="0" marR="0" rtl="0" algn="l">
                        <a:spcBef>
                          <a:spcPts val="0"/>
                        </a:spcBef>
                        <a:spcAft>
                          <a:spcPts val="0"/>
                        </a:spcAft>
                        <a:buNone/>
                      </a:pPr>
                      <a:r>
                        <a:rPr lang="es-BO" sz="1200"/>
                        <a:t>LCD</a:t>
                      </a:r>
                      <a:endParaRPr sz="1200"/>
                    </a:p>
                  </a:txBody>
                  <a:tcPr marT="45725" marB="45725" marR="91450" marL="91450"/>
                </a:tc>
              </a:tr>
              <a:tr h="152400">
                <a:tc>
                  <a:txBody>
                    <a:bodyPr/>
                    <a:lstStyle/>
                    <a:p>
                      <a:pPr indent="0" lvl="0" marL="0" marR="0" rtl="0" algn="ctr">
                        <a:spcBef>
                          <a:spcPts val="0"/>
                        </a:spcBef>
                        <a:spcAft>
                          <a:spcPts val="0"/>
                        </a:spcAft>
                        <a:buNone/>
                      </a:pPr>
                      <a:r>
                        <a:rPr b="1" lang="es-BO" sz="1200"/>
                        <a:t>7</a:t>
                      </a:r>
                      <a:endParaRPr b="1" sz="1200"/>
                    </a:p>
                  </a:txBody>
                  <a:tcPr marT="45725" marB="45725" marR="91450" marL="91450"/>
                </a:tc>
                <a:tc>
                  <a:txBody>
                    <a:bodyPr/>
                    <a:lstStyle/>
                    <a:p>
                      <a:pPr indent="0" lvl="0" marL="0" marR="0" rtl="0" algn="l">
                        <a:spcBef>
                          <a:spcPts val="0"/>
                        </a:spcBef>
                        <a:spcAft>
                          <a:spcPts val="0"/>
                        </a:spcAft>
                        <a:buNone/>
                      </a:pPr>
                      <a:r>
                        <a:rPr lang="es-BO" sz="1200"/>
                        <a:t>TECLADO LCD(ESC,OK,ARRIBA,ABAJOIZQUIERDA,DERECHA)</a:t>
                      </a:r>
                      <a:endParaRPr sz="1200"/>
                    </a:p>
                  </a:txBody>
                  <a:tcPr marT="45725" marB="45725" marR="91450" marL="91450"/>
                </a:tc>
              </a:tr>
              <a:tr h="152400">
                <a:tc>
                  <a:txBody>
                    <a:bodyPr/>
                    <a:lstStyle/>
                    <a:p>
                      <a:pPr indent="0" lvl="0" marL="0" marR="0" rtl="0" algn="ctr">
                        <a:spcBef>
                          <a:spcPts val="0"/>
                        </a:spcBef>
                        <a:spcAft>
                          <a:spcPts val="0"/>
                        </a:spcAft>
                        <a:buNone/>
                      </a:pPr>
                      <a:r>
                        <a:rPr b="1" lang="es-BO" sz="1200"/>
                        <a:t>8</a:t>
                      </a:r>
                      <a:endParaRPr b="1" sz="1200"/>
                    </a:p>
                  </a:txBody>
                  <a:tcPr marT="45725" marB="45725" marR="91450" marL="91450"/>
                </a:tc>
                <a:tc>
                  <a:txBody>
                    <a:bodyPr/>
                    <a:lstStyle/>
                    <a:p>
                      <a:pPr indent="0" lvl="0" marL="0" marR="0" rtl="0" algn="l">
                        <a:spcBef>
                          <a:spcPts val="0"/>
                        </a:spcBef>
                        <a:spcAft>
                          <a:spcPts val="0"/>
                        </a:spcAft>
                        <a:buNone/>
                      </a:pPr>
                      <a:r>
                        <a:rPr lang="es-BO" sz="1200"/>
                        <a:t>INDICADORES LED DE ESTADO</a:t>
                      </a:r>
                      <a:endParaRPr sz="1200"/>
                    </a:p>
                  </a:txBody>
                  <a:tcPr marT="45725" marB="45725" marR="91450" marL="91450"/>
                </a:tc>
              </a:tr>
              <a:tr h="152400">
                <a:tc>
                  <a:txBody>
                    <a:bodyPr/>
                    <a:lstStyle/>
                    <a:p>
                      <a:pPr indent="0" lvl="0" marL="0" marR="0" rtl="0" algn="ctr">
                        <a:spcBef>
                          <a:spcPts val="0"/>
                        </a:spcBef>
                        <a:spcAft>
                          <a:spcPts val="0"/>
                        </a:spcAft>
                        <a:buNone/>
                      </a:pPr>
                      <a:r>
                        <a:rPr b="1" lang="es-BO" sz="1200"/>
                        <a:t>9</a:t>
                      </a:r>
                      <a:endParaRPr b="1" sz="1200"/>
                    </a:p>
                  </a:txBody>
                  <a:tcPr marT="45725" marB="45725" marR="91450" marL="91450"/>
                </a:tc>
                <a:tc>
                  <a:txBody>
                    <a:bodyPr/>
                    <a:lstStyle/>
                    <a:p>
                      <a:pPr indent="0" lvl="0" marL="0" marR="0" rtl="0" algn="l">
                        <a:spcBef>
                          <a:spcPts val="0"/>
                        </a:spcBef>
                        <a:spcAft>
                          <a:spcPts val="0"/>
                        </a:spcAft>
                        <a:buNone/>
                      </a:pPr>
                      <a:r>
                        <a:rPr lang="es-BO" sz="1200"/>
                        <a:t>CUBIERTA DEL PUERTO DEL</a:t>
                      </a:r>
                      <a:r>
                        <a:rPr lang="es-BO" sz="1200"/>
                        <a:t> MODULO DE MEMORIA 1 O 2</a:t>
                      </a:r>
                      <a:endParaRPr sz="1200"/>
                    </a:p>
                  </a:txBody>
                  <a:tcPr marT="45725" marB="45725" marR="91450" marL="91450"/>
                </a:tc>
              </a:tr>
              <a:tr h="152400">
                <a:tc>
                  <a:txBody>
                    <a:bodyPr/>
                    <a:lstStyle/>
                    <a:p>
                      <a:pPr indent="0" lvl="0" marL="0" marR="0" rtl="0" algn="ctr">
                        <a:spcBef>
                          <a:spcPts val="0"/>
                        </a:spcBef>
                        <a:spcAft>
                          <a:spcPts val="0"/>
                        </a:spcAft>
                        <a:buNone/>
                      </a:pPr>
                      <a:r>
                        <a:rPr b="1" lang="es-BO" sz="1200"/>
                        <a:t>10</a:t>
                      </a:r>
                      <a:endParaRPr b="1" sz="1200"/>
                    </a:p>
                  </a:txBody>
                  <a:tcPr marT="45725" marB="45725" marR="91450" marL="91450"/>
                </a:tc>
                <a:tc>
                  <a:txBody>
                    <a:bodyPr/>
                    <a:lstStyle/>
                    <a:p>
                      <a:pPr indent="0" lvl="0" marL="0" marR="0" rtl="0" algn="l">
                        <a:spcBef>
                          <a:spcPts val="0"/>
                        </a:spcBef>
                        <a:spcAft>
                          <a:spcPts val="0"/>
                        </a:spcAft>
                        <a:buNone/>
                      </a:pPr>
                      <a:r>
                        <a:rPr lang="es-BO" sz="1200"/>
                        <a:t>PESTILOS DE RIEL</a:t>
                      </a:r>
                      <a:endParaRPr sz="1200"/>
                    </a:p>
                  </a:txBody>
                  <a:tcPr marT="45725" marB="45725" marR="91450" marL="91450"/>
                </a:tc>
              </a:tr>
              <a:tr h="152400">
                <a:tc>
                  <a:txBody>
                    <a:bodyPr/>
                    <a:lstStyle/>
                    <a:p>
                      <a:pPr indent="0" lvl="0" marL="0" marR="0" rtl="0" algn="ctr">
                        <a:spcBef>
                          <a:spcPts val="0"/>
                        </a:spcBef>
                        <a:spcAft>
                          <a:spcPts val="0"/>
                        </a:spcAft>
                        <a:buNone/>
                      </a:pPr>
                      <a:r>
                        <a:rPr b="1" lang="es-BO" sz="1200"/>
                        <a:t>11</a:t>
                      </a:r>
                      <a:endParaRPr b="1" sz="1200"/>
                    </a:p>
                  </a:txBody>
                  <a:tcPr marT="45725" marB="45725" marR="91450" marL="91450"/>
                </a:tc>
                <a:tc>
                  <a:txBody>
                    <a:bodyPr/>
                    <a:lstStyle/>
                    <a:p>
                      <a:pPr indent="0" lvl="0" marL="0" marR="0" rtl="0" algn="l">
                        <a:spcBef>
                          <a:spcPts val="0"/>
                        </a:spcBef>
                        <a:spcAft>
                          <a:spcPts val="0"/>
                        </a:spcAft>
                        <a:buNone/>
                      </a:pPr>
                      <a:r>
                        <a:rPr lang="es-BO" sz="1200"/>
                        <a:t>PUERTO DE COMUNICACIONES RS-232/485 (CANAL 0, AISLADO)</a:t>
                      </a:r>
                      <a:endParaRPr sz="1200"/>
                    </a:p>
                  </a:txBody>
                  <a:tcPr marT="45725" marB="45725" marR="91450" marL="91450"/>
                </a:tc>
              </a:tr>
              <a:tr h="152400">
                <a:tc>
                  <a:txBody>
                    <a:bodyPr/>
                    <a:lstStyle/>
                    <a:p>
                      <a:pPr indent="0" lvl="0" marL="0" marR="0" rtl="0" algn="ctr">
                        <a:spcBef>
                          <a:spcPts val="0"/>
                        </a:spcBef>
                        <a:spcAft>
                          <a:spcPts val="0"/>
                        </a:spcAft>
                        <a:buNone/>
                      </a:pPr>
                      <a:r>
                        <a:rPr b="1" lang="es-BO" sz="1200"/>
                        <a:t>12</a:t>
                      </a:r>
                      <a:endParaRPr b="1" sz="1200"/>
                    </a:p>
                  </a:txBody>
                  <a:tcPr marT="45725" marB="45725" marR="91450" marL="91450"/>
                </a:tc>
                <a:tc>
                  <a:txBody>
                    <a:bodyPr/>
                    <a:lstStyle/>
                    <a:p>
                      <a:pPr indent="0" lvl="0" marL="0" marR="0" rtl="0" algn="l">
                        <a:spcBef>
                          <a:spcPts val="0"/>
                        </a:spcBef>
                        <a:spcAft>
                          <a:spcPts val="0"/>
                        </a:spcAft>
                        <a:buNone/>
                      </a:pPr>
                      <a:r>
                        <a:rPr lang="es-BO" sz="1200"/>
                        <a:t>PUERTO ETHERNET</a:t>
                      </a:r>
                      <a:endParaRPr sz="1200"/>
                    </a:p>
                  </a:txBody>
                  <a:tcPr marT="45725" marB="45725" marR="91450" marL="91450"/>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78"/>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000"/>
              <a:buFont typeface="Garamond"/>
              <a:buNone/>
            </a:pPr>
            <a:r>
              <a:rPr b="1" lang="es-BO" sz="4000"/>
              <a:t>MODULO DE EXPANSIÓN DEL PLC</a:t>
            </a:r>
            <a:endParaRPr b="1" sz="4000"/>
          </a:p>
        </p:txBody>
      </p:sp>
      <p:grpSp>
        <p:nvGrpSpPr>
          <p:cNvPr id="1044" name="Google Shape;1044;p78"/>
          <p:cNvGrpSpPr/>
          <p:nvPr/>
        </p:nvGrpSpPr>
        <p:grpSpPr>
          <a:xfrm>
            <a:off x="666206" y="1175657"/>
            <a:ext cx="10058399" cy="5212080"/>
            <a:chOff x="0" y="0"/>
            <a:chExt cx="10058399" cy="5212080"/>
          </a:xfrm>
        </p:grpSpPr>
        <p:sp>
          <p:nvSpPr>
            <p:cNvPr id="1045" name="Google Shape;1045;p78"/>
            <p:cNvSpPr/>
            <p:nvPr/>
          </p:nvSpPr>
          <p:spPr>
            <a:xfrm>
              <a:off x="0" y="0"/>
              <a:ext cx="8549640" cy="2345436"/>
            </a:xfrm>
            <a:prstGeom prst="roundRect">
              <a:avLst>
                <a:gd fmla="val 10000" name="adj"/>
              </a:avLst>
            </a:prstGeom>
            <a:solidFill>
              <a:srgbClr val="C19015"/>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78"/>
            <p:cNvSpPr txBox="1"/>
            <p:nvPr/>
          </p:nvSpPr>
          <p:spPr>
            <a:xfrm>
              <a:off x="68695" y="68695"/>
              <a:ext cx="6125449" cy="2208046"/>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dk1"/>
                </a:buClr>
                <a:buSzPts val="2400"/>
                <a:buFont typeface="Garamond"/>
                <a:buNone/>
              </a:pPr>
              <a:r>
                <a:rPr b="0" i="0" lang="es-BO" sz="2400">
                  <a:solidFill>
                    <a:schemeClr val="dk1"/>
                  </a:solidFill>
                  <a:latin typeface="Garamond"/>
                  <a:ea typeface="Garamond"/>
                  <a:cs typeface="Garamond"/>
                  <a:sym typeface="Garamond"/>
                </a:rPr>
                <a:t>Los Controladores Lógicos Programables pueden ampliar su funcionalidad con un hardware que es agregado para permitirle ampliar aspectos como las: entradas digitales, entradas analógicas, salidas digitales, salidas analógicas, salidas tipo relé y por supuesto distintos protocolos de comunicación.</a:t>
              </a:r>
              <a:endParaRPr sz="2400">
                <a:solidFill>
                  <a:schemeClr val="dk1"/>
                </a:solidFill>
                <a:latin typeface="Garamond"/>
                <a:ea typeface="Garamond"/>
                <a:cs typeface="Garamond"/>
                <a:sym typeface="Garamond"/>
              </a:endParaRPr>
            </a:p>
          </p:txBody>
        </p:sp>
        <p:sp>
          <p:nvSpPr>
            <p:cNvPr id="1047" name="Google Shape;1047;p78"/>
            <p:cNvSpPr/>
            <p:nvPr/>
          </p:nvSpPr>
          <p:spPr>
            <a:xfrm>
              <a:off x="1508759" y="2866644"/>
              <a:ext cx="8549640" cy="2345436"/>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78"/>
            <p:cNvSpPr txBox="1"/>
            <p:nvPr/>
          </p:nvSpPr>
          <p:spPr>
            <a:xfrm>
              <a:off x="1577454" y="2935339"/>
              <a:ext cx="5378956" cy="2208046"/>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chemeClr val="dk1"/>
                </a:buClr>
                <a:buSzPts val="2200"/>
                <a:buFont typeface="Garamond"/>
                <a:buNone/>
              </a:pPr>
              <a:r>
                <a:rPr b="1" i="0" lang="es-BO" sz="2200">
                  <a:solidFill>
                    <a:schemeClr val="dk1"/>
                  </a:solidFill>
                  <a:latin typeface="Garamond"/>
                  <a:ea typeface="Garamond"/>
                  <a:cs typeface="Garamond"/>
                  <a:sym typeface="Garamond"/>
                </a:rPr>
                <a:t>¿Para qué sirven los módulos de expansión?</a:t>
              </a:r>
              <a:endParaRPr/>
            </a:p>
            <a:p>
              <a:pPr indent="0" lvl="0" marL="0" marR="0" rtl="0" algn="l">
                <a:lnSpc>
                  <a:spcPct val="90000"/>
                </a:lnSpc>
                <a:spcBef>
                  <a:spcPts val="770"/>
                </a:spcBef>
                <a:spcAft>
                  <a:spcPts val="0"/>
                </a:spcAft>
                <a:buClr>
                  <a:schemeClr val="dk1"/>
                </a:buClr>
                <a:buSzPts val="2200"/>
                <a:buFont typeface="Garamond"/>
                <a:buNone/>
              </a:pPr>
              <a:r>
                <a:rPr b="0" i="0" lang="es-BO" sz="2200">
                  <a:solidFill>
                    <a:schemeClr val="dk1"/>
                  </a:solidFill>
                  <a:latin typeface="Garamond"/>
                  <a:ea typeface="Garamond"/>
                  <a:cs typeface="Garamond"/>
                  <a:sym typeface="Garamond"/>
                </a:rPr>
                <a:t>Los </a:t>
              </a:r>
              <a:r>
                <a:rPr b="1" i="0" lang="es-BO" sz="2200">
                  <a:solidFill>
                    <a:schemeClr val="dk1"/>
                  </a:solidFill>
                  <a:latin typeface="Garamond"/>
                  <a:ea typeface="Garamond"/>
                  <a:cs typeface="Garamond"/>
                  <a:sym typeface="Garamond"/>
                </a:rPr>
                <a:t>módulos de expansión plc</a:t>
              </a:r>
              <a:r>
                <a:rPr b="0" i="0" lang="es-BO" sz="2200">
                  <a:solidFill>
                    <a:schemeClr val="dk1"/>
                  </a:solidFill>
                  <a:latin typeface="Garamond"/>
                  <a:ea typeface="Garamond"/>
                  <a:cs typeface="Garamond"/>
                  <a:sym typeface="Garamond"/>
                </a:rPr>
                <a:t> permiten ampliar el número de entradas y salidas que este posee, cuando su capacidad no cumple con los requerimientos de una aplicación de automatización</a:t>
              </a:r>
              <a:r>
                <a:rPr b="0" i="0" lang="es-BO" sz="2200">
                  <a:solidFill>
                    <a:schemeClr val="lt1"/>
                  </a:solidFill>
                  <a:latin typeface="Garamond"/>
                  <a:ea typeface="Garamond"/>
                  <a:cs typeface="Garamond"/>
                  <a:sym typeface="Garamond"/>
                </a:rPr>
                <a:t>.</a:t>
              </a:r>
              <a:endParaRPr sz="2200">
                <a:solidFill>
                  <a:schemeClr val="lt1"/>
                </a:solidFill>
                <a:latin typeface="Garamond"/>
                <a:ea typeface="Garamond"/>
                <a:cs typeface="Garamond"/>
                <a:sym typeface="Garamond"/>
              </a:endParaRPr>
            </a:p>
          </p:txBody>
        </p:sp>
        <p:sp>
          <p:nvSpPr>
            <p:cNvPr id="1049" name="Google Shape;1049;p78"/>
            <p:cNvSpPr/>
            <p:nvPr/>
          </p:nvSpPr>
          <p:spPr>
            <a:xfrm>
              <a:off x="7025106" y="1843773"/>
              <a:ext cx="1524533" cy="152453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78"/>
            <p:cNvSpPr txBox="1"/>
            <p:nvPr/>
          </p:nvSpPr>
          <p:spPr>
            <a:xfrm>
              <a:off x="7368126" y="1843773"/>
              <a:ext cx="838493" cy="1147211"/>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Garamond"/>
                <a:buNone/>
              </a:pPr>
              <a:r>
                <a:t/>
              </a:r>
              <a:endParaRPr sz="3600">
                <a:solidFill>
                  <a:schemeClr val="dk1"/>
                </a:solidFill>
                <a:latin typeface="Garamond"/>
                <a:ea typeface="Garamond"/>
                <a:cs typeface="Garamond"/>
                <a:sym typeface="Garamond"/>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79"/>
          <p:cNvSpPr txBox="1"/>
          <p:nvPr/>
        </p:nvSpPr>
        <p:spPr>
          <a:xfrm>
            <a:off x="921121" y="1859339"/>
            <a:ext cx="4753966" cy="37548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000">
                <a:solidFill>
                  <a:schemeClr val="dk1"/>
                </a:solidFill>
                <a:latin typeface="Garamond"/>
                <a:ea typeface="Garamond"/>
                <a:cs typeface="Garamond"/>
                <a:sym typeface="Garamond"/>
              </a:rPr>
              <a:t>CARACTERISTICAS</a:t>
            </a:r>
            <a:r>
              <a:rPr lang="es-BO" sz="2000">
                <a:solidFill>
                  <a:schemeClr val="dk1"/>
                </a:solidFill>
                <a:latin typeface="Garamond"/>
                <a:ea typeface="Garamond"/>
                <a:cs typeface="Garamond"/>
                <a:sym typeface="Garamond"/>
              </a:rPr>
              <a:t> </a:t>
            </a:r>
            <a:endParaRPr/>
          </a:p>
          <a:p>
            <a:pPr indent="0" lvl="0" marL="0" marR="0" rtl="0" algn="l">
              <a:spcBef>
                <a:spcPts val="0"/>
              </a:spcBef>
              <a:spcAft>
                <a:spcPts val="0"/>
              </a:spcAft>
              <a:buNone/>
            </a:pPr>
            <a:r>
              <a:rPr b="1" i="1" lang="es-BO" sz="2000">
                <a:solidFill>
                  <a:schemeClr val="dk1"/>
                </a:solidFill>
                <a:latin typeface="Garamond"/>
                <a:ea typeface="Garamond"/>
                <a:cs typeface="Garamond"/>
                <a:sym typeface="Garamond"/>
              </a:rPr>
              <a:t>Módulo de expansión 1762-IF20F2 de Hallen Bradley</a:t>
            </a:r>
            <a:endParaRPr/>
          </a:p>
          <a:p>
            <a:pPr indent="0" lvl="0" marL="0" marR="0" rtl="0" algn="l">
              <a:spcBef>
                <a:spcPts val="0"/>
              </a:spcBef>
              <a:spcAft>
                <a:spcPts val="0"/>
              </a:spcAft>
              <a:buNone/>
            </a:pPr>
            <a:r>
              <a:t/>
            </a:r>
            <a:endParaRPr b="1" i="1" sz="2000">
              <a:solidFill>
                <a:schemeClr val="dk1"/>
              </a:solidFill>
              <a:latin typeface="Garamond"/>
              <a:ea typeface="Garamond"/>
              <a:cs typeface="Garamond"/>
              <a:sym typeface="Garamond"/>
            </a:endParaRPr>
          </a:p>
          <a:p>
            <a:pPr indent="-285750" lvl="0" marL="285750" marR="0" rtl="0" algn="l">
              <a:spcBef>
                <a:spcPts val="0"/>
              </a:spcBef>
              <a:spcAft>
                <a:spcPts val="0"/>
              </a:spcAft>
              <a:buClr>
                <a:schemeClr val="dk1"/>
              </a:buClr>
              <a:buSzPts val="2000"/>
              <a:buFont typeface="Noto Sans Symbols"/>
              <a:buChar char="⮚"/>
            </a:pPr>
            <a:r>
              <a:rPr lang="es-BO" sz="2000">
                <a:solidFill>
                  <a:schemeClr val="dk1"/>
                </a:solidFill>
                <a:latin typeface="Garamond"/>
                <a:ea typeface="Garamond"/>
                <a:cs typeface="Garamond"/>
                <a:sym typeface="Garamond"/>
              </a:rPr>
              <a:t>Tipo de entrada: Analogico</a:t>
            </a:r>
            <a:endParaRPr sz="2000">
              <a:solidFill>
                <a:schemeClr val="dk1"/>
              </a:solidFill>
              <a:latin typeface="Garamond"/>
              <a:ea typeface="Garamond"/>
              <a:cs typeface="Garamond"/>
              <a:sym typeface="Garamond"/>
            </a:endParaRPr>
          </a:p>
          <a:p>
            <a:pPr indent="-285750" lvl="0" marL="285750" marR="0" rtl="0" algn="l">
              <a:spcBef>
                <a:spcPts val="0"/>
              </a:spcBef>
              <a:spcAft>
                <a:spcPts val="0"/>
              </a:spcAft>
              <a:buClr>
                <a:schemeClr val="dk1"/>
              </a:buClr>
              <a:buSzPts val="2000"/>
              <a:buFont typeface="Noto Sans Symbols"/>
              <a:buChar char="⮚"/>
            </a:pPr>
            <a:r>
              <a:rPr lang="es-BO" sz="2000">
                <a:solidFill>
                  <a:schemeClr val="dk1"/>
                </a:solidFill>
                <a:latin typeface="Garamond"/>
                <a:ea typeface="Garamond"/>
                <a:cs typeface="Garamond"/>
                <a:sym typeface="Garamond"/>
              </a:rPr>
              <a:t>Temperatura máxima de funcionamiento: +65 °C</a:t>
            </a:r>
            <a:endParaRPr/>
          </a:p>
          <a:p>
            <a:pPr indent="-285750" lvl="0" marL="285750" marR="0" rtl="0" algn="l">
              <a:spcBef>
                <a:spcPts val="0"/>
              </a:spcBef>
              <a:spcAft>
                <a:spcPts val="0"/>
              </a:spcAft>
              <a:buClr>
                <a:schemeClr val="dk1"/>
              </a:buClr>
              <a:buSzPts val="2000"/>
              <a:buFont typeface="Noto Sans Symbols"/>
              <a:buChar char="⮚"/>
            </a:pPr>
            <a:r>
              <a:rPr lang="es-BO" sz="2000">
                <a:solidFill>
                  <a:schemeClr val="dk1"/>
                </a:solidFill>
                <a:latin typeface="Garamond"/>
                <a:ea typeface="Garamond"/>
                <a:cs typeface="Garamond"/>
                <a:sym typeface="Garamond"/>
              </a:rPr>
              <a:t>Temperatura de trabajo mínima: -20 °C</a:t>
            </a:r>
            <a:endParaRPr/>
          </a:p>
          <a:p>
            <a:pPr indent="-285750" lvl="0" marL="285750" marR="0" rtl="0" algn="l">
              <a:spcBef>
                <a:spcPts val="0"/>
              </a:spcBef>
              <a:spcAft>
                <a:spcPts val="0"/>
              </a:spcAft>
              <a:buClr>
                <a:schemeClr val="dk1"/>
              </a:buClr>
              <a:buSzPts val="2000"/>
              <a:buFont typeface="Noto Sans Symbols"/>
              <a:buChar char="⮚"/>
            </a:pPr>
            <a:r>
              <a:rPr lang="es-BO" sz="2000">
                <a:solidFill>
                  <a:schemeClr val="dk1"/>
                </a:solidFill>
                <a:latin typeface="Garamond"/>
                <a:ea typeface="Garamond"/>
                <a:cs typeface="Garamond"/>
                <a:sym typeface="Garamond"/>
              </a:rPr>
              <a:t>Numero de entradas: 2</a:t>
            </a:r>
            <a:endParaRPr/>
          </a:p>
          <a:p>
            <a:pPr indent="-285750" lvl="0" marL="285750" marR="0" rtl="0" algn="l">
              <a:spcBef>
                <a:spcPts val="0"/>
              </a:spcBef>
              <a:spcAft>
                <a:spcPts val="0"/>
              </a:spcAft>
              <a:buClr>
                <a:schemeClr val="dk1"/>
              </a:buClr>
              <a:buSzPts val="2000"/>
              <a:buFont typeface="Noto Sans Symbols"/>
              <a:buChar char="⮚"/>
            </a:pPr>
            <a:r>
              <a:rPr lang="es-BO" sz="2000">
                <a:solidFill>
                  <a:schemeClr val="dk1"/>
                </a:solidFill>
                <a:latin typeface="Garamond"/>
                <a:ea typeface="Garamond"/>
                <a:cs typeface="Garamond"/>
                <a:sym typeface="Garamond"/>
              </a:rPr>
              <a:t>Numero de salidas : 2 (single-ended</a:t>
            </a:r>
            <a:endParaRPr sz="2000">
              <a:solidFill>
                <a:schemeClr val="dk1"/>
              </a:solidFill>
              <a:latin typeface="Garamond"/>
              <a:ea typeface="Garamond"/>
              <a:cs typeface="Garamond"/>
              <a:sym typeface="Garamond"/>
            </a:endParaRPr>
          </a:p>
          <a:p>
            <a:pPr indent="-285750" lvl="0" marL="285750" marR="0" rtl="0" algn="l">
              <a:spcBef>
                <a:spcPts val="0"/>
              </a:spcBef>
              <a:spcAft>
                <a:spcPts val="0"/>
              </a:spcAft>
              <a:buClr>
                <a:schemeClr val="dk1"/>
              </a:buClr>
              <a:buSzPts val="2000"/>
              <a:buFont typeface="Noto Sans Symbols"/>
              <a:buChar char="⮚"/>
            </a:pPr>
            <a:r>
              <a:rPr lang="es-BO" sz="2000">
                <a:solidFill>
                  <a:schemeClr val="dk1"/>
                </a:solidFill>
                <a:latin typeface="Garamond"/>
                <a:ea typeface="Garamond"/>
                <a:cs typeface="Garamond"/>
                <a:sym typeface="Garamond"/>
              </a:rPr>
              <a:t>Corriente de salida: 20 mA</a:t>
            </a:r>
            <a:endParaRPr/>
          </a:p>
          <a:p>
            <a:pPr indent="-285750" lvl="0" marL="285750" marR="0" rtl="0" algn="l">
              <a:spcBef>
                <a:spcPts val="0"/>
              </a:spcBef>
              <a:spcAft>
                <a:spcPts val="0"/>
              </a:spcAft>
              <a:buClr>
                <a:schemeClr val="dk1"/>
              </a:buClr>
              <a:buSzPts val="2000"/>
              <a:buFont typeface="Noto Sans Symbols"/>
              <a:buChar char="⮚"/>
            </a:pPr>
            <a:r>
              <a:rPr lang="es-BO" sz="2000">
                <a:solidFill>
                  <a:schemeClr val="dk1"/>
                </a:solidFill>
                <a:latin typeface="Garamond"/>
                <a:ea typeface="Garamond"/>
                <a:cs typeface="Garamond"/>
                <a:sym typeface="Garamond"/>
              </a:rPr>
              <a:t>Tipo de salida: Analogico)</a:t>
            </a:r>
            <a:endParaRPr/>
          </a:p>
        </p:txBody>
      </p:sp>
      <p:sp>
        <p:nvSpPr>
          <p:cNvPr id="1057" name="Google Shape;1057;p79"/>
          <p:cNvSpPr txBox="1"/>
          <p:nvPr>
            <p:ph type="title"/>
          </p:nvPr>
        </p:nvSpPr>
        <p:spPr>
          <a:xfrm>
            <a:off x="993704" y="39424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000"/>
              <a:buFont typeface="Garamond"/>
              <a:buNone/>
            </a:pPr>
            <a:r>
              <a:rPr b="1" lang="es-BO" sz="4000"/>
              <a:t>MODULO DE EXPANSIÓN DEL PLC</a:t>
            </a:r>
            <a:endParaRPr b="1" sz="4000"/>
          </a:p>
        </p:txBody>
      </p:sp>
      <p:pic>
        <p:nvPicPr>
          <p:cNvPr id="1058" name="Google Shape;1058;p79"/>
          <p:cNvPicPr preferRelativeResize="0"/>
          <p:nvPr/>
        </p:nvPicPr>
        <p:blipFill rotWithShape="1">
          <a:blip r:embed="rId3">
            <a:alphaModFix/>
          </a:blip>
          <a:srcRect b="13558" l="15833" r="29927" t="11141"/>
          <a:stretch/>
        </p:blipFill>
        <p:spPr>
          <a:xfrm>
            <a:off x="5510075" y="1866293"/>
            <a:ext cx="6086840" cy="3897707"/>
          </a:xfrm>
          <a:prstGeom prst="rect">
            <a:avLst/>
          </a:prstGeom>
          <a:noFill/>
          <a:ln>
            <a:noFill/>
          </a:ln>
        </p:spPr>
      </p:pic>
      <p:sp>
        <p:nvSpPr>
          <p:cNvPr id="1059" name="Google Shape;1059;p79"/>
          <p:cNvSpPr/>
          <p:nvPr/>
        </p:nvSpPr>
        <p:spPr>
          <a:xfrm>
            <a:off x="9840686" y="2017486"/>
            <a:ext cx="1640114" cy="3596727"/>
          </a:xfrm>
          <a:prstGeom prst="rect">
            <a:avLst/>
          </a:prstGeom>
          <a:no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Garamond"/>
              <a:ea typeface="Garamond"/>
              <a:cs typeface="Garamond"/>
              <a:sym typeface="Garamon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80"/>
          <p:cNvSpPr txBox="1"/>
          <p:nvPr>
            <p:ph type="title"/>
          </p:nvPr>
        </p:nvSpPr>
        <p:spPr>
          <a:xfrm>
            <a:off x="1563623" y="2268477"/>
            <a:ext cx="9070848" cy="2587752"/>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rgbClr val="262626"/>
              </a:buClr>
              <a:buSzPts val="6600"/>
              <a:buFont typeface="Garamond"/>
              <a:buNone/>
            </a:pPr>
            <a:r>
              <a:rPr lang="es-BO" sz="6600"/>
              <a:t>ELEMENTOS DE VISUALIZACIÓN</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81"/>
          <p:cNvSpPr txBox="1"/>
          <p:nvPr>
            <p:ph type="title"/>
          </p:nvPr>
        </p:nvSpPr>
        <p:spPr>
          <a:xfrm>
            <a:off x="1066800" y="652055"/>
            <a:ext cx="10058400" cy="88065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Garamond"/>
              <a:buNone/>
            </a:pPr>
            <a:r>
              <a:rPr b="1" lang="es-BO" sz="3600">
                <a:solidFill>
                  <a:schemeClr val="dk1"/>
                </a:solidFill>
              </a:rPr>
              <a:t>Human-Machine Interface</a:t>
            </a:r>
            <a:endParaRPr b="1" sz="3600">
              <a:solidFill>
                <a:schemeClr val="dk1"/>
              </a:solidFill>
            </a:endParaRPr>
          </a:p>
        </p:txBody>
      </p:sp>
      <p:sp>
        <p:nvSpPr>
          <p:cNvPr id="1070" name="Google Shape;1070;p81"/>
          <p:cNvSpPr txBox="1"/>
          <p:nvPr>
            <p:ph idx="1" type="body"/>
          </p:nvPr>
        </p:nvSpPr>
        <p:spPr>
          <a:xfrm>
            <a:off x="5423769" y="4663677"/>
            <a:ext cx="5289788" cy="1445576"/>
          </a:xfrm>
          <a:prstGeom prst="rect">
            <a:avLst/>
          </a:prstGeom>
          <a:noFill/>
          <a:ln>
            <a:noFill/>
          </a:ln>
        </p:spPr>
        <p:txBody>
          <a:bodyPr anchorCtr="0" anchor="t" bIns="45700" lIns="91425" spcFirstLastPara="1" rIns="91425" wrap="square" tIns="45700">
            <a:normAutofit fontScale="92500"/>
          </a:bodyPr>
          <a:lstStyle/>
          <a:p>
            <a:pPr indent="0" lvl="0" marL="0" rtl="0" algn="l">
              <a:lnSpc>
                <a:spcPct val="100000"/>
              </a:lnSpc>
              <a:spcBef>
                <a:spcPts val="0"/>
              </a:spcBef>
              <a:spcAft>
                <a:spcPts val="0"/>
              </a:spcAft>
              <a:buSzPct val="100000"/>
              <a:buNone/>
            </a:pPr>
            <a:r>
              <a:rPr lang="es-BO" sz="2000"/>
              <a:t>Es una pantalla gráfica que muestra información sobre el estado del sistema, permite al operador ingresar comandos y configuraciones, y alerta al operador de cualquier problema o falla en el sistema.</a:t>
            </a:r>
            <a:endParaRPr/>
          </a:p>
          <a:p>
            <a:pPr indent="0" lvl="0" marL="0" rtl="0" algn="l">
              <a:lnSpc>
                <a:spcPct val="100000"/>
              </a:lnSpc>
              <a:spcBef>
                <a:spcPts val="900"/>
              </a:spcBef>
              <a:spcAft>
                <a:spcPts val="0"/>
              </a:spcAft>
              <a:buSzPct val="100000"/>
              <a:buNone/>
            </a:pPr>
            <a:r>
              <a:t/>
            </a:r>
            <a:endParaRPr/>
          </a:p>
        </p:txBody>
      </p:sp>
      <p:pic>
        <p:nvPicPr>
          <p:cNvPr id="1071" name="Google Shape;1071;p81"/>
          <p:cNvPicPr preferRelativeResize="0"/>
          <p:nvPr/>
        </p:nvPicPr>
        <p:blipFill rotWithShape="1">
          <a:blip r:embed="rId3">
            <a:alphaModFix/>
          </a:blip>
          <a:srcRect b="0" l="0" r="0" t="0"/>
          <a:stretch/>
        </p:blipFill>
        <p:spPr>
          <a:xfrm>
            <a:off x="1525398" y="1469398"/>
            <a:ext cx="3161905" cy="2222222"/>
          </a:xfrm>
          <a:prstGeom prst="rect">
            <a:avLst/>
          </a:prstGeom>
          <a:noFill/>
          <a:ln>
            <a:noFill/>
          </a:ln>
        </p:spPr>
      </p:pic>
      <p:pic>
        <p:nvPicPr>
          <p:cNvPr id="1072" name="Google Shape;1072;p81"/>
          <p:cNvPicPr preferRelativeResize="0"/>
          <p:nvPr/>
        </p:nvPicPr>
        <p:blipFill rotWithShape="1">
          <a:blip r:embed="rId4">
            <a:alphaModFix/>
          </a:blip>
          <a:srcRect b="0" l="0" r="0" t="0"/>
          <a:stretch/>
        </p:blipFill>
        <p:spPr>
          <a:xfrm>
            <a:off x="1535723" y="3984495"/>
            <a:ext cx="3112225" cy="2124758"/>
          </a:xfrm>
          <a:prstGeom prst="rect">
            <a:avLst/>
          </a:prstGeom>
          <a:noFill/>
          <a:ln>
            <a:noFill/>
          </a:ln>
        </p:spPr>
      </p:pic>
      <p:pic>
        <p:nvPicPr>
          <p:cNvPr id="1073" name="Google Shape;1073;p81"/>
          <p:cNvPicPr preferRelativeResize="0"/>
          <p:nvPr/>
        </p:nvPicPr>
        <p:blipFill rotWithShape="1">
          <a:blip r:embed="rId5">
            <a:alphaModFix/>
          </a:blip>
          <a:srcRect b="0" l="0" r="0" t="0"/>
          <a:stretch/>
        </p:blipFill>
        <p:spPr>
          <a:xfrm>
            <a:off x="5423769" y="1273907"/>
            <a:ext cx="5289788" cy="3160306"/>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82"/>
          <p:cNvSpPr txBox="1"/>
          <p:nvPr>
            <p:ph type="title"/>
          </p:nvPr>
        </p:nvSpPr>
        <p:spPr>
          <a:xfrm>
            <a:off x="1066800" y="642594"/>
            <a:ext cx="10058400" cy="70723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62626"/>
              </a:buClr>
              <a:buSzPct val="100000"/>
              <a:buFont typeface="Garamond"/>
              <a:buNone/>
            </a:pPr>
            <a:r>
              <a:rPr lang="es-BO"/>
              <a:t>DOSIFICADOR</a:t>
            </a:r>
            <a:endParaRPr/>
          </a:p>
        </p:txBody>
      </p:sp>
      <p:pic>
        <p:nvPicPr>
          <p:cNvPr id="1079" name="Google Shape;1079;p82"/>
          <p:cNvPicPr preferRelativeResize="0"/>
          <p:nvPr>
            <p:ph idx="1" type="body"/>
          </p:nvPr>
        </p:nvPicPr>
        <p:blipFill rotWithShape="1">
          <a:blip r:embed="rId3">
            <a:alphaModFix/>
          </a:blip>
          <a:srcRect b="0" l="0" r="0" t="0"/>
          <a:stretch/>
        </p:blipFill>
        <p:spPr>
          <a:xfrm>
            <a:off x="1438041" y="1842181"/>
            <a:ext cx="2958660" cy="3932237"/>
          </a:xfrm>
          <a:prstGeom prst="rect">
            <a:avLst/>
          </a:prstGeom>
          <a:noFill/>
          <a:ln>
            <a:noFill/>
          </a:ln>
        </p:spPr>
      </p:pic>
      <p:pic>
        <p:nvPicPr>
          <p:cNvPr id="1080" name="Google Shape;1080;p82"/>
          <p:cNvPicPr preferRelativeResize="0"/>
          <p:nvPr/>
        </p:nvPicPr>
        <p:blipFill rotWithShape="1">
          <a:blip r:embed="rId4">
            <a:alphaModFix/>
          </a:blip>
          <a:srcRect b="0" l="0" r="0" t="0"/>
          <a:stretch/>
        </p:blipFill>
        <p:spPr>
          <a:xfrm>
            <a:off x="4458789" y="1842180"/>
            <a:ext cx="3197755" cy="3932237"/>
          </a:xfrm>
          <a:prstGeom prst="rect">
            <a:avLst/>
          </a:prstGeom>
          <a:noFill/>
          <a:ln>
            <a:noFill/>
          </a:ln>
        </p:spPr>
      </p:pic>
      <p:pic>
        <p:nvPicPr>
          <p:cNvPr id="1081" name="Google Shape;1081;p82"/>
          <p:cNvPicPr preferRelativeResize="0"/>
          <p:nvPr/>
        </p:nvPicPr>
        <p:blipFill rotWithShape="1">
          <a:blip r:embed="rId5">
            <a:alphaModFix/>
          </a:blip>
          <a:srcRect b="0" l="0" r="0" t="0"/>
          <a:stretch/>
        </p:blipFill>
        <p:spPr>
          <a:xfrm>
            <a:off x="7830619" y="1842179"/>
            <a:ext cx="3294581" cy="3932237"/>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83"/>
          <p:cNvSpPr txBox="1"/>
          <p:nvPr>
            <p:ph type="title"/>
          </p:nvPr>
        </p:nvSpPr>
        <p:spPr>
          <a:xfrm>
            <a:off x="1066800" y="642594"/>
            <a:ext cx="10058400" cy="74206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62626"/>
              </a:buClr>
              <a:buSzPct val="100000"/>
              <a:buFont typeface="Garamond"/>
              <a:buNone/>
            </a:pPr>
            <a:r>
              <a:rPr lang="es-BO"/>
              <a:t>DOSIFICADOR</a:t>
            </a:r>
            <a:endParaRPr/>
          </a:p>
        </p:txBody>
      </p:sp>
      <p:grpSp>
        <p:nvGrpSpPr>
          <p:cNvPr id="1087" name="Google Shape;1087;p83"/>
          <p:cNvGrpSpPr/>
          <p:nvPr/>
        </p:nvGrpSpPr>
        <p:grpSpPr>
          <a:xfrm>
            <a:off x="548639" y="1238171"/>
            <a:ext cx="7179163" cy="5031843"/>
            <a:chOff x="0" y="0"/>
            <a:chExt cx="7179163" cy="5031843"/>
          </a:xfrm>
        </p:grpSpPr>
        <p:sp>
          <p:nvSpPr>
            <p:cNvPr id="1088" name="Google Shape;1088;p83"/>
            <p:cNvSpPr/>
            <p:nvPr/>
          </p:nvSpPr>
          <p:spPr>
            <a:xfrm>
              <a:off x="0" y="4128605"/>
              <a:ext cx="7179163" cy="903238"/>
            </a:xfrm>
            <a:prstGeom prst="rect">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83"/>
            <p:cNvSpPr txBox="1"/>
            <p:nvPr/>
          </p:nvSpPr>
          <p:spPr>
            <a:xfrm>
              <a:off x="0" y="4128605"/>
              <a:ext cx="7179163" cy="903238"/>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Tensión de alimentación: </a:t>
              </a:r>
              <a:r>
                <a:rPr lang="es-BO" sz="2400">
                  <a:solidFill>
                    <a:schemeClr val="dk1"/>
                  </a:solidFill>
                  <a:latin typeface="Garamond"/>
                  <a:ea typeface="Garamond"/>
                  <a:cs typeface="Garamond"/>
                  <a:sym typeface="Garamond"/>
                </a:rPr>
                <a:t> 115/230 VCA y cuenta con 2 relés para realizar la dosificación.</a:t>
              </a:r>
              <a:endParaRPr sz="2400">
                <a:solidFill>
                  <a:schemeClr val="dk1"/>
                </a:solidFill>
                <a:latin typeface="Garamond"/>
                <a:ea typeface="Garamond"/>
                <a:cs typeface="Garamond"/>
                <a:sym typeface="Garamond"/>
              </a:endParaRPr>
            </a:p>
          </p:txBody>
        </p:sp>
        <p:sp>
          <p:nvSpPr>
            <p:cNvPr id="1090" name="Google Shape;1090;p83"/>
            <p:cNvSpPr/>
            <p:nvPr/>
          </p:nvSpPr>
          <p:spPr>
            <a:xfrm rot="10800000">
              <a:off x="0" y="2752974"/>
              <a:ext cx="7179163" cy="1389180"/>
            </a:xfrm>
            <a:prstGeom prst="upArrowCallout">
              <a:avLst>
                <a:gd fmla="val 25000" name="adj1"/>
                <a:gd fmla="val 25000" name="adj2"/>
                <a:gd fmla="val 25000" name="adj3"/>
                <a:gd fmla="val 64977" name="adj4"/>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83"/>
            <p:cNvSpPr txBox="1"/>
            <p:nvPr/>
          </p:nvSpPr>
          <p:spPr>
            <a:xfrm>
              <a:off x="0" y="2752974"/>
              <a:ext cx="7179163" cy="902647"/>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Garamond"/>
                <a:buNone/>
              </a:pPr>
              <a:r>
                <a:rPr lang="es-BO" sz="2400">
                  <a:solidFill>
                    <a:schemeClr val="dk1"/>
                  </a:solidFill>
                  <a:latin typeface="Garamond"/>
                  <a:ea typeface="Garamond"/>
                  <a:cs typeface="Garamond"/>
                  <a:sym typeface="Garamond"/>
                </a:rPr>
                <a:t>Proporciona información del caudal de líquido que pasa a través de las tuberías. Todo esto gracias a un rodete que gira en proporción al fluido que pasa por la tubería.</a:t>
              </a:r>
              <a:endParaRPr sz="2400">
                <a:solidFill>
                  <a:schemeClr val="dk1"/>
                </a:solidFill>
                <a:latin typeface="Garamond"/>
                <a:ea typeface="Garamond"/>
                <a:cs typeface="Garamond"/>
                <a:sym typeface="Garamond"/>
              </a:endParaRPr>
            </a:p>
          </p:txBody>
        </p:sp>
        <p:sp>
          <p:nvSpPr>
            <p:cNvPr id="1092" name="Google Shape;1092;p83"/>
            <p:cNvSpPr/>
            <p:nvPr/>
          </p:nvSpPr>
          <p:spPr>
            <a:xfrm rot="10800000">
              <a:off x="0" y="1377342"/>
              <a:ext cx="7179163" cy="1389180"/>
            </a:xfrm>
            <a:prstGeom prst="upArrowCallout">
              <a:avLst>
                <a:gd fmla="val 25000" name="adj1"/>
                <a:gd fmla="val 25000" name="adj2"/>
                <a:gd fmla="val 25000" name="adj3"/>
                <a:gd fmla="val 64977" name="adj4"/>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83"/>
            <p:cNvSpPr txBox="1"/>
            <p:nvPr/>
          </p:nvSpPr>
          <p:spPr>
            <a:xfrm>
              <a:off x="0" y="1377342"/>
              <a:ext cx="7179163" cy="902647"/>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Función: </a:t>
              </a:r>
              <a:r>
                <a:rPr lang="es-BO" sz="2400">
                  <a:solidFill>
                    <a:schemeClr val="dk1"/>
                  </a:solidFill>
                  <a:latin typeface="Garamond"/>
                  <a:ea typeface="Garamond"/>
                  <a:cs typeface="Garamond"/>
                  <a:sym typeface="Garamond"/>
                </a:rPr>
                <a:t>controlar y medir el volumen de líquido proporcionado al sistema.</a:t>
              </a:r>
              <a:endParaRPr sz="2400">
                <a:solidFill>
                  <a:schemeClr val="dk1"/>
                </a:solidFill>
                <a:latin typeface="Garamond"/>
                <a:ea typeface="Garamond"/>
                <a:cs typeface="Garamond"/>
                <a:sym typeface="Garamond"/>
              </a:endParaRPr>
            </a:p>
          </p:txBody>
        </p:sp>
        <p:sp>
          <p:nvSpPr>
            <p:cNvPr id="1094" name="Google Shape;1094;p83"/>
            <p:cNvSpPr/>
            <p:nvPr/>
          </p:nvSpPr>
          <p:spPr>
            <a:xfrm rot="10800000">
              <a:off x="0" y="0"/>
              <a:ext cx="7179163" cy="1389180"/>
            </a:xfrm>
            <a:prstGeom prst="upArrowCallout">
              <a:avLst>
                <a:gd fmla="val 25000" name="adj1"/>
                <a:gd fmla="val 25000" name="adj2"/>
                <a:gd fmla="val 25000" name="adj3"/>
                <a:gd fmla="val 64977" name="adj4"/>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83"/>
            <p:cNvSpPr txBox="1"/>
            <p:nvPr/>
          </p:nvSpPr>
          <p:spPr>
            <a:xfrm>
              <a:off x="0" y="0"/>
              <a:ext cx="7179163" cy="902647"/>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Modelo: </a:t>
              </a:r>
              <a:r>
                <a:rPr lang="es-BO" sz="2400">
                  <a:solidFill>
                    <a:schemeClr val="dk1"/>
                  </a:solidFill>
                  <a:latin typeface="Garamond"/>
                  <a:ea typeface="Garamond"/>
                  <a:cs typeface="Garamond"/>
                  <a:sym typeface="Garamond"/>
                </a:rPr>
                <a:t>El dosificador </a:t>
              </a:r>
              <a:r>
                <a:rPr b="1" lang="es-BO" sz="2400">
                  <a:solidFill>
                    <a:schemeClr val="dk1"/>
                  </a:solidFill>
                  <a:latin typeface="Garamond"/>
                  <a:ea typeface="Garamond"/>
                  <a:cs typeface="Garamond"/>
                  <a:sym typeface="Garamond"/>
                </a:rPr>
                <a:t>Burkert 8035 Batch. </a:t>
              </a:r>
              <a:endParaRPr sz="2400">
                <a:solidFill>
                  <a:schemeClr val="dk1"/>
                </a:solidFill>
                <a:latin typeface="Garamond"/>
                <a:ea typeface="Garamond"/>
                <a:cs typeface="Garamond"/>
                <a:sym typeface="Garamond"/>
              </a:endParaRPr>
            </a:p>
          </p:txBody>
        </p:sp>
      </p:grpSp>
      <p:grpSp>
        <p:nvGrpSpPr>
          <p:cNvPr id="1096" name="Google Shape;1096;p83"/>
          <p:cNvGrpSpPr/>
          <p:nvPr/>
        </p:nvGrpSpPr>
        <p:grpSpPr>
          <a:xfrm>
            <a:off x="7727803" y="559863"/>
            <a:ext cx="3810001" cy="3195086"/>
            <a:chOff x="2061933" y="1712741"/>
            <a:chExt cx="9011573" cy="4195148"/>
          </a:xfrm>
        </p:grpSpPr>
        <p:pic>
          <p:nvPicPr>
            <p:cNvPr id="1097" name="Google Shape;1097;p83"/>
            <p:cNvPicPr preferRelativeResize="0"/>
            <p:nvPr/>
          </p:nvPicPr>
          <p:blipFill rotWithShape="1">
            <a:blip r:embed="rId3">
              <a:alphaModFix/>
            </a:blip>
            <a:srcRect b="0" l="0" r="0" t="0"/>
            <a:stretch/>
          </p:blipFill>
          <p:spPr>
            <a:xfrm>
              <a:off x="2061933" y="1712741"/>
              <a:ext cx="9011573" cy="4195148"/>
            </a:xfrm>
            <a:prstGeom prst="rect">
              <a:avLst/>
            </a:prstGeom>
            <a:noFill/>
            <a:ln>
              <a:noFill/>
            </a:ln>
          </p:spPr>
        </p:pic>
        <p:sp>
          <p:nvSpPr>
            <p:cNvPr id="1098" name="Google Shape;1098;p83"/>
            <p:cNvSpPr/>
            <p:nvPr/>
          </p:nvSpPr>
          <p:spPr>
            <a:xfrm>
              <a:off x="3624170" y="3993018"/>
              <a:ext cx="1568060" cy="661893"/>
            </a:xfrm>
            <a:prstGeom prst="rightArrow">
              <a:avLst>
                <a:gd fmla="val 50000" name="adj1"/>
                <a:gd fmla="val 50000" name="adj2"/>
              </a:avLst>
            </a:prstGeom>
            <a:solidFill>
              <a:srgbClr val="00FFFF"/>
            </a:solidFill>
            <a:ln cap="flat" cmpd="sng" w="952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Garamond"/>
                <a:buNone/>
              </a:pPr>
              <a:r>
                <a:t/>
              </a:r>
              <a:endParaRPr sz="2400">
                <a:solidFill>
                  <a:schemeClr val="dk1"/>
                </a:solidFill>
                <a:latin typeface="Calibri"/>
                <a:ea typeface="Calibri"/>
                <a:cs typeface="Calibri"/>
                <a:sym typeface="Calibri"/>
              </a:endParaRPr>
            </a:p>
          </p:txBody>
        </p:sp>
        <p:sp>
          <p:nvSpPr>
            <p:cNvPr id="1099" name="Google Shape;1099;p83"/>
            <p:cNvSpPr/>
            <p:nvPr/>
          </p:nvSpPr>
          <p:spPr>
            <a:xfrm>
              <a:off x="8036520" y="3985568"/>
              <a:ext cx="1568060" cy="661893"/>
            </a:xfrm>
            <a:prstGeom prst="rightArrow">
              <a:avLst>
                <a:gd fmla="val 50000" name="adj1"/>
                <a:gd fmla="val 50000" name="adj2"/>
              </a:avLst>
            </a:prstGeom>
            <a:solidFill>
              <a:srgbClr val="00FFFF"/>
            </a:solidFill>
            <a:ln cap="flat" cmpd="sng" w="952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Garamond"/>
                <a:buNone/>
              </a:pPr>
              <a:r>
                <a:t/>
              </a:r>
              <a:endParaRPr sz="2400">
                <a:solidFill>
                  <a:schemeClr val="dk1"/>
                </a:solidFill>
                <a:latin typeface="Calibri"/>
                <a:ea typeface="Calibri"/>
                <a:cs typeface="Calibri"/>
                <a:sym typeface="Calibri"/>
              </a:endParaRPr>
            </a:p>
          </p:txBody>
        </p:sp>
      </p:grpSp>
      <p:pic>
        <p:nvPicPr>
          <p:cNvPr id="1100" name="Google Shape;1100;p83"/>
          <p:cNvPicPr preferRelativeResize="0"/>
          <p:nvPr/>
        </p:nvPicPr>
        <p:blipFill rotWithShape="1">
          <a:blip r:embed="rId4">
            <a:alphaModFix/>
          </a:blip>
          <a:srcRect b="0" l="0" r="0" t="0"/>
          <a:stretch/>
        </p:blipFill>
        <p:spPr>
          <a:xfrm>
            <a:off x="8238308" y="3990808"/>
            <a:ext cx="3183595" cy="13407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09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84"/>
          <p:cNvSpPr txBox="1"/>
          <p:nvPr>
            <p:ph type="title"/>
          </p:nvPr>
        </p:nvSpPr>
        <p:spPr>
          <a:xfrm>
            <a:off x="1772195" y="381336"/>
            <a:ext cx="7763692" cy="76819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lang="es-BO"/>
              <a:t>PRINCIPIO DE MEDICION</a:t>
            </a:r>
            <a:endParaRPr/>
          </a:p>
        </p:txBody>
      </p:sp>
      <p:grpSp>
        <p:nvGrpSpPr>
          <p:cNvPr id="1106" name="Google Shape;1106;p84"/>
          <p:cNvGrpSpPr/>
          <p:nvPr/>
        </p:nvGrpSpPr>
        <p:grpSpPr>
          <a:xfrm>
            <a:off x="396239" y="1149531"/>
            <a:ext cx="11386458" cy="5207725"/>
            <a:chOff x="0" y="0"/>
            <a:chExt cx="11386458" cy="5207725"/>
          </a:xfrm>
        </p:grpSpPr>
        <p:sp>
          <p:nvSpPr>
            <p:cNvPr id="1107" name="Google Shape;1107;p84"/>
            <p:cNvSpPr/>
            <p:nvPr/>
          </p:nvSpPr>
          <p:spPr>
            <a:xfrm>
              <a:off x="0" y="0"/>
              <a:ext cx="8767573" cy="937390"/>
            </a:xfrm>
            <a:prstGeom prst="roundRect">
              <a:avLst>
                <a:gd fmla="val 10000" name="adj"/>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84"/>
            <p:cNvSpPr txBox="1"/>
            <p:nvPr/>
          </p:nvSpPr>
          <p:spPr>
            <a:xfrm>
              <a:off x="27455" y="27455"/>
              <a:ext cx="7646381" cy="882480"/>
            </a:xfrm>
            <a:prstGeom prst="rect">
              <a:avLst/>
            </a:prstGeom>
            <a:noFill/>
            <a:ln>
              <a:noFill/>
            </a:ln>
          </p:spPr>
          <p:txBody>
            <a:bodyPr anchorCtr="0" anchor="ctr" bIns="91425" lIns="91425" spcFirstLastPara="1" rIns="91425" wrap="square" tIns="91425">
              <a:noAutofit/>
            </a:bodyPr>
            <a:lstStyle/>
            <a:p>
              <a:pPr indent="0" lvl="0" marL="0" marR="0" rtl="0" algn="just">
                <a:lnSpc>
                  <a:spcPct val="90000"/>
                </a:lnSpc>
                <a:spcBef>
                  <a:spcPts val="0"/>
                </a:spcBef>
                <a:spcAft>
                  <a:spcPts val="0"/>
                </a:spcAft>
                <a:buClr>
                  <a:schemeClr val="dk1"/>
                </a:buClr>
                <a:buSzPts val="2400"/>
                <a:buFont typeface="Garamond"/>
                <a:buNone/>
              </a:pPr>
              <a:r>
                <a:rPr lang="es-BO" sz="2400">
                  <a:solidFill>
                    <a:schemeClr val="dk1"/>
                  </a:solidFill>
                  <a:latin typeface="Garamond"/>
                  <a:ea typeface="Garamond"/>
                  <a:cs typeface="Garamond"/>
                  <a:sym typeface="Garamond"/>
                </a:rPr>
                <a:t>Cuando el líquido fluye a través de la tubería, la rueda de paletas con 4 imanes insertados se pone en rotación, produciendo una señal de medición en el sensor.</a:t>
              </a:r>
              <a:endParaRPr sz="2400">
                <a:solidFill>
                  <a:schemeClr val="dk1"/>
                </a:solidFill>
                <a:latin typeface="Garamond"/>
                <a:ea typeface="Garamond"/>
                <a:cs typeface="Garamond"/>
                <a:sym typeface="Garamond"/>
              </a:endParaRPr>
            </a:p>
          </p:txBody>
        </p:sp>
        <p:sp>
          <p:nvSpPr>
            <p:cNvPr id="1109" name="Google Shape;1109;p84"/>
            <p:cNvSpPr/>
            <p:nvPr/>
          </p:nvSpPr>
          <p:spPr>
            <a:xfrm>
              <a:off x="654721" y="1067583"/>
              <a:ext cx="8767573" cy="937390"/>
            </a:xfrm>
            <a:prstGeom prst="roundRect">
              <a:avLst>
                <a:gd fmla="val 10000" name="adj"/>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84"/>
            <p:cNvSpPr txBox="1"/>
            <p:nvPr/>
          </p:nvSpPr>
          <p:spPr>
            <a:xfrm>
              <a:off x="682176" y="1095038"/>
              <a:ext cx="7448638" cy="882480"/>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El voltaje inducido modulado en frecuencia es proporcional a la velocidad de flujo del fluido. </a:t>
              </a:r>
              <a:endParaRPr b="1" sz="2400">
                <a:solidFill>
                  <a:schemeClr val="dk1"/>
                </a:solidFill>
                <a:latin typeface="Garamond"/>
                <a:ea typeface="Garamond"/>
                <a:cs typeface="Garamond"/>
                <a:sym typeface="Garamond"/>
              </a:endParaRPr>
            </a:p>
          </p:txBody>
        </p:sp>
        <p:sp>
          <p:nvSpPr>
            <p:cNvPr id="1111" name="Google Shape;1111;p84"/>
            <p:cNvSpPr/>
            <p:nvPr/>
          </p:nvSpPr>
          <p:spPr>
            <a:xfrm>
              <a:off x="1309442" y="2135167"/>
              <a:ext cx="8767573" cy="937390"/>
            </a:xfrm>
            <a:prstGeom prst="roundRect">
              <a:avLst>
                <a:gd fmla="val 10000" name="adj"/>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84"/>
            <p:cNvSpPr txBox="1"/>
            <p:nvPr/>
          </p:nvSpPr>
          <p:spPr>
            <a:xfrm>
              <a:off x="1336897" y="2162622"/>
              <a:ext cx="7448638" cy="882480"/>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Los valores nominales de presión y temperatura deben respetarse de acuerdo con el material de montaje del sensor seleccionado. </a:t>
              </a:r>
              <a:endParaRPr sz="2000">
                <a:solidFill>
                  <a:schemeClr val="dk1"/>
                </a:solidFill>
                <a:latin typeface="Garamond"/>
                <a:ea typeface="Garamond"/>
                <a:cs typeface="Garamond"/>
                <a:sym typeface="Garamond"/>
              </a:endParaRPr>
            </a:p>
          </p:txBody>
        </p:sp>
        <p:sp>
          <p:nvSpPr>
            <p:cNvPr id="1113" name="Google Shape;1113;p84"/>
            <p:cNvSpPr/>
            <p:nvPr/>
          </p:nvSpPr>
          <p:spPr>
            <a:xfrm>
              <a:off x="1964164" y="3202751"/>
              <a:ext cx="8767573" cy="937390"/>
            </a:xfrm>
            <a:prstGeom prst="roundRect">
              <a:avLst>
                <a:gd fmla="val 10000" name="adj"/>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84"/>
            <p:cNvSpPr txBox="1"/>
            <p:nvPr/>
          </p:nvSpPr>
          <p:spPr>
            <a:xfrm>
              <a:off x="1991619" y="3230206"/>
              <a:ext cx="7448638" cy="882480"/>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El </a:t>
              </a:r>
              <a:r>
                <a:rPr b="1" lang="es-BO" sz="2000">
                  <a:solidFill>
                    <a:schemeClr val="dk1"/>
                  </a:solidFill>
                  <a:latin typeface="Garamond"/>
                  <a:ea typeface="Garamond"/>
                  <a:cs typeface="Garamond"/>
                  <a:sym typeface="Garamond"/>
                </a:rPr>
                <a:t>tamaño de tubería adecuado </a:t>
              </a:r>
              <a:r>
                <a:rPr lang="es-BO" sz="2000">
                  <a:solidFill>
                    <a:schemeClr val="dk1"/>
                  </a:solidFill>
                  <a:latin typeface="Garamond"/>
                  <a:ea typeface="Garamond"/>
                  <a:cs typeface="Garamond"/>
                  <a:sym typeface="Garamond"/>
                </a:rPr>
                <a:t>se selecciona utilizando el diagrama para seleccionar el diámetro nominal del accesorio del sensor.</a:t>
              </a:r>
              <a:endParaRPr sz="2000">
                <a:solidFill>
                  <a:schemeClr val="dk1"/>
                </a:solidFill>
                <a:latin typeface="Garamond"/>
                <a:ea typeface="Garamond"/>
                <a:cs typeface="Garamond"/>
                <a:sym typeface="Garamond"/>
              </a:endParaRPr>
            </a:p>
          </p:txBody>
        </p:sp>
        <p:sp>
          <p:nvSpPr>
            <p:cNvPr id="1115" name="Google Shape;1115;p84"/>
            <p:cNvSpPr/>
            <p:nvPr/>
          </p:nvSpPr>
          <p:spPr>
            <a:xfrm>
              <a:off x="2618885" y="4270335"/>
              <a:ext cx="8767573" cy="937390"/>
            </a:xfrm>
            <a:prstGeom prst="roundRect">
              <a:avLst>
                <a:gd fmla="val 10000" name="adj"/>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84"/>
            <p:cNvSpPr txBox="1"/>
            <p:nvPr/>
          </p:nvSpPr>
          <p:spPr>
            <a:xfrm>
              <a:off x="2646340" y="4297790"/>
              <a:ext cx="7448638" cy="882480"/>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b="1" lang="es-BO" sz="2000">
                  <a:solidFill>
                    <a:schemeClr val="dk1"/>
                  </a:solidFill>
                  <a:latin typeface="Garamond"/>
                  <a:ea typeface="Garamond"/>
                  <a:cs typeface="Garamond"/>
                  <a:sym typeface="Garamond"/>
                </a:rPr>
                <a:t>Un factor K </a:t>
              </a:r>
              <a:r>
                <a:rPr lang="es-BO" sz="2000">
                  <a:solidFill>
                    <a:schemeClr val="dk1"/>
                  </a:solidFill>
                  <a:latin typeface="Garamond"/>
                  <a:ea typeface="Garamond"/>
                  <a:cs typeface="Garamond"/>
                  <a:sym typeface="Garamond"/>
                </a:rPr>
                <a:t>, específico para cada tubería (tamaño y material) permite convertir esta frecuencia en un caudal</a:t>
              </a:r>
              <a:endParaRPr sz="2000">
                <a:solidFill>
                  <a:schemeClr val="dk1"/>
                </a:solidFill>
                <a:latin typeface="Garamond"/>
                <a:ea typeface="Garamond"/>
                <a:cs typeface="Garamond"/>
                <a:sym typeface="Garamond"/>
              </a:endParaRPr>
            </a:p>
          </p:txBody>
        </p:sp>
        <p:sp>
          <p:nvSpPr>
            <p:cNvPr id="1117" name="Google Shape;1117;p84"/>
            <p:cNvSpPr/>
            <p:nvPr/>
          </p:nvSpPr>
          <p:spPr>
            <a:xfrm>
              <a:off x="8158269" y="684815"/>
              <a:ext cx="609303" cy="609303"/>
            </a:xfrm>
            <a:prstGeom prst="downArrow">
              <a:avLst>
                <a:gd fmla="val 55000" name="adj1"/>
                <a:gd fmla="val 45000" name="adj2"/>
              </a:avLst>
            </a:prstGeom>
            <a:solidFill>
              <a:srgbClr val="DBE3EB">
                <a:alpha val="89803"/>
              </a:srgbClr>
            </a:solidFill>
            <a:ln cap="flat" cmpd="sng" w="12700">
              <a:solidFill>
                <a:srgbClr val="DBE3E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84"/>
            <p:cNvSpPr txBox="1"/>
            <p:nvPr/>
          </p:nvSpPr>
          <p:spPr>
            <a:xfrm>
              <a:off x="8295362" y="684815"/>
              <a:ext cx="335117" cy="458501"/>
            </a:xfrm>
            <a:prstGeom prst="rect">
              <a:avLst/>
            </a:prstGeom>
            <a:noFill/>
            <a:ln>
              <a:noFill/>
            </a:ln>
          </p:spPr>
          <p:txBody>
            <a:bodyPr anchorCtr="0" anchor="ctr" bIns="35550" lIns="35550" spcFirstLastPara="1" rIns="35550" wrap="square" tIns="35550">
              <a:noAutofit/>
            </a:bodyPr>
            <a:lstStyle/>
            <a:p>
              <a:pPr indent="0" lvl="0" marL="0" marR="0" rtl="0" algn="ctr">
                <a:lnSpc>
                  <a:spcPct val="90000"/>
                </a:lnSpc>
                <a:spcBef>
                  <a:spcPts val="0"/>
                </a:spcBef>
                <a:spcAft>
                  <a:spcPts val="0"/>
                </a:spcAft>
                <a:buClr>
                  <a:schemeClr val="dk1"/>
                </a:buClr>
                <a:buSzPts val="2800"/>
                <a:buFont typeface="Garamond"/>
                <a:buNone/>
              </a:pPr>
              <a:r>
                <a:t/>
              </a:r>
              <a:endParaRPr sz="2800">
                <a:solidFill>
                  <a:schemeClr val="dk1"/>
                </a:solidFill>
                <a:latin typeface="Garamond"/>
                <a:ea typeface="Garamond"/>
                <a:cs typeface="Garamond"/>
                <a:sym typeface="Garamond"/>
              </a:endParaRPr>
            </a:p>
          </p:txBody>
        </p:sp>
        <p:sp>
          <p:nvSpPr>
            <p:cNvPr id="1119" name="Google Shape;1119;p84"/>
            <p:cNvSpPr/>
            <p:nvPr/>
          </p:nvSpPr>
          <p:spPr>
            <a:xfrm>
              <a:off x="8812990" y="1752399"/>
              <a:ext cx="609303" cy="609303"/>
            </a:xfrm>
            <a:prstGeom prst="downArrow">
              <a:avLst>
                <a:gd fmla="val 55000" name="adj1"/>
                <a:gd fmla="val 45000" name="adj2"/>
              </a:avLst>
            </a:prstGeom>
            <a:solidFill>
              <a:srgbClr val="DBE3EB">
                <a:alpha val="89803"/>
              </a:srgbClr>
            </a:solidFill>
            <a:ln cap="flat" cmpd="sng" w="12700">
              <a:solidFill>
                <a:srgbClr val="DBE3E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84"/>
            <p:cNvSpPr txBox="1"/>
            <p:nvPr/>
          </p:nvSpPr>
          <p:spPr>
            <a:xfrm>
              <a:off x="8950083" y="1752399"/>
              <a:ext cx="335117" cy="458501"/>
            </a:xfrm>
            <a:prstGeom prst="rect">
              <a:avLst/>
            </a:prstGeom>
            <a:noFill/>
            <a:ln>
              <a:noFill/>
            </a:ln>
          </p:spPr>
          <p:txBody>
            <a:bodyPr anchorCtr="0" anchor="ctr" bIns="35550" lIns="35550" spcFirstLastPara="1" rIns="35550" wrap="square" tIns="35550">
              <a:noAutofit/>
            </a:bodyPr>
            <a:lstStyle/>
            <a:p>
              <a:pPr indent="0" lvl="0" marL="0" marR="0" rtl="0" algn="ctr">
                <a:lnSpc>
                  <a:spcPct val="90000"/>
                </a:lnSpc>
                <a:spcBef>
                  <a:spcPts val="0"/>
                </a:spcBef>
                <a:spcAft>
                  <a:spcPts val="0"/>
                </a:spcAft>
                <a:buClr>
                  <a:schemeClr val="dk1"/>
                </a:buClr>
                <a:buSzPts val="2800"/>
                <a:buFont typeface="Garamond"/>
                <a:buNone/>
              </a:pPr>
              <a:r>
                <a:t/>
              </a:r>
              <a:endParaRPr sz="2800">
                <a:solidFill>
                  <a:schemeClr val="dk1"/>
                </a:solidFill>
                <a:latin typeface="Garamond"/>
                <a:ea typeface="Garamond"/>
                <a:cs typeface="Garamond"/>
                <a:sym typeface="Garamond"/>
              </a:endParaRPr>
            </a:p>
          </p:txBody>
        </p:sp>
        <p:sp>
          <p:nvSpPr>
            <p:cNvPr id="1121" name="Google Shape;1121;p84"/>
            <p:cNvSpPr/>
            <p:nvPr/>
          </p:nvSpPr>
          <p:spPr>
            <a:xfrm>
              <a:off x="9467712" y="2804360"/>
              <a:ext cx="609303" cy="609303"/>
            </a:xfrm>
            <a:prstGeom prst="downArrow">
              <a:avLst>
                <a:gd fmla="val 55000" name="adj1"/>
                <a:gd fmla="val 45000" name="adj2"/>
              </a:avLst>
            </a:prstGeom>
            <a:solidFill>
              <a:srgbClr val="DBE3EB">
                <a:alpha val="89803"/>
              </a:srgbClr>
            </a:solidFill>
            <a:ln cap="flat" cmpd="sng" w="12700">
              <a:solidFill>
                <a:srgbClr val="DBE3E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84"/>
            <p:cNvSpPr txBox="1"/>
            <p:nvPr/>
          </p:nvSpPr>
          <p:spPr>
            <a:xfrm>
              <a:off x="9604805" y="2804360"/>
              <a:ext cx="335117" cy="458501"/>
            </a:xfrm>
            <a:prstGeom prst="rect">
              <a:avLst/>
            </a:prstGeom>
            <a:noFill/>
            <a:ln>
              <a:noFill/>
            </a:ln>
          </p:spPr>
          <p:txBody>
            <a:bodyPr anchorCtr="0" anchor="ctr" bIns="35550" lIns="35550" spcFirstLastPara="1" rIns="35550" wrap="square" tIns="35550">
              <a:noAutofit/>
            </a:bodyPr>
            <a:lstStyle/>
            <a:p>
              <a:pPr indent="0" lvl="0" marL="0" marR="0" rtl="0" algn="ctr">
                <a:lnSpc>
                  <a:spcPct val="90000"/>
                </a:lnSpc>
                <a:spcBef>
                  <a:spcPts val="0"/>
                </a:spcBef>
                <a:spcAft>
                  <a:spcPts val="0"/>
                </a:spcAft>
                <a:buClr>
                  <a:schemeClr val="dk1"/>
                </a:buClr>
                <a:buSzPts val="2800"/>
                <a:buFont typeface="Garamond"/>
                <a:buNone/>
              </a:pPr>
              <a:r>
                <a:t/>
              </a:r>
              <a:endParaRPr sz="2800">
                <a:solidFill>
                  <a:schemeClr val="dk1"/>
                </a:solidFill>
                <a:latin typeface="Garamond"/>
                <a:ea typeface="Garamond"/>
                <a:cs typeface="Garamond"/>
                <a:sym typeface="Garamond"/>
              </a:endParaRPr>
            </a:p>
          </p:txBody>
        </p:sp>
        <p:sp>
          <p:nvSpPr>
            <p:cNvPr id="1123" name="Google Shape;1123;p84"/>
            <p:cNvSpPr/>
            <p:nvPr/>
          </p:nvSpPr>
          <p:spPr>
            <a:xfrm>
              <a:off x="10122433" y="3882359"/>
              <a:ext cx="609303" cy="609303"/>
            </a:xfrm>
            <a:prstGeom prst="downArrow">
              <a:avLst>
                <a:gd fmla="val 55000" name="adj1"/>
                <a:gd fmla="val 45000" name="adj2"/>
              </a:avLst>
            </a:prstGeom>
            <a:solidFill>
              <a:srgbClr val="DBE3EB">
                <a:alpha val="89803"/>
              </a:srgbClr>
            </a:solidFill>
            <a:ln cap="flat" cmpd="sng" w="12700">
              <a:solidFill>
                <a:srgbClr val="DBE3E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84"/>
            <p:cNvSpPr txBox="1"/>
            <p:nvPr/>
          </p:nvSpPr>
          <p:spPr>
            <a:xfrm>
              <a:off x="10259526" y="3882359"/>
              <a:ext cx="335117" cy="458501"/>
            </a:xfrm>
            <a:prstGeom prst="rect">
              <a:avLst/>
            </a:prstGeom>
            <a:noFill/>
            <a:ln>
              <a:noFill/>
            </a:ln>
          </p:spPr>
          <p:txBody>
            <a:bodyPr anchorCtr="0" anchor="ctr" bIns="35550" lIns="35550" spcFirstLastPara="1" rIns="35550" wrap="square" tIns="35550">
              <a:noAutofit/>
            </a:bodyPr>
            <a:lstStyle/>
            <a:p>
              <a:pPr indent="0" lvl="0" marL="0" marR="0" rtl="0" algn="ctr">
                <a:lnSpc>
                  <a:spcPct val="90000"/>
                </a:lnSpc>
                <a:spcBef>
                  <a:spcPts val="0"/>
                </a:spcBef>
                <a:spcAft>
                  <a:spcPts val="0"/>
                </a:spcAft>
                <a:buClr>
                  <a:schemeClr val="dk1"/>
                </a:buClr>
                <a:buSzPts val="2800"/>
                <a:buFont typeface="Garamond"/>
                <a:buNone/>
              </a:pPr>
              <a:r>
                <a:t/>
              </a:r>
              <a:endParaRPr sz="2800">
                <a:solidFill>
                  <a:schemeClr val="dk1"/>
                </a:solidFill>
                <a:latin typeface="Garamond"/>
                <a:ea typeface="Garamond"/>
                <a:cs typeface="Garamond"/>
                <a:sym typeface="Garamond"/>
              </a:endParaRPr>
            </a:p>
          </p:txBody>
        </p:sp>
      </p:gr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85"/>
          <p:cNvSpPr txBox="1"/>
          <p:nvPr>
            <p:ph type="title"/>
          </p:nvPr>
        </p:nvSpPr>
        <p:spPr>
          <a:xfrm>
            <a:off x="1066800" y="642594"/>
            <a:ext cx="10058400" cy="70723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62626"/>
              </a:buClr>
              <a:buSzPct val="100000"/>
              <a:buFont typeface="Garamond"/>
              <a:buNone/>
            </a:pPr>
            <a:r>
              <a:rPr lang="es-BO"/>
              <a:t>DOSIFICADOR</a:t>
            </a:r>
            <a:endParaRPr/>
          </a:p>
        </p:txBody>
      </p:sp>
      <p:grpSp>
        <p:nvGrpSpPr>
          <p:cNvPr id="1130" name="Google Shape;1130;p85"/>
          <p:cNvGrpSpPr/>
          <p:nvPr/>
        </p:nvGrpSpPr>
        <p:grpSpPr>
          <a:xfrm>
            <a:off x="661851" y="1591467"/>
            <a:ext cx="10463348" cy="3927615"/>
            <a:chOff x="0" y="2152"/>
            <a:chExt cx="10463348" cy="3927615"/>
          </a:xfrm>
        </p:grpSpPr>
        <p:sp>
          <p:nvSpPr>
            <p:cNvPr id="1131" name="Google Shape;1131;p85"/>
            <p:cNvSpPr/>
            <p:nvPr/>
          </p:nvSpPr>
          <p:spPr>
            <a:xfrm rot="5400000">
              <a:off x="-494846" y="1125640"/>
              <a:ext cx="3298973" cy="2309281"/>
            </a:xfrm>
            <a:prstGeom prst="chevron">
              <a:avLst>
                <a:gd fmla="val 50000" name="adj"/>
              </a:avLst>
            </a:prstGeom>
            <a:solidFill>
              <a:srgbClr val="91B0C8"/>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85"/>
            <p:cNvSpPr txBox="1"/>
            <p:nvPr/>
          </p:nvSpPr>
          <p:spPr>
            <a:xfrm>
              <a:off x="1" y="1785435"/>
              <a:ext cx="2309281" cy="989692"/>
            </a:xfrm>
            <a:prstGeom prst="rect">
              <a:avLst/>
            </a:prstGeom>
            <a:noFill/>
            <a:ln>
              <a:noFill/>
            </a:ln>
          </p:spPr>
          <p:txBody>
            <a:bodyPr anchorCtr="0" anchor="ctr" bIns="21575" lIns="21575" spcFirstLastPara="1" rIns="21575" wrap="square" tIns="21575">
              <a:noAutofit/>
            </a:bodyPr>
            <a:lstStyle/>
            <a:p>
              <a:pPr indent="0" lvl="0" marL="0" marR="0" rtl="0" algn="ctr">
                <a:lnSpc>
                  <a:spcPct val="90000"/>
                </a:lnSpc>
                <a:spcBef>
                  <a:spcPts val="0"/>
                </a:spcBef>
                <a:spcAft>
                  <a:spcPts val="0"/>
                </a:spcAft>
                <a:buClr>
                  <a:schemeClr val="lt1"/>
                </a:buClr>
                <a:buSzPts val="3400"/>
                <a:buFont typeface="Garamond"/>
                <a:buNone/>
              </a:pPr>
              <a:r>
                <a:rPr b="1" lang="es-BO" sz="3400">
                  <a:solidFill>
                    <a:schemeClr val="lt1"/>
                  </a:solidFill>
                  <a:latin typeface="Garamond"/>
                  <a:ea typeface="Garamond"/>
                  <a:cs typeface="Garamond"/>
                  <a:sym typeface="Garamond"/>
                </a:rPr>
                <a:t>Descripción de tipo</a:t>
              </a:r>
              <a:endParaRPr sz="3400">
                <a:solidFill>
                  <a:schemeClr val="lt1"/>
                </a:solidFill>
                <a:latin typeface="Garamond"/>
                <a:ea typeface="Garamond"/>
                <a:cs typeface="Garamond"/>
                <a:sym typeface="Garamond"/>
              </a:endParaRPr>
            </a:p>
          </p:txBody>
        </p:sp>
        <p:sp>
          <p:nvSpPr>
            <p:cNvPr id="1133" name="Google Shape;1133;p85"/>
            <p:cNvSpPr/>
            <p:nvPr/>
          </p:nvSpPr>
          <p:spPr>
            <a:xfrm rot="5400000">
              <a:off x="4685505" y="-2374072"/>
              <a:ext cx="3401619" cy="8154067"/>
            </a:xfrm>
            <a:prstGeom prst="round2SameRect">
              <a:avLst>
                <a:gd fmla="val 16667" name="adj1"/>
                <a:gd fmla="val 0" name="adj2"/>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85"/>
            <p:cNvSpPr txBox="1"/>
            <p:nvPr/>
          </p:nvSpPr>
          <p:spPr>
            <a:xfrm>
              <a:off x="2309282" y="168204"/>
              <a:ext cx="7988014" cy="3069513"/>
            </a:xfrm>
            <a:prstGeom prst="rect">
              <a:avLst/>
            </a:prstGeom>
            <a:noFill/>
            <a:ln>
              <a:noFill/>
            </a:ln>
          </p:spPr>
          <p:txBody>
            <a:bodyPr anchorCtr="0" anchor="ctr" bIns="12700" lIns="142225" spcFirstLastPara="1" rIns="12700" wrap="square" tIns="12700">
              <a:noAutofit/>
            </a:bodyPr>
            <a:lstStyle/>
            <a:p>
              <a:pPr indent="-228600" lvl="1" marL="228600" marR="0" rtl="0" algn="l">
                <a:lnSpc>
                  <a:spcPct val="90000"/>
                </a:lnSpc>
                <a:spcBef>
                  <a:spcPts val="0"/>
                </a:spcBef>
                <a:spcAft>
                  <a:spcPts val="0"/>
                </a:spcAft>
                <a:buClr>
                  <a:schemeClr val="dk1"/>
                </a:buClr>
                <a:buSzPts val="2000"/>
                <a:buFont typeface="Garamond"/>
                <a:buChar char="•"/>
              </a:pPr>
              <a:r>
                <a:rPr b="0" i="0" lang="es-BO" sz="2000" u="none" cap="none" strike="noStrike">
                  <a:solidFill>
                    <a:schemeClr val="dk1"/>
                  </a:solidFill>
                  <a:latin typeface="Garamond"/>
                  <a:ea typeface="Garamond"/>
                  <a:cs typeface="Garamond"/>
                  <a:sym typeface="Garamond"/>
                </a:rPr>
                <a:t>El caudalímetro o dosificador 8035 es apto para la medición/dosificación de liquidos neutros o ligeramente agresivos sin sólidos en suspensión. </a:t>
              </a:r>
              <a:endParaRPr b="0" i="0" sz="2000" u="none" cap="none" strike="noStrike">
                <a:solidFill>
                  <a:schemeClr val="dk1"/>
                </a:solidFill>
                <a:latin typeface="Garamond"/>
                <a:ea typeface="Garamond"/>
                <a:cs typeface="Garamond"/>
                <a:sym typeface="Garamond"/>
              </a:endParaRPr>
            </a:p>
            <a:p>
              <a:pPr indent="-228600" lvl="1" marL="228600" marR="0" rtl="0" algn="l">
                <a:lnSpc>
                  <a:spcPct val="90000"/>
                </a:lnSpc>
                <a:spcBef>
                  <a:spcPts val="300"/>
                </a:spcBef>
                <a:spcAft>
                  <a:spcPts val="0"/>
                </a:spcAft>
                <a:buClr>
                  <a:schemeClr val="dk1"/>
                </a:buClr>
                <a:buSzPts val="2000"/>
                <a:buFont typeface="Garamond"/>
                <a:buChar char="•"/>
              </a:pPr>
              <a:r>
                <a:rPr b="0" i="0" lang="es-BO" sz="2000" u="none" cap="none" strike="noStrike">
                  <a:solidFill>
                    <a:schemeClr val="dk1"/>
                  </a:solidFill>
                  <a:latin typeface="Garamond"/>
                  <a:ea typeface="Garamond"/>
                  <a:cs typeface="Garamond"/>
                  <a:sym typeface="Garamond"/>
                </a:rPr>
                <a:t>El caudalímetro se compone de un racor de conexión con sensor integrado y un transmisor electrónico que se conectan entre sí, de una forma rápida y sencilla, mediante un sistema de bayoneta. </a:t>
              </a:r>
              <a:endParaRPr b="0" i="0" sz="2000" u="none" cap="none" strike="noStrike">
                <a:solidFill>
                  <a:schemeClr val="dk1"/>
                </a:solidFill>
                <a:latin typeface="Garamond"/>
                <a:ea typeface="Garamond"/>
                <a:cs typeface="Garamond"/>
                <a:sym typeface="Garamond"/>
              </a:endParaRPr>
            </a:p>
            <a:p>
              <a:pPr indent="-228600" lvl="1" marL="228600" marR="0" rtl="0" algn="l">
                <a:lnSpc>
                  <a:spcPct val="90000"/>
                </a:lnSpc>
                <a:spcBef>
                  <a:spcPts val="300"/>
                </a:spcBef>
                <a:spcAft>
                  <a:spcPts val="0"/>
                </a:spcAft>
                <a:buClr>
                  <a:schemeClr val="dk1"/>
                </a:buClr>
                <a:buSzPts val="2000"/>
                <a:buFont typeface="Garamond"/>
                <a:buChar char="•"/>
              </a:pPr>
              <a:r>
                <a:rPr b="0" i="0" lang="es-BO" sz="2000" u="none" cap="none" strike="noStrike">
                  <a:solidFill>
                    <a:schemeClr val="dk1"/>
                  </a:solidFill>
                  <a:latin typeface="Garamond"/>
                  <a:ea typeface="Garamond"/>
                  <a:cs typeface="Garamond"/>
                  <a:sym typeface="Garamond"/>
                </a:rPr>
                <a:t>Indicación del caudal instantáneo y dos totalizadores</a:t>
              </a:r>
              <a:r>
                <a:rPr b="0" i="0" lang="es-BO" sz="2000" u="sng" cap="none" strike="noStrike">
                  <a:solidFill>
                    <a:schemeClr val="dk1"/>
                  </a:solidFill>
                  <a:latin typeface="Garamond"/>
                  <a:ea typeface="Garamond"/>
                  <a:cs typeface="Garamond"/>
                  <a:sym typeface="Garamond"/>
                </a:rPr>
                <a:t>.</a:t>
              </a:r>
              <a:endParaRPr b="0" i="0" sz="2000" u="none" cap="none" strike="noStrike">
                <a:solidFill>
                  <a:schemeClr val="dk1"/>
                </a:solidFill>
                <a:latin typeface="Garamond"/>
                <a:ea typeface="Garamond"/>
                <a:cs typeface="Garamond"/>
                <a:sym typeface="Garamond"/>
              </a:endParaRPr>
            </a:p>
            <a:p>
              <a:pPr indent="-228600" lvl="1" marL="228600" marR="0" rtl="0" algn="l">
                <a:lnSpc>
                  <a:spcPct val="90000"/>
                </a:lnSpc>
                <a:spcBef>
                  <a:spcPts val="300"/>
                </a:spcBef>
                <a:spcAft>
                  <a:spcPts val="0"/>
                </a:spcAft>
                <a:buClr>
                  <a:schemeClr val="dk1"/>
                </a:buClr>
                <a:buSzPts val="2000"/>
                <a:buFont typeface="Garamond"/>
                <a:buChar char="•"/>
              </a:pPr>
              <a:r>
                <a:rPr b="0" i="0" lang="es-BO" sz="2000" u="none" cap="none" strike="noStrike">
                  <a:solidFill>
                    <a:schemeClr val="dk1"/>
                  </a:solidFill>
                  <a:latin typeface="Garamond"/>
                  <a:ea typeface="Garamond"/>
                  <a:cs typeface="Garamond"/>
                  <a:sym typeface="Garamond"/>
                </a:rPr>
                <a:t>Simulación de las salidas sin presencia de fluido.</a:t>
              </a:r>
              <a:endParaRPr b="0" i="0" sz="2000" u="none" cap="none" strike="noStrike">
                <a:solidFill>
                  <a:schemeClr val="dk1"/>
                </a:solidFill>
                <a:latin typeface="Garamond"/>
                <a:ea typeface="Garamond"/>
                <a:cs typeface="Garamond"/>
                <a:sym typeface="Garamond"/>
              </a:endParaRPr>
            </a:p>
            <a:p>
              <a:pPr indent="-228600" lvl="1" marL="228600" marR="0" rtl="0" algn="l">
                <a:lnSpc>
                  <a:spcPct val="90000"/>
                </a:lnSpc>
                <a:spcBef>
                  <a:spcPts val="300"/>
                </a:spcBef>
                <a:spcAft>
                  <a:spcPts val="0"/>
                </a:spcAft>
                <a:buClr>
                  <a:schemeClr val="dk1"/>
                </a:buClr>
                <a:buSzPts val="2000"/>
                <a:buFont typeface="Garamond"/>
                <a:buChar char="•"/>
              </a:pPr>
              <a:r>
                <a:rPr b="0" i="0" lang="es-BO" sz="2000" u="none" cap="none" strike="noStrike">
                  <a:solidFill>
                    <a:schemeClr val="dk1"/>
                  </a:solidFill>
                  <a:latin typeface="Garamond"/>
                  <a:ea typeface="Garamond"/>
                  <a:cs typeface="Garamond"/>
                  <a:sym typeface="Garamond"/>
                </a:rPr>
                <a:t>Para modelo dosificador: Contador de cantidades totales y diarias e indicador de dosificación por volumen o peso.</a:t>
              </a:r>
              <a:endParaRPr b="0" i="0" sz="2000" u="none" cap="none" strike="noStrike">
                <a:solidFill>
                  <a:schemeClr val="dk1"/>
                </a:solidFill>
                <a:latin typeface="Garamond"/>
                <a:ea typeface="Garamond"/>
                <a:cs typeface="Garamond"/>
                <a:sym typeface="Garamond"/>
              </a:endParaRPr>
            </a:p>
          </p:txBody>
        </p:sp>
      </p:gr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8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lang="es-BO"/>
              <a:t>DOSIFICADOR</a:t>
            </a:r>
            <a:endParaRPr/>
          </a:p>
        </p:txBody>
      </p:sp>
      <p:grpSp>
        <p:nvGrpSpPr>
          <p:cNvPr id="1140" name="Google Shape;1140;p86"/>
          <p:cNvGrpSpPr/>
          <p:nvPr/>
        </p:nvGrpSpPr>
        <p:grpSpPr>
          <a:xfrm>
            <a:off x="2101479" y="2392717"/>
            <a:ext cx="7989039" cy="2826531"/>
            <a:chOff x="536" y="378523"/>
            <a:chExt cx="7989039" cy="2826531"/>
          </a:xfrm>
        </p:grpSpPr>
        <p:sp>
          <p:nvSpPr>
            <p:cNvPr id="1141" name="Google Shape;1141;p86"/>
            <p:cNvSpPr/>
            <p:nvPr/>
          </p:nvSpPr>
          <p:spPr>
            <a:xfrm>
              <a:off x="3995056" y="1546511"/>
              <a:ext cx="2826531" cy="490555"/>
            </a:xfrm>
            <a:custGeom>
              <a:rect b="b" l="l" r="r" t="t"/>
              <a:pathLst>
                <a:path extrusionOk="0" h="120000" w="120000">
                  <a:moveTo>
                    <a:pt x="0" y="0"/>
                  </a:moveTo>
                  <a:lnTo>
                    <a:pt x="0" y="60000"/>
                  </a:lnTo>
                  <a:lnTo>
                    <a:pt x="120000" y="60000"/>
                  </a:lnTo>
                  <a:lnTo>
                    <a:pt x="120000" y="120000"/>
                  </a:lnTo>
                </a:path>
              </a:pathLst>
            </a:custGeom>
            <a:noFill/>
            <a:ln cap="flat" cmpd="sng" w="12700">
              <a:solidFill>
                <a:srgbClr val="708B9E"/>
              </a:solidFill>
              <a:prstDash val="solid"/>
              <a:round/>
              <a:headEnd len="sm" w="sm" type="none"/>
              <a:tailEnd len="sm" w="sm" type="none"/>
            </a:ln>
          </p:spPr>
        </p:sp>
        <p:sp>
          <p:nvSpPr>
            <p:cNvPr id="1142" name="Google Shape;1142;p86"/>
            <p:cNvSpPr/>
            <p:nvPr/>
          </p:nvSpPr>
          <p:spPr>
            <a:xfrm>
              <a:off x="3949336" y="1546511"/>
              <a:ext cx="91440" cy="490555"/>
            </a:xfrm>
            <a:custGeom>
              <a:rect b="b" l="l" r="r" t="t"/>
              <a:pathLst>
                <a:path extrusionOk="0" h="120000" w="120000">
                  <a:moveTo>
                    <a:pt x="60000" y="0"/>
                  </a:moveTo>
                  <a:lnTo>
                    <a:pt x="60000" y="120000"/>
                  </a:lnTo>
                </a:path>
              </a:pathLst>
            </a:custGeom>
            <a:noFill/>
            <a:ln cap="flat" cmpd="sng" w="12700">
              <a:solidFill>
                <a:srgbClr val="708B9E"/>
              </a:solidFill>
              <a:prstDash val="solid"/>
              <a:round/>
              <a:headEnd len="sm" w="sm" type="none"/>
              <a:tailEnd len="sm" w="sm" type="none"/>
            </a:ln>
          </p:spPr>
        </p:sp>
        <p:sp>
          <p:nvSpPr>
            <p:cNvPr id="1143" name="Google Shape;1143;p86"/>
            <p:cNvSpPr/>
            <p:nvPr/>
          </p:nvSpPr>
          <p:spPr>
            <a:xfrm>
              <a:off x="1168524" y="1546511"/>
              <a:ext cx="2826531" cy="490555"/>
            </a:xfrm>
            <a:custGeom>
              <a:rect b="b" l="l" r="r" t="t"/>
              <a:pathLst>
                <a:path extrusionOk="0" h="120000" w="120000">
                  <a:moveTo>
                    <a:pt x="120000" y="0"/>
                  </a:moveTo>
                  <a:lnTo>
                    <a:pt x="120000" y="60000"/>
                  </a:lnTo>
                  <a:lnTo>
                    <a:pt x="0" y="60000"/>
                  </a:lnTo>
                  <a:lnTo>
                    <a:pt x="0" y="120000"/>
                  </a:lnTo>
                </a:path>
              </a:pathLst>
            </a:custGeom>
            <a:noFill/>
            <a:ln cap="flat" cmpd="sng" w="12700">
              <a:solidFill>
                <a:srgbClr val="708B9E"/>
              </a:solidFill>
              <a:prstDash val="solid"/>
              <a:round/>
              <a:headEnd len="sm" w="sm" type="none"/>
              <a:tailEnd len="sm" w="sm" type="none"/>
            </a:ln>
          </p:spPr>
        </p:sp>
        <p:sp>
          <p:nvSpPr>
            <p:cNvPr id="1144" name="Google Shape;1144;p86"/>
            <p:cNvSpPr/>
            <p:nvPr/>
          </p:nvSpPr>
          <p:spPr>
            <a:xfrm>
              <a:off x="2827068" y="378523"/>
              <a:ext cx="2335976" cy="1167988"/>
            </a:xfrm>
            <a:prstGeom prst="rect">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86"/>
            <p:cNvSpPr txBox="1"/>
            <p:nvPr/>
          </p:nvSpPr>
          <p:spPr>
            <a:xfrm>
              <a:off x="2827068" y="378523"/>
              <a:ext cx="2335976" cy="1167988"/>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dk1"/>
                </a:buClr>
                <a:buSzPts val="2300"/>
                <a:buFont typeface="Garamond"/>
                <a:buNone/>
              </a:pPr>
              <a:r>
                <a:rPr lang="es-BO" sz="2300">
                  <a:solidFill>
                    <a:schemeClr val="dk1"/>
                  </a:solidFill>
                  <a:latin typeface="Garamond"/>
                  <a:ea typeface="Garamond"/>
                  <a:cs typeface="Garamond"/>
                  <a:sym typeface="Garamond"/>
                </a:rPr>
                <a:t>El dosificador 8035 cuenta con 3 tipos de dosificación: </a:t>
              </a:r>
              <a:endParaRPr sz="2300">
                <a:solidFill>
                  <a:schemeClr val="dk1"/>
                </a:solidFill>
                <a:latin typeface="Garamond"/>
                <a:ea typeface="Garamond"/>
                <a:cs typeface="Garamond"/>
                <a:sym typeface="Garamond"/>
              </a:endParaRPr>
            </a:p>
          </p:txBody>
        </p:sp>
        <p:sp>
          <p:nvSpPr>
            <p:cNvPr id="1146" name="Google Shape;1146;p86"/>
            <p:cNvSpPr/>
            <p:nvPr/>
          </p:nvSpPr>
          <p:spPr>
            <a:xfrm>
              <a:off x="536" y="2037066"/>
              <a:ext cx="2335976" cy="1167988"/>
            </a:xfrm>
            <a:prstGeom prst="rect">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86"/>
            <p:cNvSpPr txBox="1"/>
            <p:nvPr/>
          </p:nvSpPr>
          <p:spPr>
            <a:xfrm>
              <a:off x="536" y="2037066"/>
              <a:ext cx="2335976" cy="1167988"/>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dk1"/>
                </a:buClr>
                <a:buSzPts val="2300"/>
                <a:buFont typeface="Garamond"/>
                <a:buNone/>
              </a:pPr>
              <a:r>
                <a:rPr lang="es-BO" sz="2300">
                  <a:solidFill>
                    <a:schemeClr val="dk1"/>
                  </a:solidFill>
                  <a:latin typeface="Garamond"/>
                  <a:ea typeface="Garamond"/>
                  <a:cs typeface="Garamond"/>
                  <a:sym typeface="Garamond"/>
                </a:rPr>
                <a:t>Dosificación en modo manual</a:t>
              </a:r>
              <a:endParaRPr sz="2300">
                <a:solidFill>
                  <a:schemeClr val="dk1"/>
                </a:solidFill>
                <a:latin typeface="Garamond"/>
                <a:ea typeface="Garamond"/>
                <a:cs typeface="Garamond"/>
                <a:sym typeface="Garamond"/>
              </a:endParaRPr>
            </a:p>
          </p:txBody>
        </p:sp>
        <p:sp>
          <p:nvSpPr>
            <p:cNvPr id="1148" name="Google Shape;1148;p86"/>
            <p:cNvSpPr/>
            <p:nvPr/>
          </p:nvSpPr>
          <p:spPr>
            <a:xfrm>
              <a:off x="2827068" y="2037066"/>
              <a:ext cx="2335976" cy="1167988"/>
            </a:xfrm>
            <a:prstGeom prst="rect">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86"/>
            <p:cNvSpPr txBox="1"/>
            <p:nvPr/>
          </p:nvSpPr>
          <p:spPr>
            <a:xfrm>
              <a:off x="2827068" y="2037066"/>
              <a:ext cx="2335976" cy="1167988"/>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dk1"/>
                </a:buClr>
                <a:buSzPts val="2300"/>
                <a:buFont typeface="Garamond"/>
                <a:buNone/>
              </a:pPr>
              <a:r>
                <a:rPr lang="es-BO" sz="2300">
                  <a:solidFill>
                    <a:schemeClr val="dk1"/>
                  </a:solidFill>
                  <a:latin typeface="Garamond"/>
                  <a:ea typeface="Garamond"/>
                  <a:cs typeface="Garamond"/>
                  <a:sym typeface="Garamond"/>
                </a:rPr>
                <a:t>Dosificación en modo automático</a:t>
              </a:r>
              <a:endParaRPr sz="2300">
                <a:solidFill>
                  <a:schemeClr val="dk1"/>
                </a:solidFill>
                <a:latin typeface="Garamond"/>
                <a:ea typeface="Garamond"/>
                <a:cs typeface="Garamond"/>
                <a:sym typeface="Garamond"/>
              </a:endParaRPr>
            </a:p>
          </p:txBody>
        </p:sp>
        <p:sp>
          <p:nvSpPr>
            <p:cNvPr id="1150" name="Google Shape;1150;p86"/>
            <p:cNvSpPr/>
            <p:nvPr/>
          </p:nvSpPr>
          <p:spPr>
            <a:xfrm>
              <a:off x="5653599" y="2037066"/>
              <a:ext cx="2335976" cy="1167988"/>
            </a:xfrm>
            <a:prstGeom prst="rect">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86"/>
            <p:cNvSpPr txBox="1"/>
            <p:nvPr/>
          </p:nvSpPr>
          <p:spPr>
            <a:xfrm>
              <a:off x="5653599" y="2037066"/>
              <a:ext cx="2335976" cy="1167988"/>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dk1"/>
                </a:buClr>
                <a:buSzPts val="2300"/>
                <a:buFont typeface="Garamond"/>
                <a:buNone/>
              </a:pPr>
              <a:r>
                <a:rPr lang="es-BO" sz="2300">
                  <a:solidFill>
                    <a:schemeClr val="dk1"/>
                  </a:solidFill>
                  <a:latin typeface="Garamond"/>
                  <a:ea typeface="Garamond"/>
                  <a:cs typeface="Garamond"/>
                  <a:sym typeface="Garamond"/>
                </a:rPr>
                <a:t>Dosificación manual y automática </a:t>
              </a:r>
              <a:endParaRPr sz="2300">
                <a:solidFill>
                  <a:schemeClr val="dk1"/>
                </a:solidFill>
                <a:latin typeface="Garamond"/>
                <a:ea typeface="Garamond"/>
                <a:cs typeface="Garamond"/>
                <a:sym typeface="Garamond"/>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87"/>
          <p:cNvSpPr txBox="1"/>
          <p:nvPr>
            <p:ph type="title"/>
          </p:nvPr>
        </p:nvSpPr>
        <p:spPr>
          <a:xfrm>
            <a:off x="1066800" y="642594"/>
            <a:ext cx="10058400" cy="55048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62626"/>
              </a:buClr>
              <a:buSzPts val="3200"/>
              <a:buFont typeface="Garamond"/>
              <a:buNone/>
            </a:pPr>
            <a:r>
              <a:rPr lang="es-BO" sz="3200"/>
              <a:t>TECLAS DE NAVEGACION PARA EL DOSIFICADOR </a:t>
            </a:r>
            <a:endParaRPr sz="3200"/>
          </a:p>
        </p:txBody>
      </p:sp>
      <p:pic>
        <p:nvPicPr>
          <p:cNvPr id="1157" name="Google Shape;1157;p87"/>
          <p:cNvPicPr preferRelativeResize="0"/>
          <p:nvPr>
            <p:ph idx="1" type="body"/>
          </p:nvPr>
        </p:nvPicPr>
        <p:blipFill rotWithShape="1">
          <a:blip r:embed="rId3">
            <a:alphaModFix/>
          </a:blip>
          <a:srcRect b="0" l="0" r="0" t="0"/>
          <a:stretch/>
        </p:blipFill>
        <p:spPr>
          <a:xfrm>
            <a:off x="1066800" y="1865652"/>
            <a:ext cx="4033063" cy="3932237"/>
          </a:xfrm>
          <a:prstGeom prst="rect">
            <a:avLst/>
          </a:prstGeom>
          <a:noFill/>
          <a:ln>
            <a:noFill/>
          </a:ln>
        </p:spPr>
      </p:pic>
      <p:pic>
        <p:nvPicPr>
          <p:cNvPr id="1158" name="Google Shape;1158;p87"/>
          <p:cNvPicPr preferRelativeResize="0"/>
          <p:nvPr/>
        </p:nvPicPr>
        <p:blipFill rotWithShape="1">
          <a:blip r:embed="rId4">
            <a:alphaModFix/>
          </a:blip>
          <a:srcRect b="0" l="0" r="0" t="0"/>
          <a:stretch/>
        </p:blipFill>
        <p:spPr>
          <a:xfrm>
            <a:off x="5752174" y="1865652"/>
            <a:ext cx="5687169" cy="3932237"/>
          </a:xfrm>
          <a:prstGeom prst="rect">
            <a:avLst/>
          </a:prstGeom>
          <a:noFill/>
          <a:ln>
            <a:noFill/>
          </a:ln>
        </p:spPr>
      </p:pic>
      <p:pic>
        <p:nvPicPr>
          <p:cNvPr id="1159" name="Google Shape;1159;p87"/>
          <p:cNvPicPr preferRelativeResize="0"/>
          <p:nvPr/>
        </p:nvPicPr>
        <p:blipFill rotWithShape="1">
          <a:blip r:embed="rId5">
            <a:alphaModFix/>
          </a:blip>
          <a:srcRect b="0" l="0" r="0" t="0"/>
          <a:stretch/>
        </p:blipFill>
        <p:spPr>
          <a:xfrm>
            <a:off x="5766220" y="1412777"/>
            <a:ext cx="5687169" cy="4837985"/>
          </a:xfrm>
          <a:prstGeom prst="rect">
            <a:avLst/>
          </a:prstGeom>
          <a:noFill/>
          <a:ln>
            <a:noFill/>
          </a:ln>
        </p:spPr>
      </p:pic>
      <p:sp>
        <p:nvSpPr>
          <p:cNvPr id="1160" name="Google Shape;1160;p87"/>
          <p:cNvSpPr/>
          <p:nvPr/>
        </p:nvSpPr>
        <p:spPr>
          <a:xfrm>
            <a:off x="4833257" y="2281646"/>
            <a:ext cx="789779" cy="1375954"/>
          </a:xfrm>
          <a:prstGeom prst="rightArrow">
            <a:avLst>
              <a:gd fmla="val 50000" name="adj1"/>
              <a:gd fmla="val 50000" name="adj2"/>
            </a:avLst>
          </a:prstGeom>
          <a:solidFill>
            <a:srgbClr val="C00000"/>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58"/>
                                        </p:tgtEl>
                                      </p:cBhvr>
                                    </p:animEffect>
                                    <p:set>
                                      <p:cBhvr>
                                        <p:cTn dur="1" fill="hold">
                                          <p:stCondLst>
                                            <p:cond delay="500"/>
                                          </p:stCondLst>
                                        </p:cTn>
                                        <p:tgtEl>
                                          <p:spTgt spid="11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88"/>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lang="es-BO"/>
              <a:t>DOSIFICADOR</a:t>
            </a:r>
            <a:endParaRPr/>
          </a:p>
        </p:txBody>
      </p:sp>
      <p:pic>
        <p:nvPicPr>
          <p:cNvPr id="1166" name="Google Shape;1166;p88"/>
          <p:cNvPicPr preferRelativeResize="0"/>
          <p:nvPr>
            <p:ph idx="1" type="body"/>
          </p:nvPr>
        </p:nvPicPr>
        <p:blipFill rotWithShape="1">
          <a:blip r:embed="rId3">
            <a:alphaModFix/>
          </a:blip>
          <a:srcRect b="0" l="0" r="0" t="0"/>
          <a:stretch/>
        </p:blipFill>
        <p:spPr>
          <a:xfrm>
            <a:off x="801734" y="2153246"/>
            <a:ext cx="5294266" cy="3932237"/>
          </a:xfrm>
          <a:prstGeom prst="rect">
            <a:avLst/>
          </a:prstGeom>
          <a:noFill/>
          <a:ln>
            <a:noFill/>
          </a:ln>
        </p:spPr>
      </p:pic>
      <p:grpSp>
        <p:nvGrpSpPr>
          <p:cNvPr id="1167" name="Google Shape;1167;p88"/>
          <p:cNvGrpSpPr/>
          <p:nvPr/>
        </p:nvGrpSpPr>
        <p:grpSpPr>
          <a:xfrm>
            <a:off x="6616713" y="943794"/>
            <a:ext cx="3817218" cy="3036305"/>
            <a:chOff x="185433" y="211"/>
            <a:chExt cx="3817218" cy="3036305"/>
          </a:xfrm>
        </p:grpSpPr>
        <p:sp>
          <p:nvSpPr>
            <p:cNvPr id="1168" name="Google Shape;1168;p88"/>
            <p:cNvSpPr/>
            <p:nvPr/>
          </p:nvSpPr>
          <p:spPr>
            <a:xfrm>
              <a:off x="185433" y="65201"/>
              <a:ext cx="1278444" cy="639222"/>
            </a:xfrm>
            <a:prstGeom prst="roundRect">
              <a:avLst>
                <a:gd fmla="val 10000" name="adj"/>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88"/>
            <p:cNvSpPr txBox="1"/>
            <p:nvPr/>
          </p:nvSpPr>
          <p:spPr>
            <a:xfrm>
              <a:off x="204155" y="83923"/>
              <a:ext cx="1241000" cy="601778"/>
            </a:xfrm>
            <a:prstGeom prst="rect">
              <a:avLst/>
            </a:prstGeom>
            <a:noFill/>
            <a:ln>
              <a:noFill/>
            </a:ln>
          </p:spPr>
          <p:txBody>
            <a:bodyPr anchorCtr="0" anchor="ctr" bIns="13950" lIns="20950" spcFirstLastPara="1" rIns="20950" wrap="square" tIns="13950">
              <a:noAutofit/>
            </a:bodyPr>
            <a:lstStyle/>
            <a:p>
              <a:pPr indent="0" lvl="0" marL="0" marR="0" rtl="0" algn="ctr">
                <a:lnSpc>
                  <a:spcPct val="90000"/>
                </a:lnSpc>
                <a:spcBef>
                  <a:spcPts val="0"/>
                </a:spcBef>
                <a:spcAft>
                  <a:spcPts val="0"/>
                </a:spcAft>
                <a:buClr>
                  <a:schemeClr val="lt1"/>
                </a:buClr>
                <a:buSzPts val="1100"/>
                <a:buFont typeface="Garamond"/>
                <a:buNone/>
              </a:pPr>
              <a:r>
                <a:rPr b="1" lang="es-BO" sz="1100">
                  <a:solidFill>
                    <a:schemeClr val="lt1"/>
                  </a:solidFill>
                  <a:latin typeface="Garamond"/>
                  <a:ea typeface="Garamond"/>
                  <a:cs typeface="Garamond"/>
                  <a:sym typeface="Garamond"/>
                </a:rPr>
                <a:t>Modo de visualización   </a:t>
              </a:r>
              <a:endParaRPr sz="1100">
                <a:solidFill>
                  <a:schemeClr val="lt1"/>
                </a:solidFill>
                <a:latin typeface="Garamond"/>
                <a:ea typeface="Garamond"/>
                <a:cs typeface="Garamond"/>
                <a:sym typeface="Garamond"/>
              </a:endParaRPr>
            </a:p>
          </p:txBody>
        </p:sp>
        <p:sp>
          <p:nvSpPr>
            <p:cNvPr id="1170" name="Google Shape;1170;p88"/>
            <p:cNvSpPr/>
            <p:nvPr/>
          </p:nvSpPr>
          <p:spPr>
            <a:xfrm>
              <a:off x="2724207" y="211"/>
              <a:ext cx="1278444" cy="639222"/>
            </a:xfrm>
            <a:prstGeom prst="roundRect">
              <a:avLst>
                <a:gd fmla="val 10000" name="adj"/>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88"/>
            <p:cNvSpPr txBox="1"/>
            <p:nvPr/>
          </p:nvSpPr>
          <p:spPr>
            <a:xfrm>
              <a:off x="2742929" y="18933"/>
              <a:ext cx="1241000" cy="601778"/>
            </a:xfrm>
            <a:prstGeom prst="rect">
              <a:avLst/>
            </a:prstGeom>
            <a:noFill/>
            <a:ln>
              <a:noFill/>
            </a:ln>
          </p:spPr>
          <p:txBody>
            <a:bodyPr anchorCtr="0" anchor="ctr" bIns="13950" lIns="20950" spcFirstLastPara="1" rIns="20950" wrap="square" tIns="13950">
              <a:noAutofit/>
            </a:bodyPr>
            <a:lstStyle/>
            <a:p>
              <a:pPr indent="0" lvl="0" marL="0" marR="0" rtl="0" algn="ctr">
                <a:lnSpc>
                  <a:spcPct val="90000"/>
                </a:lnSpc>
                <a:spcBef>
                  <a:spcPts val="0"/>
                </a:spcBef>
                <a:spcAft>
                  <a:spcPts val="0"/>
                </a:spcAft>
                <a:buClr>
                  <a:schemeClr val="lt1"/>
                </a:buClr>
                <a:buSzPts val="1100"/>
                <a:buFont typeface="Garamond"/>
                <a:buNone/>
              </a:pPr>
              <a:r>
                <a:rPr lang="es-BO" sz="1100">
                  <a:solidFill>
                    <a:schemeClr val="lt1"/>
                  </a:solidFill>
                  <a:latin typeface="Garamond"/>
                  <a:ea typeface="Garamond"/>
                  <a:cs typeface="Garamond"/>
                  <a:sym typeface="Garamond"/>
                </a:rPr>
                <a:t>Es el modo que viene por defecto al encender el equipo, se puede observar:</a:t>
              </a:r>
              <a:endParaRPr sz="1100">
                <a:solidFill>
                  <a:schemeClr val="lt1"/>
                </a:solidFill>
                <a:latin typeface="Garamond"/>
                <a:ea typeface="Garamond"/>
                <a:cs typeface="Garamond"/>
                <a:sym typeface="Garamond"/>
              </a:endParaRPr>
            </a:p>
          </p:txBody>
        </p:sp>
        <p:sp>
          <p:nvSpPr>
            <p:cNvPr id="1172" name="Google Shape;1172;p88"/>
            <p:cNvSpPr/>
            <p:nvPr/>
          </p:nvSpPr>
          <p:spPr>
            <a:xfrm>
              <a:off x="2852051" y="639434"/>
              <a:ext cx="127844" cy="479416"/>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1173" name="Google Shape;1173;p88"/>
            <p:cNvSpPr/>
            <p:nvPr/>
          </p:nvSpPr>
          <p:spPr>
            <a:xfrm>
              <a:off x="2979895" y="799239"/>
              <a:ext cx="1022755" cy="639222"/>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88"/>
            <p:cNvSpPr txBox="1"/>
            <p:nvPr/>
          </p:nvSpPr>
          <p:spPr>
            <a:xfrm>
              <a:off x="2998617" y="817961"/>
              <a:ext cx="985311" cy="601778"/>
            </a:xfrm>
            <a:prstGeom prst="rect">
              <a:avLst/>
            </a:prstGeom>
            <a:noFill/>
            <a:ln>
              <a:noFill/>
            </a:ln>
          </p:spPr>
          <p:txBody>
            <a:bodyPr anchorCtr="0" anchor="ctr" bIns="13950" lIns="20950" spcFirstLastPara="1" rIns="20950" wrap="square" tIns="13950">
              <a:noAutofit/>
            </a:bodyPr>
            <a:lstStyle/>
            <a:p>
              <a:pPr indent="0" lvl="0" marL="0" marR="0" rtl="0" algn="ctr">
                <a:lnSpc>
                  <a:spcPct val="90000"/>
                </a:lnSpc>
                <a:spcBef>
                  <a:spcPts val="0"/>
                </a:spcBef>
                <a:spcAft>
                  <a:spcPts val="0"/>
                </a:spcAft>
                <a:buClr>
                  <a:schemeClr val="dk1"/>
                </a:buClr>
                <a:buSzPts val="1100"/>
                <a:buFont typeface="Garamond"/>
                <a:buNone/>
              </a:pPr>
              <a:r>
                <a:rPr lang="es-BO" sz="1100">
                  <a:solidFill>
                    <a:schemeClr val="dk1"/>
                  </a:solidFill>
                  <a:latin typeface="Garamond"/>
                  <a:ea typeface="Garamond"/>
                  <a:cs typeface="Garamond"/>
                  <a:sym typeface="Garamond"/>
                </a:rPr>
                <a:t>El volumen dosificado</a:t>
              </a:r>
              <a:endParaRPr sz="1100">
                <a:solidFill>
                  <a:schemeClr val="dk1"/>
                </a:solidFill>
                <a:latin typeface="Garamond"/>
                <a:ea typeface="Garamond"/>
                <a:cs typeface="Garamond"/>
                <a:sym typeface="Garamond"/>
              </a:endParaRPr>
            </a:p>
          </p:txBody>
        </p:sp>
        <p:sp>
          <p:nvSpPr>
            <p:cNvPr id="1175" name="Google Shape;1175;p88"/>
            <p:cNvSpPr/>
            <p:nvPr/>
          </p:nvSpPr>
          <p:spPr>
            <a:xfrm>
              <a:off x="2852051" y="639434"/>
              <a:ext cx="127844" cy="1278444"/>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1176" name="Google Shape;1176;p88"/>
            <p:cNvSpPr/>
            <p:nvPr/>
          </p:nvSpPr>
          <p:spPr>
            <a:xfrm>
              <a:off x="2979895" y="1598267"/>
              <a:ext cx="1022755" cy="639222"/>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88"/>
            <p:cNvSpPr txBox="1"/>
            <p:nvPr/>
          </p:nvSpPr>
          <p:spPr>
            <a:xfrm>
              <a:off x="2998617" y="1616989"/>
              <a:ext cx="985311" cy="601778"/>
            </a:xfrm>
            <a:prstGeom prst="rect">
              <a:avLst/>
            </a:prstGeom>
            <a:noFill/>
            <a:ln>
              <a:noFill/>
            </a:ln>
          </p:spPr>
          <p:txBody>
            <a:bodyPr anchorCtr="0" anchor="ctr" bIns="13950" lIns="20950" spcFirstLastPara="1" rIns="20950" wrap="square" tIns="13950">
              <a:noAutofit/>
            </a:bodyPr>
            <a:lstStyle/>
            <a:p>
              <a:pPr indent="0" lvl="0" marL="0" marR="0" rtl="0" algn="ctr">
                <a:lnSpc>
                  <a:spcPct val="90000"/>
                </a:lnSpc>
                <a:spcBef>
                  <a:spcPts val="0"/>
                </a:spcBef>
                <a:spcAft>
                  <a:spcPts val="0"/>
                </a:spcAft>
                <a:buClr>
                  <a:schemeClr val="dk1"/>
                </a:buClr>
                <a:buSzPts val="1100"/>
                <a:buFont typeface="Garamond"/>
                <a:buNone/>
              </a:pPr>
              <a:r>
                <a:rPr lang="es-BO" sz="1100">
                  <a:solidFill>
                    <a:schemeClr val="dk1"/>
                  </a:solidFill>
                  <a:latin typeface="Garamond"/>
                  <a:ea typeface="Garamond"/>
                  <a:cs typeface="Garamond"/>
                  <a:sym typeface="Garamond"/>
                </a:rPr>
                <a:t>El caudal en las unidades seleccionadas</a:t>
              </a:r>
              <a:endParaRPr sz="1100">
                <a:solidFill>
                  <a:schemeClr val="dk1"/>
                </a:solidFill>
                <a:latin typeface="Garamond"/>
                <a:ea typeface="Garamond"/>
                <a:cs typeface="Garamond"/>
                <a:sym typeface="Garamond"/>
              </a:endParaRPr>
            </a:p>
          </p:txBody>
        </p:sp>
        <p:sp>
          <p:nvSpPr>
            <p:cNvPr id="1178" name="Google Shape;1178;p88"/>
            <p:cNvSpPr/>
            <p:nvPr/>
          </p:nvSpPr>
          <p:spPr>
            <a:xfrm>
              <a:off x="2852051" y="639434"/>
              <a:ext cx="127844" cy="2077471"/>
            </a:xfrm>
            <a:custGeom>
              <a:rect b="b" l="l" r="r" t="t"/>
              <a:pathLst>
                <a:path extrusionOk="0" h="120000" w="120000">
                  <a:moveTo>
                    <a:pt x="0" y="0"/>
                  </a:moveTo>
                  <a:lnTo>
                    <a:pt x="0" y="120000"/>
                  </a:lnTo>
                  <a:lnTo>
                    <a:pt x="120000" y="120000"/>
                  </a:lnTo>
                </a:path>
              </a:pathLst>
            </a:custGeom>
            <a:noFill/>
            <a:ln cap="flat" cmpd="sng" w="12700">
              <a:solidFill>
                <a:srgbClr val="708B9E"/>
              </a:solidFill>
              <a:prstDash val="solid"/>
              <a:round/>
              <a:headEnd len="sm" w="sm" type="none"/>
              <a:tailEnd len="sm" w="sm" type="none"/>
            </a:ln>
          </p:spPr>
        </p:sp>
        <p:sp>
          <p:nvSpPr>
            <p:cNvPr id="1179" name="Google Shape;1179;p88"/>
            <p:cNvSpPr/>
            <p:nvPr/>
          </p:nvSpPr>
          <p:spPr>
            <a:xfrm>
              <a:off x="2979895" y="2397294"/>
              <a:ext cx="1022755" cy="639222"/>
            </a:xfrm>
            <a:prstGeom prst="roundRect">
              <a:avLst>
                <a:gd fmla="val 10000" name="adj"/>
              </a:avLst>
            </a:prstGeom>
            <a:solidFill>
              <a:schemeClr val="lt1">
                <a:alpha val="89803"/>
              </a:schemeClr>
            </a:solidFill>
            <a:ln cap="flat" cmpd="sng" w="12700">
              <a:solidFill>
                <a:srgbClr val="91B0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88"/>
            <p:cNvSpPr txBox="1"/>
            <p:nvPr/>
          </p:nvSpPr>
          <p:spPr>
            <a:xfrm>
              <a:off x="2998617" y="2416016"/>
              <a:ext cx="985311" cy="601778"/>
            </a:xfrm>
            <a:prstGeom prst="rect">
              <a:avLst/>
            </a:prstGeom>
            <a:noFill/>
            <a:ln>
              <a:noFill/>
            </a:ln>
          </p:spPr>
          <p:txBody>
            <a:bodyPr anchorCtr="0" anchor="ctr" bIns="13950" lIns="20950" spcFirstLastPara="1" rIns="20950" wrap="square" tIns="13950">
              <a:noAutofit/>
            </a:bodyPr>
            <a:lstStyle/>
            <a:p>
              <a:pPr indent="0" lvl="0" marL="0" marR="0" rtl="0" algn="ctr">
                <a:lnSpc>
                  <a:spcPct val="90000"/>
                </a:lnSpc>
                <a:spcBef>
                  <a:spcPts val="0"/>
                </a:spcBef>
                <a:spcAft>
                  <a:spcPts val="0"/>
                </a:spcAft>
                <a:buClr>
                  <a:schemeClr val="dk1"/>
                </a:buClr>
                <a:buSzPts val="1100"/>
                <a:buFont typeface="Garamond"/>
                <a:buNone/>
              </a:pPr>
              <a:r>
                <a:rPr lang="es-BO" sz="1100">
                  <a:solidFill>
                    <a:schemeClr val="dk1"/>
                  </a:solidFill>
                  <a:latin typeface="Garamond"/>
                  <a:ea typeface="Garamond"/>
                  <a:cs typeface="Garamond"/>
                  <a:sym typeface="Garamond"/>
                </a:rPr>
                <a:t>Una cuenta hacia atrás de un volumen configurado</a:t>
              </a:r>
              <a:endParaRPr sz="1100">
                <a:solidFill>
                  <a:schemeClr val="dk1"/>
                </a:solidFill>
                <a:latin typeface="Garamond"/>
                <a:ea typeface="Garamond"/>
                <a:cs typeface="Garamond"/>
                <a:sym typeface="Garamond"/>
              </a:endParaRPr>
            </a:p>
          </p:txBody>
        </p:sp>
      </p:grpSp>
      <p:pic>
        <p:nvPicPr>
          <p:cNvPr id="1181" name="Google Shape;1181;p88"/>
          <p:cNvPicPr preferRelativeResize="0"/>
          <p:nvPr/>
        </p:nvPicPr>
        <p:blipFill rotWithShape="1">
          <a:blip r:embed="rId4">
            <a:alphaModFix/>
          </a:blip>
          <a:srcRect b="0" l="0" r="0" t="0"/>
          <a:stretch/>
        </p:blipFill>
        <p:spPr>
          <a:xfrm>
            <a:off x="6616716" y="4281301"/>
            <a:ext cx="4943367" cy="1804182"/>
          </a:xfrm>
          <a:prstGeom prst="rect">
            <a:avLst/>
          </a:prstGeom>
          <a:noFill/>
          <a:ln>
            <a:noFill/>
          </a:ln>
        </p:spPr>
      </p:pic>
      <p:sp>
        <p:nvSpPr>
          <p:cNvPr id="1182" name="Google Shape;1182;p88"/>
          <p:cNvSpPr/>
          <p:nvPr/>
        </p:nvSpPr>
        <p:spPr>
          <a:xfrm>
            <a:off x="8090263" y="1019239"/>
            <a:ext cx="757645" cy="618309"/>
          </a:xfrm>
          <a:prstGeom prst="rightArrow">
            <a:avLst>
              <a:gd fmla="val 50000" name="adj1"/>
              <a:gd fmla="val 50000" name="adj2"/>
            </a:avLst>
          </a:prstGeom>
          <a:solidFill>
            <a:schemeClr val="accent1"/>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166"/>
                                        </p:tgtEl>
                                        <p:attrNameLst>
                                          <p:attrName>style.visibility</p:attrName>
                                        </p:attrNameLst>
                                      </p:cBhvr>
                                      <p:to>
                                        <p:strVal val="visible"/>
                                      </p:to>
                                    </p:set>
                                    <p:anim calcmode="lin" valueType="num">
                                      <p:cBhvr additive="base">
                                        <p:cTn dur="500"/>
                                        <p:tgtEl>
                                          <p:spTgt spid="1166"/>
                                        </p:tgtEl>
                                        <p:attrNameLst>
                                          <p:attrName>ppt_w</p:attrName>
                                        </p:attrNameLst>
                                      </p:cBhvr>
                                      <p:tavLst>
                                        <p:tav fmla="" tm="0">
                                          <p:val>
                                            <p:strVal val="0"/>
                                          </p:val>
                                        </p:tav>
                                        <p:tav fmla="" tm="100000">
                                          <p:val>
                                            <p:strVal val="#ppt_w"/>
                                          </p:val>
                                        </p:tav>
                                      </p:tavLst>
                                    </p:anim>
                                    <p:anim calcmode="lin" valueType="num">
                                      <p:cBhvr additive="base">
                                        <p:cTn dur="500"/>
                                        <p:tgtEl>
                                          <p:spTgt spid="1166"/>
                                        </p:tgtEl>
                                        <p:attrNameLst>
                                          <p:attrName>ppt_h</p:attrName>
                                        </p:attrNameLst>
                                      </p:cBhvr>
                                      <p:tavLst>
                                        <p:tav fmla="" tm="0">
                                          <p:val>
                                            <p:strVal val="0"/>
                                          </p:val>
                                        </p:tav>
                                        <p:tav fmla="" tm="100000">
                                          <p:val>
                                            <p:strVal val="#ppt_h"/>
                                          </p:val>
                                        </p:tav>
                                      </p:tavLst>
                                    </p:anim>
                                  </p:childTnLst>
                                </p:cTn>
                              </p:par>
                              <p:par>
                                <p:cTn fill="hold" nodeType="withEffect" presetClass="exit" presetID="1" presetSubtype="0">
                                  <p:stCondLst>
                                    <p:cond delay="0"/>
                                  </p:stCondLst>
                                  <p:childTnLst>
                                    <p:set>
                                      <p:cBhvr>
                                        <p:cTn dur="1" fill="hold">
                                          <p:stCondLst>
                                            <p:cond delay="1"/>
                                          </p:stCondLst>
                                        </p:cTn>
                                        <p:tgtEl>
                                          <p:spTgt spid="118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89"/>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b="1" lang="es-BO"/>
              <a:t>Dosificador </a:t>
            </a:r>
            <a:endParaRPr b="1"/>
          </a:p>
        </p:txBody>
      </p:sp>
      <p:graphicFrame>
        <p:nvGraphicFramePr>
          <p:cNvPr id="1188" name="Google Shape;1188;p89"/>
          <p:cNvGraphicFramePr/>
          <p:nvPr/>
        </p:nvGraphicFramePr>
        <p:xfrm>
          <a:off x="1401914" y="2108187"/>
          <a:ext cx="3000000" cy="3000000"/>
        </p:xfrm>
        <a:graphic>
          <a:graphicData uri="http://schemas.openxmlformats.org/drawingml/2006/table">
            <a:tbl>
              <a:tblPr bandRow="1" firstCol="1" firstRow="1" lastCol="1" lastRow="1">
                <a:gradFill>
                  <a:gsLst>
                    <a:gs pos="0">
                      <a:srgbClr val="F3CABC"/>
                    </a:gs>
                    <a:gs pos="100000">
                      <a:srgbClr val="EDB7A4"/>
                    </a:gs>
                  </a:gsLst>
                  <a:lin ang="5400000" scaled="0"/>
                </a:gradFill>
                <a:tableStyleId>{BF081ABF-AAE9-469E-924C-236F48C9CE28}</a:tableStyleId>
              </a:tblPr>
              <a:tblGrid>
                <a:gridCol w="1128375"/>
                <a:gridCol w="1036050"/>
              </a:tblGrid>
              <a:tr h="144775">
                <a:tc>
                  <a:txBody>
                    <a:bodyPr/>
                    <a:lstStyle/>
                    <a:p>
                      <a:pPr indent="0" lvl="0" marL="0" marR="0" rtl="0" algn="ctr">
                        <a:spcBef>
                          <a:spcPts val="0"/>
                        </a:spcBef>
                        <a:spcAft>
                          <a:spcPts val="0"/>
                        </a:spcAft>
                        <a:buNone/>
                      </a:pPr>
                      <a:r>
                        <a:rPr lang="es-BO" sz="1800"/>
                        <a:t>Voltaje</a:t>
                      </a:r>
                      <a:endParaRPr sz="1800"/>
                    </a:p>
                  </a:txBody>
                  <a:tcPr marT="0" marB="0" marR="22850" marL="22850" anchor="b"/>
                </a:tc>
                <a:tc>
                  <a:txBody>
                    <a:bodyPr/>
                    <a:lstStyle/>
                    <a:p>
                      <a:pPr indent="0" lvl="0" marL="0" marR="0" rtl="0" algn="ctr">
                        <a:spcBef>
                          <a:spcPts val="0"/>
                        </a:spcBef>
                        <a:spcAft>
                          <a:spcPts val="0"/>
                        </a:spcAft>
                        <a:buNone/>
                      </a:pPr>
                      <a:r>
                        <a:rPr lang="es-BO" sz="1800"/>
                        <a:t>Caudal</a:t>
                      </a:r>
                      <a:endParaRPr/>
                    </a:p>
                  </a:txBody>
                  <a:tcPr marT="0" marB="0" marR="22850" marL="22850" anchor="b"/>
                </a:tc>
              </a:tr>
              <a:tr h="144775">
                <a:tc>
                  <a:txBody>
                    <a:bodyPr/>
                    <a:lstStyle/>
                    <a:p>
                      <a:pPr indent="0" lvl="0" marL="0" marR="0" rtl="0" algn="ctr">
                        <a:spcBef>
                          <a:spcPts val="0"/>
                        </a:spcBef>
                        <a:spcAft>
                          <a:spcPts val="0"/>
                        </a:spcAft>
                        <a:buNone/>
                      </a:pPr>
                      <a:r>
                        <a:rPr lang="es-BO" sz="1800"/>
                        <a:t>99,7</a:t>
                      </a:r>
                      <a:endParaRPr/>
                    </a:p>
                  </a:txBody>
                  <a:tcPr marT="0" marB="0" marR="22850" marL="22850" anchor="b"/>
                </a:tc>
                <a:tc>
                  <a:txBody>
                    <a:bodyPr/>
                    <a:lstStyle/>
                    <a:p>
                      <a:pPr indent="0" lvl="0" marL="0" marR="0" rtl="0" algn="ctr">
                        <a:spcBef>
                          <a:spcPts val="0"/>
                        </a:spcBef>
                        <a:spcAft>
                          <a:spcPts val="0"/>
                        </a:spcAft>
                        <a:buNone/>
                      </a:pPr>
                      <a:r>
                        <a:rPr lang="es-BO" sz="1800"/>
                        <a:t>0,148</a:t>
                      </a:r>
                      <a:endParaRPr/>
                    </a:p>
                  </a:txBody>
                  <a:tcPr marT="0" marB="0" marR="22850" marL="22850" anchor="b"/>
                </a:tc>
              </a:tr>
              <a:tr h="144775">
                <a:tc>
                  <a:txBody>
                    <a:bodyPr/>
                    <a:lstStyle/>
                    <a:p>
                      <a:pPr indent="0" lvl="0" marL="0" marR="0" rtl="0" algn="ctr">
                        <a:spcBef>
                          <a:spcPts val="0"/>
                        </a:spcBef>
                        <a:spcAft>
                          <a:spcPts val="0"/>
                        </a:spcAft>
                        <a:buNone/>
                      </a:pPr>
                      <a:r>
                        <a:rPr lang="es-BO" sz="1800"/>
                        <a:t>110,5</a:t>
                      </a:r>
                      <a:endParaRPr/>
                    </a:p>
                  </a:txBody>
                  <a:tcPr marT="0" marB="0" marR="22850" marL="22850" anchor="b"/>
                </a:tc>
                <a:tc>
                  <a:txBody>
                    <a:bodyPr/>
                    <a:lstStyle/>
                    <a:p>
                      <a:pPr indent="0" lvl="0" marL="0" marR="0" rtl="0" algn="ctr">
                        <a:spcBef>
                          <a:spcPts val="0"/>
                        </a:spcBef>
                        <a:spcAft>
                          <a:spcPts val="0"/>
                        </a:spcAft>
                        <a:buNone/>
                      </a:pPr>
                      <a:r>
                        <a:rPr lang="es-BO" sz="1800"/>
                        <a:t>0,193</a:t>
                      </a:r>
                      <a:endParaRPr/>
                    </a:p>
                  </a:txBody>
                  <a:tcPr marT="0" marB="0" marR="22850" marL="22850" anchor="b"/>
                </a:tc>
              </a:tr>
              <a:tr h="144775">
                <a:tc>
                  <a:txBody>
                    <a:bodyPr/>
                    <a:lstStyle/>
                    <a:p>
                      <a:pPr indent="0" lvl="0" marL="0" marR="0" rtl="0" algn="ctr">
                        <a:spcBef>
                          <a:spcPts val="0"/>
                        </a:spcBef>
                        <a:spcAft>
                          <a:spcPts val="0"/>
                        </a:spcAft>
                        <a:buNone/>
                      </a:pPr>
                      <a:r>
                        <a:rPr lang="es-BO" sz="1800"/>
                        <a:t>120,1</a:t>
                      </a:r>
                      <a:endParaRPr/>
                    </a:p>
                  </a:txBody>
                  <a:tcPr marT="0" marB="0" marR="22850" marL="22850" anchor="b"/>
                </a:tc>
                <a:tc>
                  <a:txBody>
                    <a:bodyPr/>
                    <a:lstStyle/>
                    <a:p>
                      <a:pPr indent="0" lvl="0" marL="0" marR="0" rtl="0" algn="ctr">
                        <a:spcBef>
                          <a:spcPts val="0"/>
                        </a:spcBef>
                        <a:spcAft>
                          <a:spcPts val="0"/>
                        </a:spcAft>
                        <a:buNone/>
                      </a:pPr>
                      <a:r>
                        <a:rPr lang="es-BO" sz="1800"/>
                        <a:t>0,248</a:t>
                      </a:r>
                      <a:endParaRPr/>
                    </a:p>
                  </a:txBody>
                  <a:tcPr marT="0" marB="0" marR="22850" marL="22850" anchor="b"/>
                </a:tc>
              </a:tr>
              <a:tr h="144775">
                <a:tc>
                  <a:txBody>
                    <a:bodyPr/>
                    <a:lstStyle/>
                    <a:p>
                      <a:pPr indent="0" lvl="0" marL="0" marR="0" rtl="0" algn="ctr">
                        <a:spcBef>
                          <a:spcPts val="0"/>
                        </a:spcBef>
                        <a:spcAft>
                          <a:spcPts val="0"/>
                        </a:spcAft>
                        <a:buNone/>
                      </a:pPr>
                      <a:r>
                        <a:rPr lang="es-BO" sz="1800"/>
                        <a:t>130</a:t>
                      </a:r>
                      <a:endParaRPr/>
                    </a:p>
                  </a:txBody>
                  <a:tcPr marT="0" marB="0" marR="22850" marL="22850" anchor="b"/>
                </a:tc>
                <a:tc>
                  <a:txBody>
                    <a:bodyPr/>
                    <a:lstStyle/>
                    <a:p>
                      <a:pPr indent="0" lvl="0" marL="0" marR="0" rtl="0" algn="ctr">
                        <a:spcBef>
                          <a:spcPts val="0"/>
                        </a:spcBef>
                        <a:spcAft>
                          <a:spcPts val="0"/>
                        </a:spcAft>
                        <a:buNone/>
                      </a:pPr>
                      <a:r>
                        <a:rPr lang="es-BO" sz="1800"/>
                        <a:t>0,254</a:t>
                      </a:r>
                      <a:endParaRPr/>
                    </a:p>
                  </a:txBody>
                  <a:tcPr marT="0" marB="0" marR="22850" marL="22850" anchor="b"/>
                </a:tc>
              </a:tr>
              <a:tr h="144775">
                <a:tc>
                  <a:txBody>
                    <a:bodyPr/>
                    <a:lstStyle/>
                    <a:p>
                      <a:pPr indent="0" lvl="0" marL="0" marR="0" rtl="0" algn="ctr">
                        <a:spcBef>
                          <a:spcPts val="0"/>
                        </a:spcBef>
                        <a:spcAft>
                          <a:spcPts val="0"/>
                        </a:spcAft>
                        <a:buNone/>
                      </a:pPr>
                      <a:r>
                        <a:rPr lang="es-BO" sz="1800"/>
                        <a:t>141,1</a:t>
                      </a:r>
                      <a:endParaRPr/>
                    </a:p>
                  </a:txBody>
                  <a:tcPr marT="0" marB="0" marR="22850" marL="22850" anchor="b"/>
                </a:tc>
                <a:tc>
                  <a:txBody>
                    <a:bodyPr/>
                    <a:lstStyle/>
                    <a:p>
                      <a:pPr indent="0" lvl="0" marL="0" marR="0" rtl="0" algn="ctr">
                        <a:spcBef>
                          <a:spcPts val="0"/>
                        </a:spcBef>
                        <a:spcAft>
                          <a:spcPts val="0"/>
                        </a:spcAft>
                        <a:buNone/>
                      </a:pPr>
                      <a:r>
                        <a:rPr lang="es-BO" sz="1800"/>
                        <a:t>0,292</a:t>
                      </a:r>
                      <a:endParaRPr/>
                    </a:p>
                  </a:txBody>
                  <a:tcPr marT="0" marB="0" marR="22850" marL="22850" anchor="b"/>
                </a:tc>
              </a:tr>
              <a:tr h="144775">
                <a:tc>
                  <a:txBody>
                    <a:bodyPr/>
                    <a:lstStyle/>
                    <a:p>
                      <a:pPr indent="0" lvl="0" marL="0" marR="0" rtl="0" algn="ctr">
                        <a:spcBef>
                          <a:spcPts val="0"/>
                        </a:spcBef>
                        <a:spcAft>
                          <a:spcPts val="0"/>
                        </a:spcAft>
                        <a:buNone/>
                      </a:pPr>
                      <a:r>
                        <a:rPr lang="es-BO" sz="1800"/>
                        <a:t>151,2</a:t>
                      </a:r>
                      <a:endParaRPr/>
                    </a:p>
                  </a:txBody>
                  <a:tcPr marT="0" marB="0" marR="22850" marL="22850" anchor="b"/>
                </a:tc>
                <a:tc>
                  <a:txBody>
                    <a:bodyPr/>
                    <a:lstStyle/>
                    <a:p>
                      <a:pPr indent="0" lvl="0" marL="0" marR="0" rtl="0" algn="ctr">
                        <a:spcBef>
                          <a:spcPts val="0"/>
                        </a:spcBef>
                        <a:spcAft>
                          <a:spcPts val="0"/>
                        </a:spcAft>
                        <a:buNone/>
                      </a:pPr>
                      <a:r>
                        <a:rPr lang="es-BO" sz="1800"/>
                        <a:t>0,32</a:t>
                      </a:r>
                      <a:endParaRPr/>
                    </a:p>
                  </a:txBody>
                  <a:tcPr marT="0" marB="0" marR="22850" marL="22850" anchor="b"/>
                </a:tc>
              </a:tr>
              <a:tr h="144775">
                <a:tc>
                  <a:txBody>
                    <a:bodyPr/>
                    <a:lstStyle/>
                    <a:p>
                      <a:pPr indent="0" lvl="0" marL="0" marR="0" rtl="0" algn="ctr">
                        <a:spcBef>
                          <a:spcPts val="0"/>
                        </a:spcBef>
                        <a:spcAft>
                          <a:spcPts val="0"/>
                        </a:spcAft>
                        <a:buNone/>
                      </a:pPr>
                      <a:r>
                        <a:rPr lang="es-BO" sz="1800"/>
                        <a:t>160</a:t>
                      </a:r>
                      <a:endParaRPr/>
                    </a:p>
                  </a:txBody>
                  <a:tcPr marT="0" marB="0" marR="22850" marL="22850" anchor="b"/>
                </a:tc>
                <a:tc>
                  <a:txBody>
                    <a:bodyPr/>
                    <a:lstStyle/>
                    <a:p>
                      <a:pPr indent="0" lvl="0" marL="0" marR="0" rtl="0" algn="ctr">
                        <a:spcBef>
                          <a:spcPts val="0"/>
                        </a:spcBef>
                        <a:spcAft>
                          <a:spcPts val="0"/>
                        </a:spcAft>
                        <a:buNone/>
                      </a:pPr>
                      <a:r>
                        <a:rPr lang="es-BO" sz="1800"/>
                        <a:t>0,342</a:t>
                      </a:r>
                      <a:endParaRPr/>
                    </a:p>
                  </a:txBody>
                  <a:tcPr marT="0" marB="0" marR="22850" marL="22850" anchor="b"/>
                </a:tc>
              </a:tr>
              <a:tr h="144775">
                <a:tc>
                  <a:txBody>
                    <a:bodyPr/>
                    <a:lstStyle/>
                    <a:p>
                      <a:pPr indent="0" lvl="0" marL="0" marR="0" rtl="0" algn="ctr">
                        <a:spcBef>
                          <a:spcPts val="0"/>
                        </a:spcBef>
                        <a:spcAft>
                          <a:spcPts val="0"/>
                        </a:spcAft>
                        <a:buNone/>
                      </a:pPr>
                      <a:r>
                        <a:rPr lang="es-BO" sz="1800"/>
                        <a:t>170,8</a:t>
                      </a:r>
                      <a:endParaRPr/>
                    </a:p>
                  </a:txBody>
                  <a:tcPr marT="0" marB="0" marR="22850" marL="22850" anchor="b"/>
                </a:tc>
                <a:tc>
                  <a:txBody>
                    <a:bodyPr/>
                    <a:lstStyle/>
                    <a:p>
                      <a:pPr indent="0" lvl="0" marL="0" marR="0" rtl="0" algn="ctr">
                        <a:spcBef>
                          <a:spcPts val="0"/>
                        </a:spcBef>
                        <a:spcAft>
                          <a:spcPts val="0"/>
                        </a:spcAft>
                        <a:buNone/>
                      </a:pPr>
                      <a:r>
                        <a:rPr lang="es-BO" sz="1800"/>
                        <a:t>0,389</a:t>
                      </a:r>
                      <a:endParaRPr/>
                    </a:p>
                  </a:txBody>
                  <a:tcPr marT="0" marB="0" marR="22850" marL="22850" anchor="b"/>
                </a:tc>
              </a:tr>
              <a:tr h="144775">
                <a:tc>
                  <a:txBody>
                    <a:bodyPr/>
                    <a:lstStyle/>
                    <a:p>
                      <a:pPr indent="0" lvl="0" marL="0" marR="0" rtl="0" algn="ctr">
                        <a:spcBef>
                          <a:spcPts val="0"/>
                        </a:spcBef>
                        <a:spcAft>
                          <a:spcPts val="0"/>
                        </a:spcAft>
                        <a:buNone/>
                      </a:pPr>
                      <a:r>
                        <a:rPr lang="es-BO" sz="1800"/>
                        <a:t>179,4</a:t>
                      </a:r>
                      <a:endParaRPr/>
                    </a:p>
                  </a:txBody>
                  <a:tcPr marT="0" marB="0" marR="22850" marL="22850" anchor="b"/>
                </a:tc>
                <a:tc>
                  <a:txBody>
                    <a:bodyPr/>
                    <a:lstStyle/>
                    <a:p>
                      <a:pPr indent="0" lvl="0" marL="0" marR="0" rtl="0" algn="ctr">
                        <a:spcBef>
                          <a:spcPts val="0"/>
                        </a:spcBef>
                        <a:spcAft>
                          <a:spcPts val="0"/>
                        </a:spcAft>
                        <a:buNone/>
                      </a:pPr>
                      <a:r>
                        <a:rPr lang="es-BO" sz="1800"/>
                        <a:t>0,414</a:t>
                      </a:r>
                      <a:endParaRPr/>
                    </a:p>
                  </a:txBody>
                  <a:tcPr marT="0" marB="0" marR="22850" marL="22850" anchor="b"/>
                </a:tc>
              </a:tr>
              <a:tr h="144775">
                <a:tc>
                  <a:txBody>
                    <a:bodyPr/>
                    <a:lstStyle/>
                    <a:p>
                      <a:pPr indent="0" lvl="0" marL="0" marR="0" rtl="0" algn="ctr">
                        <a:spcBef>
                          <a:spcPts val="0"/>
                        </a:spcBef>
                        <a:spcAft>
                          <a:spcPts val="0"/>
                        </a:spcAft>
                        <a:buNone/>
                      </a:pPr>
                      <a:r>
                        <a:rPr lang="es-BO" sz="1800"/>
                        <a:t>190,9</a:t>
                      </a:r>
                      <a:endParaRPr/>
                    </a:p>
                  </a:txBody>
                  <a:tcPr marT="0" marB="0" marR="22850" marL="22850" anchor="b"/>
                </a:tc>
                <a:tc>
                  <a:txBody>
                    <a:bodyPr/>
                    <a:lstStyle/>
                    <a:p>
                      <a:pPr indent="0" lvl="0" marL="0" marR="0" rtl="0" algn="ctr">
                        <a:spcBef>
                          <a:spcPts val="0"/>
                        </a:spcBef>
                        <a:spcAft>
                          <a:spcPts val="0"/>
                        </a:spcAft>
                        <a:buNone/>
                      </a:pPr>
                      <a:r>
                        <a:rPr lang="es-BO" sz="1800"/>
                        <a:t>0,447</a:t>
                      </a:r>
                      <a:endParaRPr/>
                    </a:p>
                  </a:txBody>
                  <a:tcPr marT="0" marB="0" marR="22850" marL="22850" anchor="b"/>
                </a:tc>
              </a:tr>
            </a:tbl>
          </a:graphicData>
        </a:graphic>
      </p:graphicFrame>
      <p:graphicFrame>
        <p:nvGraphicFramePr>
          <p:cNvPr id="1189" name="Google Shape;1189;p89"/>
          <p:cNvGraphicFramePr/>
          <p:nvPr/>
        </p:nvGraphicFramePr>
        <p:xfrm>
          <a:off x="4281714" y="1328393"/>
          <a:ext cx="7313386" cy="4695035"/>
        </p:xfrm>
        <a:graphic>
          <a:graphicData uri="http://schemas.openxmlformats.org/drawingml/2006/chart">
            <c:chart r:id="rId3"/>
          </a:graphicData>
        </a:graphic>
      </p:graphicFrame>
      <p:sp>
        <p:nvSpPr>
          <p:cNvPr id="1190" name="Google Shape;1190;p89"/>
          <p:cNvSpPr/>
          <p:nvPr/>
        </p:nvSpPr>
        <p:spPr>
          <a:xfrm>
            <a:off x="931817" y="5451566"/>
            <a:ext cx="3013166" cy="696685"/>
          </a:xfrm>
          <a:prstGeom prst="roundRect">
            <a:avLst>
              <a:gd fmla="val 16667" name="adj"/>
            </a:avLst>
          </a:prstGeom>
          <a:solidFill>
            <a:schemeClr val="accent1"/>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chemeClr val="dk1"/>
                </a:solidFill>
                <a:latin typeface="Garamond"/>
                <a:ea typeface="Garamond"/>
                <a:cs typeface="Garamond"/>
                <a:sym typeface="Garamond"/>
              </a:rPr>
              <a:t>Datos de voltaje y caudal obtenidos por el dosificador </a:t>
            </a:r>
            <a:endParaRPr sz="1800">
              <a:solidFill>
                <a:schemeClr val="dk1"/>
              </a:solidFill>
              <a:latin typeface="Garamond"/>
              <a:ea typeface="Garamond"/>
              <a:cs typeface="Garamond"/>
              <a:sym typeface="Garamon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90"/>
          <p:cNvSpPr txBox="1"/>
          <p:nvPr>
            <p:ph type="title"/>
          </p:nvPr>
        </p:nvSpPr>
        <p:spPr>
          <a:xfrm>
            <a:off x="1563623" y="2094309"/>
            <a:ext cx="9070848" cy="2587752"/>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rgbClr val="262626"/>
              </a:buClr>
              <a:buSzPts val="7200"/>
              <a:buFont typeface="Garamond"/>
              <a:buNone/>
            </a:pPr>
            <a:r>
              <a:rPr b="1" lang="es-BO"/>
              <a:t>ARREGLOS</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91"/>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ARREGLOS</a:t>
            </a:r>
            <a:endParaRPr b="1"/>
          </a:p>
        </p:txBody>
      </p:sp>
      <p:grpSp>
        <p:nvGrpSpPr>
          <p:cNvPr id="1201" name="Google Shape;1201;p91"/>
          <p:cNvGrpSpPr/>
          <p:nvPr/>
        </p:nvGrpSpPr>
        <p:grpSpPr>
          <a:xfrm>
            <a:off x="666205" y="1179356"/>
            <a:ext cx="8961970" cy="5239731"/>
            <a:chOff x="0" y="3699"/>
            <a:chExt cx="8961970" cy="5239731"/>
          </a:xfrm>
        </p:grpSpPr>
        <p:sp>
          <p:nvSpPr>
            <p:cNvPr id="1202" name="Google Shape;1202;p91"/>
            <p:cNvSpPr/>
            <p:nvPr/>
          </p:nvSpPr>
          <p:spPr>
            <a:xfrm>
              <a:off x="0" y="3699"/>
              <a:ext cx="6900717" cy="936418"/>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91"/>
            <p:cNvSpPr txBox="1"/>
            <p:nvPr/>
          </p:nvSpPr>
          <p:spPr>
            <a:xfrm>
              <a:off x="27427" y="31126"/>
              <a:ext cx="5772271" cy="881564"/>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ELECTROVALVULA</a:t>
              </a:r>
              <a:endParaRPr/>
            </a:p>
          </p:txBody>
        </p:sp>
        <p:sp>
          <p:nvSpPr>
            <p:cNvPr id="1204" name="Google Shape;1204;p91"/>
            <p:cNvSpPr/>
            <p:nvPr/>
          </p:nvSpPr>
          <p:spPr>
            <a:xfrm>
              <a:off x="488814" y="1057216"/>
              <a:ext cx="6900717" cy="943817"/>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91"/>
            <p:cNvSpPr txBox="1"/>
            <p:nvPr/>
          </p:nvSpPr>
          <p:spPr>
            <a:xfrm>
              <a:off x="516457" y="1084859"/>
              <a:ext cx="5716636" cy="888531"/>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Garamond"/>
                <a:buNone/>
              </a:pPr>
              <a:r>
                <a:rPr lang="es-BO" sz="1900">
                  <a:solidFill>
                    <a:schemeClr val="lt1"/>
                  </a:solidFill>
                  <a:latin typeface="Garamond"/>
                  <a:ea typeface="Garamond"/>
                  <a:cs typeface="Garamond"/>
                  <a:sym typeface="Garamond"/>
                </a:rPr>
                <a:t>El día 13 de abril , se llevo a cabo la limpieza interna de una electroválvula que presentaba fallas en su funcionamiento. </a:t>
              </a:r>
              <a:endParaRPr sz="1900">
                <a:solidFill>
                  <a:schemeClr val="dk1"/>
                </a:solidFill>
                <a:latin typeface="Garamond"/>
                <a:ea typeface="Garamond"/>
                <a:cs typeface="Garamond"/>
                <a:sym typeface="Garamond"/>
              </a:endParaRPr>
            </a:p>
          </p:txBody>
        </p:sp>
        <p:sp>
          <p:nvSpPr>
            <p:cNvPr id="1206" name="Google Shape;1206;p91"/>
            <p:cNvSpPr/>
            <p:nvPr/>
          </p:nvSpPr>
          <p:spPr>
            <a:xfrm>
              <a:off x="1030626" y="2149806"/>
              <a:ext cx="6900717" cy="943817"/>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91"/>
            <p:cNvSpPr txBox="1"/>
            <p:nvPr/>
          </p:nvSpPr>
          <p:spPr>
            <a:xfrm>
              <a:off x="1058269" y="2177449"/>
              <a:ext cx="5716636" cy="888531"/>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Garamond"/>
                <a:buNone/>
              </a:pPr>
              <a:r>
                <a:rPr lang="es-BO" sz="1900">
                  <a:solidFill>
                    <a:schemeClr val="lt1"/>
                  </a:solidFill>
                  <a:latin typeface="Garamond"/>
                  <a:ea typeface="Garamond"/>
                  <a:cs typeface="Garamond"/>
                  <a:sym typeface="Garamond"/>
                </a:rPr>
                <a:t>Se desmonto la válvula y se procedió a limpiar minuciosamente su interior, eliminando los residuos acumulados que obstruían el flujo de liquido</a:t>
              </a:r>
              <a:endParaRPr sz="1900">
                <a:solidFill>
                  <a:schemeClr val="dk1"/>
                </a:solidFill>
                <a:latin typeface="Garamond"/>
                <a:ea typeface="Garamond"/>
                <a:cs typeface="Garamond"/>
                <a:sym typeface="Garamond"/>
              </a:endParaRPr>
            </a:p>
          </p:txBody>
        </p:sp>
        <p:sp>
          <p:nvSpPr>
            <p:cNvPr id="1208" name="Google Shape;1208;p91"/>
            <p:cNvSpPr/>
            <p:nvPr/>
          </p:nvSpPr>
          <p:spPr>
            <a:xfrm>
              <a:off x="1545939" y="3224710"/>
              <a:ext cx="6900717" cy="943817"/>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91"/>
            <p:cNvSpPr txBox="1"/>
            <p:nvPr/>
          </p:nvSpPr>
          <p:spPr>
            <a:xfrm>
              <a:off x="1573582" y="3252353"/>
              <a:ext cx="5716636" cy="888531"/>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Garamond"/>
                <a:buNone/>
              </a:pPr>
              <a:r>
                <a:rPr lang="es-BO" sz="1900">
                  <a:solidFill>
                    <a:schemeClr val="lt1"/>
                  </a:solidFill>
                  <a:latin typeface="Garamond"/>
                  <a:ea typeface="Garamond"/>
                  <a:cs typeface="Garamond"/>
                  <a:sym typeface="Garamond"/>
                </a:rPr>
                <a:t>una vez realizada la limpieza, se realizo una prueba de funcionamiento. </a:t>
              </a:r>
              <a:endParaRPr sz="1900">
                <a:solidFill>
                  <a:schemeClr val="dk1"/>
                </a:solidFill>
                <a:latin typeface="Garamond"/>
                <a:ea typeface="Garamond"/>
                <a:cs typeface="Garamond"/>
                <a:sym typeface="Garamond"/>
              </a:endParaRPr>
            </a:p>
          </p:txBody>
        </p:sp>
        <p:sp>
          <p:nvSpPr>
            <p:cNvPr id="1210" name="Google Shape;1210;p91"/>
            <p:cNvSpPr/>
            <p:nvPr/>
          </p:nvSpPr>
          <p:spPr>
            <a:xfrm>
              <a:off x="2061253" y="4299613"/>
              <a:ext cx="6900717" cy="943817"/>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91"/>
            <p:cNvSpPr txBox="1"/>
            <p:nvPr/>
          </p:nvSpPr>
          <p:spPr>
            <a:xfrm>
              <a:off x="2088896" y="4327256"/>
              <a:ext cx="5716636" cy="888531"/>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Garamond"/>
                <a:buNone/>
              </a:pPr>
              <a:r>
                <a:rPr lang="es-BO" sz="1900">
                  <a:solidFill>
                    <a:schemeClr val="lt1"/>
                  </a:solidFill>
                  <a:latin typeface="Garamond"/>
                  <a:ea typeface="Garamond"/>
                  <a:cs typeface="Garamond"/>
                  <a:sym typeface="Garamond"/>
                </a:rPr>
                <a:t>se pudo comprobar que que la electroválvula funciona con normalidad y sin inconvenientes.</a:t>
              </a:r>
              <a:endParaRPr sz="1900">
                <a:solidFill>
                  <a:schemeClr val="dk1"/>
                </a:solidFill>
                <a:latin typeface="Garamond"/>
                <a:ea typeface="Garamond"/>
                <a:cs typeface="Garamond"/>
                <a:sym typeface="Garamond"/>
              </a:endParaRPr>
            </a:p>
          </p:txBody>
        </p:sp>
        <p:sp>
          <p:nvSpPr>
            <p:cNvPr id="1212" name="Google Shape;1212;p91"/>
            <p:cNvSpPr/>
            <p:nvPr/>
          </p:nvSpPr>
          <p:spPr>
            <a:xfrm>
              <a:off x="6287236" y="689511"/>
              <a:ext cx="613481" cy="613481"/>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91"/>
            <p:cNvSpPr txBox="1"/>
            <p:nvPr/>
          </p:nvSpPr>
          <p:spPr>
            <a:xfrm>
              <a:off x="6425269" y="689511"/>
              <a:ext cx="337415" cy="46164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214" name="Google Shape;1214;p91"/>
            <p:cNvSpPr/>
            <p:nvPr/>
          </p:nvSpPr>
          <p:spPr>
            <a:xfrm>
              <a:off x="6802549" y="1764414"/>
              <a:ext cx="613481" cy="613481"/>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91"/>
            <p:cNvSpPr txBox="1"/>
            <p:nvPr/>
          </p:nvSpPr>
          <p:spPr>
            <a:xfrm>
              <a:off x="6940582" y="1764414"/>
              <a:ext cx="337415" cy="46164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216" name="Google Shape;1216;p91"/>
            <p:cNvSpPr/>
            <p:nvPr/>
          </p:nvSpPr>
          <p:spPr>
            <a:xfrm>
              <a:off x="7317862" y="2823587"/>
              <a:ext cx="613481" cy="613481"/>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91"/>
            <p:cNvSpPr txBox="1"/>
            <p:nvPr/>
          </p:nvSpPr>
          <p:spPr>
            <a:xfrm>
              <a:off x="7455895" y="2823587"/>
              <a:ext cx="337415" cy="46164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218" name="Google Shape;1218;p91"/>
            <p:cNvSpPr/>
            <p:nvPr/>
          </p:nvSpPr>
          <p:spPr>
            <a:xfrm>
              <a:off x="7833176" y="3908977"/>
              <a:ext cx="613481" cy="613481"/>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91"/>
            <p:cNvSpPr txBox="1"/>
            <p:nvPr/>
          </p:nvSpPr>
          <p:spPr>
            <a:xfrm>
              <a:off x="7971209" y="3908977"/>
              <a:ext cx="337415" cy="46164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id="1220" name="Google Shape;1220;p91"/>
          <p:cNvPicPr preferRelativeResize="0"/>
          <p:nvPr/>
        </p:nvPicPr>
        <p:blipFill rotWithShape="1">
          <a:blip r:embed="rId3">
            <a:alphaModFix/>
          </a:blip>
          <a:srcRect b="0" l="0" r="0" t="0"/>
          <a:stretch/>
        </p:blipFill>
        <p:spPr>
          <a:xfrm>
            <a:off x="9266761" y="2801881"/>
            <a:ext cx="1257538" cy="1676715"/>
          </a:xfrm>
          <a:prstGeom prst="rect">
            <a:avLst/>
          </a:prstGeom>
          <a:noFill/>
          <a:ln>
            <a:noFill/>
          </a:ln>
        </p:spPr>
      </p:pic>
      <p:pic>
        <p:nvPicPr>
          <p:cNvPr id="1221" name="Google Shape;1221;p91"/>
          <p:cNvPicPr preferRelativeResize="0"/>
          <p:nvPr/>
        </p:nvPicPr>
        <p:blipFill rotWithShape="1">
          <a:blip r:embed="rId4">
            <a:alphaModFix/>
          </a:blip>
          <a:srcRect b="0" l="0" r="0" t="0"/>
          <a:stretch/>
        </p:blipFill>
        <p:spPr>
          <a:xfrm>
            <a:off x="8223216" y="1012460"/>
            <a:ext cx="1257538" cy="1676718"/>
          </a:xfrm>
          <a:prstGeom prst="rect">
            <a:avLst/>
          </a:prstGeom>
          <a:noFill/>
          <a:ln>
            <a:noFill/>
          </a:ln>
        </p:spPr>
      </p:pic>
      <p:pic>
        <p:nvPicPr>
          <p:cNvPr id="1222" name="Google Shape;1222;p91"/>
          <p:cNvPicPr preferRelativeResize="0"/>
          <p:nvPr/>
        </p:nvPicPr>
        <p:blipFill rotWithShape="1">
          <a:blip r:embed="rId5">
            <a:alphaModFix/>
          </a:blip>
          <a:srcRect b="0" l="0" r="0" t="0"/>
          <a:stretch/>
        </p:blipFill>
        <p:spPr>
          <a:xfrm>
            <a:off x="10162883" y="4742370"/>
            <a:ext cx="1257538" cy="1676718"/>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92"/>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ARREGLOS</a:t>
            </a:r>
            <a:endParaRPr b="1"/>
          </a:p>
        </p:txBody>
      </p:sp>
      <p:grpSp>
        <p:nvGrpSpPr>
          <p:cNvPr id="1228" name="Google Shape;1228;p92"/>
          <p:cNvGrpSpPr/>
          <p:nvPr/>
        </p:nvGrpSpPr>
        <p:grpSpPr>
          <a:xfrm>
            <a:off x="810500" y="2983191"/>
            <a:ext cx="3240775" cy="1469523"/>
            <a:chOff x="0" y="1037"/>
            <a:chExt cx="3240775" cy="1469523"/>
          </a:xfrm>
        </p:grpSpPr>
        <p:sp>
          <p:nvSpPr>
            <p:cNvPr id="1229" name="Google Shape;1229;p92"/>
            <p:cNvSpPr/>
            <p:nvPr/>
          </p:nvSpPr>
          <p:spPr>
            <a:xfrm>
              <a:off x="0" y="1037"/>
              <a:ext cx="2495397" cy="262625"/>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92"/>
            <p:cNvSpPr txBox="1"/>
            <p:nvPr/>
          </p:nvSpPr>
          <p:spPr>
            <a:xfrm>
              <a:off x="7692" y="8729"/>
              <a:ext cx="2178916" cy="247241"/>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dk1"/>
                </a:buClr>
                <a:buSzPts val="500"/>
                <a:buFont typeface="Garamond"/>
                <a:buNone/>
              </a:pPr>
              <a:r>
                <a:rPr lang="es-BO" sz="500">
                  <a:solidFill>
                    <a:schemeClr val="dk1"/>
                  </a:solidFill>
                  <a:latin typeface="Garamond"/>
                  <a:ea typeface="Garamond"/>
                  <a:cs typeface="Garamond"/>
                  <a:sym typeface="Garamond"/>
                </a:rPr>
                <a:t>ELECTROVALVULA</a:t>
              </a:r>
              <a:endParaRPr/>
            </a:p>
          </p:txBody>
        </p:sp>
        <p:sp>
          <p:nvSpPr>
            <p:cNvPr id="1231" name="Google Shape;1231;p92"/>
            <p:cNvSpPr/>
            <p:nvPr/>
          </p:nvSpPr>
          <p:spPr>
            <a:xfrm>
              <a:off x="176762" y="296504"/>
              <a:ext cx="2495397" cy="264700"/>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92"/>
            <p:cNvSpPr txBox="1"/>
            <p:nvPr/>
          </p:nvSpPr>
          <p:spPr>
            <a:xfrm>
              <a:off x="184515" y="304257"/>
              <a:ext cx="2121491" cy="249194"/>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El día 13 de abril , se llevo a cabo la limpieza interna de una electroválvula que presentaba fallas en su funcionamiento. </a:t>
              </a:r>
              <a:endParaRPr sz="500">
                <a:solidFill>
                  <a:schemeClr val="dk1"/>
                </a:solidFill>
                <a:latin typeface="Garamond"/>
                <a:ea typeface="Garamond"/>
                <a:cs typeface="Garamond"/>
                <a:sym typeface="Garamond"/>
              </a:endParaRPr>
            </a:p>
          </p:txBody>
        </p:sp>
        <p:sp>
          <p:nvSpPr>
            <p:cNvPr id="1233" name="Google Shape;1233;p92"/>
            <p:cNvSpPr/>
            <p:nvPr/>
          </p:nvSpPr>
          <p:spPr>
            <a:xfrm>
              <a:off x="372689" y="602930"/>
              <a:ext cx="2495397" cy="264700"/>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92"/>
            <p:cNvSpPr txBox="1"/>
            <p:nvPr/>
          </p:nvSpPr>
          <p:spPr>
            <a:xfrm>
              <a:off x="380442" y="610683"/>
              <a:ext cx="2121491" cy="249194"/>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Se desmonto la válvula y se procedió a limpiar minuciosamente su interior, eliminando los residuos acumulados que obstruían el flujo de liquido</a:t>
              </a:r>
              <a:endParaRPr sz="500">
                <a:solidFill>
                  <a:schemeClr val="dk1"/>
                </a:solidFill>
                <a:latin typeface="Garamond"/>
                <a:ea typeface="Garamond"/>
                <a:cs typeface="Garamond"/>
                <a:sym typeface="Garamond"/>
              </a:endParaRPr>
            </a:p>
          </p:txBody>
        </p:sp>
        <p:sp>
          <p:nvSpPr>
            <p:cNvPr id="1235" name="Google Shape;1235;p92"/>
            <p:cNvSpPr/>
            <p:nvPr/>
          </p:nvSpPr>
          <p:spPr>
            <a:xfrm>
              <a:off x="559033" y="904395"/>
              <a:ext cx="2495397" cy="264700"/>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92"/>
            <p:cNvSpPr txBox="1"/>
            <p:nvPr/>
          </p:nvSpPr>
          <p:spPr>
            <a:xfrm>
              <a:off x="566786" y="912148"/>
              <a:ext cx="2121491" cy="249194"/>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una vez realizada la limpieza, se realizo una prueba de funcionamiento. </a:t>
              </a:r>
              <a:endParaRPr sz="500">
                <a:solidFill>
                  <a:schemeClr val="dk1"/>
                </a:solidFill>
                <a:latin typeface="Garamond"/>
                <a:ea typeface="Garamond"/>
                <a:cs typeface="Garamond"/>
                <a:sym typeface="Garamond"/>
              </a:endParaRPr>
            </a:p>
          </p:txBody>
        </p:sp>
        <p:sp>
          <p:nvSpPr>
            <p:cNvPr id="1237" name="Google Shape;1237;p92"/>
            <p:cNvSpPr/>
            <p:nvPr/>
          </p:nvSpPr>
          <p:spPr>
            <a:xfrm>
              <a:off x="745378" y="1205860"/>
              <a:ext cx="2495397" cy="264700"/>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92"/>
            <p:cNvSpPr txBox="1"/>
            <p:nvPr/>
          </p:nvSpPr>
          <p:spPr>
            <a:xfrm>
              <a:off x="753131" y="1213613"/>
              <a:ext cx="2121491" cy="249194"/>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se pudo comprobar que que la electroválvula funciona con normalidad y sin inconvenientes.</a:t>
              </a:r>
              <a:endParaRPr sz="500">
                <a:solidFill>
                  <a:schemeClr val="dk1"/>
                </a:solidFill>
                <a:latin typeface="Garamond"/>
                <a:ea typeface="Garamond"/>
                <a:cs typeface="Garamond"/>
                <a:sym typeface="Garamond"/>
              </a:endParaRPr>
            </a:p>
          </p:txBody>
        </p:sp>
        <p:sp>
          <p:nvSpPr>
            <p:cNvPr id="1239" name="Google Shape;1239;p92"/>
            <p:cNvSpPr/>
            <p:nvPr/>
          </p:nvSpPr>
          <p:spPr>
            <a:xfrm>
              <a:off x="2323341" y="193378"/>
              <a:ext cx="172055" cy="172055"/>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92"/>
            <p:cNvSpPr txBox="1"/>
            <p:nvPr/>
          </p:nvSpPr>
          <p:spPr>
            <a:xfrm>
              <a:off x="2362053" y="193378"/>
              <a:ext cx="94631" cy="129471"/>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dk1"/>
                </a:buClr>
                <a:buSzPts val="800"/>
                <a:buFont typeface="Garamond"/>
                <a:buNone/>
              </a:pPr>
              <a:r>
                <a:t/>
              </a:r>
              <a:endParaRPr sz="800">
                <a:solidFill>
                  <a:schemeClr val="dk1"/>
                </a:solidFill>
                <a:latin typeface="Garamond"/>
                <a:ea typeface="Garamond"/>
                <a:cs typeface="Garamond"/>
                <a:sym typeface="Garamond"/>
              </a:endParaRPr>
            </a:p>
          </p:txBody>
        </p:sp>
        <p:sp>
          <p:nvSpPr>
            <p:cNvPr id="1241" name="Google Shape;1241;p92"/>
            <p:cNvSpPr/>
            <p:nvPr/>
          </p:nvSpPr>
          <p:spPr>
            <a:xfrm>
              <a:off x="2509686" y="494843"/>
              <a:ext cx="172055" cy="172055"/>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92"/>
            <p:cNvSpPr txBox="1"/>
            <p:nvPr/>
          </p:nvSpPr>
          <p:spPr>
            <a:xfrm>
              <a:off x="2548398" y="494843"/>
              <a:ext cx="94631" cy="129471"/>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dk1"/>
                </a:buClr>
                <a:buSzPts val="800"/>
                <a:buFont typeface="Garamond"/>
                <a:buNone/>
              </a:pPr>
              <a:r>
                <a:t/>
              </a:r>
              <a:endParaRPr sz="800">
                <a:solidFill>
                  <a:schemeClr val="dk1"/>
                </a:solidFill>
                <a:latin typeface="Garamond"/>
                <a:ea typeface="Garamond"/>
                <a:cs typeface="Garamond"/>
                <a:sym typeface="Garamond"/>
              </a:endParaRPr>
            </a:p>
          </p:txBody>
        </p:sp>
        <p:sp>
          <p:nvSpPr>
            <p:cNvPr id="1243" name="Google Shape;1243;p92"/>
            <p:cNvSpPr/>
            <p:nvPr/>
          </p:nvSpPr>
          <p:spPr>
            <a:xfrm>
              <a:off x="2696031" y="791897"/>
              <a:ext cx="172055" cy="172055"/>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92"/>
            <p:cNvSpPr txBox="1"/>
            <p:nvPr/>
          </p:nvSpPr>
          <p:spPr>
            <a:xfrm>
              <a:off x="2734743" y="791897"/>
              <a:ext cx="94631" cy="129471"/>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dk1"/>
                </a:buClr>
                <a:buSzPts val="800"/>
                <a:buFont typeface="Garamond"/>
                <a:buNone/>
              </a:pPr>
              <a:r>
                <a:t/>
              </a:r>
              <a:endParaRPr sz="800">
                <a:solidFill>
                  <a:schemeClr val="dk1"/>
                </a:solidFill>
                <a:latin typeface="Garamond"/>
                <a:ea typeface="Garamond"/>
                <a:cs typeface="Garamond"/>
                <a:sym typeface="Garamond"/>
              </a:endParaRPr>
            </a:p>
          </p:txBody>
        </p:sp>
        <p:sp>
          <p:nvSpPr>
            <p:cNvPr id="1245" name="Google Shape;1245;p92"/>
            <p:cNvSpPr/>
            <p:nvPr/>
          </p:nvSpPr>
          <p:spPr>
            <a:xfrm>
              <a:off x="2882375" y="1096303"/>
              <a:ext cx="172055" cy="172055"/>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92"/>
            <p:cNvSpPr txBox="1"/>
            <p:nvPr/>
          </p:nvSpPr>
          <p:spPr>
            <a:xfrm>
              <a:off x="2921087" y="1096303"/>
              <a:ext cx="94631" cy="129471"/>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dk1"/>
                </a:buClr>
                <a:buSzPts val="800"/>
                <a:buFont typeface="Garamond"/>
                <a:buNone/>
              </a:pPr>
              <a:r>
                <a:t/>
              </a:r>
              <a:endParaRPr sz="800">
                <a:solidFill>
                  <a:schemeClr val="dk1"/>
                </a:solidFill>
                <a:latin typeface="Garamond"/>
                <a:ea typeface="Garamond"/>
                <a:cs typeface="Garamond"/>
                <a:sym typeface="Garamond"/>
              </a:endParaRPr>
            </a:p>
          </p:txBody>
        </p:sp>
      </p:grpSp>
      <p:grpSp>
        <p:nvGrpSpPr>
          <p:cNvPr id="1247" name="Google Shape;1247;p92"/>
          <p:cNvGrpSpPr/>
          <p:nvPr/>
        </p:nvGrpSpPr>
        <p:grpSpPr>
          <a:xfrm>
            <a:off x="899050" y="1718720"/>
            <a:ext cx="9999365" cy="4597309"/>
            <a:chOff x="899050" y="1718720"/>
            <a:chExt cx="9999365" cy="4597309"/>
          </a:xfrm>
        </p:grpSpPr>
        <p:pic>
          <p:nvPicPr>
            <p:cNvPr id="1248" name="Google Shape;1248;p92"/>
            <p:cNvPicPr preferRelativeResize="0"/>
            <p:nvPr/>
          </p:nvPicPr>
          <p:blipFill rotWithShape="1">
            <a:blip r:embed="rId3">
              <a:alphaModFix/>
            </a:blip>
            <a:srcRect b="0" l="0" r="0" t="0"/>
            <a:stretch/>
          </p:blipFill>
          <p:spPr>
            <a:xfrm>
              <a:off x="4322619" y="1718720"/>
              <a:ext cx="3152228" cy="4202967"/>
            </a:xfrm>
            <a:prstGeom prst="rect">
              <a:avLst/>
            </a:prstGeom>
            <a:noFill/>
            <a:ln>
              <a:noFill/>
            </a:ln>
          </p:spPr>
        </p:pic>
        <p:pic>
          <p:nvPicPr>
            <p:cNvPr id="1249" name="Google Shape;1249;p92"/>
            <p:cNvPicPr preferRelativeResize="0"/>
            <p:nvPr/>
          </p:nvPicPr>
          <p:blipFill rotWithShape="1">
            <a:blip r:embed="rId4">
              <a:alphaModFix/>
            </a:blip>
            <a:srcRect b="0" l="0" r="0" t="0"/>
            <a:stretch/>
          </p:blipFill>
          <p:spPr>
            <a:xfrm>
              <a:off x="899050" y="1751725"/>
              <a:ext cx="3152226" cy="4202968"/>
            </a:xfrm>
            <a:prstGeom prst="rect">
              <a:avLst/>
            </a:prstGeom>
            <a:noFill/>
            <a:ln>
              <a:noFill/>
            </a:ln>
          </p:spPr>
        </p:pic>
        <p:pic>
          <p:nvPicPr>
            <p:cNvPr id="1250" name="Google Shape;1250;p92"/>
            <p:cNvPicPr preferRelativeResize="0"/>
            <p:nvPr/>
          </p:nvPicPr>
          <p:blipFill rotWithShape="1">
            <a:blip r:embed="rId5">
              <a:alphaModFix/>
            </a:blip>
            <a:srcRect b="0" l="0" r="0" t="0"/>
            <a:stretch/>
          </p:blipFill>
          <p:spPr>
            <a:xfrm>
              <a:off x="7746190" y="1718720"/>
              <a:ext cx="3152225" cy="4202966"/>
            </a:xfrm>
            <a:prstGeom prst="rect">
              <a:avLst/>
            </a:prstGeom>
            <a:noFill/>
            <a:ln>
              <a:noFill/>
            </a:ln>
          </p:spPr>
        </p:pic>
        <p:sp>
          <p:nvSpPr>
            <p:cNvPr id="1251" name="Google Shape;1251;p92"/>
            <p:cNvSpPr txBox="1"/>
            <p:nvPr/>
          </p:nvSpPr>
          <p:spPr>
            <a:xfrm>
              <a:off x="1828800" y="5946697"/>
              <a:ext cx="12041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desmontaje</a:t>
              </a:r>
              <a:endParaRPr sz="1800">
                <a:solidFill>
                  <a:schemeClr val="dk1"/>
                </a:solidFill>
                <a:latin typeface="Garamond"/>
                <a:ea typeface="Garamond"/>
                <a:cs typeface="Garamond"/>
                <a:sym typeface="Garamond"/>
              </a:endParaRPr>
            </a:p>
          </p:txBody>
        </p:sp>
        <p:sp>
          <p:nvSpPr>
            <p:cNvPr id="1252" name="Google Shape;1252;p92"/>
            <p:cNvSpPr txBox="1"/>
            <p:nvPr/>
          </p:nvSpPr>
          <p:spPr>
            <a:xfrm>
              <a:off x="5174391" y="5946697"/>
              <a:ext cx="90762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montaje</a:t>
              </a:r>
              <a:endParaRPr sz="1800">
                <a:solidFill>
                  <a:schemeClr val="dk1"/>
                </a:solidFill>
                <a:latin typeface="Garamond"/>
                <a:ea typeface="Garamond"/>
                <a:cs typeface="Garamond"/>
                <a:sym typeface="Garamond"/>
              </a:endParaRPr>
            </a:p>
          </p:txBody>
        </p:sp>
        <p:sp>
          <p:nvSpPr>
            <p:cNvPr id="1253" name="Google Shape;1253;p92"/>
            <p:cNvSpPr txBox="1"/>
            <p:nvPr/>
          </p:nvSpPr>
          <p:spPr>
            <a:xfrm>
              <a:off x="8387781" y="5946697"/>
              <a:ext cx="159530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funcionamiento</a:t>
              </a:r>
              <a:endParaRPr sz="1800">
                <a:solidFill>
                  <a:schemeClr val="dk1"/>
                </a:solidFill>
                <a:latin typeface="Garamond"/>
                <a:ea typeface="Garamond"/>
                <a:cs typeface="Garamond"/>
                <a:sym typeface="Garamond"/>
              </a:endParaRPr>
            </a:p>
          </p:txBody>
        </p:sp>
        <p:sp>
          <p:nvSpPr>
            <p:cNvPr id="1254" name="Google Shape;1254;p92"/>
            <p:cNvSpPr/>
            <p:nvPr/>
          </p:nvSpPr>
          <p:spPr>
            <a:xfrm>
              <a:off x="3895344" y="3895344"/>
              <a:ext cx="427275" cy="557371"/>
            </a:xfrm>
            <a:prstGeom prst="rightArrow">
              <a:avLst>
                <a:gd fmla="val 50000" name="adj1"/>
                <a:gd fmla="val 50000" name="adj2"/>
              </a:avLst>
            </a:prstGeom>
            <a:solidFill>
              <a:srgbClr val="FF0000"/>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255" name="Google Shape;1255;p92"/>
            <p:cNvSpPr/>
            <p:nvPr/>
          </p:nvSpPr>
          <p:spPr>
            <a:xfrm>
              <a:off x="7318915" y="3769058"/>
              <a:ext cx="427275" cy="557371"/>
            </a:xfrm>
            <a:prstGeom prst="rightArrow">
              <a:avLst>
                <a:gd fmla="val 50000" name="adj1"/>
                <a:gd fmla="val 50000" name="adj2"/>
              </a:avLst>
            </a:prstGeom>
            <a:solidFill>
              <a:srgbClr val="FF0000"/>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gr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93"/>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ARREGLOS</a:t>
            </a:r>
            <a:endParaRPr b="1"/>
          </a:p>
        </p:txBody>
      </p:sp>
      <p:grpSp>
        <p:nvGrpSpPr>
          <p:cNvPr id="1261" name="Google Shape;1261;p93"/>
          <p:cNvGrpSpPr/>
          <p:nvPr/>
        </p:nvGrpSpPr>
        <p:grpSpPr>
          <a:xfrm>
            <a:off x="666206" y="1179334"/>
            <a:ext cx="10058399" cy="5208402"/>
            <a:chOff x="0" y="3677"/>
            <a:chExt cx="10058399" cy="5208402"/>
          </a:xfrm>
        </p:grpSpPr>
        <p:sp>
          <p:nvSpPr>
            <p:cNvPr id="1262" name="Google Shape;1262;p93"/>
            <p:cNvSpPr/>
            <p:nvPr/>
          </p:nvSpPr>
          <p:spPr>
            <a:xfrm>
              <a:off x="0" y="3677"/>
              <a:ext cx="7744967" cy="930819"/>
            </a:xfrm>
            <a:prstGeom prst="roundRect">
              <a:avLst>
                <a:gd fmla="val 10000" name="adj"/>
              </a:avLst>
            </a:prstGeom>
            <a:solidFill>
              <a:srgbClr val="C9DBD7"/>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93"/>
            <p:cNvSpPr txBox="1"/>
            <p:nvPr/>
          </p:nvSpPr>
          <p:spPr>
            <a:xfrm>
              <a:off x="27263" y="30940"/>
              <a:ext cx="6623268" cy="876293"/>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dk1"/>
                </a:buClr>
                <a:buSzPts val="2000"/>
                <a:buFont typeface="Garamond"/>
                <a:buNone/>
              </a:pPr>
              <a:r>
                <a:rPr b="1" lang="es-BO" sz="2000">
                  <a:solidFill>
                    <a:schemeClr val="dk1"/>
                  </a:solidFill>
                  <a:latin typeface="Garamond"/>
                  <a:ea typeface="Garamond"/>
                  <a:cs typeface="Garamond"/>
                  <a:sym typeface="Garamond"/>
                </a:rPr>
                <a:t>CONTROLADOR DE TEMPERATURA</a:t>
              </a:r>
              <a:endParaRPr/>
            </a:p>
          </p:txBody>
        </p:sp>
        <p:sp>
          <p:nvSpPr>
            <p:cNvPr id="1264" name="Google Shape;1264;p93"/>
            <p:cNvSpPr/>
            <p:nvPr/>
          </p:nvSpPr>
          <p:spPr>
            <a:xfrm>
              <a:off x="548617" y="105089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93"/>
            <p:cNvSpPr txBox="1"/>
            <p:nvPr/>
          </p:nvSpPr>
          <p:spPr>
            <a:xfrm>
              <a:off x="576095" y="1078373"/>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El día 18 de abril, se llevo a cabo el refuerzo de las conexiones de cables en el controlador de temperatura NOMBRE para evitar la perdida de voltaje al cerrar la compuerta que lo sostiene.</a:t>
              </a:r>
              <a:endParaRPr sz="1900">
                <a:solidFill>
                  <a:schemeClr val="dk1"/>
                </a:solidFill>
                <a:latin typeface="Garamond"/>
                <a:ea typeface="Garamond"/>
                <a:cs typeface="Garamond"/>
                <a:sym typeface="Garamond"/>
              </a:endParaRPr>
            </a:p>
          </p:txBody>
        </p:sp>
        <p:sp>
          <p:nvSpPr>
            <p:cNvPr id="1266" name="Google Shape;1266;p93"/>
            <p:cNvSpPr/>
            <p:nvPr/>
          </p:nvSpPr>
          <p:spPr>
            <a:xfrm>
              <a:off x="1156716" y="2136952"/>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93"/>
            <p:cNvSpPr txBox="1"/>
            <p:nvPr/>
          </p:nvSpPr>
          <p:spPr>
            <a:xfrm>
              <a:off x="1184194" y="2164430"/>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Se detecto que las conexiones presentaban una sujeción deficiente, lo que provocaba una fluctuación en voltaje y una inestabilidad en el funcionamiento del equipo. </a:t>
              </a:r>
              <a:endParaRPr sz="2000">
                <a:solidFill>
                  <a:schemeClr val="dk1"/>
                </a:solidFill>
                <a:latin typeface="Garamond"/>
                <a:ea typeface="Garamond"/>
                <a:cs typeface="Garamond"/>
                <a:sym typeface="Garamond"/>
              </a:endParaRPr>
            </a:p>
          </p:txBody>
        </p:sp>
        <p:sp>
          <p:nvSpPr>
            <p:cNvPr id="1268" name="Google Shape;1268;p93"/>
            <p:cNvSpPr/>
            <p:nvPr/>
          </p:nvSpPr>
          <p:spPr>
            <a:xfrm>
              <a:off x="1735073" y="3205429"/>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93"/>
            <p:cNvSpPr txBox="1"/>
            <p:nvPr/>
          </p:nvSpPr>
          <p:spPr>
            <a:xfrm>
              <a:off x="1762551" y="3232907"/>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Se procedió a reforzar las conexiones mediante el uso de tornillos, asegurando una sujeción mas firme y estable.</a:t>
              </a:r>
              <a:endParaRPr sz="2000">
                <a:solidFill>
                  <a:schemeClr val="dk1"/>
                </a:solidFill>
                <a:latin typeface="Garamond"/>
                <a:ea typeface="Garamond"/>
                <a:cs typeface="Garamond"/>
                <a:sym typeface="Garamond"/>
              </a:endParaRPr>
            </a:p>
          </p:txBody>
        </p:sp>
        <p:sp>
          <p:nvSpPr>
            <p:cNvPr id="1270" name="Google Shape;1270;p93"/>
            <p:cNvSpPr/>
            <p:nvPr/>
          </p:nvSpPr>
          <p:spPr>
            <a:xfrm>
              <a:off x="2313432" y="427390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93"/>
            <p:cNvSpPr txBox="1"/>
            <p:nvPr/>
          </p:nvSpPr>
          <p:spPr>
            <a:xfrm>
              <a:off x="2340910" y="4301383"/>
              <a:ext cx="6501840" cy="883218"/>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Garamond"/>
                <a:buNone/>
              </a:pPr>
              <a:r>
                <a:rPr lang="es-BO" sz="2000">
                  <a:solidFill>
                    <a:schemeClr val="dk1"/>
                  </a:solidFill>
                  <a:latin typeface="Garamond"/>
                  <a:ea typeface="Garamond"/>
                  <a:cs typeface="Garamond"/>
                  <a:sym typeface="Garamond"/>
                </a:rPr>
                <a:t>Se realizo una prueba de funcionamiento y se confirmo que el controlador de temperatura esta funcionando correctamente.</a:t>
              </a:r>
              <a:endParaRPr sz="2000">
                <a:solidFill>
                  <a:schemeClr val="dk1"/>
                </a:solidFill>
                <a:latin typeface="Garamond"/>
                <a:ea typeface="Garamond"/>
                <a:cs typeface="Garamond"/>
                <a:sym typeface="Garamond"/>
              </a:endParaRPr>
            </a:p>
          </p:txBody>
        </p:sp>
        <p:sp>
          <p:nvSpPr>
            <p:cNvPr id="1272" name="Google Shape;1272;p93"/>
            <p:cNvSpPr/>
            <p:nvPr/>
          </p:nvSpPr>
          <p:spPr>
            <a:xfrm>
              <a:off x="7135154" y="685388"/>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93"/>
            <p:cNvSpPr txBox="1"/>
            <p:nvPr/>
          </p:nvSpPr>
          <p:spPr>
            <a:xfrm>
              <a:off x="7272362" y="685388"/>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274" name="Google Shape;1274;p93"/>
            <p:cNvSpPr/>
            <p:nvPr/>
          </p:nvSpPr>
          <p:spPr>
            <a:xfrm>
              <a:off x="7713512" y="1753864"/>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93"/>
            <p:cNvSpPr txBox="1"/>
            <p:nvPr/>
          </p:nvSpPr>
          <p:spPr>
            <a:xfrm>
              <a:off x="7850720" y="1753864"/>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276" name="Google Shape;1276;p93"/>
            <p:cNvSpPr/>
            <p:nvPr/>
          </p:nvSpPr>
          <p:spPr>
            <a:xfrm>
              <a:off x="8291870" y="28067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93"/>
            <p:cNvSpPr txBox="1"/>
            <p:nvPr/>
          </p:nvSpPr>
          <p:spPr>
            <a:xfrm>
              <a:off x="8429078" y="28067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278" name="Google Shape;1278;p93"/>
            <p:cNvSpPr/>
            <p:nvPr/>
          </p:nvSpPr>
          <p:spPr>
            <a:xfrm>
              <a:off x="8870228" y="38856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93"/>
            <p:cNvSpPr txBox="1"/>
            <p:nvPr/>
          </p:nvSpPr>
          <p:spPr>
            <a:xfrm>
              <a:off x="9007436" y="38856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id="1280" name="Google Shape;1280;p93"/>
          <p:cNvPicPr preferRelativeResize="0"/>
          <p:nvPr/>
        </p:nvPicPr>
        <p:blipFill rotWithShape="1">
          <a:blip r:embed="rId3">
            <a:alphaModFix/>
          </a:blip>
          <a:srcRect b="0" l="0" r="0" t="0"/>
          <a:stretch/>
        </p:blipFill>
        <p:spPr>
          <a:xfrm>
            <a:off x="9096893" y="1602377"/>
            <a:ext cx="1567543" cy="1175657"/>
          </a:xfrm>
          <a:prstGeom prst="rect">
            <a:avLst/>
          </a:prstGeom>
          <a:noFill/>
          <a:ln>
            <a:noFill/>
          </a:ln>
        </p:spPr>
      </p:pic>
      <p:pic>
        <p:nvPicPr>
          <p:cNvPr id="1281" name="Google Shape;1281;p93"/>
          <p:cNvPicPr preferRelativeResize="0"/>
          <p:nvPr/>
        </p:nvPicPr>
        <p:blipFill rotWithShape="1">
          <a:blip r:embed="rId4">
            <a:alphaModFix/>
          </a:blip>
          <a:srcRect b="0" l="0" r="0" t="0"/>
          <a:stretch/>
        </p:blipFill>
        <p:spPr>
          <a:xfrm>
            <a:off x="9880665" y="2967347"/>
            <a:ext cx="1431372" cy="1073529"/>
          </a:xfrm>
          <a:prstGeom prst="rect">
            <a:avLst/>
          </a:prstGeom>
          <a:noFill/>
          <a:ln>
            <a:noFill/>
          </a:ln>
        </p:spPr>
      </p:pic>
      <p:pic>
        <p:nvPicPr>
          <p:cNvPr id="1282" name="Google Shape;1282;p93"/>
          <p:cNvPicPr preferRelativeResize="0"/>
          <p:nvPr/>
        </p:nvPicPr>
        <p:blipFill rotWithShape="1">
          <a:blip r:embed="rId5">
            <a:alphaModFix/>
          </a:blip>
          <a:srcRect b="0" l="0" r="0" t="0"/>
          <a:stretch/>
        </p:blipFill>
        <p:spPr>
          <a:xfrm>
            <a:off x="10319657" y="4267397"/>
            <a:ext cx="1352733" cy="101455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94"/>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ARREGLOS</a:t>
            </a:r>
            <a:endParaRPr b="1"/>
          </a:p>
        </p:txBody>
      </p:sp>
      <p:grpSp>
        <p:nvGrpSpPr>
          <p:cNvPr id="1288" name="Google Shape;1288;p94"/>
          <p:cNvGrpSpPr/>
          <p:nvPr/>
        </p:nvGrpSpPr>
        <p:grpSpPr>
          <a:xfrm>
            <a:off x="997526" y="3224766"/>
            <a:ext cx="2173975" cy="1013833"/>
            <a:chOff x="0" y="715"/>
            <a:chExt cx="2173975" cy="1013833"/>
          </a:xfrm>
        </p:grpSpPr>
        <p:sp>
          <p:nvSpPr>
            <p:cNvPr id="1289" name="Google Shape;1289;p94"/>
            <p:cNvSpPr/>
            <p:nvPr/>
          </p:nvSpPr>
          <p:spPr>
            <a:xfrm>
              <a:off x="0" y="715"/>
              <a:ext cx="1673961" cy="181187"/>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94"/>
            <p:cNvSpPr txBox="1"/>
            <p:nvPr/>
          </p:nvSpPr>
          <p:spPr>
            <a:xfrm>
              <a:off x="5307" y="6022"/>
              <a:ext cx="1455618" cy="170573"/>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dk1"/>
                </a:buClr>
                <a:buSzPts val="500"/>
                <a:buFont typeface="Garamond"/>
                <a:buNone/>
              </a:pPr>
              <a:r>
                <a:rPr lang="es-BO" sz="500">
                  <a:solidFill>
                    <a:schemeClr val="dk1"/>
                  </a:solidFill>
                  <a:latin typeface="Garamond"/>
                  <a:ea typeface="Garamond"/>
                  <a:cs typeface="Garamond"/>
                  <a:sym typeface="Garamond"/>
                </a:rPr>
                <a:t>CONTROLADOR DE TEMPERATURA</a:t>
              </a:r>
              <a:endParaRPr/>
            </a:p>
          </p:txBody>
        </p:sp>
        <p:sp>
          <p:nvSpPr>
            <p:cNvPr id="1291" name="Google Shape;1291;p94"/>
            <p:cNvSpPr/>
            <p:nvPr/>
          </p:nvSpPr>
          <p:spPr>
            <a:xfrm>
              <a:off x="118575" y="204560"/>
              <a:ext cx="1673961" cy="182618"/>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94"/>
            <p:cNvSpPr txBox="1"/>
            <p:nvPr/>
          </p:nvSpPr>
          <p:spPr>
            <a:xfrm>
              <a:off x="123924" y="209909"/>
              <a:ext cx="1419557" cy="171920"/>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El día 18 de abril, se llevo a cabo el refuerzo de las conexiones de cables en el controlador de temperatura NOMBRE para evitar la perdida de voltaje al cerrar la compuerta que lo sostiene</a:t>
              </a:r>
              <a:endParaRPr sz="500">
                <a:solidFill>
                  <a:schemeClr val="dk1"/>
                </a:solidFill>
                <a:latin typeface="Garamond"/>
                <a:ea typeface="Garamond"/>
                <a:cs typeface="Garamond"/>
                <a:sym typeface="Garamond"/>
              </a:endParaRPr>
            </a:p>
          </p:txBody>
        </p:sp>
        <p:sp>
          <p:nvSpPr>
            <p:cNvPr id="1293" name="Google Shape;1293;p94"/>
            <p:cNvSpPr/>
            <p:nvPr/>
          </p:nvSpPr>
          <p:spPr>
            <a:xfrm>
              <a:off x="250007" y="415965"/>
              <a:ext cx="1673961" cy="182618"/>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94"/>
            <p:cNvSpPr txBox="1"/>
            <p:nvPr/>
          </p:nvSpPr>
          <p:spPr>
            <a:xfrm>
              <a:off x="255356" y="421314"/>
              <a:ext cx="1419557" cy="171920"/>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Se detecto que las conexiones presentaban una sujeción deficiente, lo que provocaba una fluctuación en voltaje y una inestabilidad en el funcionamiento del equipo. </a:t>
              </a:r>
              <a:endParaRPr sz="500">
                <a:solidFill>
                  <a:schemeClr val="dk1"/>
                </a:solidFill>
                <a:latin typeface="Garamond"/>
                <a:ea typeface="Garamond"/>
                <a:cs typeface="Garamond"/>
                <a:sym typeface="Garamond"/>
              </a:endParaRPr>
            </a:p>
          </p:txBody>
        </p:sp>
        <p:sp>
          <p:nvSpPr>
            <p:cNvPr id="1295" name="Google Shape;1295;p94"/>
            <p:cNvSpPr/>
            <p:nvPr/>
          </p:nvSpPr>
          <p:spPr>
            <a:xfrm>
              <a:off x="375010" y="623947"/>
              <a:ext cx="1673961" cy="182618"/>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94"/>
            <p:cNvSpPr txBox="1"/>
            <p:nvPr/>
          </p:nvSpPr>
          <p:spPr>
            <a:xfrm>
              <a:off x="380359" y="629296"/>
              <a:ext cx="1419557" cy="171920"/>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Se procedió a reforzar las conexiones mediante el uso de tornillos, asegurando una sujeción mas firme y estable.</a:t>
              </a:r>
              <a:endParaRPr sz="500">
                <a:solidFill>
                  <a:schemeClr val="dk1"/>
                </a:solidFill>
                <a:latin typeface="Garamond"/>
                <a:ea typeface="Garamond"/>
                <a:cs typeface="Garamond"/>
                <a:sym typeface="Garamond"/>
              </a:endParaRPr>
            </a:p>
          </p:txBody>
        </p:sp>
        <p:sp>
          <p:nvSpPr>
            <p:cNvPr id="1297" name="Google Shape;1297;p94"/>
            <p:cNvSpPr/>
            <p:nvPr/>
          </p:nvSpPr>
          <p:spPr>
            <a:xfrm>
              <a:off x="500014" y="831930"/>
              <a:ext cx="1673961" cy="182618"/>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94"/>
            <p:cNvSpPr txBox="1"/>
            <p:nvPr/>
          </p:nvSpPr>
          <p:spPr>
            <a:xfrm>
              <a:off x="505363" y="837279"/>
              <a:ext cx="1419557" cy="171920"/>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Se realizo una prueba de funcionamiento y se confirmo que el controlador de temperatura esta funcionando correctamente.</a:t>
              </a:r>
              <a:endParaRPr sz="500">
                <a:solidFill>
                  <a:schemeClr val="dk1"/>
                </a:solidFill>
                <a:latin typeface="Garamond"/>
                <a:ea typeface="Garamond"/>
                <a:cs typeface="Garamond"/>
                <a:sym typeface="Garamond"/>
              </a:endParaRPr>
            </a:p>
          </p:txBody>
        </p:sp>
        <p:sp>
          <p:nvSpPr>
            <p:cNvPr id="1299" name="Google Shape;1299;p94"/>
            <p:cNvSpPr/>
            <p:nvPr/>
          </p:nvSpPr>
          <p:spPr>
            <a:xfrm>
              <a:off x="1555259" y="133413"/>
              <a:ext cx="118702" cy="118702"/>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94"/>
            <p:cNvSpPr txBox="1"/>
            <p:nvPr/>
          </p:nvSpPr>
          <p:spPr>
            <a:xfrm>
              <a:off x="1581967" y="133413"/>
              <a:ext cx="65286" cy="89323"/>
            </a:xfrm>
            <a:prstGeom prst="rect">
              <a:avLst/>
            </a:prstGeom>
            <a:noFill/>
            <a:ln>
              <a:noFill/>
            </a:ln>
          </p:spPr>
          <p:txBody>
            <a:bodyPr anchorCtr="0" anchor="ctr" bIns="6350" lIns="6350" spcFirstLastPara="1" rIns="6350" wrap="square" tIns="6350">
              <a:noAutofit/>
            </a:bodyPr>
            <a:lstStyle/>
            <a:p>
              <a:pPr indent="0" lvl="0" marL="0" marR="0" rtl="0" algn="ctr">
                <a:lnSpc>
                  <a:spcPct val="90000"/>
                </a:lnSpc>
                <a:spcBef>
                  <a:spcPts val="0"/>
                </a:spcBef>
                <a:spcAft>
                  <a:spcPts val="0"/>
                </a:spcAft>
                <a:buClr>
                  <a:schemeClr val="dk1"/>
                </a:buClr>
                <a:buSzPts val="500"/>
                <a:buFont typeface="Garamond"/>
                <a:buNone/>
              </a:pPr>
              <a:r>
                <a:t/>
              </a:r>
              <a:endParaRPr sz="500">
                <a:solidFill>
                  <a:schemeClr val="dk1"/>
                </a:solidFill>
                <a:latin typeface="Garamond"/>
                <a:ea typeface="Garamond"/>
                <a:cs typeface="Garamond"/>
                <a:sym typeface="Garamond"/>
              </a:endParaRPr>
            </a:p>
          </p:txBody>
        </p:sp>
        <p:sp>
          <p:nvSpPr>
            <p:cNvPr id="1301" name="Google Shape;1301;p94"/>
            <p:cNvSpPr/>
            <p:nvPr/>
          </p:nvSpPr>
          <p:spPr>
            <a:xfrm>
              <a:off x="1680262" y="341395"/>
              <a:ext cx="118702" cy="118702"/>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94"/>
            <p:cNvSpPr txBox="1"/>
            <p:nvPr/>
          </p:nvSpPr>
          <p:spPr>
            <a:xfrm>
              <a:off x="1706970" y="341395"/>
              <a:ext cx="65286" cy="89323"/>
            </a:xfrm>
            <a:prstGeom prst="rect">
              <a:avLst/>
            </a:prstGeom>
            <a:noFill/>
            <a:ln>
              <a:noFill/>
            </a:ln>
          </p:spPr>
          <p:txBody>
            <a:bodyPr anchorCtr="0" anchor="ctr" bIns="6350" lIns="6350" spcFirstLastPara="1" rIns="6350" wrap="square" tIns="6350">
              <a:noAutofit/>
            </a:bodyPr>
            <a:lstStyle/>
            <a:p>
              <a:pPr indent="0" lvl="0" marL="0" marR="0" rtl="0" algn="ctr">
                <a:lnSpc>
                  <a:spcPct val="90000"/>
                </a:lnSpc>
                <a:spcBef>
                  <a:spcPts val="0"/>
                </a:spcBef>
                <a:spcAft>
                  <a:spcPts val="0"/>
                </a:spcAft>
                <a:buClr>
                  <a:schemeClr val="dk1"/>
                </a:buClr>
                <a:buSzPts val="500"/>
                <a:buFont typeface="Garamond"/>
                <a:buNone/>
              </a:pPr>
              <a:r>
                <a:t/>
              </a:r>
              <a:endParaRPr sz="500">
                <a:solidFill>
                  <a:schemeClr val="dk1"/>
                </a:solidFill>
                <a:latin typeface="Garamond"/>
                <a:ea typeface="Garamond"/>
                <a:cs typeface="Garamond"/>
                <a:sym typeface="Garamond"/>
              </a:endParaRPr>
            </a:p>
          </p:txBody>
        </p:sp>
        <p:sp>
          <p:nvSpPr>
            <p:cNvPr id="1303" name="Google Shape;1303;p94"/>
            <p:cNvSpPr/>
            <p:nvPr/>
          </p:nvSpPr>
          <p:spPr>
            <a:xfrm>
              <a:off x="1805266" y="546334"/>
              <a:ext cx="118702" cy="118702"/>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94"/>
            <p:cNvSpPr txBox="1"/>
            <p:nvPr/>
          </p:nvSpPr>
          <p:spPr>
            <a:xfrm>
              <a:off x="1831974" y="546334"/>
              <a:ext cx="65286" cy="89323"/>
            </a:xfrm>
            <a:prstGeom prst="rect">
              <a:avLst/>
            </a:prstGeom>
            <a:noFill/>
            <a:ln>
              <a:noFill/>
            </a:ln>
          </p:spPr>
          <p:txBody>
            <a:bodyPr anchorCtr="0" anchor="ctr" bIns="6350" lIns="6350" spcFirstLastPara="1" rIns="6350" wrap="square" tIns="6350">
              <a:noAutofit/>
            </a:bodyPr>
            <a:lstStyle/>
            <a:p>
              <a:pPr indent="0" lvl="0" marL="0" marR="0" rtl="0" algn="ctr">
                <a:lnSpc>
                  <a:spcPct val="90000"/>
                </a:lnSpc>
                <a:spcBef>
                  <a:spcPts val="0"/>
                </a:spcBef>
                <a:spcAft>
                  <a:spcPts val="0"/>
                </a:spcAft>
                <a:buClr>
                  <a:schemeClr val="dk1"/>
                </a:buClr>
                <a:buSzPts val="500"/>
                <a:buFont typeface="Garamond"/>
                <a:buNone/>
              </a:pPr>
              <a:r>
                <a:t/>
              </a:r>
              <a:endParaRPr sz="500">
                <a:solidFill>
                  <a:schemeClr val="dk1"/>
                </a:solidFill>
                <a:latin typeface="Garamond"/>
                <a:ea typeface="Garamond"/>
                <a:cs typeface="Garamond"/>
                <a:sym typeface="Garamond"/>
              </a:endParaRPr>
            </a:p>
          </p:txBody>
        </p:sp>
        <p:sp>
          <p:nvSpPr>
            <p:cNvPr id="1305" name="Google Shape;1305;p94"/>
            <p:cNvSpPr/>
            <p:nvPr/>
          </p:nvSpPr>
          <p:spPr>
            <a:xfrm>
              <a:off x="1930270" y="756346"/>
              <a:ext cx="118702" cy="118702"/>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94"/>
            <p:cNvSpPr txBox="1"/>
            <p:nvPr/>
          </p:nvSpPr>
          <p:spPr>
            <a:xfrm>
              <a:off x="1956978" y="756346"/>
              <a:ext cx="65286" cy="89323"/>
            </a:xfrm>
            <a:prstGeom prst="rect">
              <a:avLst/>
            </a:prstGeom>
            <a:noFill/>
            <a:ln>
              <a:noFill/>
            </a:ln>
          </p:spPr>
          <p:txBody>
            <a:bodyPr anchorCtr="0" anchor="ctr" bIns="6350" lIns="6350" spcFirstLastPara="1" rIns="6350" wrap="square" tIns="6350">
              <a:noAutofit/>
            </a:bodyPr>
            <a:lstStyle/>
            <a:p>
              <a:pPr indent="0" lvl="0" marL="0" marR="0" rtl="0" algn="ctr">
                <a:lnSpc>
                  <a:spcPct val="90000"/>
                </a:lnSpc>
                <a:spcBef>
                  <a:spcPts val="0"/>
                </a:spcBef>
                <a:spcAft>
                  <a:spcPts val="0"/>
                </a:spcAft>
                <a:buClr>
                  <a:schemeClr val="dk1"/>
                </a:buClr>
                <a:buSzPts val="500"/>
                <a:buFont typeface="Garamond"/>
                <a:buNone/>
              </a:pPr>
              <a:r>
                <a:t/>
              </a:r>
              <a:endParaRPr sz="500">
                <a:solidFill>
                  <a:schemeClr val="dk1"/>
                </a:solidFill>
                <a:latin typeface="Garamond"/>
                <a:ea typeface="Garamond"/>
                <a:cs typeface="Garamond"/>
                <a:sym typeface="Garamond"/>
              </a:endParaRPr>
            </a:p>
          </p:txBody>
        </p:sp>
      </p:grpSp>
      <p:grpSp>
        <p:nvGrpSpPr>
          <p:cNvPr id="1307" name="Google Shape;1307;p94"/>
          <p:cNvGrpSpPr/>
          <p:nvPr/>
        </p:nvGrpSpPr>
        <p:grpSpPr>
          <a:xfrm>
            <a:off x="540328" y="1691908"/>
            <a:ext cx="10924901" cy="4434373"/>
            <a:chOff x="540328" y="1740034"/>
            <a:chExt cx="10924901" cy="4434373"/>
          </a:xfrm>
        </p:grpSpPr>
        <p:pic>
          <p:nvPicPr>
            <p:cNvPr id="1308" name="Google Shape;1308;p94"/>
            <p:cNvPicPr preferRelativeResize="0"/>
            <p:nvPr/>
          </p:nvPicPr>
          <p:blipFill rotWithShape="1">
            <a:blip r:embed="rId3">
              <a:alphaModFix/>
            </a:blip>
            <a:srcRect b="0" l="0" r="0" t="0"/>
            <a:stretch/>
          </p:blipFill>
          <p:spPr>
            <a:xfrm>
              <a:off x="540328" y="2543598"/>
              <a:ext cx="3203302" cy="2402476"/>
            </a:xfrm>
            <a:prstGeom prst="rect">
              <a:avLst/>
            </a:prstGeom>
            <a:noFill/>
            <a:ln>
              <a:noFill/>
            </a:ln>
          </p:spPr>
        </p:pic>
        <p:pic>
          <p:nvPicPr>
            <p:cNvPr id="1309" name="Google Shape;1309;p94"/>
            <p:cNvPicPr preferRelativeResize="0"/>
            <p:nvPr/>
          </p:nvPicPr>
          <p:blipFill rotWithShape="1">
            <a:blip r:embed="rId4">
              <a:alphaModFix/>
            </a:blip>
            <a:srcRect b="0" l="0" r="0" t="0"/>
            <a:stretch/>
          </p:blipFill>
          <p:spPr>
            <a:xfrm>
              <a:off x="4197928" y="1740034"/>
              <a:ext cx="3406501" cy="2554876"/>
            </a:xfrm>
            <a:prstGeom prst="rect">
              <a:avLst/>
            </a:prstGeom>
            <a:noFill/>
            <a:ln>
              <a:noFill/>
            </a:ln>
          </p:spPr>
        </p:pic>
        <p:pic>
          <p:nvPicPr>
            <p:cNvPr id="1310" name="Google Shape;1310;p94"/>
            <p:cNvPicPr preferRelativeResize="0"/>
            <p:nvPr/>
          </p:nvPicPr>
          <p:blipFill rotWithShape="1">
            <a:blip r:embed="rId5">
              <a:alphaModFix/>
            </a:blip>
            <a:srcRect b="0" l="0" r="0" t="0"/>
            <a:stretch/>
          </p:blipFill>
          <p:spPr>
            <a:xfrm>
              <a:off x="8058727" y="2391197"/>
              <a:ext cx="3406502" cy="2554877"/>
            </a:xfrm>
            <a:prstGeom prst="rect">
              <a:avLst/>
            </a:prstGeom>
            <a:noFill/>
            <a:ln>
              <a:noFill/>
            </a:ln>
          </p:spPr>
        </p:pic>
        <p:sp>
          <p:nvSpPr>
            <p:cNvPr id="1311" name="Google Shape;1311;p94"/>
            <p:cNvSpPr/>
            <p:nvPr/>
          </p:nvSpPr>
          <p:spPr>
            <a:xfrm>
              <a:off x="1496290" y="2633155"/>
              <a:ext cx="3406501" cy="367145"/>
            </a:xfrm>
            <a:prstGeom prst="rightArrow">
              <a:avLst>
                <a:gd fmla="val 50000" name="adj1"/>
                <a:gd fmla="val 50000" name="adj2"/>
              </a:avLst>
            </a:prstGeom>
            <a:solidFill>
              <a:schemeClr val="accent4"/>
            </a:solidFill>
            <a:ln cap="flat" cmpd="sng" w="12700">
              <a:solidFill>
                <a:srgbClr val="AA84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312" name="Google Shape;1312;p94"/>
            <p:cNvSpPr/>
            <p:nvPr/>
          </p:nvSpPr>
          <p:spPr>
            <a:xfrm>
              <a:off x="7002614" y="2516680"/>
              <a:ext cx="1836586" cy="367145"/>
            </a:xfrm>
            <a:prstGeom prst="rightArrow">
              <a:avLst>
                <a:gd fmla="val 50000" name="adj1"/>
                <a:gd fmla="val 50000" name="adj2"/>
              </a:avLst>
            </a:prstGeom>
            <a:solidFill>
              <a:schemeClr val="accent4"/>
            </a:solidFill>
            <a:ln cap="flat" cmpd="sng" w="12700">
              <a:solidFill>
                <a:srgbClr val="AA84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313" name="Google Shape;1313;p94"/>
            <p:cNvSpPr/>
            <p:nvPr/>
          </p:nvSpPr>
          <p:spPr>
            <a:xfrm>
              <a:off x="8811491" y="2403764"/>
              <a:ext cx="1399309" cy="1738745"/>
            </a:xfrm>
            <a:prstGeom prst="frame">
              <a:avLst>
                <a:gd fmla="val 6559" name="adj1"/>
              </a:avLst>
            </a:prstGeom>
            <a:solidFill>
              <a:schemeClr val="accent4"/>
            </a:solidFill>
            <a:ln cap="flat" cmpd="sng" w="12700">
              <a:solidFill>
                <a:srgbClr val="AA84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1314" name="Google Shape;1314;p94"/>
            <p:cNvSpPr txBox="1"/>
            <p:nvPr/>
          </p:nvSpPr>
          <p:spPr>
            <a:xfrm>
              <a:off x="1440611" y="5251077"/>
              <a:ext cx="17692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Panel frontal</a:t>
              </a:r>
              <a:endParaRPr sz="1800">
                <a:solidFill>
                  <a:schemeClr val="dk1"/>
                </a:solidFill>
                <a:latin typeface="Garamond"/>
                <a:ea typeface="Garamond"/>
                <a:cs typeface="Garamond"/>
                <a:sym typeface="Garamond"/>
              </a:endParaRPr>
            </a:p>
          </p:txBody>
        </p:sp>
        <p:sp>
          <p:nvSpPr>
            <p:cNvPr id="1315" name="Google Shape;1315;p94"/>
            <p:cNvSpPr txBox="1"/>
            <p:nvPr/>
          </p:nvSpPr>
          <p:spPr>
            <a:xfrm>
              <a:off x="4419335" y="5251077"/>
              <a:ext cx="296368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800">
                  <a:solidFill>
                    <a:schemeClr val="dk1"/>
                  </a:solidFill>
                  <a:latin typeface="Garamond"/>
                  <a:ea typeface="Garamond"/>
                  <a:cs typeface="Garamond"/>
                  <a:sym typeface="Garamond"/>
                </a:rPr>
                <a:t>Parte posterior (conexiones del controlador del temperatura)</a:t>
              </a:r>
              <a:endParaRPr sz="1800">
                <a:solidFill>
                  <a:schemeClr val="dk1"/>
                </a:solidFill>
                <a:latin typeface="Garamond"/>
                <a:ea typeface="Garamond"/>
                <a:cs typeface="Garamond"/>
                <a:sym typeface="Garamond"/>
              </a:endParaRPr>
            </a:p>
          </p:txBody>
        </p:sp>
        <p:sp>
          <p:nvSpPr>
            <p:cNvPr id="1316" name="Google Shape;1316;p94"/>
            <p:cNvSpPr txBox="1"/>
            <p:nvPr/>
          </p:nvSpPr>
          <p:spPr>
            <a:xfrm>
              <a:off x="8280135" y="5251077"/>
              <a:ext cx="2963685"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BO" sz="1800">
                  <a:solidFill>
                    <a:schemeClr val="dk1"/>
                  </a:solidFill>
                  <a:latin typeface="Garamond"/>
                  <a:ea typeface="Garamond"/>
                  <a:cs typeface="Garamond"/>
                  <a:sym typeface="Garamond"/>
                </a:rPr>
                <a:t>conexiones que presentaban una sujeción deficiente corregidas.</a:t>
              </a:r>
              <a:endParaRPr sz="1800">
                <a:solidFill>
                  <a:schemeClr val="dk1"/>
                </a:solidFill>
                <a:latin typeface="Garamond"/>
                <a:ea typeface="Garamond"/>
                <a:cs typeface="Garamond"/>
                <a:sym typeface="Garamond"/>
              </a:endParaRPr>
            </a:p>
          </p:txBody>
        </p:sp>
        <p:sp>
          <p:nvSpPr>
            <p:cNvPr id="1317" name="Google Shape;1317;p94"/>
            <p:cNvSpPr/>
            <p:nvPr/>
          </p:nvSpPr>
          <p:spPr>
            <a:xfrm>
              <a:off x="997526" y="2609852"/>
              <a:ext cx="568037" cy="547945"/>
            </a:xfrm>
            <a:prstGeom prst="frame">
              <a:avLst>
                <a:gd fmla="val 12500" name="adj1"/>
              </a:avLst>
            </a:prstGeom>
            <a:solidFill>
              <a:schemeClr val="accent4"/>
            </a:solidFill>
            <a:ln cap="flat" cmpd="sng" w="12700">
              <a:solidFill>
                <a:srgbClr val="AA84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95"/>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ARREGLOS</a:t>
            </a:r>
            <a:endParaRPr b="1"/>
          </a:p>
        </p:txBody>
      </p:sp>
      <p:grpSp>
        <p:nvGrpSpPr>
          <p:cNvPr id="1323" name="Google Shape;1323;p95"/>
          <p:cNvGrpSpPr/>
          <p:nvPr/>
        </p:nvGrpSpPr>
        <p:grpSpPr>
          <a:xfrm>
            <a:off x="666206" y="1179334"/>
            <a:ext cx="10058399" cy="5208402"/>
            <a:chOff x="0" y="3677"/>
            <a:chExt cx="10058399" cy="5208402"/>
          </a:xfrm>
        </p:grpSpPr>
        <p:sp>
          <p:nvSpPr>
            <p:cNvPr id="1324" name="Google Shape;1324;p95"/>
            <p:cNvSpPr/>
            <p:nvPr/>
          </p:nvSpPr>
          <p:spPr>
            <a:xfrm>
              <a:off x="0" y="3677"/>
              <a:ext cx="7744967" cy="930819"/>
            </a:xfrm>
            <a:prstGeom prst="roundRect">
              <a:avLst>
                <a:gd fmla="val 10000" name="adj"/>
              </a:avLst>
            </a:prstGeom>
            <a:solidFill>
              <a:srgbClr val="E4ECEB"/>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95"/>
            <p:cNvSpPr txBox="1"/>
            <p:nvPr/>
          </p:nvSpPr>
          <p:spPr>
            <a:xfrm>
              <a:off x="27263" y="30940"/>
              <a:ext cx="6623268" cy="876293"/>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LIMPIEZA DEL SISTEMA</a:t>
              </a:r>
              <a:endParaRPr/>
            </a:p>
          </p:txBody>
        </p:sp>
        <p:sp>
          <p:nvSpPr>
            <p:cNvPr id="1326" name="Google Shape;1326;p95"/>
            <p:cNvSpPr/>
            <p:nvPr/>
          </p:nvSpPr>
          <p:spPr>
            <a:xfrm>
              <a:off x="832857" y="105089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95"/>
            <p:cNvSpPr txBox="1"/>
            <p:nvPr/>
          </p:nvSpPr>
          <p:spPr>
            <a:xfrm>
              <a:off x="860335" y="1078373"/>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El día 20 de abril, se llevo a cabo la limpieza del sistema del sistema de nivel de liquido. Se verifico que el nivel de agua se encontró en optimas condiciones .</a:t>
              </a:r>
              <a:endParaRPr sz="1900">
                <a:solidFill>
                  <a:schemeClr val="dk1"/>
                </a:solidFill>
                <a:latin typeface="Garamond"/>
                <a:ea typeface="Garamond"/>
                <a:cs typeface="Garamond"/>
                <a:sym typeface="Garamond"/>
              </a:endParaRPr>
            </a:p>
          </p:txBody>
        </p:sp>
        <p:sp>
          <p:nvSpPr>
            <p:cNvPr id="1328" name="Google Shape;1328;p95"/>
            <p:cNvSpPr/>
            <p:nvPr/>
          </p:nvSpPr>
          <p:spPr>
            <a:xfrm>
              <a:off x="1156716" y="2136952"/>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95"/>
            <p:cNvSpPr txBox="1"/>
            <p:nvPr/>
          </p:nvSpPr>
          <p:spPr>
            <a:xfrm>
              <a:off x="1184194" y="2164430"/>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Se procedió a retirar la suciedad acumulada (polvo y agua residual) para asegurar un buen funcionamiento. </a:t>
              </a:r>
              <a:endParaRPr sz="1900">
                <a:solidFill>
                  <a:schemeClr val="dk1"/>
                </a:solidFill>
                <a:latin typeface="Garamond"/>
                <a:ea typeface="Garamond"/>
                <a:cs typeface="Garamond"/>
                <a:sym typeface="Garamond"/>
              </a:endParaRPr>
            </a:p>
          </p:txBody>
        </p:sp>
        <p:sp>
          <p:nvSpPr>
            <p:cNvPr id="1330" name="Google Shape;1330;p95"/>
            <p:cNvSpPr/>
            <p:nvPr/>
          </p:nvSpPr>
          <p:spPr>
            <a:xfrm>
              <a:off x="1735073" y="3205429"/>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95"/>
            <p:cNvSpPr txBox="1"/>
            <p:nvPr/>
          </p:nvSpPr>
          <p:spPr>
            <a:xfrm>
              <a:off x="1762551" y="3232907"/>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Se utilizo:</a:t>
              </a:r>
              <a:endParaRPr/>
            </a:p>
            <a:p>
              <a:pPr indent="0" lvl="0" marL="0" marR="0" rtl="0" algn="l">
                <a:lnSpc>
                  <a:spcPct val="90000"/>
                </a:lnSpc>
                <a:spcBef>
                  <a:spcPts val="665"/>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Guantes, detergente, agua limpia, trapos y Escoba.</a:t>
              </a:r>
              <a:endParaRPr sz="1900">
                <a:solidFill>
                  <a:schemeClr val="dk1"/>
                </a:solidFill>
                <a:latin typeface="Garamond"/>
                <a:ea typeface="Garamond"/>
                <a:cs typeface="Garamond"/>
                <a:sym typeface="Garamond"/>
              </a:endParaRPr>
            </a:p>
          </p:txBody>
        </p:sp>
        <p:sp>
          <p:nvSpPr>
            <p:cNvPr id="1332" name="Google Shape;1332;p95"/>
            <p:cNvSpPr/>
            <p:nvPr/>
          </p:nvSpPr>
          <p:spPr>
            <a:xfrm>
              <a:off x="2313432" y="427390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95"/>
            <p:cNvSpPr txBox="1"/>
            <p:nvPr/>
          </p:nvSpPr>
          <p:spPr>
            <a:xfrm>
              <a:off x="2340910" y="4301383"/>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Finalmente se realizo una prueba de funcionamiento y se confirmo que el sistema de nivel de liquido esta operando correctamente.</a:t>
              </a:r>
              <a:endParaRPr sz="1900">
                <a:solidFill>
                  <a:schemeClr val="dk1"/>
                </a:solidFill>
                <a:latin typeface="Garamond"/>
                <a:ea typeface="Garamond"/>
                <a:cs typeface="Garamond"/>
                <a:sym typeface="Garamond"/>
              </a:endParaRPr>
            </a:p>
          </p:txBody>
        </p:sp>
        <p:sp>
          <p:nvSpPr>
            <p:cNvPr id="1334" name="Google Shape;1334;p95"/>
            <p:cNvSpPr/>
            <p:nvPr/>
          </p:nvSpPr>
          <p:spPr>
            <a:xfrm>
              <a:off x="7135154" y="685388"/>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95"/>
            <p:cNvSpPr txBox="1"/>
            <p:nvPr/>
          </p:nvSpPr>
          <p:spPr>
            <a:xfrm>
              <a:off x="7272362" y="685388"/>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336" name="Google Shape;1336;p95"/>
            <p:cNvSpPr/>
            <p:nvPr/>
          </p:nvSpPr>
          <p:spPr>
            <a:xfrm>
              <a:off x="7713512" y="1753864"/>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95"/>
            <p:cNvSpPr txBox="1"/>
            <p:nvPr/>
          </p:nvSpPr>
          <p:spPr>
            <a:xfrm>
              <a:off x="7850720" y="1753864"/>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338" name="Google Shape;1338;p95"/>
            <p:cNvSpPr/>
            <p:nvPr/>
          </p:nvSpPr>
          <p:spPr>
            <a:xfrm>
              <a:off x="8291870" y="28067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95"/>
            <p:cNvSpPr txBox="1"/>
            <p:nvPr/>
          </p:nvSpPr>
          <p:spPr>
            <a:xfrm>
              <a:off x="8429078" y="28067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340" name="Google Shape;1340;p95"/>
            <p:cNvSpPr/>
            <p:nvPr/>
          </p:nvSpPr>
          <p:spPr>
            <a:xfrm>
              <a:off x="8870228" y="38856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95"/>
            <p:cNvSpPr txBox="1"/>
            <p:nvPr/>
          </p:nvSpPr>
          <p:spPr>
            <a:xfrm>
              <a:off x="9007436" y="38856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id="1342" name="Google Shape;1342;p95"/>
          <p:cNvPicPr preferRelativeResize="0"/>
          <p:nvPr/>
        </p:nvPicPr>
        <p:blipFill rotWithShape="1">
          <a:blip r:embed="rId3">
            <a:alphaModFix/>
          </a:blip>
          <a:srcRect b="0" l="15606" r="14091" t="0"/>
          <a:stretch/>
        </p:blipFill>
        <p:spPr>
          <a:xfrm>
            <a:off x="8644246" y="1175657"/>
            <a:ext cx="818409" cy="873087"/>
          </a:xfrm>
          <a:prstGeom prst="rect">
            <a:avLst/>
          </a:prstGeom>
          <a:noFill/>
          <a:ln>
            <a:noFill/>
          </a:ln>
        </p:spPr>
      </p:pic>
      <p:pic>
        <p:nvPicPr>
          <p:cNvPr id="1343" name="Google Shape;1343;p95"/>
          <p:cNvPicPr preferRelativeResize="0"/>
          <p:nvPr/>
        </p:nvPicPr>
        <p:blipFill rotWithShape="1">
          <a:blip r:embed="rId4">
            <a:alphaModFix/>
          </a:blip>
          <a:srcRect b="0" l="0" r="0" t="0"/>
          <a:stretch/>
        </p:blipFill>
        <p:spPr>
          <a:xfrm>
            <a:off x="9587345" y="2179876"/>
            <a:ext cx="760912" cy="1014550"/>
          </a:xfrm>
          <a:prstGeom prst="rect">
            <a:avLst/>
          </a:prstGeom>
          <a:noFill/>
          <a:ln>
            <a:noFill/>
          </a:ln>
        </p:spPr>
      </p:pic>
      <p:pic>
        <p:nvPicPr>
          <p:cNvPr id="1344" name="Google Shape;1344;p95"/>
          <p:cNvPicPr preferRelativeResize="0"/>
          <p:nvPr/>
        </p:nvPicPr>
        <p:blipFill rotWithShape="1">
          <a:blip r:embed="rId5">
            <a:alphaModFix/>
          </a:blip>
          <a:srcRect b="0" l="0" r="0" t="0"/>
          <a:stretch/>
        </p:blipFill>
        <p:spPr>
          <a:xfrm>
            <a:off x="9975410" y="3377960"/>
            <a:ext cx="943297" cy="707473"/>
          </a:xfrm>
          <a:prstGeom prst="rect">
            <a:avLst/>
          </a:prstGeom>
          <a:noFill/>
          <a:ln>
            <a:noFill/>
          </a:ln>
        </p:spPr>
      </p:pic>
      <p:pic>
        <p:nvPicPr>
          <p:cNvPr id="1345" name="Google Shape;1345;p95"/>
          <p:cNvPicPr preferRelativeResize="0"/>
          <p:nvPr/>
        </p:nvPicPr>
        <p:blipFill rotWithShape="1">
          <a:blip r:embed="rId6">
            <a:alphaModFix/>
          </a:blip>
          <a:srcRect b="0" l="0" r="0" t="0"/>
          <a:stretch/>
        </p:blipFill>
        <p:spPr>
          <a:xfrm>
            <a:off x="10348258" y="4329556"/>
            <a:ext cx="659816" cy="879754"/>
          </a:xfrm>
          <a:prstGeom prst="rect">
            <a:avLst/>
          </a:prstGeom>
          <a:noFill/>
          <a:ln>
            <a:noFill/>
          </a:ln>
        </p:spPr>
      </p:pic>
      <p:pic>
        <p:nvPicPr>
          <p:cNvPr id="1346" name="Google Shape;1346;p95"/>
          <p:cNvPicPr preferRelativeResize="0"/>
          <p:nvPr/>
        </p:nvPicPr>
        <p:blipFill rotWithShape="1">
          <a:blip r:embed="rId7">
            <a:alphaModFix/>
          </a:blip>
          <a:srcRect b="0" l="7273" r="0" t="0"/>
          <a:stretch/>
        </p:blipFill>
        <p:spPr>
          <a:xfrm rot="5400000">
            <a:off x="10993167" y="4407534"/>
            <a:ext cx="815773" cy="659817"/>
          </a:xfrm>
          <a:prstGeom prst="rect">
            <a:avLst/>
          </a:prstGeom>
          <a:noFill/>
          <a:ln>
            <a:noFill/>
          </a:ln>
        </p:spPr>
      </p:pic>
      <p:pic>
        <p:nvPicPr>
          <p:cNvPr id="1347" name="Google Shape;1347;p95"/>
          <p:cNvPicPr preferRelativeResize="0"/>
          <p:nvPr/>
        </p:nvPicPr>
        <p:blipFill rotWithShape="1">
          <a:blip r:embed="rId8">
            <a:alphaModFix/>
          </a:blip>
          <a:srcRect b="0" l="0" r="0" t="0"/>
          <a:stretch/>
        </p:blipFill>
        <p:spPr>
          <a:xfrm>
            <a:off x="10862689" y="5568428"/>
            <a:ext cx="801188" cy="600891"/>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sp>
        <p:nvSpPr>
          <p:cNvPr id="1352" name="Google Shape;1352;p96"/>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ARREGLOS</a:t>
            </a:r>
            <a:endParaRPr b="1"/>
          </a:p>
        </p:txBody>
      </p:sp>
      <p:grpSp>
        <p:nvGrpSpPr>
          <p:cNvPr id="1353" name="Google Shape;1353;p96"/>
          <p:cNvGrpSpPr/>
          <p:nvPr/>
        </p:nvGrpSpPr>
        <p:grpSpPr>
          <a:xfrm>
            <a:off x="3815180" y="3300391"/>
            <a:ext cx="3531720" cy="1178782"/>
            <a:chOff x="0" y="832"/>
            <a:chExt cx="3531720" cy="1178782"/>
          </a:xfrm>
        </p:grpSpPr>
        <p:sp>
          <p:nvSpPr>
            <p:cNvPr id="1354" name="Google Shape;1354;p96"/>
            <p:cNvSpPr/>
            <p:nvPr/>
          </p:nvSpPr>
          <p:spPr>
            <a:xfrm>
              <a:off x="0" y="832"/>
              <a:ext cx="2719425" cy="210666"/>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96"/>
            <p:cNvSpPr txBox="1"/>
            <p:nvPr/>
          </p:nvSpPr>
          <p:spPr>
            <a:xfrm>
              <a:off x="6170" y="7002"/>
              <a:ext cx="2465558" cy="198326"/>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dk1"/>
                </a:buClr>
                <a:buSzPts val="500"/>
                <a:buFont typeface="Garamond"/>
                <a:buNone/>
              </a:pPr>
              <a:r>
                <a:rPr lang="es-BO" sz="500">
                  <a:solidFill>
                    <a:schemeClr val="dk1"/>
                  </a:solidFill>
                  <a:latin typeface="Garamond"/>
                  <a:ea typeface="Garamond"/>
                  <a:cs typeface="Garamond"/>
                  <a:sym typeface="Garamond"/>
                </a:rPr>
                <a:t>LIMPIEZA DEL SISTEMA</a:t>
              </a:r>
              <a:endParaRPr/>
            </a:p>
          </p:txBody>
        </p:sp>
        <p:sp>
          <p:nvSpPr>
            <p:cNvPr id="1356" name="Google Shape;1356;p96"/>
            <p:cNvSpPr/>
            <p:nvPr/>
          </p:nvSpPr>
          <p:spPr>
            <a:xfrm>
              <a:off x="292434" y="237841"/>
              <a:ext cx="2719425" cy="212330"/>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96"/>
            <p:cNvSpPr txBox="1"/>
            <p:nvPr/>
          </p:nvSpPr>
          <p:spPr>
            <a:xfrm>
              <a:off x="298653" y="244060"/>
              <a:ext cx="2365898" cy="199892"/>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El día 20 de abril, se llevo a cabo la limpieza del sistema del sistema de nivel de liquido. Se verifico que el nivel de agua se encontró en optimas condiciones .</a:t>
              </a:r>
              <a:endParaRPr sz="500">
                <a:solidFill>
                  <a:schemeClr val="dk1"/>
                </a:solidFill>
                <a:latin typeface="Garamond"/>
                <a:ea typeface="Garamond"/>
                <a:cs typeface="Garamond"/>
                <a:sym typeface="Garamond"/>
              </a:endParaRPr>
            </a:p>
          </p:txBody>
        </p:sp>
        <p:sp>
          <p:nvSpPr>
            <p:cNvPr id="1358" name="Google Shape;1358;p96"/>
            <p:cNvSpPr/>
            <p:nvPr/>
          </p:nvSpPr>
          <p:spPr>
            <a:xfrm>
              <a:off x="406147" y="483642"/>
              <a:ext cx="2719425" cy="212330"/>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96"/>
            <p:cNvSpPr txBox="1"/>
            <p:nvPr/>
          </p:nvSpPr>
          <p:spPr>
            <a:xfrm>
              <a:off x="412366" y="489861"/>
              <a:ext cx="2365898" cy="199892"/>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se procedió a retirar la suciedad acumulada (polvo y agua residual) para asegurar un buen funcionamiento. </a:t>
              </a:r>
              <a:endParaRPr sz="500">
                <a:solidFill>
                  <a:schemeClr val="dk1"/>
                </a:solidFill>
                <a:latin typeface="Garamond"/>
                <a:ea typeface="Garamond"/>
                <a:cs typeface="Garamond"/>
                <a:sym typeface="Garamond"/>
              </a:endParaRPr>
            </a:p>
          </p:txBody>
        </p:sp>
        <p:sp>
          <p:nvSpPr>
            <p:cNvPr id="1360" name="Google Shape;1360;p96"/>
            <p:cNvSpPr/>
            <p:nvPr/>
          </p:nvSpPr>
          <p:spPr>
            <a:xfrm>
              <a:off x="609221" y="725463"/>
              <a:ext cx="2719425" cy="212330"/>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96"/>
            <p:cNvSpPr txBox="1"/>
            <p:nvPr/>
          </p:nvSpPr>
          <p:spPr>
            <a:xfrm>
              <a:off x="615440" y="731682"/>
              <a:ext cx="2365898" cy="199892"/>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Se utilizo:</a:t>
              </a:r>
              <a:endParaRPr/>
            </a:p>
            <a:p>
              <a:pPr indent="0" lvl="0" marL="0" marR="0" rtl="0" algn="l">
                <a:lnSpc>
                  <a:spcPct val="90000"/>
                </a:lnSpc>
                <a:spcBef>
                  <a:spcPts val="175"/>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Guantes, detergente, agua limpia, trapos y Escoba</a:t>
              </a:r>
              <a:endParaRPr sz="500">
                <a:solidFill>
                  <a:schemeClr val="dk1"/>
                </a:solidFill>
                <a:latin typeface="Garamond"/>
                <a:ea typeface="Garamond"/>
                <a:cs typeface="Garamond"/>
                <a:sym typeface="Garamond"/>
              </a:endParaRPr>
            </a:p>
          </p:txBody>
        </p:sp>
        <p:sp>
          <p:nvSpPr>
            <p:cNvPr id="1362" name="Google Shape;1362;p96"/>
            <p:cNvSpPr/>
            <p:nvPr/>
          </p:nvSpPr>
          <p:spPr>
            <a:xfrm>
              <a:off x="812295" y="967284"/>
              <a:ext cx="2719425" cy="212330"/>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96"/>
            <p:cNvSpPr txBox="1"/>
            <p:nvPr/>
          </p:nvSpPr>
          <p:spPr>
            <a:xfrm>
              <a:off x="818514" y="973503"/>
              <a:ext cx="2365898" cy="199892"/>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Finalmente se realizo una prueba de funcionamiento y se confirmo que el sistema de nivel de liquido esta operando correctamente.</a:t>
              </a:r>
              <a:endParaRPr sz="500">
                <a:solidFill>
                  <a:schemeClr val="dk1"/>
                </a:solidFill>
                <a:latin typeface="Garamond"/>
                <a:ea typeface="Garamond"/>
                <a:cs typeface="Garamond"/>
                <a:sym typeface="Garamond"/>
              </a:endParaRPr>
            </a:p>
          </p:txBody>
        </p:sp>
        <p:sp>
          <p:nvSpPr>
            <p:cNvPr id="1364" name="Google Shape;1364;p96"/>
            <p:cNvSpPr/>
            <p:nvPr/>
          </p:nvSpPr>
          <p:spPr>
            <a:xfrm>
              <a:off x="2581410" y="155119"/>
              <a:ext cx="138014" cy="138014"/>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96"/>
            <p:cNvSpPr txBox="1"/>
            <p:nvPr/>
          </p:nvSpPr>
          <p:spPr>
            <a:xfrm>
              <a:off x="2612463" y="155119"/>
              <a:ext cx="75908" cy="103856"/>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Clr>
                  <a:schemeClr val="dk1"/>
                </a:buClr>
                <a:buSzPts val="600"/>
                <a:buFont typeface="Garamond"/>
                <a:buNone/>
              </a:pPr>
              <a:r>
                <a:t/>
              </a:r>
              <a:endParaRPr sz="600">
                <a:solidFill>
                  <a:schemeClr val="dk1"/>
                </a:solidFill>
                <a:latin typeface="Garamond"/>
                <a:ea typeface="Garamond"/>
                <a:cs typeface="Garamond"/>
                <a:sym typeface="Garamond"/>
              </a:endParaRPr>
            </a:p>
          </p:txBody>
        </p:sp>
        <p:sp>
          <p:nvSpPr>
            <p:cNvPr id="1366" name="Google Shape;1366;p96"/>
            <p:cNvSpPr/>
            <p:nvPr/>
          </p:nvSpPr>
          <p:spPr>
            <a:xfrm>
              <a:off x="2784484" y="396940"/>
              <a:ext cx="138014" cy="138014"/>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96"/>
            <p:cNvSpPr txBox="1"/>
            <p:nvPr/>
          </p:nvSpPr>
          <p:spPr>
            <a:xfrm>
              <a:off x="2815537" y="396940"/>
              <a:ext cx="75908" cy="103856"/>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Clr>
                  <a:schemeClr val="dk1"/>
                </a:buClr>
                <a:buSzPts val="600"/>
                <a:buFont typeface="Garamond"/>
                <a:buNone/>
              </a:pPr>
              <a:r>
                <a:t/>
              </a:r>
              <a:endParaRPr sz="600">
                <a:solidFill>
                  <a:schemeClr val="dk1"/>
                </a:solidFill>
                <a:latin typeface="Garamond"/>
                <a:ea typeface="Garamond"/>
                <a:cs typeface="Garamond"/>
                <a:sym typeface="Garamond"/>
              </a:endParaRPr>
            </a:p>
          </p:txBody>
        </p:sp>
        <p:sp>
          <p:nvSpPr>
            <p:cNvPr id="1368" name="Google Shape;1368;p96"/>
            <p:cNvSpPr/>
            <p:nvPr/>
          </p:nvSpPr>
          <p:spPr>
            <a:xfrm>
              <a:off x="2987558" y="635222"/>
              <a:ext cx="138014" cy="138014"/>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96"/>
            <p:cNvSpPr txBox="1"/>
            <p:nvPr/>
          </p:nvSpPr>
          <p:spPr>
            <a:xfrm>
              <a:off x="3018611" y="635222"/>
              <a:ext cx="75908" cy="103856"/>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Clr>
                  <a:schemeClr val="dk1"/>
                </a:buClr>
                <a:buSzPts val="600"/>
                <a:buFont typeface="Garamond"/>
                <a:buNone/>
              </a:pPr>
              <a:r>
                <a:t/>
              </a:r>
              <a:endParaRPr sz="600">
                <a:solidFill>
                  <a:schemeClr val="dk1"/>
                </a:solidFill>
                <a:latin typeface="Garamond"/>
                <a:ea typeface="Garamond"/>
                <a:cs typeface="Garamond"/>
                <a:sym typeface="Garamond"/>
              </a:endParaRPr>
            </a:p>
          </p:txBody>
        </p:sp>
        <p:sp>
          <p:nvSpPr>
            <p:cNvPr id="1370" name="Google Shape;1370;p96"/>
            <p:cNvSpPr/>
            <p:nvPr/>
          </p:nvSpPr>
          <p:spPr>
            <a:xfrm>
              <a:off x="3190632" y="879402"/>
              <a:ext cx="138014" cy="138014"/>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96"/>
            <p:cNvSpPr txBox="1"/>
            <p:nvPr/>
          </p:nvSpPr>
          <p:spPr>
            <a:xfrm>
              <a:off x="3221685" y="879402"/>
              <a:ext cx="75908" cy="103856"/>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Clr>
                  <a:schemeClr val="dk1"/>
                </a:buClr>
                <a:buSzPts val="600"/>
                <a:buFont typeface="Garamond"/>
                <a:buNone/>
              </a:pPr>
              <a:r>
                <a:t/>
              </a:r>
              <a:endParaRPr sz="600">
                <a:solidFill>
                  <a:schemeClr val="dk1"/>
                </a:solidFill>
                <a:latin typeface="Garamond"/>
                <a:ea typeface="Garamond"/>
                <a:cs typeface="Garamond"/>
                <a:sym typeface="Garamond"/>
              </a:endParaRPr>
            </a:p>
          </p:txBody>
        </p:sp>
      </p:grpSp>
      <p:pic>
        <p:nvPicPr>
          <p:cNvPr id="1372" name="Google Shape;1372;p96"/>
          <p:cNvPicPr preferRelativeResize="0"/>
          <p:nvPr/>
        </p:nvPicPr>
        <p:blipFill rotWithShape="1">
          <a:blip r:embed="rId3">
            <a:alphaModFix/>
          </a:blip>
          <a:srcRect b="0" l="15606" r="14091" t="0"/>
          <a:stretch/>
        </p:blipFill>
        <p:spPr>
          <a:xfrm>
            <a:off x="467072" y="2591513"/>
            <a:ext cx="2453852" cy="2617794"/>
          </a:xfrm>
          <a:prstGeom prst="rect">
            <a:avLst/>
          </a:prstGeom>
          <a:noFill/>
          <a:ln>
            <a:noFill/>
          </a:ln>
        </p:spPr>
      </p:pic>
      <p:pic>
        <p:nvPicPr>
          <p:cNvPr id="1373" name="Google Shape;1373;p96"/>
          <p:cNvPicPr preferRelativeResize="0"/>
          <p:nvPr/>
        </p:nvPicPr>
        <p:blipFill rotWithShape="1">
          <a:blip r:embed="rId4">
            <a:alphaModFix/>
          </a:blip>
          <a:srcRect b="0" l="0" r="0" t="0"/>
          <a:stretch/>
        </p:blipFill>
        <p:spPr>
          <a:xfrm>
            <a:off x="3215615" y="2616459"/>
            <a:ext cx="1963344" cy="2617794"/>
          </a:xfrm>
          <a:prstGeom prst="rect">
            <a:avLst/>
          </a:prstGeom>
          <a:noFill/>
          <a:ln>
            <a:noFill/>
          </a:ln>
        </p:spPr>
      </p:pic>
      <p:pic>
        <p:nvPicPr>
          <p:cNvPr id="1374" name="Google Shape;1374;p96"/>
          <p:cNvPicPr preferRelativeResize="0"/>
          <p:nvPr/>
        </p:nvPicPr>
        <p:blipFill rotWithShape="1">
          <a:blip r:embed="rId5">
            <a:alphaModFix/>
          </a:blip>
          <a:srcRect b="0" l="0" r="19594" t="0"/>
          <a:stretch/>
        </p:blipFill>
        <p:spPr>
          <a:xfrm>
            <a:off x="5178959" y="2616460"/>
            <a:ext cx="2806470" cy="2617793"/>
          </a:xfrm>
          <a:prstGeom prst="rect">
            <a:avLst/>
          </a:prstGeom>
          <a:noFill/>
          <a:ln>
            <a:noFill/>
          </a:ln>
        </p:spPr>
      </p:pic>
      <p:pic>
        <p:nvPicPr>
          <p:cNvPr id="1375" name="Google Shape;1375;p96"/>
          <p:cNvPicPr preferRelativeResize="0"/>
          <p:nvPr/>
        </p:nvPicPr>
        <p:blipFill rotWithShape="1">
          <a:blip r:embed="rId6">
            <a:alphaModFix/>
          </a:blip>
          <a:srcRect b="0" l="0" r="0" t="0"/>
          <a:stretch/>
        </p:blipFill>
        <p:spPr>
          <a:xfrm>
            <a:off x="8308621" y="2616459"/>
            <a:ext cx="1909365" cy="2545817"/>
          </a:xfrm>
          <a:prstGeom prst="rect">
            <a:avLst/>
          </a:prstGeom>
          <a:noFill/>
          <a:ln>
            <a:noFill/>
          </a:ln>
        </p:spPr>
      </p:pic>
      <p:pic>
        <p:nvPicPr>
          <p:cNvPr id="1376" name="Google Shape;1376;p96"/>
          <p:cNvPicPr preferRelativeResize="0"/>
          <p:nvPr/>
        </p:nvPicPr>
        <p:blipFill rotWithShape="1">
          <a:blip r:embed="rId7">
            <a:alphaModFix/>
          </a:blip>
          <a:srcRect b="0" l="7273" r="0" t="0"/>
          <a:stretch/>
        </p:blipFill>
        <p:spPr>
          <a:xfrm rot="5400000">
            <a:off x="9589779" y="2870851"/>
            <a:ext cx="2545818" cy="2059119"/>
          </a:xfrm>
          <a:prstGeom prst="rect">
            <a:avLst/>
          </a:prstGeom>
          <a:noFill/>
          <a:ln>
            <a:noFill/>
          </a:ln>
        </p:spPr>
      </p:pic>
      <p:pic>
        <p:nvPicPr>
          <p:cNvPr id="1377" name="Google Shape;1377;p96"/>
          <p:cNvPicPr preferRelativeResize="0"/>
          <p:nvPr/>
        </p:nvPicPr>
        <p:blipFill rotWithShape="1">
          <a:blip r:embed="rId8">
            <a:alphaModFix/>
          </a:blip>
          <a:srcRect b="0" l="0" r="0" t="0"/>
          <a:stretch/>
        </p:blipFill>
        <p:spPr>
          <a:xfrm>
            <a:off x="10977154" y="5911061"/>
            <a:ext cx="801188" cy="600891"/>
          </a:xfrm>
          <a:prstGeom prst="rect">
            <a:avLst/>
          </a:prstGeom>
          <a:noFill/>
          <a:ln>
            <a:noFill/>
          </a:ln>
        </p:spPr>
      </p:pic>
      <p:sp>
        <p:nvSpPr>
          <p:cNvPr id="1378" name="Google Shape;1378;p96"/>
          <p:cNvSpPr txBox="1"/>
          <p:nvPr/>
        </p:nvSpPr>
        <p:spPr>
          <a:xfrm>
            <a:off x="3999288" y="5506329"/>
            <a:ext cx="31470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Limpieza de vista lateral y frontal</a:t>
            </a:r>
            <a:endParaRPr sz="1800">
              <a:solidFill>
                <a:schemeClr val="dk1"/>
              </a:solidFill>
              <a:latin typeface="Garamond"/>
              <a:ea typeface="Garamond"/>
              <a:cs typeface="Garamond"/>
              <a:sym typeface="Garamond"/>
            </a:endParaRPr>
          </a:p>
        </p:txBody>
      </p:sp>
      <p:sp>
        <p:nvSpPr>
          <p:cNvPr id="1379" name="Google Shape;1379;p96"/>
          <p:cNvSpPr txBox="1"/>
          <p:nvPr/>
        </p:nvSpPr>
        <p:spPr>
          <a:xfrm>
            <a:off x="712068" y="5506418"/>
            <a:ext cx="198323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Antes de la limpieza</a:t>
            </a:r>
            <a:endParaRPr sz="1800">
              <a:solidFill>
                <a:schemeClr val="dk1"/>
              </a:solidFill>
              <a:latin typeface="Garamond"/>
              <a:ea typeface="Garamond"/>
              <a:cs typeface="Garamond"/>
              <a:sym typeface="Garamond"/>
            </a:endParaRPr>
          </a:p>
        </p:txBody>
      </p:sp>
      <p:sp>
        <p:nvSpPr>
          <p:cNvPr id="1380" name="Google Shape;1380;p96"/>
          <p:cNvSpPr txBox="1"/>
          <p:nvPr/>
        </p:nvSpPr>
        <p:spPr>
          <a:xfrm>
            <a:off x="8259620" y="5506329"/>
            <a:ext cx="340830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Limpieza de vista en ambos tanques</a:t>
            </a:r>
            <a:endParaRPr sz="1800">
              <a:solidFill>
                <a:schemeClr val="dk1"/>
              </a:solidFill>
              <a:latin typeface="Garamond"/>
              <a:ea typeface="Garamond"/>
              <a:cs typeface="Garamond"/>
              <a:sym typeface="Garamond"/>
            </a:endParaRPr>
          </a:p>
        </p:txBody>
      </p:sp>
      <p:grpSp>
        <p:nvGrpSpPr>
          <p:cNvPr id="1381" name="Google Shape;1381;p96"/>
          <p:cNvGrpSpPr/>
          <p:nvPr/>
        </p:nvGrpSpPr>
        <p:grpSpPr>
          <a:xfrm>
            <a:off x="467072" y="2591514"/>
            <a:ext cx="11425175" cy="3284237"/>
            <a:chOff x="467072" y="2591514"/>
            <a:chExt cx="11425175" cy="3284237"/>
          </a:xfrm>
        </p:grpSpPr>
        <p:pic>
          <p:nvPicPr>
            <p:cNvPr id="1382" name="Google Shape;1382;p96"/>
            <p:cNvPicPr preferRelativeResize="0"/>
            <p:nvPr/>
          </p:nvPicPr>
          <p:blipFill rotWithShape="1">
            <a:blip r:embed="rId3">
              <a:alphaModFix/>
            </a:blip>
            <a:srcRect b="0" l="15606" r="14091" t="0"/>
            <a:stretch/>
          </p:blipFill>
          <p:spPr>
            <a:xfrm>
              <a:off x="467072" y="2591514"/>
              <a:ext cx="2453852" cy="2617794"/>
            </a:xfrm>
            <a:prstGeom prst="rect">
              <a:avLst/>
            </a:prstGeom>
            <a:noFill/>
            <a:ln>
              <a:noFill/>
            </a:ln>
          </p:spPr>
        </p:pic>
        <p:pic>
          <p:nvPicPr>
            <p:cNvPr id="1383" name="Google Shape;1383;p96"/>
            <p:cNvPicPr preferRelativeResize="0"/>
            <p:nvPr/>
          </p:nvPicPr>
          <p:blipFill rotWithShape="1">
            <a:blip r:embed="rId4">
              <a:alphaModFix/>
            </a:blip>
            <a:srcRect b="0" l="0" r="0" t="0"/>
            <a:stretch/>
          </p:blipFill>
          <p:spPr>
            <a:xfrm>
              <a:off x="3215615" y="2616460"/>
              <a:ext cx="1963344" cy="2617794"/>
            </a:xfrm>
            <a:prstGeom prst="rect">
              <a:avLst/>
            </a:prstGeom>
            <a:noFill/>
            <a:ln>
              <a:noFill/>
            </a:ln>
          </p:spPr>
        </p:pic>
        <p:pic>
          <p:nvPicPr>
            <p:cNvPr id="1384" name="Google Shape;1384;p96"/>
            <p:cNvPicPr preferRelativeResize="0"/>
            <p:nvPr/>
          </p:nvPicPr>
          <p:blipFill rotWithShape="1">
            <a:blip r:embed="rId5">
              <a:alphaModFix/>
            </a:blip>
            <a:srcRect b="0" l="0" r="19594" t="0"/>
            <a:stretch/>
          </p:blipFill>
          <p:spPr>
            <a:xfrm>
              <a:off x="5178959" y="2616461"/>
              <a:ext cx="2806470" cy="2617793"/>
            </a:xfrm>
            <a:prstGeom prst="rect">
              <a:avLst/>
            </a:prstGeom>
            <a:noFill/>
            <a:ln>
              <a:noFill/>
            </a:ln>
          </p:spPr>
        </p:pic>
        <p:pic>
          <p:nvPicPr>
            <p:cNvPr id="1385" name="Google Shape;1385;p96"/>
            <p:cNvPicPr preferRelativeResize="0"/>
            <p:nvPr/>
          </p:nvPicPr>
          <p:blipFill rotWithShape="1">
            <a:blip r:embed="rId6">
              <a:alphaModFix/>
            </a:blip>
            <a:srcRect b="0" l="0" r="0" t="0"/>
            <a:stretch/>
          </p:blipFill>
          <p:spPr>
            <a:xfrm>
              <a:off x="8308621" y="2616460"/>
              <a:ext cx="1909365" cy="2545817"/>
            </a:xfrm>
            <a:prstGeom prst="rect">
              <a:avLst/>
            </a:prstGeom>
            <a:noFill/>
            <a:ln>
              <a:noFill/>
            </a:ln>
          </p:spPr>
        </p:pic>
        <p:pic>
          <p:nvPicPr>
            <p:cNvPr id="1386" name="Google Shape;1386;p96"/>
            <p:cNvPicPr preferRelativeResize="0"/>
            <p:nvPr/>
          </p:nvPicPr>
          <p:blipFill rotWithShape="1">
            <a:blip r:embed="rId7">
              <a:alphaModFix/>
            </a:blip>
            <a:srcRect b="0" l="7273" r="0" t="0"/>
            <a:stretch/>
          </p:blipFill>
          <p:spPr>
            <a:xfrm rot="5400000">
              <a:off x="9589779" y="2870852"/>
              <a:ext cx="2545818" cy="2059119"/>
            </a:xfrm>
            <a:prstGeom prst="rect">
              <a:avLst/>
            </a:prstGeom>
            <a:noFill/>
            <a:ln>
              <a:noFill/>
            </a:ln>
          </p:spPr>
        </p:pic>
        <p:sp>
          <p:nvSpPr>
            <p:cNvPr id="1387" name="Google Shape;1387;p96"/>
            <p:cNvSpPr txBox="1"/>
            <p:nvPr/>
          </p:nvSpPr>
          <p:spPr>
            <a:xfrm>
              <a:off x="3999288" y="5506330"/>
              <a:ext cx="31470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Limpieza de vista lateral y frontal</a:t>
              </a:r>
              <a:endParaRPr sz="1800">
                <a:solidFill>
                  <a:schemeClr val="dk1"/>
                </a:solidFill>
                <a:latin typeface="Garamond"/>
                <a:ea typeface="Garamond"/>
                <a:cs typeface="Garamond"/>
                <a:sym typeface="Garamond"/>
              </a:endParaRPr>
            </a:p>
          </p:txBody>
        </p:sp>
        <p:sp>
          <p:nvSpPr>
            <p:cNvPr id="1388" name="Google Shape;1388;p96"/>
            <p:cNvSpPr txBox="1"/>
            <p:nvPr/>
          </p:nvSpPr>
          <p:spPr>
            <a:xfrm>
              <a:off x="712068" y="5506419"/>
              <a:ext cx="198323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Antes de la limpieza</a:t>
              </a:r>
              <a:endParaRPr sz="1800">
                <a:solidFill>
                  <a:schemeClr val="dk1"/>
                </a:solidFill>
                <a:latin typeface="Garamond"/>
                <a:ea typeface="Garamond"/>
                <a:cs typeface="Garamond"/>
                <a:sym typeface="Garamond"/>
              </a:endParaRPr>
            </a:p>
          </p:txBody>
        </p:sp>
        <p:sp>
          <p:nvSpPr>
            <p:cNvPr id="1389" name="Google Shape;1389;p96"/>
            <p:cNvSpPr txBox="1"/>
            <p:nvPr/>
          </p:nvSpPr>
          <p:spPr>
            <a:xfrm>
              <a:off x="8259620" y="5506330"/>
              <a:ext cx="340830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Limpieza de vista en ambos tanques</a:t>
              </a:r>
              <a:endParaRPr sz="1800">
                <a:solidFill>
                  <a:schemeClr val="dk1"/>
                </a:solidFill>
                <a:latin typeface="Garamond"/>
                <a:ea typeface="Garamond"/>
                <a:cs typeface="Garamond"/>
                <a:sym typeface="Garamond"/>
              </a:endParaRPr>
            </a:p>
          </p:txBody>
        </p:sp>
      </p:gr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97"/>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ARREGLOS</a:t>
            </a:r>
            <a:endParaRPr b="1"/>
          </a:p>
        </p:txBody>
      </p:sp>
      <p:grpSp>
        <p:nvGrpSpPr>
          <p:cNvPr id="1395" name="Google Shape;1395;p97"/>
          <p:cNvGrpSpPr/>
          <p:nvPr/>
        </p:nvGrpSpPr>
        <p:grpSpPr>
          <a:xfrm>
            <a:off x="666206" y="1179334"/>
            <a:ext cx="10058399" cy="5208402"/>
            <a:chOff x="0" y="3677"/>
            <a:chExt cx="10058399" cy="5208402"/>
          </a:xfrm>
        </p:grpSpPr>
        <p:sp>
          <p:nvSpPr>
            <p:cNvPr id="1396" name="Google Shape;1396;p97"/>
            <p:cNvSpPr/>
            <p:nvPr/>
          </p:nvSpPr>
          <p:spPr>
            <a:xfrm>
              <a:off x="0" y="3677"/>
              <a:ext cx="7744967" cy="930819"/>
            </a:xfrm>
            <a:prstGeom prst="roundRect">
              <a:avLst>
                <a:gd fmla="val 10000" name="adj"/>
              </a:avLst>
            </a:prstGeom>
            <a:solidFill>
              <a:srgbClr val="E9E7E7"/>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97"/>
            <p:cNvSpPr txBox="1"/>
            <p:nvPr/>
          </p:nvSpPr>
          <p:spPr>
            <a:xfrm>
              <a:off x="27263" y="30940"/>
              <a:ext cx="6623268" cy="876293"/>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LIMPIEZA DEL SISTEMA</a:t>
              </a:r>
              <a:endParaRPr/>
            </a:p>
          </p:txBody>
        </p:sp>
        <p:sp>
          <p:nvSpPr>
            <p:cNvPr id="1398" name="Google Shape;1398;p97"/>
            <p:cNvSpPr/>
            <p:nvPr/>
          </p:nvSpPr>
          <p:spPr>
            <a:xfrm>
              <a:off x="832857" y="105089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97"/>
            <p:cNvSpPr txBox="1"/>
            <p:nvPr/>
          </p:nvSpPr>
          <p:spPr>
            <a:xfrm>
              <a:off x="860335" y="1078373"/>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El día 20 de abril, se llevo a cabo la limpieza del sistema del sistema de nivel de liquido. Se verifico que el nivel de agua se encontró en optimas condiciones .</a:t>
              </a:r>
              <a:endParaRPr sz="1900">
                <a:solidFill>
                  <a:schemeClr val="dk1"/>
                </a:solidFill>
                <a:latin typeface="Garamond"/>
                <a:ea typeface="Garamond"/>
                <a:cs typeface="Garamond"/>
                <a:sym typeface="Garamond"/>
              </a:endParaRPr>
            </a:p>
          </p:txBody>
        </p:sp>
        <p:sp>
          <p:nvSpPr>
            <p:cNvPr id="1400" name="Google Shape;1400;p97"/>
            <p:cNvSpPr/>
            <p:nvPr/>
          </p:nvSpPr>
          <p:spPr>
            <a:xfrm>
              <a:off x="1156716" y="2136952"/>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97"/>
            <p:cNvSpPr txBox="1"/>
            <p:nvPr/>
          </p:nvSpPr>
          <p:spPr>
            <a:xfrm>
              <a:off x="1184194" y="2164430"/>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se procedió a retirar la suciedad acumulada (polvo y agua residual) para asegurar un buen funcionamiento. </a:t>
              </a:r>
              <a:endParaRPr sz="1900">
                <a:solidFill>
                  <a:schemeClr val="dk1"/>
                </a:solidFill>
                <a:latin typeface="Garamond"/>
                <a:ea typeface="Garamond"/>
                <a:cs typeface="Garamond"/>
                <a:sym typeface="Garamond"/>
              </a:endParaRPr>
            </a:p>
          </p:txBody>
        </p:sp>
        <p:sp>
          <p:nvSpPr>
            <p:cNvPr id="1402" name="Google Shape;1402;p97"/>
            <p:cNvSpPr/>
            <p:nvPr/>
          </p:nvSpPr>
          <p:spPr>
            <a:xfrm>
              <a:off x="1735073" y="3205429"/>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97"/>
            <p:cNvSpPr txBox="1"/>
            <p:nvPr/>
          </p:nvSpPr>
          <p:spPr>
            <a:xfrm>
              <a:off x="1762551" y="3232907"/>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Se utilizo:</a:t>
              </a:r>
              <a:endParaRPr/>
            </a:p>
            <a:p>
              <a:pPr indent="0" lvl="0" marL="0" marR="0" rtl="0" algn="l">
                <a:lnSpc>
                  <a:spcPct val="90000"/>
                </a:lnSpc>
                <a:spcBef>
                  <a:spcPts val="665"/>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Guantes, detergente, agua limpia, trapos y Escoba</a:t>
              </a:r>
              <a:endParaRPr sz="1900">
                <a:solidFill>
                  <a:schemeClr val="dk1"/>
                </a:solidFill>
                <a:latin typeface="Garamond"/>
                <a:ea typeface="Garamond"/>
                <a:cs typeface="Garamond"/>
                <a:sym typeface="Garamond"/>
              </a:endParaRPr>
            </a:p>
          </p:txBody>
        </p:sp>
        <p:sp>
          <p:nvSpPr>
            <p:cNvPr id="1404" name="Google Shape;1404;p97"/>
            <p:cNvSpPr/>
            <p:nvPr/>
          </p:nvSpPr>
          <p:spPr>
            <a:xfrm>
              <a:off x="2313432" y="427390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97"/>
            <p:cNvSpPr txBox="1"/>
            <p:nvPr/>
          </p:nvSpPr>
          <p:spPr>
            <a:xfrm>
              <a:off x="2340910" y="4301383"/>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Finalmente se realizo una prueba de funcionamiento y se confirmo que el sistema de nivel de liquido esta operando correctamente.</a:t>
              </a:r>
              <a:endParaRPr sz="1900">
                <a:solidFill>
                  <a:schemeClr val="dk1"/>
                </a:solidFill>
                <a:latin typeface="Garamond"/>
                <a:ea typeface="Garamond"/>
                <a:cs typeface="Garamond"/>
                <a:sym typeface="Garamond"/>
              </a:endParaRPr>
            </a:p>
          </p:txBody>
        </p:sp>
        <p:sp>
          <p:nvSpPr>
            <p:cNvPr id="1406" name="Google Shape;1406;p97"/>
            <p:cNvSpPr/>
            <p:nvPr/>
          </p:nvSpPr>
          <p:spPr>
            <a:xfrm>
              <a:off x="7135154" y="685388"/>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97"/>
            <p:cNvSpPr txBox="1"/>
            <p:nvPr/>
          </p:nvSpPr>
          <p:spPr>
            <a:xfrm>
              <a:off x="7272362" y="685388"/>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408" name="Google Shape;1408;p97"/>
            <p:cNvSpPr/>
            <p:nvPr/>
          </p:nvSpPr>
          <p:spPr>
            <a:xfrm>
              <a:off x="7713512" y="1753864"/>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97"/>
            <p:cNvSpPr txBox="1"/>
            <p:nvPr/>
          </p:nvSpPr>
          <p:spPr>
            <a:xfrm>
              <a:off x="7850720" y="1753864"/>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410" name="Google Shape;1410;p97"/>
            <p:cNvSpPr/>
            <p:nvPr/>
          </p:nvSpPr>
          <p:spPr>
            <a:xfrm>
              <a:off x="8291870" y="28067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97"/>
            <p:cNvSpPr txBox="1"/>
            <p:nvPr/>
          </p:nvSpPr>
          <p:spPr>
            <a:xfrm>
              <a:off x="8429078" y="28067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412" name="Google Shape;1412;p97"/>
            <p:cNvSpPr/>
            <p:nvPr/>
          </p:nvSpPr>
          <p:spPr>
            <a:xfrm>
              <a:off x="8870228" y="38856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97"/>
            <p:cNvSpPr txBox="1"/>
            <p:nvPr/>
          </p:nvSpPr>
          <p:spPr>
            <a:xfrm>
              <a:off x="9007436" y="38856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id="1414" name="Google Shape;1414;p97"/>
          <p:cNvPicPr preferRelativeResize="0"/>
          <p:nvPr/>
        </p:nvPicPr>
        <p:blipFill rotWithShape="1">
          <a:blip r:embed="rId3">
            <a:alphaModFix/>
          </a:blip>
          <a:srcRect b="0" l="15606" r="14091" t="0"/>
          <a:stretch/>
        </p:blipFill>
        <p:spPr>
          <a:xfrm>
            <a:off x="8644246" y="1175657"/>
            <a:ext cx="818409" cy="873087"/>
          </a:xfrm>
          <a:prstGeom prst="rect">
            <a:avLst/>
          </a:prstGeom>
          <a:noFill/>
          <a:ln>
            <a:noFill/>
          </a:ln>
        </p:spPr>
      </p:pic>
      <p:pic>
        <p:nvPicPr>
          <p:cNvPr id="1415" name="Google Shape;1415;p97"/>
          <p:cNvPicPr preferRelativeResize="0"/>
          <p:nvPr/>
        </p:nvPicPr>
        <p:blipFill rotWithShape="1">
          <a:blip r:embed="rId4">
            <a:alphaModFix/>
          </a:blip>
          <a:srcRect b="0" l="0" r="0" t="0"/>
          <a:stretch/>
        </p:blipFill>
        <p:spPr>
          <a:xfrm>
            <a:off x="9587345" y="2179876"/>
            <a:ext cx="760912" cy="1014550"/>
          </a:xfrm>
          <a:prstGeom prst="rect">
            <a:avLst/>
          </a:prstGeom>
          <a:noFill/>
          <a:ln>
            <a:noFill/>
          </a:ln>
        </p:spPr>
      </p:pic>
      <p:pic>
        <p:nvPicPr>
          <p:cNvPr id="1416" name="Google Shape;1416;p97"/>
          <p:cNvPicPr preferRelativeResize="0"/>
          <p:nvPr/>
        </p:nvPicPr>
        <p:blipFill rotWithShape="1">
          <a:blip r:embed="rId5">
            <a:alphaModFix/>
          </a:blip>
          <a:srcRect b="0" l="0" r="0" t="0"/>
          <a:stretch/>
        </p:blipFill>
        <p:spPr>
          <a:xfrm>
            <a:off x="9975410" y="3377960"/>
            <a:ext cx="943297" cy="707473"/>
          </a:xfrm>
          <a:prstGeom prst="rect">
            <a:avLst/>
          </a:prstGeom>
          <a:noFill/>
          <a:ln>
            <a:noFill/>
          </a:ln>
        </p:spPr>
      </p:pic>
      <p:pic>
        <p:nvPicPr>
          <p:cNvPr id="1417" name="Google Shape;1417;p97"/>
          <p:cNvPicPr preferRelativeResize="0"/>
          <p:nvPr/>
        </p:nvPicPr>
        <p:blipFill rotWithShape="1">
          <a:blip r:embed="rId6">
            <a:alphaModFix/>
          </a:blip>
          <a:srcRect b="0" l="0" r="0" t="0"/>
          <a:stretch/>
        </p:blipFill>
        <p:spPr>
          <a:xfrm>
            <a:off x="10348258" y="4329556"/>
            <a:ext cx="659816" cy="879754"/>
          </a:xfrm>
          <a:prstGeom prst="rect">
            <a:avLst/>
          </a:prstGeom>
          <a:noFill/>
          <a:ln>
            <a:noFill/>
          </a:ln>
        </p:spPr>
      </p:pic>
      <p:pic>
        <p:nvPicPr>
          <p:cNvPr id="1418" name="Google Shape;1418;p97"/>
          <p:cNvPicPr preferRelativeResize="0"/>
          <p:nvPr/>
        </p:nvPicPr>
        <p:blipFill rotWithShape="1">
          <a:blip r:embed="rId7">
            <a:alphaModFix/>
          </a:blip>
          <a:srcRect b="0" l="7273" r="0" t="0"/>
          <a:stretch/>
        </p:blipFill>
        <p:spPr>
          <a:xfrm rot="5400000">
            <a:off x="10993167" y="4407534"/>
            <a:ext cx="815773" cy="659817"/>
          </a:xfrm>
          <a:prstGeom prst="rect">
            <a:avLst/>
          </a:prstGeom>
          <a:noFill/>
          <a:ln>
            <a:noFill/>
          </a:ln>
        </p:spPr>
      </p:pic>
      <p:pic>
        <p:nvPicPr>
          <p:cNvPr id="1419" name="Google Shape;1419;p97"/>
          <p:cNvPicPr preferRelativeResize="0"/>
          <p:nvPr/>
        </p:nvPicPr>
        <p:blipFill rotWithShape="1">
          <a:blip r:embed="rId8">
            <a:alphaModFix/>
          </a:blip>
          <a:srcRect b="0" l="0" r="0" t="0"/>
          <a:stretch/>
        </p:blipFill>
        <p:spPr>
          <a:xfrm>
            <a:off x="10862689" y="5568428"/>
            <a:ext cx="801188" cy="600891"/>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3" name="Shape 1423"/>
        <p:cNvGrpSpPr/>
        <p:nvPr/>
      </p:nvGrpSpPr>
      <p:grpSpPr>
        <a:xfrm>
          <a:off x="0" y="0"/>
          <a:ext cx="0" cy="0"/>
          <a:chOff x="0" y="0"/>
          <a:chExt cx="0" cy="0"/>
        </a:xfrm>
      </p:grpSpPr>
      <p:sp>
        <p:nvSpPr>
          <p:cNvPr id="1424" name="Google Shape;1424;p98"/>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ARREGLOS</a:t>
            </a:r>
            <a:endParaRPr b="1"/>
          </a:p>
        </p:txBody>
      </p:sp>
      <p:grpSp>
        <p:nvGrpSpPr>
          <p:cNvPr id="1425" name="Google Shape;1425;p98"/>
          <p:cNvGrpSpPr/>
          <p:nvPr/>
        </p:nvGrpSpPr>
        <p:grpSpPr>
          <a:xfrm>
            <a:off x="2562249" y="3032836"/>
            <a:ext cx="4662449" cy="1261852"/>
            <a:chOff x="0" y="890"/>
            <a:chExt cx="4662449" cy="1261852"/>
          </a:xfrm>
        </p:grpSpPr>
        <p:sp>
          <p:nvSpPr>
            <p:cNvPr id="1426" name="Google Shape;1426;p98"/>
            <p:cNvSpPr/>
            <p:nvPr/>
          </p:nvSpPr>
          <p:spPr>
            <a:xfrm>
              <a:off x="0" y="890"/>
              <a:ext cx="3590086" cy="225511"/>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98"/>
            <p:cNvSpPr txBox="1"/>
            <p:nvPr/>
          </p:nvSpPr>
          <p:spPr>
            <a:xfrm>
              <a:off x="6605" y="7495"/>
              <a:ext cx="3318329" cy="212301"/>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dk1"/>
                </a:buClr>
                <a:buSzPts val="500"/>
                <a:buFont typeface="Garamond"/>
                <a:buNone/>
              </a:pPr>
              <a:r>
                <a:rPr lang="es-BO" sz="500">
                  <a:solidFill>
                    <a:schemeClr val="dk1"/>
                  </a:solidFill>
                  <a:latin typeface="Garamond"/>
                  <a:ea typeface="Garamond"/>
                  <a:cs typeface="Garamond"/>
                  <a:sym typeface="Garamond"/>
                </a:rPr>
                <a:t>LIMPIEZA DEL SISTEMA</a:t>
              </a:r>
              <a:endParaRPr/>
            </a:p>
          </p:txBody>
        </p:sp>
        <p:sp>
          <p:nvSpPr>
            <p:cNvPr id="1428" name="Google Shape;1428;p98"/>
            <p:cNvSpPr/>
            <p:nvPr/>
          </p:nvSpPr>
          <p:spPr>
            <a:xfrm>
              <a:off x="386061" y="254602"/>
              <a:ext cx="3590086" cy="227293"/>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98"/>
            <p:cNvSpPr txBox="1"/>
            <p:nvPr/>
          </p:nvSpPr>
          <p:spPr>
            <a:xfrm>
              <a:off x="392718" y="261259"/>
              <a:ext cx="3160940" cy="213979"/>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El día 20 de abril, se llevo a cabo la limpieza del sistema del sistema de nivel de liquido. Se verifico que el nivel de agua se encontró en optimas condiciones .</a:t>
              </a:r>
              <a:endParaRPr sz="500">
                <a:solidFill>
                  <a:schemeClr val="dk1"/>
                </a:solidFill>
                <a:latin typeface="Garamond"/>
                <a:ea typeface="Garamond"/>
                <a:cs typeface="Garamond"/>
                <a:sym typeface="Garamond"/>
              </a:endParaRPr>
            </a:p>
          </p:txBody>
        </p:sp>
        <p:sp>
          <p:nvSpPr>
            <p:cNvPr id="1430" name="Google Shape;1430;p98"/>
            <p:cNvSpPr/>
            <p:nvPr/>
          </p:nvSpPr>
          <p:spPr>
            <a:xfrm>
              <a:off x="536181" y="517724"/>
              <a:ext cx="3590086" cy="227293"/>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98"/>
            <p:cNvSpPr txBox="1"/>
            <p:nvPr/>
          </p:nvSpPr>
          <p:spPr>
            <a:xfrm>
              <a:off x="542838" y="524381"/>
              <a:ext cx="3160940" cy="213979"/>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se procedió a retirar la suciedad acumulada (polvo y agua residual) para asegurar un buen funcionamiento. </a:t>
              </a:r>
              <a:endParaRPr sz="500">
                <a:solidFill>
                  <a:schemeClr val="dk1"/>
                </a:solidFill>
                <a:latin typeface="Garamond"/>
                <a:ea typeface="Garamond"/>
                <a:cs typeface="Garamond"/>
                <a:sym typeface="Garamond"/>
              </a:endParaRPr>
            </a:p>
          </p:txBody>
        </p:sp>
        <p:sp>
          <p:nvSpPr>
            <p:cNvPr id="1432" name="Google Shape;1432;p98"/>
            <p:cNvSpPr/>
            <p:nvPr/>
          </p:nvSpPr>
          <p:spPr>
            <a:xfrm>
              <a:off x="804272" y="776586"/>
              <a:ext cx="3590086" cy="227293"/>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98"/>
            <p:cNvSpPr txBox="1"/>
            <p:nvPr/>
          </p:nvSpPr>
          <p:spPr>
            <a:xfrm>
              <a:off x="810929" y="783243"/>
              <a:ext cx="3160940" cy="213979"/>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Se utilizo:</a:t>
              </a:r>
              <a:endParaRPr/>
            </a:p>
            <a:p>
              <a:pPr indent="0" lvl="0" marL="0" marR="0" rtl="0" algn="l">
                <a:lnSpc>
                  <a:spcPct val="90000"/>
                </a:lnSpc>
                <a:spcBef>
                  <a:spcPts val="175"/>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Guantes, detergente, agua limpia, trapos y Escoba</a:t>
              </a:r>
              <a:endParaRPr sz="500">
                <a:solidFill>
                  <a:schemeClr val="dk1"/>
                </a:solidFill>
                <a:latin typeface="Garamond"/>
                <a:ea typeface="Garamond"/>
                <a:cs typeface="Garamond"/>
                <a:sym typeface="Garamond"/>
              </a:endParaRPr>
            </a:p>
          </p:txBody>
        </p:sp>
        <p:sp>
          <p:nvSpPr>
            <p:cNvPr id="1434" name="Google Shape;1434;p98"/>
            <p:cNvSpPr/>
            <p:nvPr/>
          </p:nvSpPr>
          <p:spPr>
            <a:xfrm>
              <a:off x="1072363" y="1035449"/>
              <a:ext cx="3590086" cy="227293"/>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98"/>
            <p:cNvSpPr txBox="1"/>
            <p:nvPr/>
          </p:nvSpPr>
          <p:spPr>
            <a:xfrm>
              <a:off x="1079020" y="1042106"/>
              <a:ext cx="3160940" cy="213979"/>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Finalmente se realizo una prueba de funcionamiento y se confirmo que el sistema de nivel de liquido esta operando correctamente.</a:t>
              </a:r>
              <a:endParaRPr sz="500">
                <a:solidFill>
                  <a:schemeClr val="dk1"/>
                </a:solidFill>
                <a:latin typeface="Garamond"/>
                <a:ea typeface="Garamond"/>
                <a:cs typeface="Garamond"/>
                <a:sym typeface="Garamond"/>
              </a:endParaRPr>
            </a:p>
          </p:txBody>
        </p:sp>
        <p:sp>
          <p:nvSpPr>
            <p:cNvPr id="1436" name="Google Shape;1436;p98"/>
            <p:cNvSpPr/>
            <p:nvPr/>
          </p:nvSpPr>
          <p:spPr>
            <a:xfrm>
              <a:off x="3442345" y="166050"/>
              <a:ext cx="147740" cy="147740"/>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98"/>
            <p:cNvSpPr txBox="1"/>
            <p:nvPr/>
          </p:nvSpPr>
          <p:spPr>
            <a:xfrm>
              <a:off x="3475587" y="166050"/>
              <a:ext cx="81257" cy="111174"/>
            </a:xfrm>
            <a:prstGeom prst="rect">
              <a:avLst/>
            </a:prstGeom>
            <a:noFill/>
            <a:ln>
              <a:noFill/>
            </a:ln>
          </p:spPr>
          <p:txBody>
            <a:bodyPr anchorCtr="0" anchor="ctr" bIns="8875" lIns="8875" spcFirstLastPara="1" rIns="8875" wrap="square" tIns="8875">
              <a:noAutofit/>
            </a:bodyPr>
            <a:lstStyle/>
            <a:p>
              <a:pPr indent="0" lvl="0" marL="0" marR="0" rtl="0" algn="ctr">
                <a:lnSpc>
                  <a:spcPct val="90000"/>
                </a:lnSpc>
                <a:spcBef>
                  <a:spcPts val="0"/>
                </a:spcBef>
                <a:spcAft>
                  <a:spcPts val="0"/>
                </a:spcAft>
                <a:buClr>
                  <a:schemeClr val="dk1"/>
                </a:buClr>
                <a:buSzPts val="700"/>
                <a:buFont typeface="Garamond"/>
                <a:buNone/>
              </a:pPr>
              <a:r>
                <a:t/>
              </a:r>
              <a:endParaRPr sz="700">
                <a:solidFill>
                  <a:schemeClr val="dk1"/>
                </a:solidFill>
                <a:latin typeface="Garamond"/>
                <a:ea typeface="Garamond"/>
                <a:cs typeface="Garamond"/>
                <a:sym typeface="Garamond"/>
              </a:endParaRPr>
            </a:p>
          </p:txBody>
        </p:sp>
        <p:sp>
          <p:nvSpPr>
            <p:cNvPr id="1438" name="Google Shape;1438;p98"/>
            <p:cNvSpPr/>
            <p:nvPr/>
          </p:nvSpPr>
          <p:spPr>
            <a:xfrm>
              <a:off x="3710436" y="424913"/>
              <a:ext cx="147740" cy="147740"/>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98"/>
            <p:cNvSpPr txBox="1"/>
            <p:nvPr/>
          </p:nvSpPr>
          <p:spPr>
            <a:xfrm>
              <a:off x="3743678" y="424913"/>
              <a:ext cx="81257" cy="111174"/>
            </a:xfrm>
            <a:prstGeom prst="rect">
              <a:avLst/>
            </a:prstGeom>
            <a:noFill/>
            <a:ln>
              <a:noFill/>
            </a:ln>
          </p:spPr>
          <p:txBody>
            <a:bodyPr anchorCtr="0" anchor="ctr" bIns="8875" lIns="8875" spcFirstLastPara="1" rIns="8875" wrap="square" tIns="8875">
              <a:noAutofit/>
            </a:bodyPr>
            <a:lstStyle/>
            <a:p>
              <a:pPr indent="0" lvl="0" marL="0" marR="0" rtl="0" algn="ctr">
                <a:lnSpc>
                  <a:spcPct val="90000"/>
                </a:lnSpc>
                <a:spcBef>
                  <a:spcPts val="0"/>
                </a:spcBef>
                <a:spcAft>
                  <a:spcPts val="0"/>
                </a:spcAft>
                <a:buClr>
                  <a:schemeClr val="dk1"/>
                </a:buClr>
                <a:buSzPts val="700"/>
                <a:buFont typeface="Garamond"/>
                <a:buNone/>
              </a:pPr>
              <a:r>
                <a:t/>
              </a:r>
              <a:endParaRPr sz="700">
                <a:solidFill>
                  <a:schemeClr val="dk1"/>
                </a:solidFill>
                <a:latin typeface="Garamond"/>
                <a:ea typeface="Garamond"/>
                <a:cs typeface="Garamond"/>
                <a:sym typeface="Garamond"/>
              </a:endParaRPr>
            </a:p>
          </p:txBody>
        </p:sp>
        <p:sp>
          <p:nvSpPr>
            <p:cNvPr id="1440" name="Google Shape;1440;p98"/>
            <p:cNvSpPr/>
            <p:nvPr/>
          </p:nvSpPr>
          <p:spPr>
            <a:xfrm>
              <a:off x="3978527" y="679987"/>
              <a:ext cx="147740" cy="147740"/>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98"/>
            <p:cNvSpPr txBox="1"/>
            <p:nvPr/>
          </p:nvSpPr>
          <p:spPr>
            <a:xfrm>
              <a:off x="4011769" y="679987"/>
              <a:ext cx="81257" cy="111174"/>
            </a:xfrm>
            <a:prstGeom prst="rect">
              <a:avLst/>
            </a:prstGeom>
            <a:noFill/>
            <a:ln>
              <a:noFill/>
            </a:ln>
          </p:spPr>
          <p:txBody>
            <a:bodyPr anchorCtr="0" anchor="ctr" bIns="8875" lIns="8875" spcFirstLastPara="1" rIns="8875" wrap="square" tIns="8875">
              <a:noAutofit/>
            </a:bodyPr>
            <a:lstStyle/>
            <a:p>
              <a:pPr indent="0" lvl="0" marL="0" marR="0" rtl="0" algn="ctr">
                <a:lnSpc>
                  <a:spcPct val="90000"/>
                </a:lnSpc>
                <a:spcBef>
                  <a:spcPts val="0"/>
                </a:spcBef>
                <a:spcAft>
                  <a:spcPts val="0"/>
                </a:spcAft>
                <a:buClr>
                  <a:schemeClr val="dk1"/>
                </a:buClr>
                <a:buSzPts val="700"/>
                <a:buFont typeface="Garamond"/>
                <a:buNone/>
              </a:pPr>
              <a:r>
                <a:t/>
              </a:r>
              <a:endParaRPr sz="700">
                <a:solidFill>
                  <a:schemeClr val="dk1"/>
                </a:solidFill>
                <a:latin typeface="Garamond"/>
                <a:ea typeface="Garamond"/>
                <a:cs typeface="Garamond"/>
                <a:sym typeface="Garamond"/>
              </a:endParaRPr>
            </a:p>
          </p:txBody>
        </p:sp>
        <p:sp>
          <p:nvSpPr>
            <p:cNvPr id="1442" name="Google Shape;1442;p98"/>
            <p:cNvSpPr/>
            <p:nvPr/>
          </p:nvSpPr>
          <p:spPr>
            <a:xfrm>
              <a:off x="4246618" y="941374"/>
              <a:ext cx="147740" cy="147740"/>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98"/>
            <p:cNvSpPr txBox="1"/>
            <p:nvPr/>
          </p:nvSpPr>
          <p:spPr>
            <a:xfrm>
              <a:off x="4279860" y="941374"/>
              <a:ext cx="81257" cy="111174"/>
            </a:xfrm>
            <a:prstGeom prst="rect">
              <a:avLst/>
            </a:prstGeom>
            <a:noFill/>
            <a:ln>
              <a:noFill/>
            </a:ln>
          </p:spPr>
          <p:txBody>
            <a:bodyPr anchorCtr="0" anchor="ctr" bIns="8875" lIns="8875" spcFirstLastPara="1" rIns="8875" wrap="square" tIns="8875">
              <a:noAutofit/>
            </a:bodyPr>
            <a:lstStyle/>
            <a:p>
              <a:pPr indent="0" lvl="0" marL="0" marR="0" rtl="0" algn="ctr">
                <a:lnSpc>
                  <a:spcPct val="90000"/>
                </a:lnSpc>
                <a:spcBef>
                  <a:spcPts val="0"/>
                </a:spcBef>
                <a:spcAft>
                  <a:spcPts val="0"/>
                </a:spcAft>
                <a:buClr>
                  <a:schemeClr val="dk1"/>
                </a:buClr>
                <a:buSzPts val="700"/>
                <a:buFont typeface="Garamond"/>
                <a:buNone/>
              </a:pPr>
              <a:r>
                <a:t/>
              </a:r>
              <a:endParaRPr sz="700">
                <a:solidFill>
                  <a:schemeClr val="dk1"/>
                </a:solidFill>
                <a:latin typeface="Garamond"/>
                <a:ea typeface="Garamond"/>
                <a:cs typeface="Garamond"/>
                <a:sym typeface="Garamond"/>
              </a:endParaRPr>
            </a:p>
          </p:txBody>
        </p:sp>
      </p:grpSp>
      <p:pic>
        <p:nvPicPr>
          <p:cNvPr id="1444" name="Google Shape;1444;p98"/>
          <p:cNvPicPr preferRelativeResize="0"/>
          <p:nvPr/>
        </p:nvPicPr>
        <p:blipFill rotWithShape="1">
          <a:blip r:embed="rId3">
            <a:alphaModFix/>
          </a:blip>
          <a:srcRect b="0" l="15606" r="14091" t="0"/>
          <a:stretch/>
        </p:blipFill>
        <p:spPr>
          <a:xfrm>
            <a:off x="5947954" y="1288869"/>
            <a:ext cx="818409" cy="873087"/>
          </a:xfrm>
          <a:prstGeom prst="rect">
            <a:avLst/>
          </a:prstGeom>
          <a:noFill/>
          <a:ln>
            <a:noFill/>
          </a:ln>
        </p:spPr>
      </p:pic>
      <p:pic>
        <p:nvPicPr>
          <p:cNvPr id="1445" name="Google Shape;1445;p98"/>
          <p:cNvPicPr preferRelativeResize="0"/>
          <p:nvPr/>
        </p:nvPicPr>
        <p:blipFill rotWithShape="1">
          <a:blip r:embed="rId4">
            <a:alphaModFix/>
          </a:blip>
          <a:srcRect b="0" l="0" r="0" t="0"/>
          <a:stretch/>
        </p:blipFill>
        <p:spPr>
          <a:xfrm>
            <a:off x="7005204" y="1287387"/>
            <a:ext cx="760912" cy="1014550"/>
          </a:xfrm>
          <a:prstGeom prst="rect">
            <a:avLst/>
          </a:prstGeom>
          <a:noFill/>
          <a:ln>
            <a:noFill/>
          </a:ln>
        </p:spPr>
      </p:pic>
      <p:pic>
        <p:nvPicPr>
          <p:cNvPr id="1446" name="Google Shape;1446;p98"/>
          <p:cNvPicPr preferRelativeResize="0"/>
          <p:nvPr/>
        </p:nvPicPr>
        <p:blipFill rotWithShape="1">
          <a:blip r:embed="rId5">
            <a:alphaModFix/>
          </a:blip>
          <a:srcRect b="0" l="0" r="0" t="0"/>
          <a:stretch/>
        </p:blipFill>
        <p:spPr>
          <a:xfrm>
            <a:off x="7681257" y="1278356"/>
            <a:ext cx="943297" cy="707473"/>
          </a:xfrm>
          <a:prstGeom prst="rect">
            <a:avLst/>
          </a:prstGeom>
          <a:noFill/>
          <a:ln>
            <a:noFill/>
          </a:ln>
        </p:spPr>
      </p:pic>
      <p:pic>
        <p:nvPicPr>
          <p:cNvPr id="1447" name="Google Shape;1447;p98"/>
          <p:cNvPicPr preferRelativeResize="0"/>
          <p:nvPr/>
        </p:nvPicPr>
        <p:blipFill rotWithShape="1">
          <a:blip r:embed="rId6">
            <a:alphaModFix/>
          </a:blip>
          <a:srcRect b="0" l="0" r="0" t="0"/>
          <a:stretch/>
        </p:blipFill>
        <p:spPr>
          <a:xfrm>
            <a:off x="9022519" y="1278356"/>
            <a:ext cx="659816" cy="879754"/>
          </a:xfrm>
          <a:prstGeom prst="rect">
            <a:avLst/>
          </a:prstGeom>
          <a:noFill/>
          <a:ln>
            <a:noFill/>
          </a:ln>
        </p:spPr>
      </p:pic>
      <p:pic>
        <p:nvPicPr>
          <p:cNvPr id="1448" name="Google Shape;1448;p98"/>
          <p:cNvPicPr preferRelativeResize="0"/>
          <p:nvPr/>
        </p:nvPicPr>
        <p:blipFill rotWithShape="1">
          <a:blip r:embed="rId7">
            <a:alphaModFix/>
          </a:blip>
          <a:srcRect b="0" l="7273" r="0" t="0"/>
          <a:stretch/>
        </p:blipFill>
        <p:spPr>
          <a:xfrm rot="5400000">
            <a:off x="8978028" y="2294277"/>
            <a:ext cx="815773" cy="659817"/>
          </a:xfrm>
          <a:prstGeom prst="rect">
            <a:avLst/>
          </a:prstGeom>
          <a:noFill/>
          <a:ln>
            <a:noFill/>
          </a:ln>
        </p:spPr>
      </p:pic>
      <p:pic>
        <p:nvPicPr>
          <p:cNvPr id="1449" name="Google Shape;1449;p98"/>
          <p:cNvPicPr preferRelativeResize="0"/>
          <p:nvPr/>
        </p:nvPicPr>
        <p:blipFill rotWithShape="1">
          <a:blip r:embed="rId8">
            <a:alphaModFix/>
          </a:blip>
          <a:srcRect b="0" l="0" r="0" t="0"/>
          <a:stretch/>
        </p:blipFill>
        <p:spPr>
          <a:xfrm>
            <a:off x="2700877" y="1016545"/>
            <a:ext cx="7058057" cy="5293543"/>
          </a:xfrm>
          <a:prstGeom prst="rect">
            <a:avLst/>
          </a:prstGeom>
          <a:noFill/>
          <a:ln>
            <a:noFill/>
          </a:ln>
        </p:spPr>
      </p:pic>
      <p:sp>
        <p:nvSpPr>
          <p:cNvPr id="1450" name="Google Shape;1450;p98"/>
          <p:cNvSpPr txBox="1"/>
          <p:nvPr/>
        </p:nvSpPr>
        <p:spPr>
          <a:xfrm>
            <a:off x="4245404" y="6230405"/>
            <a:ext cx="34050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Vista final de la limpieza del sistema</a:t>
            </a:r>
            <a:endParaRPr sz="1800">
              <a:solidFill>
                <a:schemeClr val="dk1"/>
              </a:solidFill>
              <a:latin typeface="Garamond"/>
              <a:ea typeface="Garamond"/>
              <a:cs typeface="Garamond"/>
              <a:sym typeface="Garamon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 name="Shape 1454"/>
        <p:cNvGrpSpPr/>
        <p:nvPr/>
      </p:nvGrpSpPr>
      <p:grpSpPr>
        <a:xfrm>
          <a:off x="0" y="0"/>
          <a:ext cx="0" cy="0"/>
          <a:chOff x="0" y="0"/>
          <a:chExt cx="0" cy="0"/>
        </a:xfrm>
      </p:grpSpPr>
      <p:sp>
        <p:nvSpPr>
          <p:cNvPr id="1455" name="Google Shape;1455;p99"/>
          <p:cNvSpPr txBox="1"/>
          <p:nvPr>
            <p:ph type="title"/>
          </p:nvPr>
        </p:nvSpPr>
        <p:spPr>
          <a:xfrm>
            <a:off x="1563623" y="2268478"/>
            <a:ext cx="9070848" cy="2587752"/>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rgbClr val="262626"/>
              </a:buClr>
              <a:buSzPts val="7200"/>
              <a:buFont typeface="Garamond"/>
              <a:buNone/>
            </a:pPr>
            <a:r>
              <a:rPr b="1" lang="es-BO"/>
              <a:t>MODIFICACIONES AL SISTEMA</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9" name="Shape 1459"/>
        <p:cNvGrpSpPr/>
        <p:nvPr/>
      </p:nvGrpSpPr>
      <p:grpSpPr>
        <a:xfrm>
          <a:off x="0" y="0"/>
          <a:ext cx="0" cy="0"/>
          <a:chOff x="0" y="0"/>
          <a:chExt cx="0" cy="0"/>
        </a:xfrm>
      </p:grpSpPr>
      <p:sp>
        <p:nvSpPr>
          <p:cNvPr id="1460" name="Google Shape;1460;p100"/>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400"/>
              <a:buFont typeface="Garamond"/>
              <a:buNone/>
            </a:pPr>
            <a:r>
              <a:rPr b="1" lang="es-BO" sz="4400"/>
              <a:t>MODIFICACIONES</a:t>
            </a:r>
            <a:endParaRPr b="1" sz="4400"/>
          </a:p>
        </p:txBody>
      </p:sp>
      <p:grpSp>
        <p:nvGrpSpPr>
          <p:cNvPr id="1461" name="Google Shape;1461;p100"/>
          <p:cNvGrpSpPr/>
          <p:nvPr/>
        </p:nvGrpSpPr>
        <p:grpSpPr>
          <a:xfrm>
            <a:off x="666206" y="1179334"/>
            <a:ext cx="10016808" cy="5208402"/>
            <a:chOff x="0" y="3677"/>
            <a:chExt cx="10016808" cy="5208402"/>
          </a:xfrm>
        </p:grpSpPr>
        <p:sp>
          <p:nvSpPr>
            <p:cNvPr id="1462" name="Google Shape;1462;p100"/>
            <p:cNvSpPr/>
            <p:nvPr/>
          </p:nvSpPr>
          <p:spPr>
            <a:xfrm>
              <a:off x="0" y="3677"/>
              <a:ext cx="7744967" cy="930819"/>
            </a:xfrm>
            <a:prstGeom prst="roundRect">
              <a:avLst>
                <a:gd fmla="val 10000" name="adj"/>
              </a:avLst>
            </a:prstGeom>
            <a:solidFill>
              <a:srgbClr val="C8CCB3"/>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100"/>
            <p:cNvSpPr txBox="1"/>
            <p:nvPr/>
          </p:nvSpPr>
          <p:spPr>
            <a:xfrm>
              <a:off x="27263" y="30940"/>
              <a:ext cx="6623268" cy="876293"/>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dk1"/>
                </a:buClr>
                <a:buSzPts val="2800"/>
                <a:buFont typeface="Garamond"/>
                <a:buNone/>
              </a:pPr>
              <a:r>
                <a:rPr b="1" lang="es-BO" sz="2800">
                  <a:solidFill>
                    <a:schemeClr val="dk1"/>
                  </a:solidFill>
                  <a:latin typeface="Garamond"/>
                  <a:ea typeface="Garamond"/>
                  <a:cs typeface="Garamond"/>
                  <a:sym typeface="Garamond"/>
                </a:rPr>
                <a:t>TUBOS PVC</a:t>
              </a:r>
              <a:endParaRPr/>
            </a:p>
          </p:txBody>
        </p:sp>
        <p:sp>
          <p:nvSpPr>
            <p:cNvPr id="1464" name="Google Shape;1464;p100"/>
            <p:cNvSpPr/>
            <p:nvPr/>
          </p:nvSpPr>
          <p:spPr>
            <a:xfrm>
              <a:off x="832857" y="105089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00"/>
            <p:cNvSpPr txBox="1"/>
            <p:nvPr/>
          </p:nvSpPr>
          <p:spPr>
            <a:xfrm>
              <a:off x="860335" y="1078373"/>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El día 24 de abril, se realizo el aumento en los tubos PVC del sistema de nivel de agua para corregir el caudal de liquido que caía desde la pared del tanque en lugar de caer desde arriba.</a:t>
              </a:r>
              <a:endParaRPr sz="1900">
                <a:solidFill>
                  <a:schemeClr val="dk1"/>
                </a:solidFill>
                <a:latin typeface="Garamond"/>
                <a:ea typeface="Garamond"/>
                <a:cs typeface="Garamond"/>
                <a:sym typeface="Garamond"/>
              </a:endParaRPr>
            </a:p>
          </p:txBody>
        </p:sp>
        <p:sp>
          <p:nvSpPr>
            <p:cNvPr id="1466" name="Google Shape;1466;p100"/>
            <p:cNvSpPr/>
            <p:nvPr/>
          </p:nvSpPr>
          <p:spPr>
            <a:xfrm>
              <a:off x="1156716" y="2136952"/>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00"/>
            <p:cNvSpPr txBox="1"/>
            <p:nvPr/>
          </p:nvSpPr>
          <p:spPr>
            <a:xfrm>
              <a:off x="1184194" y="2164430"/>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Se verifico que la instalación original no permitía mantener una altura de liquido adecuada y esto afectaba el funcionamiento del sistema.</a:t>
              </a:r>
              <a:endParaRPr sz="1900">
                <a:solidFill>
                  <a:schemeClr val="dk1"/>
                </a:solidFill>
                <a:latin typeface="Garamond"/>
                <a:ea typeface="Garamond"/>
                <a:cs typeface="Garamond"/>
                <a:sym typeface="Garamond"/>
              </a:endParaRPr>
            </a:p>
          </p:txBody>
        </p:sp>
        <p:sp>
          <p:nvSpPr>
            <p:cNvPr id="1468" name="Google Shape;1468;p100"/>
            <p:cNvSpPr/>
            <p:nvPr/>
          </p:nvSpPr>
          <p:spPr>
            <a:xfrm>
              <a:off x="1735073" y="3205429"/>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00"/>
            <p:cNvSpPr txBox="1"/>
            <p:nvPr/>
          </p:nvSpPr>
          <p:spPr>
            <a:xfrm>
              <a:off x="1762551" y="3232907"/>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Se procedió a desmontar los tubos PVC existentes y a instalar nuevos tubos con una mayor inclinación, permitiendo que el caudal de agua caiga desde arriba de manera adecuada. </a:t>
              </a:r>
              <a:endParaRPr sz="1900">
                <a:solidFill>
                  <a:schemeClr val="dk1"/>
                </a:solidFill>
                <a:latin typeface="Garamond"/>
                <a:ea typeface="Garamond"/>
                <a:cs typeface="Garamond"/>
                <a:sym typeface="Garamond"/>
              </a:endParaRPr>
            </a:p>
          </p:txBody>
        </p:sp>
        <p:sp>
          <p:nvSpPr>
            <p:cNvPr id="1470" name="Google Shape;1470;p100"/>
            <p:cNvSpPr/>
            <p:nvPr/>
          </p:nvSpPr>
          <p:spPr>
            <a:xfrm>
              <a:off x="2271841" y="427390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00"/>
            <p:cNvSpPr txBox="1"/>
            <p:nvPr/>
          </p:nvSpPr>
          <p:spPr>
            <a:xfrm>
              <a:off x="2299319" y="4301383"/>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Una vez finalizada la instalación, se realizo una prueba de funcionamiento  y se confirmo que el sistema de nivel de liquido esta operando correctamente. </a:t>
              </a:r>
              <a:endParaRPr sz="1900">
                <a:solidFill>
                  <a:schemeClr val="dk1"/>
                </a:solidFill>
                <a:latin typeface="Garamond"/>
                <a:ea typeface="Garamond"/>
                <a:cs typeface="Garamond"/>
                <a:sym typeface="Garamond"/>
              </a:endParaRPr>
            </a:p>
          </p:txBody>
        </p:sp>
        <p:sp>
          <p:nvSpPr>
            <p:cNvPr id="1472" name="Google Shape;1472;p100"/>
            <p:cNvSpPr/>
            <p:nvPr/>
          </p:nvSpPr>
          <p:spPr>
            <a:xfrm>
              <a:off x="7135154" y="685388"/>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100"/>
            <p:cNvSpPr txBox="1"/>
            <p:nvPr/>
          </p:nvSpPr>
          <p:spPr>
            <a:xfrm>
              <a:off x="7272362" y="685388"/>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474" name="Google Shape;1474;p100"/>
            <p:cNvSpPr/>
            <p:nvPr/>
          </p:nvSpPr>
          <p:spPr>
            <a:xfrm>
              <a:off x="7713512" y="1753864"/>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100"/>
            <p:cNvSpPr txBox="1"/>
            <p:nvPr/>
          </p:nvSpPr>
          <p:spPr>
            <a:xfrm>
              <a:off x="7850720" y="1753864"/>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476" name="Google Shape;1476;p100"/>
            <p:cNvSpPr/>
            <p:nvPr/>
          </p:nvSpPr>
          <p:spPr>
            <a:xfrm>
              <a:off x="8291870" y="28067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00"/>
            <p:cNvSpPr txBox="1"/>
            <p:nvPr/>
          </p:nvSpPr>
          <p:spPr>
            <a:xfrm>
              <a:off x="8429078" y="28067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478" name="Google Shape;1478;p100"/>
            <p:cNvSpPr/>
            <p:nvPr/>
          </p:nvSpPr>
          <p:spPr>
            <a:xfrm>
              <a:off x="8870228" y="38856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100"/>
            <p:cNvSpPr txBox="1"/>
            <p:nvPr/>
          </p:nvSpPr>
          <p:spPr>
            <a:xfrm>
              <a:off x="9007436" y="38856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id="1480" name="Google Shape;1480;p100"/>
          <p:cNvPicPr preferRelativeResize="0"/>
          <p:nvPr/>
        </p:nvPicPr>
        <p:blipFill rotWithShape="1">
          <a:blip r:embed="rId3">
            <a:alphaModFix/>
          </a:blip>
          <a:srcRect b="0" l="0" r="0" t="0"/>
          <a:stretch/>
        </p:blipFill>
        <p:spPr>
          <a:xfrm>
            <a:off x="9335695" y="2190206"/>
            <a:ext cx="729096" cy="972128"/>
          </a:xfrm>
          <a:prstGeom prst="rect">
            <a:avLst/>
          </a:prstGeom>
          <a:noFill/>
          <a:ln>
            <a:noFill/>
          </a:ln>
        </p:spPr>
      </p:pic>
      <p:pic>
        <p:nvPicPr>
          <p:cNvPr id="1481" name="Google Shape;1481;p100"/>
          <p:cNvPicPr preferRelativeResize="0"/>
          <p:nvPr/>
        </p:nvPicPr>
        <p:blipFill rotWithShape="1">
          <a:blip r:embed="rId4">
            <a:alphaModFix/>
          </a:blip>
          <a:srcRect b="0" l="0" r="0" t="0"/>
          <a:stretch/>
        </p:blipFill>
        <p:spPr>
          <a:xfrm>
            <a:off x="10252460" y="4405524"/>
            <a:ext cx="573527" cy="764703"/>
          </a:xfrm>
          <a:prstGeom prst="rect">
            <a:avLst/>
          </a:prstGeom>
          <a:noFill/>
          <a:ln>
            <a:noFill/>
          </a:ln>
        </p:spPr>
      </p:pic>
      <p:pic>
        <p:nvPicPr>
          <p:cNvPr id="1482" name="Google Shape;1482;p100"/>
          <p:cNvPicPr preferRelativeResize="0"/>
          <p:nvPr/>
        </p:nvPicPr>
        <p:blipFill rotWithShape="1">
          <a:blip r:embed="rId5">
            <a:alphaModFix/>
          </a:blip>
          <a:srcRect b="0" l="0" r="0" t="0"/>
          <a:stretch/>
        </p:blipFill>
        <p:spPr>
          <a:xfrm>
            <a:off x="9813236" y="3288540"/>
            <a:ext cx="729096" cy="972128"/>
          </a:xfrm>
          <a:prstGeom prst="rect">
            <a:avLst/>
          </a:prstGeom>
          <a:noFill/>
          <a:ln>
            <a:noFill/>
          </a:ln>
        </p:spPr>
      </p:pic>
      <p:pic>
        <p:nvPicPr>
          <p:cNvPr id="1483" name="Google Shape;1483;p100"/>
          <p:cNvPicPr preferRelativeResize="0"/>
          <p:nvPr/>
        </p:nvPicPr>
        <p:blipFill rotWithShape="1">
          <a:blip r:embed="rId6">
            <a:alphaModFix/>
          </a:blip>
          <a:srcRect b="0" l="0" r="0" t="0"/>
          <a:stretch/>
        </p:blipFill>
        <p:spPr>
          <a:xfrm>
            <a:off x="10800617" y="5315083"/>
            <a:ext cx="876069" cy="657052"/>
          </a:xfrm>
          <a:prstGeom prst="rect">
            <a:avLst/>
          </a:prstGeom>
          <a:noFill/>
          <a:ln>
            <a:noFill/>
          </a:ln>
        </p:spPr>
      </p:pic>
      <p:pic>
        <p:nvPicPr>
          <p:cNvPr id="1484" name="Google Shape;1484;p100"/>
          <p:cNvPicPr preferRelativeResize="0"/>
          <p:nvPr/>
        </p:nvPicPr>
        <p:blipFill rotWithShape="1">
          <a:blip r:embed="rId7">
            <a:alphaModFix/>
          </a:blip>
          <a:srcRect b="0" l="0" r="0" t="0"/>
          <a:stretch/>
        </p:blipFill>
        <p:spPr>
          <a:xfrm>
            <a:off x="10177740" y="2215412"/>
            <a:ext cx="327363" cy="436484"/>
          </a:xfrm>
          <a:prstGeom prst="rect">
            <a:avLst/>
          </a:prstGeom>
          <a:noFill/>
          <a:ln>
            <a:noFill/>
          </a:ln>
        </p:spPr>
      </p:pic>
      <p:pic>
        <p:nvPicPr>
          <p:cNvPr id="1485" name="Google Shape;1485;p100"/>
          <p:cNvPicPr preferRelativeResize="0"/>
          <p:nvPr/>
        </p:nvPicPr>
        <p:blipFill rotWithShape="1">
          <a:blip r:embed="rId8">
            <a:alphaModFix/>
          </a:blip>
          <a:srcRect b="0" l="0" r="0" t="0"/>
          <a:stretch/>
        </p:blipFill>
        <p:spPr>
          <a:xfrm>
            <a:off x="10512379" y="2211110"/>
            <a:ext cx="327363" cy="436484"/>
          </a:xfrm>
          <a:prstGeom prst="rect">
            <a:avLst/>
          </a:prstGeom>
          <a:noFill/>
          <a:ln>
            <a:noFill/>
          </a:ln>
        </p:spPr>
      </p:pic>
      <p:pic>
        <p:nvPicPr>
          <p:cNvPr id="1486" name="Google Shape;1486;p100"/>
          <p:cNvPicPr preferRelativeResize="0"/>
          <p:nvPr/>
        </p:nvPicPr>
        <p:blipFill rotWithShape="1">
          <a:blip r:embed="rId9">
            <a:alphaModFix/>
          </a:blip>
          <a:srcRect b="0" l="0" r="0" t="0"/>
          <a:stretch/>
        </p:blipFill>
        <p:spPr>
          <a:xfrm>
            <a:off x="10849716" y="2211108"/>
            <a:ext cx="327363" cy="436485"/>
          </a:xfrm>
          <a:prstGeom prst="rect">
            <a:avLst/>
          </a:prstGeom>
          <a:noFill/>
          <a:ln>
            <a:noFill/>
          </a:ln>
        </p:spPr>
      </p:pic>
      <p:pic>
        <p:nvPicPr>
          <p:cNvPr id="1487" name="Google Shape;1487;p100"/>
          <p:cNvPicPr preferRelativeResize="0"/>
          <p:nvPr/>
        </p:nvPicPr>
        <p:blipFill rotWithShape="1">
          <a:blip r:embed="rId10">
            <a:alphaModFix/>
          </a:blip>
          <a:srcRect b="0" l="0" r="0" t="0"/>
          <a:stretch/>
        </p:blipFill>
        <p:spPr>
          <a:xfrm>
            <a:off x="11187053" y="2210941"/>
            <a:ext cx="327363" cy="436484"/>
          </a:xfrm>
          <a:prstGeom prst="rect">
            <a:avLst/>
          </a:prstGeom>
          <a:noFill/>
          <a:ln>
            <a:noFill/>
          </a:ln>
        </p:spPr>
      </p:pic>
      <p:pic>
        <p:nvPicPr>
          <p:cNvPr id="1488" name="Google Shape;1488;p100"/>
          <p:cNvPicPr preferRelativeResize="0"/>
          <p:nvPr/>
        </p:nvPicPr>
        <p:blipFill rotWithShape="1">
          <a:blip r:embed="rId11">
            <a:alphaModFix/>
          </a:blip>
          <a:srcRect b="0" l="0" r="0" t="0"/>
          <a:stretch/>
        </p:blipFill>
        <p:spPr>
          <a:xfrm rot="5400000">
            <a:off x="10583741" y="2743321"/>
            <a:ext cx="484490" cy="316237"/>
          </a:xfrm>
          <a:prstGeom prst="rect">
            <a:avLst/>
          </a:prstGeom>
          <a:noFill/>
          <a:ln>
            <a:noFill/>
          </a:ln>
        </p:spPr>
      </p:pic>
      <p:pic>
        <p:nvPicPr>
          <p:cNvPr id="1489" name="Google Shape;1489;p100"/>
          <p:cNvPicPr preferRelativeResize="0"/>
          <p:nvPr/>
        </p:nvPicPr>
        <p:blipFill rotWithShape="1">
          <a:blip r:embed="rId12">
            <a:alphaModFix/>
          </a:blip>
          <a:srcRect b="27071" l="0" r="0" t="25768"/>
          <a:stretch/>
        </p:blipFill>
        <p:spPr>
          <a:xfrm>
            <a:off x="11524437" y="2215412"/>
            <a:ext cx="267603" cy="436484"/>
          </a:xfrm>
          <a:prstGeom prst="rect">
            <a:avLst/>
          </a:prstGeom>
          <a:noFill/>
          <a:ln>
            <a:noFill/>
          </a:ln>
        </p:spPr>
      </p:pic>
      <p:pic>
        <p:nvPicPr>
          <p:cNvPr id="1490" name="Google Shape;1490;p100"/>
          <p:cNvPicPr preferRelativeResize="0"/>
          <p:nvPr/>
        </p:nvPicPr>
        <p:blipFill rotWithShape="1">
          <a:blip r:embed="rId13">
            <a:alphaModFix/>
          </a:blip>
          <a:srcRect b="0" l="0" r="0" t="9905"/>
          <a:stretch/>
        </p:blipFill>
        <p:spPr>
          <a:xfrm>
            <a:off x="10319419" y="2650007"/>
            <a:ext cx="239270" cy="467680"/>
          </a:xfrm>
          <a:prstGeom prst="rect">
            <a:avLst/>
          </a:prstGeom>
          <a:noFill/>
          <a:ln>
            <a:noFill/>
          </a:ln>
        </p:spPr>
      </p:pic>
      <p:pic>
        <p:nvPicPr>
          <p:cNvPr id="1491" name="Google Shape;1491;p100"/>
          <p:cNvPicPr preferRelativeResize="0"/>
          <p:nvPr/>
        </p:nvPicPr>
        <p:blipFill rotWithShape="1">
          <a:blip r:embed="rId14">
            <a:alphaModFix/>
          </a:blip>
          <a:srcRect b="13524" l="0" r="0" t="6856"/>
          <a:stretch/>
        </p:blipFill>
        <p:spPr>
          <a:xfrm>
            <a:off x="11069971" y="2667524"/>
            <a:ext cx="252694" cy="436485"/>
          </a:xfrm>
          <a:prstGeom prst="rect">
            <a:avLst/>
          </a:prstGeom>
          <a:noFill/>
          <a:ln>
            <a:noFill/>
          </a:ln>
        </p:spPr>
      </p:pic>
      <p:pic>
        <p:nvPicPr>
          <p:cNvPr id="1492" name="Google Shape;1492;p100"/>
          <p:cNvPicPr preferRelativeResize="0"/>
          <p:nvPr/>
        </p:nvPicPr>
        <p:blipFill rotWithShape="1">
          <a:blip r:embed="rId15">
            <a:alphaModFix/>
          </a:blip>
          <a:srcRect b="12603" l="0" r="0" t="11396"/>
          <a:stretch/>
        </p:blipFill>
        <p:spPr>
          <a:xfrm>
            <a:off x="11413728" y="2667524"/>
            <a:ext cx="269910" cy="445032"/>
          </a:xfrm>
          <a:prstGeom prst="rect">
            <a:avLst/>
          </a:prstGeom>
          <a:noFill/>
          <a:ln>
            <a:noFill/>
          </a:ln>
        </p:spPr>
      </p:pic>
      <p:pic>
        <p:nvPicPr>
          <p:cNvPr id="1493" name="Google Shape;1493;p100"/>
          <p:cNvPicPr preferRelativeResize="0"/>
          <p:nvPr/>
        </p:nvPicPr>
        <p:blipFill rotWithShape="1">
          <a:blip r:embed="rId16">
            <a:alphaModFix/>
          </a:blip>
          <a:srcRect b="0" l="0" r="0" t="0"/>
          <a:stretch/>
        </p:blipFill>
        <p:spPr>
          <a:xfrm>
            <a:off x="8804620" y="1041027"/>
            <a:ext cx="2308054" cy="1007468"/>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7" name="Shape 1497"/>
        <p:cNvGrpSpPr/>
        <p:nvPr/>
      </p:nvGrpSpPr>
      <p:grpSpPr>
        <a:xfrm>
          <a:off x="0" y="0"/>
          <a:ext cx="0" cy="0"/>
          <a:chOff x="0" y="0"/>
          <a:chExt cx="0" cy="0"/>
        </a:xfrm>
      </p:grpSpPr>
      <p:sp>
        <p:nvSpPr>
          <p:cNvPr id="1498" name="Google Shape;1498;p101"/>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400"/>
              <a:buFont typeface="Garamond"/>
              <a:buNone/>
            </a:pPr>
            <a:r>
              <a:rPr b="1" lang="es-BO" sz="4400"/>
              <a:t>MODIFICACIONES</a:t>
            </a:r>
            <a:endParaRPr b="1" sz="4400"/>
          </a:p>
        </p:txBody>
      </p:sp>
      <p:grpSp>
        <p:nvGrpSpPr>
          <p:cNvPr id="1499" name="Google Shape;1499;p101"/>
          <p:cNvGrpSpPr/>
          <p:nvPr/>
        </p:nvGrpSpPr>
        <p:grpSpPr>
          <a:xfrm>
            <a:off x="515314" y="1187234"/>
            <a:ext cx="9697560" cy="4855367"/>
            <a:chOff x="0" y="104465"/>
            <a:chExt cx="9697560" cy="4855367"/>
          </a:xfrm>
        </p:grpSpPr>
        <p:sp>
          <p:nvSpPr>
            <p:cNvPr id="1500" name="Google Shape;1500;p101"/>
            <p:cNvSpPr/>
            <p:nvPr/>
          </p:nvSpPr>
          <p:spPr>
            <a:xfrm>
              <a:off x="0" y="104465"/>
              <a:ext cx="7744967" cy="930819"/>
            </a:xfrm>
            <a:prstGeom prst="roundRect">
              <a:avLst>
                <a:gd fmla="val 10000" name="adj"/>
              </a:avLst>
            </a:prstGeom>
            <a:solidFill>
              <a:srgbClr val="C8CCB3"/>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101"/>
            <p:cNvSpPr txBox="1"/>
            <p:nvPr/>
          </p:nvSpPr>
          <p:spPr>
            <a:xfrm>
              <a:off x="27263" y="131728"/>
              <a:ext cx="6623268" cy="876293"/>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dk1"/>
                </a:buClr>
                <a:buSzPts val="2800"/>
                <a:buFont typeface="Garamond"/>
                <a:buNone/>
              </a:pPr>
              <a:r>
                <a:rPr b="1" lang="es-BO" sz="2800">
                  <a:solidFill>
                    <a:schemeClr val="dk1"/>
                  </a:solidFill>
                  <a:latin typeface="Garamond"/>
                  <a:ea typeface="Garamond"/>
                  <a:cs typeface="Garamond"/>
                  <a:sym typeface="Garamond"/>
                </a:rPr>
                <a:t>TUBOS PVC</a:t>
              </a:r>
              <a:endParaRPr/>
            </a:p>
          </p:txBody>
        </p:sp>
        <p:sp>
          <p:nvSpPr>
            <p:cNvPr id="1502" name="Google Shape;1502;p101"/>
            <p:cNvSpPr/>
            <p:nvPr/>
          </p:nvSpPr>
          <p:spPr>
            <a:xfrm>
              <a:off x="832857" y="105089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01"/>
            <p:cNvSpPr txBox="1"/>
            <p:nvPr/>
          </p:nvSpPr>
          <p:spPr>
            <a:xfrm>
              <a:off x="860335" y="1078373"/>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El día 24 de abril, se realizo el aumento en los tubos PVC del sistema de nivel de agua para corregir el caudal de liquido que caía desde la pared del tanque en lugar de caer desde arriba.</a:t>
              </a:r>
              <a:endParaRPr sz="1900">
                <a:solidFill>
                  <a:schemeClr val="dk1"/>
                </a:solidFill>
                <a:latin typeface="Garamond"/>
                <a:ea typeface="Garamond"/>
                <a:cs typeface="Garamond"/>
                <a:sym typeface="Garamond"/>
              </a:endParaRPr>
            </a:p>
          </p:txBody>
        </p:sp>
        <p:sp>
          <p:nvSpPr>
            <p:cNvPr id="1504" name="Google Shape;1504;p101"/>
            <p:cNvSpPr/>
            <p:nvPr/>
          </p:nvSpPr>
          <p:spPr>
            <a:xfrm>
              <a:off x="1156716" y="2136952"/>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01"/>
            <p:cNvSpPr txBox="1"/>
            <p:nvPr/>
          </p:nvSpPr>
          <p:spPr>
            <a:xfrm>
              <a:off x="1184194" y="2164430"/>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Se verifico que la instalación original no permitía mantener una altura de liquido adecuada y esto afectaba el funcionamiento del sistema.</a:t>
              </a:r>
              <a:endParaRPr sz="1900">
                <a:solidFill>
                  <a:schemeClr val="dk1"/>
                </a:solidFill>
                <a:latin typeface="Garamond"/>
                <a:ea typeface="Garamond"/>
                <a:cs typeface="Garamond"/>
                <a:sym typeface="Garamond"/>
              </a:endParaRPr>
            </a:p>
          </p:txBody>
        </p:sp>
        <p:sp>
          <p:nvSpPr>
            <p:cNvPr id="1506" name="Google Shape;1506;p101"/>
            <p:cNvSpPr/>
            <p:nvPr/>
          </p:nvSpPr>
          <p:spPr>
            <a:xfrm>
              <a:off x="1735073" y="3205429"/>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01"/>
            <p:cNvSpPr txBox="1"/>
            <p:nvPr/>
          </p:nvSpPr>
          <p:spPr>
            <a:xfrm>
              <a:off x="1762551" y="3232907"/>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Se procedió a desmontar los tubos PVC existentes y a instalar nuevos tubos con una mayor inclinación, permitiendo que el caudal de agua caiga desde arriba de manera adecuada. </a:t>
              </a:r>
              <a:endParaRPr sz="1900">
                <a:solidFill>
                  <a:schemeClr val="dk1"/>
                </a:solidFill>
                <a:latin typeface="Garamond"/>
                <a:ea typeface="Garamond"/>
                <a:cs typeface="Garamond"/>
                <a:sym typeface="Garamond"/>
              </a:endParaRPr>
            </a:p>
          </p:txBody>
        </p:sp>
        <p:sp>
          <p:nvSpPr>
            <p:cNvPr id="1508" name="Google Shape;1508;p101"/>
            <p:cNvSpPr/>
            <p:nvPr/>
          </p:nvSpPr>
          <p:spPr>
            <a:xfrm>
              <a:off x="1952593" y="4021658"/>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101"/>
            <p:cNvSpPr txBox="1"/>
            <p:nvPr/>
          </p:nvSpPr>
          <p:spPr>
            <a:xfrm>
              <a:off x="1980071" y="4049136"/>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Una vez finalizada la instalación, se realizo una prueba de funcionamiento  y se confirmo que el sistema de nivel de liquido esta operando correctamente. </a:t>
              </a:r>
              <a:endParaRPr sz="1900">
                <a:solidFill>
                  <a:schemeClr val="dk1"/>
                </a:solidFill>
                <a:latin typeface="Garamond"/>
                <a:ea typeface="Garamond"/>
                <a:cs typeface="Garamond"/>
                <a:sym typeface="Garamond"/>
              </a:endParaRPr>
            </a:p>
          </p:txBody>
        </p:sp>
        <p:sp>
          <p:nvSpPr>
            <p:cNvPr id="1510" name="Google Shape;1510;p101"/>
            <p:cNvSpPr/>
            <p:nvPr/>
          </p:nvSpPr>
          <p:spPr>
            <a:xfrm>
              <a:off x="7135154" y="685388"/>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101"/>
            <p:cNvSpPr txBox="1"/>
            <p:nvPr/>
          </p:nvSpPr>
          <p:spPr>
            <a:xfrm>
              <a:off x="7272362" y="685388"/>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512" name="Google Shape;1512;p101"/>
            <p:cNvSpPr/>
            <p:nvPr/>
          </p:nvSpPr>
          <p:spPr>
            <a:xfrm>
              <a:off x="7713512" y="1753864"/>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01"/>
            <p:cNvSpPr txBox="1"/>
            <p:nvPr/>
          </p:nvSpPr>
          <p:spPr>
            <a:xfrm>
              <a:off x="7850720" y="1753864"/>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514" name="Google Shape;1514;p101"/>
            <p:cNvSpPr/>
            <p:nvPr/>
          </p:nvSpPr>
          <p:spPr>
            <a:xfrm>
              <a:off x="8291870" y="28067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101"/>
            <p:cNvSpPr txBox="1"/>
            <p:nvPr/>
          </p:nvSpPr>
          <p:spPr>
            <a:xfrm>
              <a:off x="8429078" y="28067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516" name="Google Shape;1516;p101"/>
            <p:cNvSpPr/>
            <p:nvPr/>
          </p:nvSpPr>
          <p:spPr>
            <a:xfrm>
              <a:off x="8870228" y="38856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101"/>
            <p:cNvSpPr txBox="1"/>
            <p:nvPr/>
          </p:nvSpPr>
          <p:spPr>
            <a:xfrm>
              <a:off x="9007436" y="38856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id="1518" name="Google Shape;1518;p101"/>
          <p:cNvPicPr preferRelativeResize="0"/>
          <p:nvPr/>
        </p:nvPicPr>
        <p:blipFill rotWithShape="1">
          <a:blip r:embed="rId3">
            <a:alphaModFix/>
          </a:blip>
          <a:srcRect b="0" l="0" r="0" t="0"/>
          <a:stretch/>
        </p:blipFill>
        <p:spPr>
          <a:xfrm>
            <a:off x="9335695" y="2190206"/>
            <a:ext cx="729096" cy="972128"/>
          </a:xfrm>
          <a:prstGeom prst="rect">
            <a:avLst/>
          </a:prstGeom>
          <a:noFill/>
          <a:ln>
            <a:noFill/>
          </a:ln>
        </p:spPr>
      </p:pic>
      <p:pic>
        <p:nvPicPr>
          <p:cNvPr id="1519" name="Google Shape;1519;p101"/>
          <p:cNvPicPr preferRelativeResize="0"/>
          <p:nvPr/>
        </p:nvPicPr>
        <p:blipFill rotWithShape="1">
          <a:blip r:embed="rId4">
            <a:alphaModFix/>
          </a:blip>
          <a:srcRect b="0" l="0" r="0" t="0"/>
          <a:stretch/>
        </p:blipFill>
        <p:spPr>
          <a:xfrm>
            <a:off x="10252460" y="4405524"/>
            <a:ext cx="573527" cy="764703"/>
          </a:xfrm>
          <a:prstGeom prst="rect">
            <a:avLst/>
          </a:prstGeom>
          <a:noFill/>
          <a:ln>
            <a:noFill/>
          </a:ln>
        </p:spPr>
      </p:pic>
      <p:pic>
        <p:nvPicPr>
          <p:cNvPr id="1520" name="Google Shape;1520;p101"/>
          <p:cNvPicPr preferRelativeResize="0"/>
          <p:nvPr/>
        </p:nvPicPr>
        <p:blipFill rotWithShape="1">
          <a:blip r:embed="rId5">
            <a:alphaModFix/>
          </a:blip>
          <a:srcRect b="0" l="0" r="0" t="0"/>
          <a:stretch/>
        </p:blipFill>
        <p:spPr>
          <a:xfrm>
            <a:off x="9813236" y="3288540"/>
            <a:ext cx="729096" cy="972128"/>
          </a:xfrm>
          <a:prstGeom prst="rect">
            <a:avLst/>
          </a:prstGeom>
          <a:noFill/>
          <a:ln>
            <a:noFill/>
          </a:ln>
        </p:spPr>
      </p:pic>
      <p:pic>
        <p:nvPicPr>
          <p:cNvPr id="1521" name="Google Shape;1521;p101"/>
          <p:cNvPicPr preferRelativeResize="0"/>
          <p:nvPr/>
        </p:nvPicPr>
        <p:blipFill rotWithShape="1">
          <a:blip r:embed="rId6">
            <a:alphaModFix/>
          </a:blip>
          <a:srcRect b="0" l="0" r="0" t="0"/>
          <a:stretch/>
        </p:blipFill>
        <p:spPr>
          <a:xfrm>
            <a:off x="10800617" y="5315083"/>
            <a:ext cx="876069" cy="657052"/>
          </a:xfrm>
          <a:prstGeom prst="rect">
            <a:avLst/>
          </a:prstGeom>
          <a:noFill/>
          <a:ln>
            <a:noFill/>
          </a:ln>
        </p:spPr>
      </p:pic>
      <p:pic>
        <p:nvPicPr>
          <p:cNvPr id="1522" name="Google Shape;1522;p101"/>
          <p:cNvPicPr preferRelativeResize="0"/>
          <p:nvPr/>
        </p:nvPicPr>
        <p:blipFill rotWithShape="1">
          <a:blip r:embed="rId7">
            <a:alphaModFix/>
          </a:blip>
          <a:srcRect b="0" l="0" r="0" t="0"/>
          <a:stretch/>
        </p:blipFill>
        <p:spPr>
          <a:xfrm>
            <a:off x="10177740" y="2215412"/>
            <a:ext cx="327363" cy="436484"/>
          </a:xfrm>
          <a:prstGeom prst="rect">
            <a:avLst/>
          </a:prstGeom>
          <a:noFill/>
          <a:ln>
            <a:noFill/>
          </a:ln>
        </p:spPr>
      </p:pic>
      <p:pic>
        <p:nvPicPr>
          <p:cNvPr id="1523" name="Google Shape;1523;p101"/>
          <p:cNvPicPr preferRelativeResize="0"/>
          <p:nvPr/>
        </p:nvPicPr>
        <p:blipFill rotWithShape="1">
          <a:blip r:embed="rId8">
            <a:alphaModFix/>
          </a:blip>
          <a:srcRect b="0" l="0" r="0" t="0"/>
          <a:stretch/>
        </p:blipFill>
        <p:spPr>
          <a:xfrm>
            <a:off x="10512379" y="2211110"/>
            <a:ext cx="327363" cy="436484"/>
          </a:xfrm>
          <a:prstGeom prst="rect">
            <a:avLst/>
          </a:prstGeom>
          <a:noFill/>
          <a:ln>
            <a:noFill/>
          </a:ln>
        </p:spPr>
      </p:pic>
      <p:pic>
        <p:nvPicPr>
          <p:cNvPr id="1524" name="Google Shape;1524;p101"/>
          <p:cNvPicPr preferRelativeResize="0"/>
          <p:nvPr/>
        </p:nvPicPr>
        <p:blipFill rotWithShape="1">
          <a:blip r:embed="rId9">
            <a:alphaModFix/>
          </a:blip>
          <a:srcRect b="0" l="0" r="0" t="0"/>
          <a:stretch/>
        </p:blipFill>
        <p:spPr>
          <a:xfrm>
            <a:off x="10849716" y="2211108"/>
            <a:ext cx="327363" cy="436485"/>
          </a:xfrm>
          <a:prstGeom prst="rect">
            <a:avLst/>
          </a:prstGeom>
          <a:noFill/>
          <a:ln>
            <a:noFill/>
          </a:ln>
        </p:spPr>
      </p:pic>
      <p:pic>
        <p:nvPicPr>
          <p:cNvPr id="1525" name="Google Shape;1525;p101"/>
          <p:cNvPicPr preferRelativeResize="0"/>
          <p:nvPr/>
        </p:nvPicPr>
        <p:blipFill rotWithShape="1">
          <a:blip r:embed="rId10">
            <a:alphaModFix/>
          </a:blip>
          <a:srcRect b="0" l="0" r="0" t="0"/>
          <a:stretch/>
        </p:blipFill>
        <p:spPr>
          <a:xfrm>
            <a:off x="11187053" y="2210941"/>
            <a:ext cx="327363" cy="436484"/>
          </a:xfrm>
          <a:prstGeom prst="rect">
            <a:avLst/>
          </a:prstGeom>
          <a:noFill/>
          <a:ln>
            <a:noFill/>
          </a:ln>
        </p:spPr>
      </p:pic>
      <p:pic>
        <p:nvPicPr>
          <p:cNvPr id="1526" name="Google Shape;1526;p101"/>
          <p:cNvPicPr preferRelativeResize="0"/>
          <p:nvPr/>
        </p:nvPicPr>
        <p:blipFill rotWithShape="1">
          <a:blip r:embed="rId11">
            <a:alphaModFix/>
          </a:blip>
          <a:srcRect b="0" l="0" r="0" t="0"/>
          <a:stretch/>
        </p:blipFill>
        <p:spPr>
          <a:xfrm rot="5400000">
            <a:off x="10583741" y="2743321"/>
            <a:ext cx="484490" cy="316237"/>
          </a:xfrm>
          <a:prstGeom prst="rect">
            <a:avLst/>
          </a:prstGeom>
          <a:noFill/>
          <a:ln>
            <a:noFill/>
          </a:ln>
        </p:spPr>
      </p:pic>
      <p:pic>
        <p:nvPicPr>
          <p:cNvPr id="1527" name="Google Shape;1527;p101"/>
          <p:cNvPicPr preferRelativeResize="0"/>
          <p:nvPr/>
        </p:nvPicPr>
        <p:blipFill rotWithShape="1">
          <a:blip r:embed="rId12">
            <a:alphaModFix/>
          </a:blip>
          <a:srcRect b="27071" l="0" r="0" t="25768"/>
          <a:stretch/>
        </p:blipFill>
        <p:spPr>
          <a:xfrm>
            <a:off x="11524437" y="2215412"/>
            <a:ext cx="267603" cy="436484"/>
          </a:xfrm>
          <a:prstGeom prst="rect">
            <a:avLst/>
          </a:prstGeom>
          <a:noFill/>
          <a:ln>
            <a:noFill/>
          </a:ln>
        </p:spPr>
      </p:pic>
      <p:pic>
        <p:nvPicPr>
          <p:cNvPr id="1528" name="Google Shape;1528;p101"/>
          <p:cNvPicPr preferRelativeResize="0"/>
          <p:nvPr/>
        </p:nvPicPr>
        <p:blipFill rotWithShape="1">
          <a:blip r:embed="rId13">
            <a:alphaModFix/>
          </a:blip>
          <a:srcRect b="0" l="0" r="0" t="9905"/>
          <a:stretch/>
        </p:blipFill>
        <p:spPr>
          <a:xfrm>
            <a:off x="10319419" y="2650007"/>
            <a:ext cx="239270" cy="467680"/>
          </a:xfrm>
          <a:prstGeom prst="rect">
            <a:avLst/>
          </a:prstGeom>
          <a:noFill/>
          <a:ln>
            <a:noFill/>
          </a:ln>
        </p:spPr>
      </p:pic>
      <p:pic>
        <p:nvPicPr>
          <p:cNvPr id="1529" name="Google Shape;1529;p101"/>
          <p:cNvPicPr preferRelativeResize="0"/>
          <p:nvPr/>
        </p:nvPicPr>
        <p:blipFill rotWithShape="1">
          <a:blip r:embed="rId14">
            <a:alphaModFix/>
          </a:blip>
          <a:srcRect b="13524" l="0" r="0" t="6856"/>
          <a:stretch/>
        </p:blipFill>
        <p:spPr>
          <a:xfrm>
            <a:off x="11069971" y="2667524"/>
            <a:ext cx="252694" cy="436485"/>
          </a:xfrm>
          <a:prstGeom prst="rect">
            <a:avLst/>
          </a:prstGeom>
          <a:noFill/>
          <a:ln>
            <a:noFill/>
          </a:ln>
        </p:spPr>
      </p:pic>
      <p:pic>
        <p:nvPicPr>
          <p:cNvPr id="1530" name="Google Shape;1530;p101"/>
          <p:cNvPicPr preferRelativeResize="0"/>
          <p:nvPr/>
        </p:nvPicPr>
        <p:blipFill rotWithShape="1">
          <a:blip r:embed="rId15">
            <a:alphaModFix/>
          </a:blip>
          <a:srcRect b="12603" l="0" r="0" t="11396"/>
          <a:stretch/>
        </p:blipFill>
        <p:spPr>
          <a:xfrm>
            <a:off x="11413728" y="2667524"/>
            <a:ext cx="269910" cy="445032"/>
          </a:xfrm>
          <a:prstGeom prst="rect">
            <a:avLst/>
          </a:prstGeom>
          <a:noFill/>
          <a:ln>
            <a:noFill/>
          </a:ln>
        </p:spPr>
      </p:pic>
      <p:pic>
        <p:nvPicPr>
          <p:cNvPr id="1531" name="Google Shape;1531;p101"/>
          <p:cNvPicPr preferRelativeResize="0"/>
          <p:nvPr/>
        </p:nvPicPr>
        <p:blipFill rotWithShape="1">
          <a:blip r:embed="rId16">
            <a:alphaModFix/>
          </a:blip>
          <a:srcRect b="0" l="0" r="0" t="0"/>
          <a:stretch/>
        </p:blipFill>
        <p:spPr>
          <a:xfrm>
            <a:off x="372597" y="1190537"/>
            <a:ext cx="11446805" cy="4996543"/>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5" name="Shape 1535"/>
        <p:cNvGrpSpPr/>
        <p:nvPr/>
      </p:nvGrpSpPr>
      <p:grpSpPr>
        <a:xfrm>
          <a:off x="0" y="0"/>
          <a:ext cx="0" cy="0"/>
          <a:chOff x="0" y="0"/>
          <a:chExt cx="0" cy="0"/>
        </a:xfrm>
      </p:grpSpPr>
      <p:sp>
        <p:nvSpPr>
          <p:cNvPr id="1536" name="Google Shape;1536;p102"/>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400"/>
              <a:buFont typeface="Garamond"/>
              <a:buNone/>
            </a:pPr>
            <a:r>
              <a:rPr b="1" lang="es-BO" sz="4400"/>
              <a:t>MODIFICACIONES</a:t>
            </a:r>
            <a:endParaRPr b="1" sz="4400"/>
          </a:p>
        </p:txBody>
      </p:sp>
      <p:grpSp>
        <p:nvGrpSpPr>
          <p:cNvPr id="1537" name="Google Shape;1537;p102"/>
          <p:cNvGrpSpPr/>
          <p:nvPr/>
        </p:nvGrpSpPr>
        <p:grpSpPr>
          <a:xfrm>
            <a:off x="666206" y="1179334"/>
            <a:ext cx="10016808" cy="5208402"/>
            <a:chOff x="0" y="3677"/>
            <a:chExt cx="10016808" cy="5208402"/>
          </a:xfrm>
        </p:grpSpPr>
        <p:sp>
          <p:nvSpPr>
            <p:cNvPr id="1538" name="Google Shape;1538;p102"/>
            <p:cNvSpPr/>
            <p:nvPr/>
          </p:nvSpPr>
          <p:spPr>
            <a:xfrm>
              <a:off x="0" y="3677"/>
              <a:ext cx="7744967" cy="930819"/>
            </a:xfrm>
            <a:prstGeom prst="roundRect">
              <a:avLst>
                <a:gd fmla="val 10000" name="adj"/>
              </a:avLst>
            </a:prstGeom>
            <a:solidFill>
              <a:srgbClr val="C8CCB3"/>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102"/>
            <p:cNvSpPr txBox="1"/>
            <p:nvPr/>
          </p:nvSpPr>
          <p:spPr>
            <a:xfrm>
              <a:off x="27263" y="30940"/>
              <a:ext cx="6623268" cy="876293"/>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dk1"/>
                </a:buClr>
                <a:buSzPts val="2800"/>
                <a:buFont typeface="Garamond"/>
                <a:buNone/>
              </a:pPr>
              <a:r>
                <a:rPr b="1" lang="es-BO" sz="2800">
                  <a:solidFill>
                    <a:schemeClr val="dk1"/>
                  </a:solidFill>
                  <a:latin typeface="Garamond"/>
                  <a:ea typeface="Garamond"/>
                  <a:cs typeface="Garamond"/>
                  <a:sym typeface="Garamond"/>
                </a:rPr>
                <a:t>TUBOS PVC</a:t>
              </a:r>
              <a:endParaRPr/>
            </a:p>
          </p:txBody>
        </p:sp>
        <p:sp>
          <p:nvSpPr>
            <p:cNvPr id="1540" name="Google Shape;1540;p102"/>
            <p:cNvSpPr/>
            <p:nvPr/>
          </p:nvSpPr>
          <p:spPr>
            <a:xfrm>
              <a:off x="832857" y="105089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102"/>
            <p:cNvSpPr txBox="1"/>
            <p:nvPr/>
          </p:nvSpPr>
          <p:spPr>
            <a:xfrm>
              <a:off x="860335" y="1078373"/>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El día 24 de abril, se realizo el aumento en los tubos PVC del sistema de nivel de agua para corregir el caudal de liquido que caía desde la pared del tanque en lugar de caer desde arriba.</a:t>
              </a:r>
              <a:endParaRPr sz="1900">
                <a:solidFill>
                  <a:schemeClr val="dk1"/>
                </a:solidFill>
                <a:latin typeface="Garamond"/>
                <a:ea typeface="Garamond"/>
                <a:cs typeface="Garamond"/>
                <a:sym typeface="Garamond"/>
              </a:endParaRPr>
            </a:p>
          </p:txBody>
        </p:sp>
        <p:sp>
          <p:nvSpPr>
            <p:cNvPr id="1542" name="Google Shape;1542;p102"/>
            <p:cNvSpPr/>
            <p:nvPr/>
          </p:nvSpPr>
          <p:spPr>
            <a:xfrm>
              <a:off x="1156716" y="2136952"/>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02"/>
            <p:cNvSpPr txBox="1"/>
            <p:nvPr/>
          </p:nvSpPr>
          <p:spPr>
            <a:xfrm>
              <a:off x="1184194" y="2164430"/>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Se verifico que la instalación original no permitía mantener una altura de liquido adecuada y esto afectaba el funcionamiento del sistema.</a:t>
              </a:r>
              <a:endParaRPr sz="1900">
                <a:solidFill>
                  <a:schemeClr val="dk1"/>
                </a:solidFill>
                <a:latin typeface="Garamond"/>
                <a:ea typeface="Garamond"/>
                <a:cs typeface="Garamond"/>
                <a:sym typeface="Garamond"/>
              </a:endParaRPr>
            </a:p>
          </p:txBody>
        </p:sp>
        <p:sp>
          <p:nvSpPr>
            <p:cNvPr id="1544" name="Google Shape;1544;p102"/>
            <p:cNvSpPr/>
            <p:nvPr/>
          </p:nvSpPr>
          <p:spPr>
            <a:xfrm>
              <a:off x="1735073" y="3205429"/>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102"/>
            <p:cNvSpPr txBox="1"/>
            <p:nvPr/>
          </p:nvSpPr>
          <p:spPr>
            <a:xfrm>
              <a:off x="1762551" y="3232907"/>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Se procedió a desmontar los tubos PVC existentes y a instalar nuevos tubos con una mayor inclinación, permitiendo que el caudal de agua caiga desde arriba de manera adecuada. </a:t>
              </a:r>
              <a:endParaRPr sz="1900">
                <a:solidFill>
                  <a:schemeClr val="dk1"/>
                </a:solidFill>
                <a:latin typeface="Garamond"/>
                <a:ea typeface="Garamond"/>
                <a:cs typeface="Garamond"/>
                <a:sym typeface="Garamond"/>
              </a:endParaRPr>
            </a:p>
          </p:txBody>
        </p:sp>
        <p:sp>
          <p:nvSpPr>
            <p:cNvPr id="1546" name="Google Shape;1546;p102"/>
            <p:cNvSpPr/>
            <p:nvPr/>
          </p:nvSpPr>
          <p:spPr>
            <a:xfrm>
              <a:off x="2271841" y="427390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102"/>
            <p:cNvSpPr txBox="1"/>
            <p:nvPr/>
          </p:nvSpPr>
          <p:spPr>
            <a:xfrm>
              <a:off x="2299319" y="4301383"/>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Una vez finalizada la instalación, se realizo una prueba de funcionamiento  y se confirmo que el sistema de nivel de liquido esta operando correctamente. </a:t>
              </a:r>
              <a:endParaRPr sz="1900">
                <a:solidFill>
                  <a:schemeClr val="dk1"/>
                </a:solidFill>
                <a:latin typeface="Garamond"/>
                <a:ea typeface="Garamond"/>
                <a:cs typeface="Garamond"/>
                <a:sym typeface="Garamond"/>
              </a:endParaRPr>
            </a:p>
          </p:txBody>
        </p:sp>
        <p:sp>
          <p:nvSpPr>
            <p:cNvPr id="1548" name="Google Shape;1548;p102"/>
            <p:cNvSpPr/>
            <p:nvPr/>
          </p:nvSpPr>
          <p:spPr>
            <a:xfrm>
              <a:off x="7135154" y="685388"/>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102"/>
            <p:cNvSpPr txBox="1"/>
            <p:nvPr/>
          </p:nvSpPr>
          <p:spPr>
            <a:xfrm>
              <a:off x="7272362" y="685388"/>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550" name="Google Shape;1550;p102"/>
            <p:cNvSpPr/>
            <p:nvPr/>
          </p:nvSpPr>
          <p:spPr>
            <a:xfrm>
              <a:off x="7713512" y="1753864"/>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102"/>
            <p:cNvSpPr txBox="1"/>
            <p:nvPr/>
          </p:nvSpPr>
          <p:spPr>
            <a:xfrm>
              <a:off x="7850720" y="1753864"/>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552" name="Google Shape;1552;p102"/>
            <p:cNvSpPr/>
            <p:nvPr/>
          </p:nvSpPr>
          <p:spPr>
            <a:xfrm>
              <a:off x="8291870" y="28067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102"/>
            <p:cNvSpPr txBox="1"/>
            <p:nvPr/>
          </p:nvSpPr>
          <p:spPr>
            <a:xfrm>
              <a:off x="8429078" y="28067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554" name="Google Shape;1554;p102"/>
            <p:cNvSpPr/>
            <p:nvPr/>
          </p:nvSpPr>
          <p:spPr>
            <a:xfrm>
              <a:off x="8870228" y="38856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102"/>
            <p:cNvSpPr txBox="1"/>
            <p:nvPr/>
          </p:nvSpPr>
          <p:spPr>
            <a:xfrm>
              <a:off x="9007436" y="38856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id="1556" name="Google Shape;1556;p102"/>
          <p:cNvPicPr preferRelativeResize="0"/>
          <p:nvPr/>
        </p:nvPicPr>
        <p:blipFill rotWithShape="1">
          <a:blip r:embed="rId3">
            <a:alphaModFix/>
          </a:blip>
          <a:srcRect b="0" l="0" r="0" t="0"/>
          <a:stretch/>
        </p:blipFill>
        <p:spPr>
          <a:xfrm>
            <a:off x="9335695" y="2190206"/>
            <a:ext cx="729096" cy="972128"/>
          </a:xfrm>
          <a:prstGeom prst="rect">
            <a:avLst/>
          </a:prstGeom>
          <a:noFill/>
          <a:ln>
            <a:noFill/>
          </a:ln>
        </p:spPr>
      </p:pic>
      <p:pic>
        <p:nvPicPr>
          <p:cNvPr id="1557" name="Google Shape;1557;p102"/>
          <p:cNvPicPr preferRelativeResize="0"/>
          <p:nvPr/>
        </p:nvPicPr>
        <p:blipFill rotWithShape="1">
          <a:blip r:embed="rId4">
            <a:alphaModFix/>
          </a:blip>
          <a:srcRect b="0" l="0" r="0" t="0"/>
          <a:stretch/>
        </p:blipFill>
        <p:spPr>
          <a:xfrm>
            <a:off x="10252460" y="4405524"/>
            <a:ext cx="573527" cy="764703"/>
          </a:xfrm>
          <a:prstGeom prst="rect">
            <a:avLst/>
          </a:prstGeom>
          <a:noFill/>
          <a:ln>
            <a:noFill/>
          </a:ln>
        </p:spPr>
      </p:pic>
      <p:pic>
        <p:nvPicPr>
          <p:cNvPr id="1558" name="Google Shape;1558;p102"/>
          <p:cNvPicPr preferRelativeResize="0"/>
          <p:nvPr/>
        </p:nvPicPr>
        <p:blipFill rotWithShape="1">
          <a:blip r:embed="rId5">
            <a:alphaModFix/>
          </a:blip>
          <a:srcRect b="0" l="0" r="0" t="0"/>
          <a:stretch/>
        </p:blipFill>
        <p:spPr>
          <a:xfrm>
            <a:off x="9813236" y="3288540"/>
            <a:ext cx="729096" cy="972128"/>
          </a:xfrm>
          <a:prstGeom prst="rect">
            <a:avLst/>
          </a:prstGeom>
          <a:noFill/>
          <a:ln>
            <a:noFill/>
          </a:ln>
        </p:spPr>
      </p:pic>
      <p:pic>
        <p:nvPicPr>
          <p:cNvPr id="1559" name="Google Shape;1559;p102"/>
          <p:cNvPicPr preferRelativeResize="0"/>
          <p:nvPr/>
        </p:nvPicPr>
        <p:blipFill rotWithShape="1">
          <a:blip r:embed="rId6">
            <a:alphaModFix/>
          </a:blip>
          <a:srcRect b="0" l="0" r="0" t="0"/>
          <a:stretch/>
        </p:blipFill>
        <p:spPr>
          <a:xfrm>
            <a:off x="10800617" y="5315083"/>
            <a:ext cx="876069" cy="657052"/>
          </a:xfrm>
          <a:prstGeom prst="rect">
            <a:avLst/>
          </a:prstGeom>
          <a:noFill/>
          <a:ln>
            <a:noFill/>
          </a:ln>
        </p:spPr>
      </p:pic>
      <p:pic>
        <p:nvPicPr>
          <p:cNvPr id="1560" name="Google Shape;1560;p102"/>
          <p:cNvPicPr preferRelativeResize="0"/>
          <p:nvPr/>
        </p:nvPicPr>
        <p:blipFill rotWithShape="1">
          <a:blip r:embed="rId7">
            <a:alphaModFix/>
          </a:blip>
          <a:srcRect b="0" l="0" r="0" t="0"/>
          <a:stretch/>
        </p:blipFill>
        <p:spPr>
          <a:xfrm>
            <a:off x="10177740" y="2215412"/>
            <a:ext cx="327363" cy="436484"/>
          </a:xfrm>
          <a:prstGeom prst="rect">
            <a:avLst/>
          </a:prstGeom>
          <a:noFill/>
          <a:ln>
            <a:noFill/>
          </a:ln>
        </p:spPr>
      </p:pic>
      <p:pic>
        <p:nvPicPr>
          <p:cNvPr id="1561" name="Google Shape;1561;p102"/>
          <p:cNvPicPr preferRelativeResize="0"/>
          <p:nvPr/>
        </p:nvPicPr>
        <p:blipFill rotWithShape="1">
          <a:blip r:embed="rId8">
            <a:alphaModFix/>
          </a:blip>
          <a:srcRect b="0" l="0" r="0" t="0"/>
          <a:stretch/>
        </p:blipFill>
        <p:spPr>
          <a:xfrm>
            <a:off x="10512379" y="2211110"/>
            <a:ext cx="327363" cy="436484"/>
          </a:xfrm>
          <a:prstGeom prst="rect">
            <a:avLst/>
          </a:prstGeom>
          <a:noFill/>
          <a:ln>
            <a:noFill/>
          </a:ln>
        </p:spPr>
      </p:pic>
      <p:pic>
        <p:nvPicPr>
          <p:cNvPr id="1562" name="Google Shape;1562;p102"/>
          <p:cNvPicPr preferRelativeResize="0"/>
          <p:nvPr/>
        </p:nvPicPr>
        <p:blipFill rotWithShape="1">
          <a:blip r:embed="rId9">
            <a:alphaModFix/>
          </a:blip>
          <a:srcRect b="0" l="0" r="0" t="0"/>
          <a:stretch/>
        </p:blipFill>
        <p:spPr>
          <a:xfrm>
            <a:off x="10849716" y="2211108"/>
            <a:ext cx="327363" cy="436485"/>
          </a:xfrm>
          <a:prstGeom prst="rect">
            <a:avLst/>
          </a:prstGeom>
          <a:noFill/>
          <a:ln>
            <a:noFill/>
          </a:ln>
        </p:spPr>
      </p:pic>
      <p:pic>
        <p:nvPicPr>
          <p:cNvPr id="1563" name="Google Shape;1563;p102"/>
          <p:cNvPicPr preferRelativeResize="0"/>
          <p:nvPr/>
        </p:nvPicPr>
        <p:blipFill rotWithShape="1">
          <a:blip r:embed="rId10">
            <a:alphaModFix/>
          </a:blip>
          <a:srcRect b="0" l="0" r="0" t="0"/>
          <a:stretch/>
        </p:blipFill>
        <p:spPr>
          <a:xfrm>
            <a:off x="11187053" y="2210941"/>
            <a:ext cx="327363" cy="436484"/>
          </a:xfrm>
          <a:prstGeom prst="rect">
            <a:avLst/>
          </a:prstGeom>
          <a:noFill/>
          <a:ln>
            <a:noFill/>
          </a:ln>
        </p:spPr>
      </p:pic>
      <p:pic>
        <p:nvPicPr>
          <p:cNvPr id="1564" name="Google Shape;1564;p102"/>
          <p:cNvPicPr preferRelativeResize="0"/>
          <p:nvPr/>
        </p:nvPicPr>
        <p:blipFill rotWithShape="1">
          <a:blip r:embed="rId11">
            <a:alphaModFix/>
          </a:blip>
          <a:srcRect b="0" l="0" r="0" t="0"/>
          <a:stretch/>
        </p:blipFill>
        <p:spPr>
          <a:xfrm rot="5400000">
            <a:off x="10583741" y="2743321"/>
            <a:ext cx="484490" cy="316237"/>
          </a:xfrm>
          <a:prstGeom prst="rect">
            <a:avLst/>
          </a:prstGeom>
          <a:noFill/>
          <a:ln>
            <a:noFill/>
          </a:ln>
        </p:spPr>
      </p:pic>
      <p:pic>
        <p:nvPicPr>
          <p:cNvPr id="1565" name="Google Shape;1565;p102"/>
          <p:cNvPicPr preferRelativeResize="0"/>
          <p:nvPr/>
        </p:nvPicPr>
        <p:blipFill rotWithShape="1">
          <a:blip r:embed="rId12">
            <a:alphaModFix/>
          </a:blip>
          <a:srcRect b="27071" l="0" r="0" t="25768"/>
          <a:stretch/>
        </p:blipFill>
        <p:spPr>
          <a:xfrm>
            <a:off x="11524437" y="2215412"/>
            <a:ext cx="267603" cy="436484"/>
          </a:xfrm>
          <a:prstGeom prst="rect">
            <a:avLst/>
          </a:prstGeom>
          <a:noFill/>
          <a:ln>
            <a:noFill/>
          </a:ln>
        </p:spPr>
      </p:pic>
      <p:pic>
        <p:nvPicPr>
          <p:cNvPr id="1566" name="Google Shape;1566;p102"/>
          <p:cNvPicPr preferRelativeResize="0"/>
          <p:nvPr/>
        </p:nvPicPr>
        <p:blipFill rotWithShape="1">
          <a:blip r:embed="rId13">
            <a:alphaModFix/>
          </a:blip>
          <a:srcRect b="0" l="0" r="0" t="9905"/>
          <a:stretch/>
        </p:blipFill>
        <p:spPr>
          <a:xfrm>
            <a:off x="10319419" y="2650007"/>
            <a:ext cx="239270" cy="467680"/>
          </a:xfrm>
          <a:prstGeom prst="rect">
            <a:avLst/>
          </a:prstGeom>
          <a:noFill/>
          <a:ln>
            <a:noFill/>
          </a:ln>
        </p:spPr>
      </p:pic>
      <p:pic>
        <p:nvPicPr>
          <p:cNvPr id="1567" name="Google Shape;1567;p102"/>
          <p:cNvPicPr preferRelativeResize="0"/>
          <p:nvPr/>
        </p:nvPicPr>
        <p:blipFill rotWithShape="1">
          <a:blip r:embed="rId14">
            <a:alphaModFix/>
          </a:blip>
          <a:srcRect b="13524" l="0" r="0" t="6856"/>
          <a:stretch/>
        </p:blipFill>
        <p:spPr>
          <a:xfrm>
            <a:off x="11069971" y="2667524"/>
            <a:ext cx="252694" cy="436485"/>
          </a:xfrm>
          <a:prstGeom prst="rect">
            <a:avLst/>
          </a:prstGeom>
          <a:noFill/>
          <a:ln>
            <a:noFill/>
          </a:ln>
        </p:spPr>
      </p:pic>
      <p:pic>
        <p:nvPicPr>
          <p:cNvPr id="1568" name="Google Shape;1568;p102"/>
          <p:cNvPicPr preferRelativeResize="0"/>
          <p:nvPr/>
        </p:nvPicPr>
        <p:blipFill rotWithShape="1">
          <a:blip r:embed="rId15">
            <a:alphaModFix/>
          </a:blip>
          <a:srcRect b="12603" l="0" r="0" t="11396"/>
          <a:stretch/>
        </p:blipFill>
        <p:spPr>
          <a:xfrm>
            <a:off x="11413728" y="2667524"/>
            <a:ext cx="269910" cy="445032"/>
          </a:xfrm>
          <a:prstGeom prst="rect">
            <a:avLst/>
          </a:prstGeom>
          <a:noFill/>
          <a:ln>
            <a:noFill/>
          </a:ln>
        </p:spPr>
      </p:pic>
      <p:pic>
        <p:nvPicPr>
          <p:cNvPr id="1569" name="Google Shape;1569;p102"/>
          <p:cNvPicPr preferRelativeResize="0"/>
          <p:nvPr/>
        </p:nvPicPr>
        <p:blipFill rotWithShape="1">
          <a:blip r:embed="rId16">
            <a:alphaModFix/>
          </a:blip>
          <a:srcRect b="0" l="0" r="0" t="0"/>
          <a:stretch/>
        </p:blipFill>
        <p:spPr>
          <a:xfrm>
            <a:off x="8804620" y="1041027"/>
            <a:ext cx="2308054" cy="1007468"/>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3" name="Shape 1573"/>
        <p:cNvGrpSpPr/>
        <p:nvPr/>
      </p:nvGrpSpPr>
      <p:grpSpPr>
        <a:xfrm>
          <a:off x="0" y="0"/>
          <a:ext cx="0" cy="0"/>
          <a:chOff x="0" y="0"/>
          <a:chExt cx="0" cy="0"/>
        </a:xfrm>
      </p:grpSpPr>
      <p:grpSp>
        <p:nvGrpSpPr>
          <p:cNvPr id="1574" name="Google Shape;1574;p103"/>
          <p:cNvGrpSpPr/>
          <p:nvPr/>
        </p:nvGrpSpPr>
        <p:grpSpPr>
          <a:xfrm>
            <a:off x="666206" y="1176993"/>
            <a:ext cx="3808338" cy="1892777"/>
            <a:chOff x="0" y="1336"/>
            <a:chExt cx="3808338" cy="1892777"/>
          </a:xfrm>
        </p:grpSpPr>
        <p:sp>
          <p:nvSpPr>
            <p:cNvPr id="1575" name="Google Shape;1575;p103"/>
            <p:cNvSpPr/>
            <p:nvPr/>
          </p:nvSpPr>
          <p:spPr>
            <a:xfrm>
              <a:off x="0" y="1336"/>
              <a:ext cx="2944596" cy="338267"/>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103"/>
            <p:cNvSpPr txBox="1"/>
            <p:nvPr/>
          </p:nvSpPr>
          <p:spPr>
            <a:xfrm>
              <a:off x="9908" y="11244"/>
              <a:ext cx="2536960" cy="318451"/>
            </a:xfrm>
            <a:prstGeom prst="rect">
              <a:avLst/>
            </a:prstGeom>
            <a:noFill/>
            <a:ln>
              <a:noFill/>
            </a:ln>
          </p:spPr>
          <p:txBody>
            <a:bodyPr anchorCtr="0" anchor="ctr" bIns="22850" lIns="22850" spcFirstLastPara="1" rIns="22850" wrap="square" tIns="22850">
              <a:noAutofit/>
            </a:bodyPr>
            <a:lstStyle/>
            <a:p>
              <a:pPr indent="0" lvl="0" marL="0" marR="0" rtl="0" algn="l">
                <a:lnSpc>
                  <a:spcPct val="90000"/>
                </a:lnSpc>
                <a:spcBef>
                  <a:spcPts val="0"/>
                </a:spcBef>
                <a:spcAft>
                  <a:spcPts val="0"/>
                </a:spcAft>
                <a:buClr>
                  <a:schemeClr val="dk1"/>
                </a:buClr>
                <a:buSzPts val="600"/>
                <a:buFont typeface="Garamond"/>
                <a:buNone/>
              </a:pPr>
              <a:r>
                <a:rPr lang="es-BO" sz="600">
                  <a:solidFill>
                    <a:schemeClr val="dk1"/>
                  </a:solidFill>
                  <a:latin typeface="Garamond"/>
                  <a:ea typeface="Garamond"/>
                  <a:cs typeface="Garamond"/>
                  <a:sym typeface="Garamond"/>
                </a:rPr>
                <a:t>TUBOS PVC</a:t>
              </a:r>
              <a:endParaRPr/>
            </a:p>
          </p:txBody>
        </p:sp>
        <p:sp>
          <p:nvSpPr>
            <p:cNvPr id="1577" name="Google Shape;1577;p103"/>
            <p:cNvSpPr/>
            <p:nvPr/>
          </p:nvSpPr>
          <p:spPr>
            <a:xfrm>
              <a:off x="316648" y="381904"/>
              <a:ext cx="2944596" cy="340940"/>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103"/>
            <p:cNvSpPr txBox="1"/>
            <p:nvPr/>
          </p:nvSpPr>
          <p:spPr>
            <a:xfrm>
              <a:off x="326634" y="391890"/>
              <a:ext cx="2483124" cy="320968"/>
            </a:xfrm>
            <a:prstGeom prst="rect">
              <a:avLst/>
            </a:prstGeom>
            <a:noFill/>
            <a:ln>
              <a:noFill/>
            </a:ln>
          </p:spPr>
          <p:txBody>
            <a:bodyPr anchorCtr="0" anchor="ctr" bIns="22850" lIns="22850" spcFirstLastPara="1" rIns="22850" wrap="square" tIns="22850">
              <a:noAutofit/>
            </a:bodyPr>
            <a:lstStyle/>
            <a:p>
              <a:pPr indent="0" lvl="0" marL="0" marR="0" rtl="0" algn="l">
                <a:lnSpc>
                  <a:spcPct val="90000"/>
                </a:lnSpc>
                <a:spcBef>
                  <a:spcPts val="0"/>
                </a:spcBef>
                <a:spcAft>
                  <a:spcPts val="0"/>
                </a:spcAft>
                <a:buClr>
                  <a:schemeClr val="lt1"/>
                </a:buClr>
                <a:buSzPts val="600"/>
                <a:buFont typeface="Garamond"/>
                <a:buNone/>
              </a:pPr>
              <a:r>
                <a:rPr lang="es-BO" sz="600">
                  <a:solidFill>
                    <a:schemeClr val="lt1"/>
                  </a:solidFill>
                  <a:latin typeface="Garamond"/>
                  <a:ea typeface="Garamond"/>
                  <a:cs typeface="Garamond"/>
                  <a:sym typeface="Garamond"/>
                </a:rPr>
                <a:t>El día 24 de abril, se realizo el aumento en los tubos PVC del sistema de nivel de agua para corregir el caudal de liquido que caía desde la pared del tanque en lugar de caer desde arriba.</a:t>
              </a:r>
              <a:endParaRPr sz="600">
                <a:solidFill>
                  <a:schemeClr val="dk1"/>
                </a:solidFill>
                <a:latin typeface="Garamond"/>
                <a:ea typeface="Garamond"/>
                <a:cs typeface="Garamond"/>
                <a:sym typeface="Garamond"/>
              </a:endParaRPr>
            </a:p>
          </p:txBody>
        </p:sp>
        <p:sp>
          <p:nvSpPr>
            <p:cNvPr id="1579" name="Google Shape;1579;p103"/>
            <p:cNvSpPr/>
            <p:nvPr/>
          </p:nvSpPr>
          <p:spPr>
            <a:xfrm>
              <a:off x="439777" y="776586"/>
              <a:ext cx="2944596" cy="340940"/>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103"/>
            <p:cNvSpPr txBox="1"/>
            <p:nvPr/>
          </p:nvSpPr>
          <p:spPr>
            <a:xfrm>
              <a:off x="449763" y="786572"/>
              <a:ext cx="2483124" cy="320968"/>
            </a:xfrm>
            <a:prstGeom prst="rect">
              <a:avLst/>
            </a:prstGeom>
            <a:noFill/>
            <a:ln>
              <a:noFill/>
            </a:ln>
          </p:spPr>
          <p:txBody>
            <a:bodyPr anchorCtr="0" anchor="ctr" bIns="22850" lIns="22850" spcFirstLastPara="1" rIns="22850" wrap="square" tIns="22850">
              <a:noAutofit/>
            </a:bodyPr>
            <a:lstStyle/>
            <a:p>
              <a:pPr indent="0" lvl="0" marL="0" marR="0" rtl="0" algn="l">
                <a:lnSpc>
                  <a:spcPct val="90000"/>
                </a:lnSpc>
                <a:spcBef>
                  <a:spcPts val="0"/>
                </a:spcBef>
                <a:spcAft>
                  <a:spcPts val="0"/>
                </a:spcAft>
                <a:buClr>
                  <a:schemeClr val="lt1"/>
                </a:buClr>
                <a:buSzPts val="600"/>
                <a:buFont typeface="Garamond"/>
                <a:buNone/>
              </a:pPr>
              <a:r>
                <a:rPr lang="es-BO" sz="600">
                  <a:solidFill>
                    <a:schemeClr val="lt1"/>
                  </a:solidFill>
                  <a:latin typeface="Garamond"/>
                  <a:ea typeface="Garamond"/>
                  <a:cs typeface="Garamond"/>
                  <a:sym typeface="Garamond"/>
                </a:rPr>
                <a:t>Se verifico que la instalación original no permitía mantener una altura de liquido adecuada y esto afectaba el funcionamiento del sistema .</a:t>
              </a:r>
              <a:endParaRPr sz="600">
                <a:solidFill>
                  <a:schemeClr val="dk1"/>
                </a:solidFill>
                <a:latin typeface="Garamond"/>
                <a:ea typeface="Garamond"/>
                <a:cs typeface="Garamond"/>
                <a:sym typeface="Garamond"/>
              </a:endParaRPr>
            </a:p>
          </p:txBody>
        </p:sp>
        <p:sp>
          <p:nvSpPr>
            <p:cNvPr id="1581" name="Google Shape;1581;p103"/>
            <p:cNvSpPr/>
            <p:nvPr/>
          </p:nvSpPr>
          <p:spPr>
            <a:xfrm>
              <a:off x="659666" y="1164880"/>
              <a:ext cx="2944596" cy="340940"/>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103"/>
            <p:cNvSpPr txBox="1"/>
            <p:nvPr/>
          </p:nvSpPr>
          <p:spPr>
            <a:xfrm>
              <a:off x="669652" y="1174866"/>
              <a:ext cx="2483124" cy="320968"/>
            </a:xfrm>
            <a:prstGeom prst="rect">
              <a:avLst/>
            </a:prstGeom>
            <a:noFill/>
            <a:ln>
              <a:noFill/>
            </a:ln>
          </p:spPr>
          <p:txBody>
            <a:bodyPr anchorCtr="0" anchor="ctr" bIns="22850" lIns="22850" spcFirstLastPara="1" rIns="22850" wrap="square" tIns="22850">
              <a:noAutofit/>
            </a:bodyPr>
            <a:lstStyle/>
            <a:p>
              <a:pPr indent="0" lvl="0" marL="0" marR="0" rtl="0" algn="l">
                <a:lnSpc>
                  <a:spcPct val="90000"/>
                </a:lnSpc>
                <a:spcBef>
                  <a:spcPts val="0"/>
                </a:spcBef>
                <a:spcAft>
                  <a:spcPts val="0"/>
                </a:spcAft>
                <a:buClr>
                  <a:schemeClr val="lt1"/>
                </a:buClr>
                <a:buSzPts val="600"/>
                <a:buFont typeface="Garamond"/>
                <a:buNone/>
              </a:pPr>
              <a:r>
                <a:rPr lang="es-BO" sz="600">
                  <a:solidFill>
                    <a:schemeClr val="lt1"/>
                  </a:solidFill>
                  <a:latin typeface="Garamond"/>
                  <a:ea typeface="Garamond"/>
                  <a:cs typeface="Garamond"/>
                  <a:sym typeface="Garamond"/>
                </a:rPr>
                <a:t>Se procedió a desmontar los tubos PVC existentes y a instalar nuevos tubos con una mayor inclinación, permitiendo que el caudal de agua caiga desde arriba de manera adecuada. </a:t>
              </a:r>
              <a:endParaRPr sz="600">
                <a:solidFill>
                  <a:schemeClr val="dk1"/>
                </a:solidFill>
                <a:latin typeface="Garamond"/>
                <a:ea typeface="Garamond"/>
                <a:cs typeface="Garamond"/>
                <a:sym typeface="Garamond"/>
              </a:endParaRPr>
            </a:p>
          </p:txBody>
        </p:sp>
        <p:sp>
          <p:nvSpPr>
            <p:cNvPr id="1583" name="Google Shape;1583;p103"/>
            <p:cNvSpPr/>
            <p:nvPr/>
          </p:nvSpPr>
          <p:spPr>
            <a:xfrm>
              <a:off x="863742" y="1553173"/>
              <a:ext cx="2944596" cy="340940"/>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103"/>
            <p:cNvSpPr txBox="1"/>
            <p:nvPr/>
          </p:nvSpPr>
          <p:spPr>
            <a:xfrm>
              <a:off x="873728" y="1563159"/>
              <a:ext cx="2483124" cy="320968"/>
            </a:xfrm>
            <a:prstGeom prst="rect">
              <a:avLst/>
            </a:prstGeom>
            <a:noFill/>
            <a:ln>
              <a:noFill/>
            </a:ln>
          </p:spPr>
          <p:txBody>
            <a:bodyPr anchorCtr="0" anchor="ctr" bIns="22850" lIns="22850" spcFirstLastPara="1" rIns="22850" wrap="square" tIns="22850">
              <a:noAutofit/>
            </a:bodyPr>
            <a:lstStyle/>
            <a:p>
              <a:pPr indent="0" lvl="0" marL="0" marR="0" rtl="0" algn="l">
                <a:lnSpc>
                  <a:spcPct val="90000"/>
                </a:lnSpc>
                <a:spcBef>
                  <a:spcPts val="0"/>
                </a:spcBef>
                <a:spcAft>
                  <a:spcPts val="0"/>
                </a:spcAft>
                <a:buClr>
                  <a:schemeClr val="lt1"/>
                </a:buClr>
                <a:buSzPts val="600"/>
                <a:buFont typeface="Garamond"/>
                <a:buNone/>
              </a:pPr>
              <a:r>
                <a:rPr lang="es-BO" sz="600">
                  <a:solidFill>
                    <a:schemeClr val="lt1"/>
                  </a:solidFill>
                  <a:latin typeface="Garamond"/>
                  <a:ea typeface="Garamond"/>
                  <a:cs typeface="Garamond"/>
                  <a:sym typeface="Garamond"/>
                </a:rPr>
                <a:t>Una vez finalizada la instalación, se realizo una prueba de funcionamiento  y se confirmo que el sistema de nivel de liquido esta operando correctamente. </a:t>
              </a:r>
              <a:endParaRPr sz="600">
                <a:solidFill>
                  <a:schemeClr val="dk1"/>
                </a:solidFill>
                <a:latin typeface="Garamond"/>
                <a:ea typeface="Garamond"/>
                <a:cs typeface="Garamond"/>
                <a:sym typeface="Garamond"/>
              </a:endParaRPr>
            </a:p>
          </p:txBody>
        </p:sp>
        <p:sp>
          <p:nvSpPr>
            <p:cNvPr id="1585" name="Google Shape;1585;p103"/>
            <p:cNvSpPr/>
            <p:nvPr/>
          </p:nvSpPr>
          <p:spPr>
            <a:xfrm>
              <a:off x="2722984" y="249075"/>
              <a:ext cx="221611" cy="221611"/>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103"/>
            <p:cNvSpPr txBox="1"/>
            <p:nvPr/>
          </p:nvSpPr>
          <p:spPr>
            <a:xfrm>
              <a:off x="2772846" y="249075"/>
              <a:ext cx="121887" cy="166762"/>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dk1"/>
                </a:buClr>
                <a:buSzPts val="1000"/>
                <a:buFont typeface="Garamond"/>
                <a:buNone/>
              </a:pPr>
              <a:r>
                <a:t/>
              </a:r>
              <a:endParaRPr sz="1000">
                <a:solidFill>
                  <a:schemeClr val="dk1"/>
                </a:solidFill>
                <a:latin typeface="Garamond"/>
                <a:ea typeface="Garamond"/>
                <a:cs typeface="Garamond"/>
                <a:sym typeface="Garamond"/>
              </a:endParaRPr>
            </a:p>
          </p:txBody>
        </p:sp>
        <p:sp>
          <p:nvSpPr>
            <p:cNvPr id="1587" name="Google Shape;1587;p103"/>
            <p:cNvSpPr/>
            <p:nvPr/>
          </p:nvSpPr>
          <p:spPr>
            <a:xfrm>
              <a:off x="2942873" y="637369"/>
              <a:ext cx="221611" cy="221611"/>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103"/>
            <p:cNvSpPr txBox="1"/>
            <p:nvPr/>
          </p:nvSpPr>
          <p:spPr>
            <a:xfrm>
              <a:off x="2992735" y="637369"/>
              <a:ext cx="121887" cy="166762"/>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dk1"/>
                </a:buClr>
                <a:buSzPts val="1000"/>
                <a:buFont typeface="Garamond"/>
                <a:buNone/>
              </a:pPr>
              <a:r>
                <a:t/>
              </a:r>
              <a:endParaRPr sz="1000">
                <a:solidFill>
                  <a:schemeClr val="dk1"/>
                </a:solidFill>
                <a:latin typeface="Garamond"/>
                <a:ea typeface="Garamond"/>
                <a:cs typeface="Garamond"/>
                <a:sym typeface="Garamond"/>
              </a:endParaRPr>
            </a:p>
          </p:txBody>
        </p:sp>
        <p:sp>
          <p:nvSpPr>
            <p:cNvPr id="1589" name="Google Shape;1589;p103"/>
            <p:cNvSpPr/>
            <p:nvPr/>
          </p:nvSpPr>
          <p:spPr>
            <a:xfrm>
              <a:off x="3162762" y="1019980"/>
              <a:ext cx="221611" cy="221611"/>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103"/>
            <p:cNvSpPr txBox="1"/>
            <p:nvPr/>
          </p:nvSpPr>
          <p:spPr>
            <a:xfrm>
              <a:off x="3212624" y="1019980"/>
              <a:ext cx="121887" cy="166762"/>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dk1"/>
                </a:buClr>
                <a:buSzPts val="1000"/>
                <a:buFont typeface="Garamond"/>
                <a:buNone/>
              </a:pPr>
              <a:r>
                <a:t/>
              </a:r>
              <a:endParaRPr sz="1000">
                <a:solidFill>
                  <a:schemeClr val="dk1"/>
                </a:solidFill>
                <a:latin typeface="Garamond"/>
                <a:ea typeface="Garamond"/>
                <a:cs typeface="Garamond"/>
                <a:sym typeface="Garamond"/>
              </a:endParaRPr>
            </a:p>
          </p:txBody>
        </p:sp>
        <p:sp>
          <p:nvSpPr>
            <p:cNvPr id="1591" name="Google Shape;1591;p103"/>
            <p:cNvSpPr/>
            <p:nvPr/>
          </p:nvSpPr>
          <p:spPr>
            <a:xfrm>
              <a:off x="3382650" y="1412061"/>
              <a:ext cx="221611" cy="221611"/>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103"/>
            <p:cNvSpPr txBox="1"/>
            <p:nvPr/>
          </p:nvSpPr>
          <p:spPr>
            <a:xfrm>
              <a:off x="3432512" y="1412061"/>
              <a:ext cx="121887" cy="166762"/>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dk1"/>
                </a:buClr>
                <a:buSzPts val="1000"/>
                <a:buFont typeface="Garamond"/>
                <a:buNone/>
              </a:pPr>
              <a:r>
                <a:t/>
              </a:r>
              <a:endParaRPr sz="1000">
                <a:solidFill>
                  <a:schemeClr val="dk1"/>
                </a:solidFill>
                <a:latin typeface="Garamond"/>
                <a:ea typeface="Garamond"/>
                <a:cs typeface="Garamond"/>
                <a:sym typeface="Garamond"/>
              </a:endParaRPr>
            </a:p>
          </p:txBody>
        </p:sp>
      </p:grpSp>
      <p:pic>
        <p:nvPicPr>
          <p:cNvPr id="1593" name="Google Shape;1593;p103"/>
          <p:cNvPicPr preferRelativeResize="0"/>
          <p:nvPr/>
        </p:nvPicPr>
        <p:blipFill rotWithShape="1">
          <a:blip r:embed="rId3">
            <a:alphaModFix/>
          </a:blip>
          <a:srcRect b="0" l="0" r="0" t="0"/>
          <a:stretch/>
        </p:blipFill>
        <p:spPr>
          <a:xfrm>
            <a:off x="8618498" y="1077633"/>
            <a:ext cx="950768" cy="1267691"/>
          </a:xfrm>
          <a:prstGeom prst="rect">
            <a:avLst/>
          </a:prstGeom>
          <a:noFill/>
          <a:ln>
            <a:noFill/>
          </a:ln>
        </p:spPr>
      </p:pic>
      <p:pic>
        <p:nvPicPr>
          <p:cNvPr id="1594" name="Google Shape;1594;p103"/>
          <p:cNvPicPr preferRelativeResize="0"/>
          <p:nvPr/>
        </p:nvPicPr>
        <p:blipFill rotWithShape="1">
          <a:blip r:embed="rId4">
            <a:alphaModFix/>
          </a:blip>
          <a:srcRect b="0" l="0" r="0" t="0"/>
          <a:stretch/>
        </p:blipFill>
        <p:spPr>
          <a:xfrm>
            <a:off x="9375197" y="2203665"/>
            <a:ext cx="729095" cy="972127"/>
          </a:xfrm>
          <a:prstGeom prst="rect">
            <a:avLst/>
          </a:prstGeom>
          <a:noFill/>
          <a:ln>
            <a:noFill/>
          </a:ln>
        </p:spPr>
      </p:pic>
      <p:pic>
        <p:nvPicPr>
          <p:cNvPr id="1595" name="Google Shape;1595;p103"/>
          <p:cNvPicPr preferRelativeResize="0"/>
          <p:nvPr/>
        </p:nvPicPr>
        <p:blipFill rotWithShape="1">
          <a:blip r:embed="rId5">
            <a:alphaModFix/>
          </a:blip>
          <a:srcRect b="0" l="0" r="0" t="0"/>
          <a:stretch/>
        </p:blipFill>
        <p:spPr>
          <a:xfrm>
            <a:off x="10227090" y="2919884"/>
            <a:ext cx="573527" cy="764703"/>
          </a:xfrm>
          <a:prstGeom prst="rect">
            <a:avLst/>
          </a:prstGeom>
          <a:noFill/>
          <a:ln>
            <a:noFill/>
          </a:ln>
        </p:spPr>
      </p:pic>
      <p:pic>
        <p:nvPicPr>
          <p:cNvPr id="1596" name="Google Shape;1596;p103"/>
          <p:cNvPicPr preferRelativeResize="0"/>
          <p:nvPr/>
        </p:nvPicPr>
        <p:blipFill rotWithShape="1">
          <a:blip r:embed="rId6">
            <a:alphaModFix/>
          </a:blip>
          <a:srcRect b="0" l="0" r="0" t="0"/>
          <a:stretch/>
        </p:blipFill>
        <p:spPr>
          <a:xfrm>
            <a:off x="9990261" y="2816172"/>
            <a:ext cx="729096" cy="972128"/>
          </a:xfrm>
          <a:prstGeom prst="rect">
            <a:avLst/>
          </a:prstGeom>
          <a:noFill/>
          <a:ln>
            <a:noFill/>
          </a:ln>
        </p:spPr>
      </p:pic>
      <p:pic>
        <p:nvPicPr>
          <p:cNvPr id="1597" name="Google Shape;1597;p103"/>
          <p:cNvPicPr preferRelativeResize="0"/>
          <p:nvPr/>
        </p:nvPicPr>
        <p:blipFill rotWithShape="1">
          <a:blip r:embed="rId7">
            <a:alphaModFix/>
          </a:blip>
          <a:srcRect b="0" l="0" r="0" t="0"/>
          <a:stretch/>
        </p:blipFill>
        <p:spPr>
          <a:xfrm>
            <a:off x="10591516" y="3066621"/>
            <a:ext cx="876069" cy="657052"/>
          </a:xfrm>
          <a:prstGeom prst="rect">
            <a:avLst/>
          </a:prstGeom>
          <a:noFill/>
          <a:ln>
            <a:noFill/>
          </a:ln>
        </p:spPr>
      </p:pic>
      <p:pic>
        <p:nvPicPr>
          <p:cNvPr id="1598" name="Google Shape;1598;p103"/>
          <p:cNvPicPr preferRelativeResize="0"/>
          <p:nvPr/>
        </p:nvPicPr>
        <p:blipFill rotWithShape="1">
          <a:blip r:embed="rId8">
            <a:alphaModFix/>
          </a:blip>
          <a:srcRect b="0" l="0" r="0" t="0"/>
          <a:stretch/>
        </p:blipFill>
        <p:spPr>
          <a:xfrm>
            <a:off x="3439941" y="1048021"/>
            <a:ext cx="2079197" cy="2772262"/>
          </a:xfrm>
          <a:prstGeom prst="rect">
            <a:avLst/>
          </a:prstGeom>
          <a:noFill/>
          <a:ln>
            <a:noFill/>
          </a:ln>
        </p:spPr>
      </p:pic>
      <p:pic>
        <p:nvPicPr>
          <p:cNvPr id="1599" name="Google Shape;1599;p103"/>
          <p:cNvPicPr preferRelativeResize="0"/>
          <p:nvPr/>
        </p:nvPicPr>
        <p:blipFill rotWithShape="1">
          <a:blip r:embed="rId9">
            <a:alphaModFix/>
          </a:blip>
          <a:srcRect b="0" l="0" r="16356" t="0"/>
          <a:stretch/>
        </p:blipFill>
        <p:spPr>
          <a:xfrm>
            <a:off x="1924126" y="1033085"/>
            <a:ext cx="1739112" cy="2772262"/>
          </a:xfrm>
          <a:prstGeom prst="rect">
            <a:avLst/>
          </a:prstGeom>
          <a:noFill/>
          <a:ln>
            <a:noFill/>
          </a:ln>
        </p:spPr>
      </p:pic>
      <p:pic>
        <p:nvPicPr>
          <p:cNvPr id="1600" name="Google Shape;1600;p103"/>
          <p:cNvPicPr preferRelativeResize="0"/>
          <p:nvPr/>
        </p:nvPicPr>
        <p:blipFill rotWithShape="1">
          <a:blip r:embed="rId10">
            <a:alphaModFix/>
          </a:blip>
          <a:srcRect b="0" l="0" r="0" t="0"/>
          <a:stretch/>
        </p:blipFill>
        <p:spPr>
          <a:xfrm>
            <a:off x="5203611" y="1041496"/>
            <a:ext cx="2079197" cy="2772269"/>
          </a:xfrm>
          <a:prstGeom prst="rect">
            <a:avLst/>
          </a:prstGeom>
          <a:noFill/>
          <a:ln>
            <a:noFill/>
          </a:ln>
        </p:spPr>
      </p:pic>
      <p:pic>
        <p:nvPicPr>
          <p:cNvPr id="1601" name="Google Shape;1601;p103"/>
          <p:cNvPicPr preferRelativeResize="0"/>
          <p:nvPr/>
        </p:nvPicPr>
        <p:blipFill rotWithShape="1">
          <a:blip r:embed="rId11">
            <a:alphaModFix/>
          </a:blip>
          <a:srcRect b="0" l="0" r="0" t="0"/>
          <a:stretch/>
        </p:blipFill>
        <p:spPr>
          <a:xfrm>
            <a:off x="6874203" y="1048021"/>
            <a:ext cx="2079197" cy="2772262"/>
          </a:xfrm>
          <a:prstGeom prst="rect">
            <a:avLst/>
          </a:prstGeom>
          <a:noFill/>
          <a:ln>
            <a:noFill/>
          </a:ln>
        </p:spPr>
      </p:pic>
      <p:pic>
        <p:nvPicPr>
          <p:cNvPr id="1602" name="Google Shape;1602;p103"/>
          <p:cNvPicPr preferRelativeResize="0"/>
          <p:nvPr/>
        </p:nvPicPr>
        <p:blipFill rotWithShape="1">
          <a:blip r:embed="rId12">
            <a:alphaModFix/>
          </a:blip>
          <a:srcRect b="0" l="0" r="0" t="0"/>
          <a:stretch/>
        </p:blipFill>
        <p:spPr>
          <a:xfrm rot="10800000">
            <a:off x="1749800" y="4555640"/>
            <a:ext cx="1940792" cy="1493282"/>
          </a:xfrm>
          <a:prstGeom prst="rect">
            <a:avLst/>
          </a:prstGeom>
          <a:noFill/>
          <a:ln>
            <a:noFill/>
          </a:ln>
        </p:spPr>
      </p:pic>
      <p:pic>
        <p:nvPicPr>
          <p:cNvPr id="1603" name="Google Shape;1603;p103"/>
          <p:cNvPicPr preferRelativeResize="0"/>
          <p:nvPr/>
        </p:nvPicPr>
        <p:blipFill rotWithShape="1">
          <a:blip r:embed="rId13">
            <a:alphaModFix/>
          </a:blip>
          <a:srcRect b="27071" l="0" r="0" t="25768"/>
          <a:stretch/>
        </p:blipFill>
        <p:spPr>
          <a:xfrm>
            <a:off x="8525376" y="1048019"/>
            <a:ext cx="1699641" cy="2772264"/>
          </a:xfrm>
          <a:prstGeom prst="rect">
            <a:avLst/>
          </a:prstGeom>
          <a:noFill/>
          <a:ln>
            <a:noFill/>
          </a:ln>
        </p:spPr>
      </p:pic>
      <p:pic>
        <p:nvPicPr>
          <p:cNvPr id="1604" name="Google Shape;1604;p103"/>
          <p:cNvPicPr preferRelativeResize="0"/>
          <p:nvPr/>
        </p:nvPicPr>
        <p:blipFill rotWithShape="1">
          <a:blip r:embed="rId14">
            <a:alphaModFix/>
          </a:blip>
          <a:srcRect b="0" l="0" r="0" t="9905"/>
          <a:stretch/>
        </p:blipFill>
        <p:spPr>
          <a:xfrm>
            <a:off x="10130690" y="1041496"/>
            <a:ext cx="1446200" cy="2772262"/>
          </a:xfrm>
          <a:prstGeom prst="rect">
            <a:avLst/>
          </a:prstGeom>
          <a:noFill/>
          <a:ln>
            <a:noFill/>
          </a:ln>
        </p:spPr>
      </p:pic>
      <p:pic>
        <p:nvPicPr>
          <p:cNvPr id="1605" name="Google Shape;1605;p103"/>
          <p:cNvPicPr preferRelativeResize="0"/>
          <p:nvPr/>
        </p:nvPicPr>
        <p:blipFill rotWithShape="1">
          <a:blip r:embed="rId15">
            <a:alphaModFix/>
          </a:blip>
          <a:srcRect b="13524" l="0" r="0" t="6856"/>
          <a:stretch/>
        </p:blipFill>
        <p:spPr>
          <a:xfrm rot="5400000">
            <a:off x="5090998" y="4017642"/>
            <a:ext cx="1487428" cy="2569278"/>
          </a:xfrm>
          <a:prstGeom prst="rect">
            <a:avLst/>
          </a:prstGeom>
          <a:noFill/>
          <a:ln>
            <a:noFill/>
          </a:ln>
        </p:spPr>
      </p:pic>
      <p:pic>
        <p:nvPicPr>
          <p:cNvPr id="1606" name="Google Shape;1606;p103"/>
          <p:cNvPicPr preferRelativeResize="0"/>
          <p:nvPr/>
        </p:nvPicPr>
        <p:blipFill rotWithShape="1">
          <a:blip r:embed="rId16">
            <a:alphaModFix/>
          </a:blip>
          <a:srcRect b="12603" l="0" r="0" t="11396"/>
          <a:stretch/>
        </p:blipFill>
        <p:spPr>
          <a:xfrm rot="5400000">
            <a:off x="8446732" y="4074069"/>
            <a:ext cx="1481778" cy="2443176"/>
          </a:xfrm>
          <a:prstGeom prst="rect">
            <a:avLst/>
          </a:prstGeom>
          <a:noFill/>
          <a:ln>
            <a:noFill/>
          </a:ln>
        </p:spPr>
      </p:pic>
      <p:sp>
        <p:nvSpPr>
          <p:cNvPr id="1607" name="Google Shape;1607;p103"/>
          <p:cNvSpPr txBox="1"/>
          <p:nvPr/>
        </p:nvSpPr>
        <p:spPr>
          <a:xfrm>
            <a:off x="2131887" y="3851552"/>
            <a:ext cx="15403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Llave de pivote</a:t>
            </a:r>
            <a:endParaRPr sz="1800">
              <a:solidFill>
                <a:schemeClr val="dk1"/>
              </a:solidFill>
              <a:latin typeface="Garamond"/>
              <a:ea typeface="Garamond"/>
              <a:cs typeface="Garamond"/>
              <a:sym typeface="Garamond"/>
            </a:endParaRPr>
          </a:p>
        </p:txBody>
      </p:sp>
      <p:sp>
        <p:nvSpPr>
          <p:cNvPr id="1608" name="Google Shape;1608;p103"/>
          <p:cNvSpPr txBox="1"/>
          <p:nvPr/>
        </p:nvSpPr>
        <p:spPr>
          <a:xfrm>
            <a:off x="5317298" y="3861376"/>
            <a:ext cx="16728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Llave de triquete</a:t>
            </a:r>
            <a:endParaRPr sz="1800">
              <a:solidFill>
                <a:schemeClr val="dk1"/>
              </a:solidFill>
              <a:latin typeface="Garamond"/>
              <a:ea typeface="Garamond"/>
              <a:cs typeface="Garamond"/>
              <a:sym typeface="Garamond"/>
            </a:endParaRPr>
          </a:p>
        </p:txBody>
      </p:sp>
      <p:sp>
        <p:nvSpPr>
          <p:cNvPr id="1609" name="Google Shape;1609;p103"/>
          <p:cNvSpPr txBox="1"/>
          <p:nvPr/>
        </p:nvSpPr>
        <p:spPr>
          <a:xfrm>
            <a:off x="8487767" y="3863687"/>
            <a:ext cx="15190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Tarraja manual</a:t>
            </a:r>
            <a:endParaRPr sz="1800">
              <a:solidFill>
                <a:schemeClr val="dk1"/>
              </a:solidFill>
              <a:latin typeface="Garamond"/>
              <a:ea typeface="Garamond"/>
              <a:cs typeface="Garamond"/>
              <a:sym typeface="Garamond"/>
            </a:endParaRPr>
          </a:p>
        </p:txBody>
      </p:sp>
      <p:sp>
        <p:nvSpPr>
          <p:cNvPr id="1610" name="Google Shape;1610;p103"/>
          <p:cNvSpPr txBox="1"/>
          <p:nvPr/>
        </p:nvSpPr>
        <p:spPr>
          <a:xfrm>
            <a:off x="10025322" y="3875108"/>
            <a:ext cx="19036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Llave de cremallera</a:t>
            </a:r>
            <a:endParaRPr sz="1800">
              <a:solidFill>
                <a:schemeClr val="dk1"/>
              </a:solidFill>
              <a:latin typeface="Garamond"/>
              <a:ea typeface="Garamond"/>
              <a:cs typeface="Garamond"/>
              <a:sym typeface="Garamond"/>
            </a:endParaRPr>
          </a:p>
        </p:txBody>
      </p:sp>
      <p:sp>
        <p:nvSpPr>
          <p:cNvPr id="1611" name="Google Shape;1611;p103"/>
          <p:cNvSpPr txBox="1"/>
          <p:nvPr/>
        </p:nvSpPr>
        <p:spPr>
          <a:xfrm>
            <a:off x="7282808" y="3861376"/>
            <a:ext cx="1165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flexómetro</a:t>
            </a:r>
            <a:endParaRPr sz="1800">
              <a:solidFill>
                <a:schemeClr val="dk1"/>
              </a:solidFill>
              <a:latin typeface="Garamond"/>
              <a:ea typeface="Garamond"/>
              <a:cs typeface="Garamond"/>
              <a:sym typeface="Garamond"/>
            </a:endParaRPr>
          </a:p>
        </p:txBody>
      </p:sp>
      <p:sp>
        <p:nvSpPr>
          <p:cNvPr id="1612" name="Google Shape;1612;p103"/>
          <p:cNvSpPr txBox="1"/>
          <p:nvPr/>
        </p:nvSpPr>
        <p:spPr>
          <a:xfrm>
            <a:off x="3630243" y="3861376"/>
            <a:ext cx="156741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Cierra de mano</a:t>
            </a:r>
            <a:endParaRPr sz="1800">
              <a:solidFill>
                <a:schemeClr val="dk1"/>
              </a:solidFill>
              <a:latin typeface="Garamond"/>
              <a:ea typeface="Garamond"/>
              <a:cs typeface="Garamond"/>
              <a:sym typeface="Garamond"/>
            </a:endParaRPr>
          </a:p>
        </p:txBody>
      </p:sp>
      <p:pic>
        <p:nvPicPr>
          <p:cNvPr id="1613" name="Google Shape;1613;p103"/>
          <p:cNvPicPr preferRelativeResize="0"/>
          <p:nvPr/>
        </p:nvPicPr>
        <p:blipFill rotWithShape="1">
          <a:blip r:embed="rId17">
            <a:alphaModFix/>
          </a:blip>
          <a:srcRect b="12254" l="0" r="2100" t="10060"/>
          <a:stretch/>
        </p:blipFill>
        <p:spPr>
          <a:xfrm>
            <a:off x="473889" y="1024675"/>
            <a:ext cx="1489466" cy="2772262"/>
          </a:xfrm>
          <a:prstGeom prst="rect">
            <a:avLst/>
          </a:prstGeom>
          <a:noFill/>
          <a:ln>
            <a:noFill/>
          </a:ln>
        </p:spPr>
      </p:pic>
      <p:sp>
        <p:nvSpPr>
          <p:cNvPr id="1614" name="Google Shape;1614;p103"/>
          <p:cNvSpPr txBox="1"/>
          <p:nvPr/>
        </p:nvSpPr>
        <p:spPr>
          <a:xfrm>
            <a:off x="393428" y="3875108"/>
            <a:ext cx="16503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Llave de presión</a:t>
            </a:r>
            <a:endParaRPr sz="1800">
              <a:solidFill>
                <a:schemeClr val="dk1"/>
              </a:solidFill>
              <a:latin typeface="Garamond"/>
              <a:ea typeface="Garamond"/>
              <a:cs typeface="Garamond"/>
              <a:sym typeface="Garamond"/>
            </a:endParaRPr>
          </a:p>
        </p:txBody>
      </p:sp>
      <p:sp>
        <p:nvSpPr>
          <p:cNvPr id="1615" name="Google Shape;1615;p103"/>
          <p:cNvSpPr txBox="1"/>
          <p:nvPr/>
        </p:nvSpPr>
        <p:spPr>
          <a:xfrm>
            <a:off x="2050326" y="6036546"/>
            <a:ext cx="15649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Tubo PVC (6u)</a:t>
            </a:r>
            <a:endParaRPr sz="1800">
              <a:solidFill>
                <a:schemeClr val="dk1"/>
              </a:solidFill>
              <a:latin typeface="Garamond"/>
              <a:ea typeface="Garamond"/>
              <a:cs typeface="Garamond"/>
              <a:sym typeface="Garamond"/>
            </a:endParaRPr>
          </a:p>
        </p:txBody>
      </p:sp>
      <p:sp>
        <p:nvSpPr>
          <p:cNvPr id="1616" name="Google Shape;1616;p103"/>
          <p:cNvSpPr txBox="1"/>
          <p:nvPr/>
        </p:nvSpPr>
        <p:spPr>
          <a:xfrm>
            <a:off x="4947743" y="6045995"/>
            <a:ext cx="18492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Codo de PVC (2u)</a:t>
            </a:r>
            <a:endParaRPr sz="1800">
              <a:solidFill>
                <a:schemeClr val="dk1"/>
              </a:solidFill>
              <a:latin typeface="Garamond"/>
              <a:ea typeface="Garamond"/>
              <a:cs typeface="Garamond"/>
              <a:sym typeface="Garamond"/>
            </a:endParaRPr>
          </a:p>
        </p:txBody>
      </p:sp>
      <p:sp>
        <p:nvSpPr>
          <p:cNvPr id="1617" name="Google Shape;1617;p103"/>
          <p:cNvSpPr txBox="1"/>
          <p:nvPr/>
        </p:nvSpPr>
        <p:spPr>
          <a:xfrm>
            <a:off x="7748348" y="6045995"/>
            <a:ext cx="28785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T de PVC y tapón macho (2u)</a:t>
            </a:r>
            <a:endParaRPr sz="1800">
              <a:solidFill>
                <a:schemeClr val="dk1"/>
              </a:solidFill>
              <a:latin typeface="Garamond"/>
              <a:ea typeface="Garamond"/>
              <a:cs typeface="Garamond"/>
              <a:sym typeface="Garamond"/>
            </a:endParaRPr>
          </a:p>
        </p:txBody>
      </p:sp>
      <p:sp>
        <p:nvSpPr>
          <p:cNvPr id="1618" name="Google Shape;1618;p103"/>
          <p:cNvSpPr txBox="1"/>
          <p:nvPr/>
        </p:nvSpPr>
        <p:spPr>
          <a:xfrm>
            <a:off x="4167463" y="4218134"/>
            <a:ext cx="36486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HERRAMIENTAS Y MATERIALES</a:t>
            </a:r>
            <a:endParaRPr sz="1800">
              <a:solidFill>
                <a:schemeClr val="dk1"/>
              </a:solidFill>
              <a:latin typeface="Garamond"/>
              <a:ea typeface="Garamond"/>
              <a:cs typeface="Garamond"/>
              <a:sym typeface="Garamond"/>
            </a:endParaRPr>
          </a:p>
        </p:txBody>
      </p:sp>
      <p:sp>
        <p:nvSpPr>
          <p:cNvPr id="1619" name="Google Shape;1619;p103"/>
          <p:cNvSpPr txBox="1"/>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262626"/>
              </a:buClr>
              <a:buSzPts val="4400"/>
              <a:buFont typeface="Garamond"/>
              <a:buNone/>
            </a:pPr>
            <a:r>
              <a:rPr b="1" lang="es-BO" sz="4400" cap="none">
                <a:solidFill>
                  <a:srgbClr val="262626"/>
                </a:solidFill>
                <a:latin typeface="Garamond"/>
                <a:ea typeface="Garamond"/>
                <a:cs typeface="Garamond"/>
                <a:sym typeface="Garamond"/>
              </a:rPr>
              <a:t>MODIFICACIONES</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3" name="Shape 1623"/>
        <p:cNvGrpSpPr/>
        <p:nvPr/>
      </p:nvGrpSpPr>
      <p:grpSpPr>
        <a:xfrm>
          <a:off x="0" y="0"/>
          <a:ext cx="0" cy="0"/>
          <a:chOff x="0" y="0"/>
          <a:chExt cx="0" cy="0"/>
        </a:xfrm>
      </p:grpSpPr>
      <p:sp>
        <p:nvSpPr>
          <p:cNvPr id="1624" name="Google Shape;1624;p104"/>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400"/>
              <a:buFont typeface="Garamond"/>
              <a:buNone/>
            </a:pPr>
            <a:r>
              <a:rPr b="1" lang="es-BO" sz="4400"/>
              <a:t>MODIFICACIONES</a:t>
            </a:r>
            <a:endParaRPr b="1" sz="4400"/>
          </a:p>
        </p:txBody>
      </p:sp>
      <p:grpSp>
        <p:nvGrpSpPr>
          <p:cNvPr id="1625" name="Google Shape;1625;p104"/>
          <p:cNvGrpSpPr/>
          <p:nvPr/>
        </p:nvGrpSpPr>
        <p:grpSpPr>
          <a:xfrm>
            <a:off x="666206" y="1179334"/>
            <a:ext cx="10016808" cy="5208402"/>
            <a:chOff x="0" y="3677"/>
            <a:chExt cx="10016808" cy="5208402"/>
          </a:xfrm>
        </p:grpSpPr>
        <p:sp>
          <p:nvSpPr>
            <p:cNvPr id="1626" name="Google Shape;1626;p104"/>
            <p:cNvSpPr/>
            <p:nvPr/>
          </p:nvSpPr>
          <p:spPr>
            <a:xfrm>
              <a:off x="0" y="3677"/>
              <a:ext cx="7744967" cy="930819"/>
            </a:xfrm>
            <a:prstGeom prst="roundRect">
              <a:avLst>
                <a:gd fmla="val 10000" name="adj"/>
              </a:avLst>
            </a:prstGeom>
            <a:solidFill>
              <a:srgbClr val="C8CCB3"/>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04"/>
            <p:cNvSpPr txBox="1"/>
            <p:nvPr/>
          </p:nvSpPr>
          <p:spPr>
            <a:xfrm>
              <a:off x="27263" y="30940"/>
              <a:ext cx="6623268" cy="876293"/>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dk1"/>
                </a:buClr>
                <a:buSzPts val="2800"/>
                <a:buFont typeface="Garamond"/>
                <a:buNone/>
              </a:pPr>
              <a:r>
                <a:rPr b="1" lang="es-BO" sz="2800">
                  <a:solidFill>
                    <a:schemeClr val="dk1"/>
                  </a:solidFill>
                  <a:latin typeface="Garamond"/>
                  <a:ea typeface="Garamond"/>
                  <a:cs typeface="Garamond"/>
                  <a:sym typeface="Garamond"/>
                </a:rPr>
                <a:t>TUBOS PVC</a:t>
              </a:r>
              <a:endParaRPr/>
            </a:p>
          </p:txBody>
        </p:sp>
        <p:sp>
          <p:nvSpPr>
            <p:cNvPr id="1628" name="Google Shape;1628;p104"/>
            <p:cNvSpPr/>
            <p:nvPr/>
          </p:nvSpPr>
          <p:spPr>
            <a:xfrm>
              <a:off x="832857" y="105089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104"/>
            <p:cNvSpPr txBox="1"/>
            <p:nvPr/>
          </p:nvSpPr>
          <p:spPr>
            <a:xfrm>
              <a:off x="860335" y="1078373"/>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El día 24 de abril, se realizo el aumento en los tubos PVC del sistema de nivel de agua para corregir el caudal de liquido que caía desde la pared del tanque en lugar de caer desde arriba.</a:t>
              </a:r>
              <a:endParaRPr sz="1900">
                <a:solidFill>
                  <a:schemeClr val="dk1"/>
                </a:solidFill>
                <a:latin typeface="Garamond"/>
                <a:ea typeface="Garamond"/>
                <a:cs typeface="Garamond"/>
                <a:sym typeface="Garamond"/>
              </a:endParaRPr>
            </a:p>
          </p:txBody>
        </p:sp>
        <p:sp>
          <p:nvSpPr>
            <p:cNvPr id="1630" name="Google Shape;1630;p104"/>
            <p:cNvSpPr/>
            <p:nvPr/>
          </p:nvSpPr>
          <p:spPr>
            <a:xfrm>
              <a:off x="1156716" y="2136952"/>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104"/>
            <p:cNvSpPr txBox="1"/>
            <p:nvPr/>
          </p:nvSpPr>
          <p:spPr>
            <a:xfrm>
              <a:off x="1184194" y="2164430"/>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Se verifico que la instalación original no permitía mantener una altura de liquido adecuada y esto afectaba el funcionamiento del sistema.</a:t>
              </a:r>
              <a:endParaRPr sz="1900">
                <a:solidFill>
                  <a:schemeClr val="dk1"/>
                </a:solidFill>
                <a:latin typeface="Garamond"/>
                <a:ea typeface="Garamond"/>
                <a:cs typeface="Garamond"/>
                <a:sym typeface="Garamond"/>
              </a:endParaRPr>
            </a:p>
          </p:txBody>
        </p:sp>
        <p:sp>
          <p:nvSpPr>
            <p:cNvPr id="1632" name="Google Shape;1632;p104"/>
            <p:cNvSpPr/>
            <p:nvPr/>
          </p:nvSpPr>
          <p:spPr>
            <a:xfrm>
              <a:off x="1735073" y="3205429"/>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104"/>
            <p:cNvSpPr txBox="1"/>
            <p:nvPr/>
          </p:nvSpPr>
          <p:spPr>
            <a:xfrm>
              <a:off x="1762551" y="3232907"/>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Se procedió a desmontar los tubos PVC existentes y a instalar nuevos tubos con una mayor inclinación, permitiendo que el caudal de agua caiga desde arriba de manera adecuada. </a:t>
              </a:r>
              <a:endParaRPr sz="1900">
                <a:solidFill>
                  <a:schemeClr val="dk1"/>
                </a:solidFill>
                <a:latin typeface="Garamond"/>
                <a:ea typeface="Garamond"/>
                <a:cs typeface="Garamond"/>
                <a:sym typeface="Garamond"/>
              </a:endParaRPr>
            </a:p>
          </p:txBody>
        </p:sp>
        <p:sp>
          <p:nvSpPr>
            <p:cNvPr id="1634" name="Google Shape;1634;p104"/>
            <p:cNvSpPr/>
            <p:nvPr/>
          </p:nvSpPr>
          <p:spPr>
            <a:xfrm>
              <a:off x="2271841" y="4273905"/>
              <a:ext cx="7744967" cy="93817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04"/>
            <p:cNvSpPr txBox="1"/>
            <p:nvPr/>
          </p:nvSpPr>
          <p:spPr>
            <a:xfrm>
              <a:off x="2299319" y="4301383"/>
              <a:ext cx="6501840" cy="8832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Garamond"/>
                <a:buNone/>
              </a:pPr>
              <a:r>
                <a:rPr lang="es-BO" sz="1900">
                  <a:solidFill>
                    <a:schemeClr val="dk1"/>
                  </a:solidFill>
                  <a:latin typeface="Garamond"/>
                  <a:ea typeface="Garamond"/>
                  <a:cs typeface="Garamond"/>
                  <a:sym typeface="Garamond"/>
                </a:rPr>
                <a:t>Una vez finalizada la instalación, se realizo una prueba de funcionamiento  y se confirmo que el sistema de nivel de liquido esta operando correctamente. </a:t>
              </a:r>
              <a:endParaRPr sz="1900">
                <a:solidFill>
                  <a:schemeClr val="dk1"/>
                </a:solidFill>
                <a:latin typeface="Garamond"/>
                <a:ea typeface="Garamond"/>
                <a:cs typeface="Garamond"/>
                <a:sym typeface="Garamond"/>
              </a:endParaRPr>
            </a:p>
          </p:txBody>
        </p:sp>
        <p:sp>
          <p:nvSpPr>
            <p:cNvPr id="1636" name="Google Shape;1636;p104"/>
            <p:cNvSpPr/>
            <p:nvPr/>
          </p:nvSpPr>
          <p:spPr>
            <a:xfrm>
              <a:off x="7135154" y="685388"/>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104"/>
            <p:cNvSpPr txBox="1"/>
            <p:nvPr/>
          </p:nvSpPr>
          <p:spPr>
            <a:xfrm>
              <a:off x="7272362" y="685388"/>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638" name="Google Shape;1638;p104"/>
            <p:cNvSpPr/>
            <p:nvPr/>
          </p:nvSpPr>
          <p:spPr>
            <a:xfrm>
              <a:off x="7713512" y="1753864"/>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104"/>
            <p:cNvSpPr txBox="1"/>
            <p:nvPr/>
          </p:nvSpPr>
          <p:spPr>
            <a:xfrm>
              <a:off x="7850720" y="1753864"/>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640" name="Google Shape;1640;p104"/>
            <p:cNvSpPr/>
            <p:nvPr/>
          </p:nvSpPr>
          <p:spPr>
            <a:xfrm>
              <a:off x="8291870" y="28067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104"/>
            <p:cNvSpPr txBox="1"/>
            <p:nvPr/>
          </p:nvSpPr>
          <p:spPr>
            <a:xfrm>
              <a:off x="8429078" y="28067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sp>
          <p:nvSpPr>
            <p:cNvPr id="1642" name="Google Shape;1642;p104"/>
            <p:cNvSpPr/>
            <p:nvPr/>
          </p:nvSpPr>
          <p:spPr>
            <a:xfrm>
              <a:off x="8870228" y="3885605"/>
              <a:ext cx="609813" cy="609813"/>
            </a:xfrm>
            <a:prstGeom prst="downArrow">
              <a:avLst>
                <a:gd fmla="val 55000" name="adj1"/>
                <a:gd fmla="val 45000" name="adj2"/>
              </a:avLst>
            </a:prstGeom>
            <a:solidFill>
              <a:srgbClr val="C00000">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104"/>
            <p:cNvSpPr txBox="1"/>
            <p:nvPr/>
          </p:nvSpPr>
          <p:spPr>
            <a:xfrm>
              <a:off x="9007436" y="3885605"/>
              <a:ext cx="335397" cy="458884"/>
            </a:xfrm>
            <a:prstGeom prst="rect">
              <a:avLst/>
            </a:prstGeom>
            <a:noFill/>
            <a:ln>
              <a:noFill/>
            </a:ln>
          </p:spPr>
          <p:txBody>
            <a:bodyPr anchorCtr="0" anchor="ctr" bIns="36825" lIns="36825" spcFirstLastPara="1" rIns="36825" wrap="square" tIns="36825">
              <a:noAutofit/>
            </a:bodyPr>
            <a:lstStyle/>
            <a:p>
              <a:pPr indent="0" lvl="0" marL="0" marR="0" rtl="0" algn="ctr">
                <a:lnSpc>
                  <a:spcPct val="90000"/>
                </a:lnSpc>
                <a:spcBef>
                  <a:spcPts val="0"/>
                </a:spcBef>
                <a:spcAft>
                  <a:spcPts val="0"/>
                </a:spcAft>
                <a:buClr>
                  <a:schemeClr val="dk1"/>
                </a:buClr>
                <a:buSzPts val="2900"/>
                <a:buFont typeface="Garamond"/>
                <a:buNone/>
              </a:pPr>
              <a:r>
                <a:t/>
              </a:r>
              <a:endParaRPr sz="2900">
                <a:solidFill>
                  <a:schemeClr val="dk1"/>
                </a:solidFill>
                <a:latin typeface="Garamond"/>
                <a:ea typeface="Garamond"/>
                <a:cs typeface="Garamond"/>
                <a:sym typeface="Garamond"/>
              </a:endParaRPr>
            </a:p>
          </p:txBody>
        </p:sp>
      </p:grpSp>
      <p:pic>
        <p:nvPicPr>
          <p:cNvPr id="1644" name="Google Shape;1644;p104"/>
          <p:cNvPicPr preferRelativeResize="0"/>
          <p:nvPr/>
        </p:nvPicPr>
        <p:blipFill rotWithShape="1">
          <a:blip r:embed="rId3">
            <a:alphaModFix/>
          </a:blip>
          <a:srcRect b="0" l="0" r="0" t="0"/>
          <a:stretch/>
        </p:blipFill>
        <p:spPr>
          <a:xfrm>
            <a:off x="9335695" y="2190206"/>
            <a:ext cx="729096" cy="972128"/>
          </a:xfrm>
          <a:prstGeom prst="rect">
            <a:avLst/>
          </a:prstGeom>
          <a:noFill/>
          <a:ln>
            <a:noFill/>
          </a:ln>
        </p:spPr>
      </p:pic>
      <p:pic>
        <p:nvPicPr>
          <p:cNvPr id="1645" name="Google Shape;1645;p104"/>
          <p:cNvPicPr preferRelativeResize="0"/>
          <p:nvPr/>
        </p:nvPicPr>
        <p:blipFill rotWithShape="1">
          <a:blip r:embed="rId4">
            <a:alphaModFix/>
          </a:blip>
          <a:srcRect b="0" l="0" r="0" t="0"/>
          <a:stretch/>
        </p:blipFill>
        <p:spPr>
          <a:xfrm>
            <a:off x="10252460" y="4405524"/>
            <a:ext cx="573527" cy="764703"/>
          </a:xfrm>
          <a:prstGeom prst="rect">
            <a:avLst/>
          </a:prstGeom>
          <a:noFill/>
          <a:ln>
            <a:noFill/>
          </a:ln>
        </p:spPr>
      </p:pic>
      <p:pic>
        <p:nvPicPr>
          <p:cNvPr id="1646" name="Google Shape;1646;p104"/>
          <p:cNvPicPr preferRelativeResize="0"/>
          <p:nvPr/>
        </p:nvPicPr>
        <p:blipFill rotWithShape="1">
          <a:blip r:embed="rId5">
            <a:alphaModFix/>
          </a:blip>
          <a:srcRect b="0" l="0" r="0" t="0"/>
          <a:stretch/>
        </p:blipFill>
        <p:spPr>
          <a:xfrm>
            <a:off x="9813236" y="3288540"/>
            <a:ext cx="729096" cy="972128"/>
          </a:xfrm>
          <a:prstGeom prst="rect">
            <a:avLst/>
          </a:prstGeom>
          <a:noFill/>
          <a:ln>
            <a:noFill/>
          </a:ln>
        </p:spPr>
      </p:pic>
      <p:pic>
        <p:nvPicPr>
          <p:cNvPr id="1647" name="Google Shape;1647;p104"/>
          <p:cNvPicPr preferRelativeResize="0"/>
          <p:nvPr/>
        </p:nvPicPr>
        <p:blipFill rotWithShape="1">
          <a:blip r:embed="rId6">
            <a:alphaModFix/>
          </a:blip>
          <a:srcRect b="0" l="0" r="0" t="0"/>
          <a:stretch/>
        </p:blipFill>
        <p:spPr>
          <a:xfrm>
            <a:off x="10800617" y="5315083"/>
            <a:ext cx="876069" cy="657052"/>
          </a:xfrm>
          <a:prstGeom prst="rect">
            <a:avLst/>
          </a:prstGeom>
          <a:noFill/>
          <a:ln>
            <a:noFill/>
          </a:ln>
        </p:spPr>
      </p:pic>
      <p:pic>
        <p:nvPicPr>
          <p:cNvPr id="1648" name="Google Shape;1648;p104"/>
          <p:cNvPicPr preferRelativeResize="0"/>
          <p:nvPr/>
        </p:nvPicPr>
        <p:blipFill rotWithShape="1">
          <a:blip r:embed="rId7">
            <a:alphaModFix/>
          </a:blip>
          <a:srcRect b="0" l="0" r="0" t="0"/>
          <a:stretch/>
        </p:blipFill>
        <p:spPr>
          <a:xfrm>
            <a:off x="10177740" y="2215412"/>
            <a:ext cx="327363" cy="436484"/>
          </a:xfrm>
          <a:prstGeom prst="rect">
            <a:avLst/>
          </a:prstGeom>
          <a:noFill/>
          <a:ln>
            <a:noFill/>
          </a:ln>
        </p:spPr>
      </p:pic>
      <p:pic>
        <p:nvPicPr>
          <p:cNvPr id="1649" name="Google Shape;1649;p104"/>
          <p:cNvPicPr preferRelativeResize="0"/>
          <p:nvPr/>
        </p:nvPicPr>
        <p:blipFill rotWithShape="1">
          <a:blip r:embed="rId8">
            <a:alphaModFix/>
          </a:blip>
          <a:srcRect b="0" l="0" r="0" t="0"/>
          <a:stretch/>
        </p:blipFill>
        <p:spPr>
          <a:xfrm>
            <a:off x="10512379" y="2211110"/>
            <a:ext cx="327363" cy="436484"/>
          </a:xfrm>
          <a:prstGeom prst="rect">
            <a:avLst/>
          </a:prstGeom>
          <a:noFill/>
          <a:ln>
            <a:noFill/>
          </a:ln>
        </p:spPr>
      </p:pic>
      <p:pic>
        <p:nvPicPr>
          <p:cNvPr id="1650" name="Google Shape;1650;p104"/>
          <p:cNvPicPr preferRelativeResize="0"/>
          <p:nvPr/>
        </p:nvPicPr>
        <p:blipFill rotWithShape="1">
          <a:blip r:embed="rId9">
            <a:alphaModFix/>
          </a:blip>
          <a:srcRect b="0" l="0" r="0" t="0"/>
          <a:stretch/>
        </p:blipFill>
        <p:spPr>
          <a:xfrm>
            <a:off x="10849716" y="2211108"/>
            <a:ext cx="327363" cy="436485"/>
          </a:xfrm>
          <a:prstGeom prst="rect">
            <a:avLst/>
          </a:prstGeom>
          <a:noFill/>
          <a:ln>
            <a:noFill/>
          </a:ln>
        </p:spPr>
      </p:pic>
      <p:pic>
        <p:nvPicPr>
          <p:cNvPr id="1651" name="Google Shape;1651;p104"/>
          <p:cNvPicPr preferRelativeResize="0"/>
          <p:nvPr/>
        </p:nvPicPr>
        <p:blipFill rotWithShape="1">
          <a:blip r:embed="rId10">
            <a:alphaModFix/>
          </a:blip>
          <a:srcRect b="0" l="0" r="0" t="0"/>
          <a:stretch/>
        </p:blipFill>
        <p:spPr>
          <a:xfrm>
            <a:off x="11187053" y="2210941"/>
            <a:ext cx="327363" cy="436484"/>
          </a:xfrm>
          <a:prstGeom prst="rect">
            <a:avLst/>
          </a:prstGeom>
          <a:noFill/>
          <a:ln>
            <a:noFill/>
          </a:ln>
        </p:spPr>
      </p:pic>
      <p:pic>
        <p:nvPicPr>
          <p:cNvPr id="1652" name="Google Shape;1652;p104"/>
          <p:cNvPicPr preferRelativeResize="0"/>
          <p:nvPr/>
        </p:nvPicPr>
        <p:blipFill rotWithShape="1">
          <a:blip r:embed="rId11">
            <a:alphaModFix/>
          </a:blip>
          <a:srcRect b="0" l="0" r="0" t="0"/>
          <a:stretch/>
        </p:blipFill>
        <p:spPr>
          <a:xfrm rot="5400000">
            <a:off x="10583741" y="2743321"/>
            <a:ext cx="484490" cy="316237"/>
          </a:xfrm>
          <a:prstGeom prst="rect">
            <a:avLst/>
          </a:prstGeom>
          <a:noFill/>
          <a:ln>
            <a:noFill/>
          </a:ln>
        </p:spPr>
      </p:pic>
      <p:pic>
        <p:nvPicPr>
          <p:cNvPr id="1653" name="Google Shape;1653;p104"/>
          <p:cNvPicPr preferRelativeResize="0"/>
          <p:nvPr/>
        </p:nvPicPr>
        <p:blipFill rotWithShape="1">
          <a:blip r:embed="rId12">
            <a:alphaModFix/>
          </a:blip>
          <a:srcRect b="27071" l="0" r="0" t="25768"/>
          <a:stretch/>
        </p:blipFill>
        <p:spPr>
          <a:xfrm>
            <a:off x="11524437" y="2215412"/>
            <a:ext cx="267603" cy="436484"/>
          </a:xfrm>
          <a:prstGeom prst="rect">
            <a:avLst/>
          </a:prstGeom>
          <a:noFill/>
          <a:ln>
            <a:noFill/>
          </a:ln>
        </p:spPr>
      </p:pic>
      <p:pic>
        <p:nvPicPr>
          <p:cNvPr id="1654" name="Google Shape;1654;p104"/>
          <p:cNvPicPr preferRelativeResize="0"/>
          <p:nvPr/>
        </p:nvPicPr>
        <p:blipFill rotWithShape="1">
          <a:blip r:embed="rId13">
            <a:alphaModFix/>
          </a:blip>
          <a:srcRect b="0" l="0" r="0" t="9905"/>
          <a:stretch/>
        </p:blipFill>
        <p:spPr>
          <a:xfrm>
            <a:off x="10319419" y="2650007"/>
            <a:ext cx="239270" cy="467680"/>
          </a:xfrm>
          <a:prstGeom prst="rect">
            <a:avLst/>
          </a:prstGeom>
          <a:noFill/>
          <a:ln>
            <a:noFill/>
          </a:ln>
        </p:spPr>
      </p:pic>
      <p:pic>
        <p:nvPicPr>
          <p:cNvPr id="1655" name="Google Shape;1655;p104"/>
          <p:cNvPicPr preferRelativeResize="0"/>
          <p:nvPr/>
        </p:nvPicPr>
        <p:blipFill rotWithShape="1">
          <a:blip r:embed="rId14">
            <a:alphaModFix/>
          </a:blip>
          <a:srcRect b="13524" l="0" r="0" t="6856"/>
          <a:stretch/>
        </p:blipFill>
        <p:spPr>
          <a:xfrm>
            <a:off x="11069971" y="2667524"/>
            <a:ext cx="252694" cy="436485"/>
          </a:xfrm>
          <a:prstGeom prst="rect">
            <a:avLst/>
          </a:prstGeom>
          <a:noFill/>
          <a:ln>
            <a:noFill/>
          </a:ln>
        </p:spPr>
      </p:pic>
      <p:pic>
        <p:nvPicPr>
          <p:cNvPr id="1656" name="Google Shape;1656;p104"/>
          <p:cNvPicPr preferRelativeResize="0"/>
          <p:nvPr/>
        </p:nvPicPr>
        <p:blipFill rotWithShape="1">
          <a:blip r:embed="rId15">
            <a:alphaModFix/>
          </a:blip>
          <a:srcRect b="12603" l="0" r="0" t="11396"/>
          <a:stretch/>
        </p:blipFill>
        <p:spPr>
          <a:xfrm>
            <a:off x="11413728" y="2667524"/>
            <a:ext cx="269910" cy="445032"/>
          </a:xfrm>
          <a:prstGeom prst="rect">
            <a:avLst/>
          </a:prstGeom>
          <a:noFill/>
          <a:ln>
            <a:noFill/>
          </a:ln>
        </p:spPr>
      </p:pic>
      <p:pic>
        <p:nvPicPr>
          <p:cNvPr id="1657" name="Google Shape;1657;p104"/>
          <p:cNvPicPr preferRelativeResize="0"/>
          <p:nvPr/>
        </p:nvPicPr>
        <p:blipFill rotWithShape="1">
          <a:blip r:embed="rId16">
            <a:alphaModFix/>
          </a:blip>
          <a:srcRect b="0" l="0" r="0" t="0"/>
          <a:stretch/>
        </p:blipFill>
        <p:spPr>
          <a:xfrm>
            <a:off x="8804620" y="1041027"/>
            <a:ext cx="2308054" cy="1007468"/>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1" name="Shape 1661"/>
        <p:cNvGrpSpPr/>
        <p:nvPr/>
      </p:nvGrpSpPr>
      <p:grpSpPr>
        <a:xfrm>
          <a:off x="0" y="0"/>
          <a:ext cx="0" cy="0"/>
          <a:chOff x="0" y="0"/>
          <a:chExt cx="0" cy="0"/>
        </a:xfrm>
      </p:grpSpPr>
      <p:sp>
        <p:nvSpPr>
          <p:cNvPr id="1662" name="Google Shape;1662;p105"/>
          <p:cNvSpPr txBox="1"/>
          <p:nvPr>
            <p:ph type="title"/>
          </p:nvPr>
        </p:nvSpPr>
        <p:spPr>
          <a:xfrm>
            <a:off x="918754" y="274320"/>
            <a:ext cx="10058400" cy="101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b="1" lang="es-BO"/>
              <a:t>ARREGLOS</a:t>
            </a:r>
            <a:endParaRPr b="1"/>
          </a:p>
        </p:txBody>
      </p:sp>
      <p:grpSp>
        <p:nvGrpSpPr>
          <p:cNvPr id="1663" name="Google Shape;1663;p105"/>
          <p:cNvGrpSpPr/>
          <p:nvPr/>
        </p:nvGrpSpPr>
        <p:grpSpPr>
          <a:xfrm>
            <a:off x="666206" y="1176704"/>
            <a:ext cx="2330553" cy="1483368"/>
            <a:chOff x="0" y="1047"/>
            <a:chExt cx="2330553" cy="1483368"/>
          </a:xfrm>
        </p:grpSpPr>
        <p:sp>
          <p:nvSpPr>
            <p:cNvPr id="1664" name="Google Shape;1664;p105"/>
            <p:cNvSpPr/>
            <p:nvPr/>
          </p:nvSpPr>
          <p:spPr>
            <a:xfrm>
              <a:off x="0" y="1047"/>
              <a:ext cx="1801977" cy="265100"/>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105"/>
            <p:cNvSpPr txBox="1"/>
            <p:nvPr/>
          </p:nvSpPr>
          <p:spPr>
            <a:xfrm>
              <a:off x="7765" y="8812"/>
              <a:ext cx="1482512" cy="249570"/>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dk1"/>
                </a:buClr>
                <a:buSzPts val="500"/>
                <a:buFont typeface="Garamond"/>
                <a:buNone/>
              </a:pPr>
              <a:r>
                <a:rPr lang="es-BO" sz="500">
                  <a:solidFill>
                    <a:schemeClr val="dk1"/>
                  </a:solidFill>
                  <a:latin typeface="Garamond"/>
                  <a:ea typeface="Garamond"/>
                  <a:cs typeface="Garamond"/>
                  <a:sym typeface="Garamond"/>
                </a:rPr>
                <a:t>TUBOS PVC</a:t>
              </a:r>
              <a:endParaRPr/>
            </a:p>
          </p:txBody>
        </p:sp>
        <p:sp>
          <p:nvSpPr>
            <p:cNvPr id="1666" name="Google Shape;1666;p105"/>
            <p:cNvSpPr/>
            <p:nvPr/>
          </p:nvSpPr>
          <p:spPr>
            <a:xfrm>
              <a:off x="193776" y="299298"/>
              <a:ext cx="1801977" cy="26719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105"/>
            <p:cNvSpPr txBox="1"/>
            <p:nvPr/>
          </p:nvSpPr>
          <p:spPr>
            <a:xfrm>
              <a:off x="201602" y="307124"/>
              <a:ext cx="1478085" cy="251542"/>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El día 24 de abril, se realizo el aumento en los tubos PVC del sistema de nivel de agua para corregir el caudal de liquido que caía desde la pared del tanque en lugar de caer desde arriba.</a:t>
              </a:r>
              <a:endParaRPr sz="500">
                <a:solidFill>
                  <a:schemeClr val="dk1"/>
                </a:solidFill>
                <a:latin typeface="Garamond"/>
                <a:ea typeface="Garamond"/>
                <a:cs typeface="Garamond"/>
                <a:sym typeface="Garamond"/>
              </a:endParaRPr>
            </a:p>
          </p:txBody>
        </p:sp>
        <p:sp>
          <p:nvSpPr>
            <p:cNvPr id="1668" name="Google Shape;1668;p105"/>
            <p:cNvSpPr/>
            <p:nvPr/>
          </p:nvSpPr>
          <p:spPr>
            <a:xfrm>
              <a:off x="269126" y="608610"/>
              <a:ext cx="1801977" cy="26719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105"/>
            <p:cNvSpPr txBox="1"/>
            <p:nvPr/>
          </p:nvSpPr>
          <p:spPr>
            <a:xfrm>
              <a:off x="276952" y="616436"/>
              <a:ext cx="1478085" cy="251542"/>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Se verifico que la instalación original no permitía mantener una altura de liquido adecuada y esto afectaba el funcionamiento del sistema .</a:t>
              </a:r>
              <a:endParaRPr sz="500">
                <a:solidFill>
                  <a:schemeClr val="dk1"/>
                </a:solidFill>
                <a:latin typeface="Garamond"/>
                <a:ea typeface="Garamond"/>
                <a:cs typeface="Garamond"/>
                <a:sym typeface="Garamond"/>
              </a:endParaRPr>
            </a:p>
          </p:txBody>
        </p:sp>
        <p:sp>
          <p:nvSpPr>
            <p:cNvPr id="1670" name="Google Shape;1670;p105"/>
            <p:cNvSpPr/>
            <p:nvPr/>
          </p:nvSpPr>
          <p:spPr>
            <a:xfrm>
              <a:off x="403689" y="912915"/>
              <a:ext cx="1801977" cy="26719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105"/>
            <p:cNvSpPr txBox="1"/>
            <p:nvPr/>
          </p:nvSpPr>
          <p:spPr>
            <a:xfrm>
              <a:off x="411515" y="920741"/>
              <a:ext cx="1478085" cy="251542"/>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Se procedió a desmontar los tubos PVC existentes y a instalar nuevos tubos con una mayor inclinación, permitiendo que el caudal de agua caiga desde arriba de manera adecuada. </a:t>
              </a:r>
              <a:endParaRPr sz="500">
                <a:solidFill>
                  <a:schemeClr val="dk1"/>
                </a:solidFill>
                <a:latin typeface="Garamond"/>
                <a:ea typeface="Garamond"/>
                <a:cs typeface="Garamond"/>
                <a:sym typeface="Garamond"/>
              </a:endParaRPr>
            </a:p>
          </p:txBody>
        </p:sp>
        <p:sp>
          <p:nvSpPr>
            <p:cNvPr id="1672" name="Google Shape;1672;p105"/>
            <p:cNvSpPr/>
            <p:nvPr/>
          </p:nvSpPr>
          <p:spPr>
            <a:xfrm>
              <a:off x="528576" y="1217221"/>
              <a:ext cx="1801977" cy="267194"/>
            </a:xfrm>
            <a:prstGeom prst="roundRect">
              <a:avLst>
                <a:gd fmla="val 10000" name="adj"/>
              </a:avLst>
            </a:prstGeom>
            <a:gradFill>
              <a:gsLst>
                <a:gs pos="0">
                  <a:srgbClr val="91B0C8"/>
                </a:gs>
                <a:gs pos="50000">
                  <a:srgbClr val="8EAFC8"/>
                </a:gs>
                <a:gs pos="100000">
                  <a:srgbClr val="8DAEC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105"/>
            <p:cNvSpPr txBox="1"/>
            <p:nvPr/>
          </p:nvSpPr>
          <p:spPr>
            <a:xfrm>
              <a:off x="536402" y="1225047"/>
              <a:ext cx="1478085" cy="251542"/>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lt1"/>
                </a:buClr>
                <a:buSzPts val="500"/>
                <a:buFont typeface="Garamond"/>
                <a:buNone/>
              </a:pPr>
              <a:r>
                <a:rPr lang="es-BO" sz="500">
                  <a:solidFill>
                    <a:schemeClr val="lt1"/>
                  </a:solidFill>
                  <a:latin typeface="Garamond"/>
                  <a:ea typeface="Garamond"/>
                  <a:cs typeface="Garamond"/>
                  <a:sym typeface="Garamond"/>
                </a:rPr>
                <a:t>Una vez finalizada la instalación, se realizo una prueba de funcionamiento  y se confirmo que el sistema de nivel de liquido esta operando correctamente. </a:t>
              </a:r>
              <a:endParaRPr sz="500">
                <a:solidFill>
                  <a:schemeClr val="dk1"/>
                </a:solidFill>
                <a:latin typeface="Garamond"/>
                <a:ea typeface="Garamond"/>
                <a:cs typeface="Garamond"/>
                <a:sym typeface="Garamond"/>
              </a:endParaRPr>
            </a:p>
          </p:txBody>
        </p:sp>
        <p:sp>
          <p:nvSpPr>
            <p:cNvPr id="1674" name="Google Shape;1674;p105"/>
            <p:cNvSpPr/>
            <p:nvPr/>
          </p:nvSpPr>
          <p:spPr>
            <a:xfrm>
              <a:off x="1628300" y="195200"/>
              <a:ext cx="173676" cy="173676"/>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105"/>
            <p:cNvSpPr txBox="1"/>
            <p:nvPr/>
          </p:nvSpPr>
          <p:spPr>
            <a:xfrm>
              <a:off x="1667377" y="195200"/>
              <a:ext cx="95522" cy="130691"/>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dk1"/>
                </a:buClr>
                <a:buSzPts val="800"/>
                <a:buFont typeface="Garamond"/>
                <a:buNone/>
              </a:pPr>
              <a:r>
                <a:t/>
              </a:r>
              <a:endParaRPr sz="800">
                <a:solidFill>
                  <a:schemeClr val="dk1"/>
                </a:solidFill>
                <a:latin typeface="Garamond"/>
                <a:ea typeface="Garamond"/>
                <a:cs typeface="Garamond"/>
                <a:sym typeface="Garamond"/>
              </a:endParaRPr>
            </a:p>
          </p:txBody>
        </p:sp>
        <p:sp>
          <p:nvSpPr>
            <p:cNvPr id="1676" name="Google Shape;1676;p105"/>
            <p:cNvSpPr/>
            <p:nvPr/>
          </p:nvSpPr>
          <p:spPr>
            <a:xfrm>
              <a:off x="1762863" y="499505"/>
              <a:ext cx="173676" cy="173676"/>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105"/>
            <p:cNvSpPr txBox="1"/>
            <p:nvPr/>
          </p:nvSpPr>
          <p:spPr>
            <a:xfrm>
              <a:off x="1801940" y="499505"/>
              <a:ext cx="95522" cy="130691"/>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dk1"/>
                </a:buClr>
                <a:buSzPts val="800"/>
                <a:buFont typeface="Garamond"/>
                <a:buNone/>
              </a:pPr>
              <a:r>
                <a:t/>
              </a:r>
              <a:endParaRPr sz="800">
                <a:solidFill>
                  <a:schemeClr val="dk1"/>
                </a:solidFill>
                <a:latin typeface="Garamond"/>
                <a:ea typeface="Garamond"/>
                <a:cs typeface="Garamond"/>
                <a:sym typeface="Garamond"/>
              </a:endParaRPr>
            </a:p>
          </p:txBody>
        </p:sp>
        <p:sp>
          <p:nvSpPr>
            <p:cNvPr id="1678" name="Google Shape;1678;p105"/>
            <p:cNvSpPr/>
            <p:nvPr/>
          </p:nvSpPr>
          <p:spPr>
            <a:xfrm>
              <a:off x="1897426" y="799358"/>
              <a:ext cx="173676" cy="173676"/>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105"/>
            <p:cNvSpPr txBox="1"/>
            <p:nvPr/>
          </p:nvSpPr>
          <p:spPr>
            <a:xfrm>
              <a:off x="1936503" y="799358"/>
              <a:ext cx="95522" cy="130691"/>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dk1"/>
                </a:buClr>
                <a:buSzPts val="800"/>
                <a:buFont typeface="Garamond"/>
                <a:buNone/>
              </a:pPr>
              <a:r>
                <a:t/>
              </a:r>
              <a:endParaRPr sz="800">
                <a:solidFill>
                  <a:schemeClr val="dk1"/>
                </a:solidFill>
                <a:latin typeface="Garamond"/>
                <a:ea typeface="Garamond"/>
                <a:cs typeface="Garamond"/>
                <a:sym typeface="Garamond"/>
              </a:endParaRPr>
            </a:p>
          </p:txBody>
        </p:sp>
        <p:sp>
          <p:nvSpPr>
            <p:cNvPr id="1680" name="Google Shape;1680;p105"/>
            <p:cNvSpPr/>
            <p:nvPr/>
          </p:nvSpPr>
          <p:spPr>
            <a:xfrm>
              <a:off x="2031990" y="1106632"/>
              <a:ext cx="173676" cy="173676"/>
            </a:xfrm>
            <a:prstGeom prst="downArrow">
              <a:avLst>
                <a:gd fmla="val 55000" name="adj1"/>
                <a:gd fmla="val 45000" name="adj2"/>
              </a:avLst>
            </a:prstGeom>
            <a:solidFill>
              <a:srgbClr val="DBE3EB">
                <a:alpha val="89803"/>
              </a:srgbClr>
            </a:solidFill>
            <a:ln cap="flat" cmpd="sng" w="9525">
              <a:solidFill>
                <a:srgbClr val="DBE3EB">
                  <a:alpha val="89803"/>
                </a:srgbClr>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105"/>
            <p:cNvSpPr txBox="1"/>
            <p:nvPr/>
          </p:nvSpPr>
          <p:spPr>
            <a:xfrm>
              <a:off x="2071067" y="1106632"/>
              <a:ext cx="95522" cy="130691"/>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dk1"/>
                </a:buClr>
                <a:buSzPts val="800"/>
                <a:buFont typeface="Garamond"/>
                <a:buNone/>
              </a:pPr>
              <a:r>
                <a:t/>
              </a:r>
              <a:endParaRPr sz="800">
                <a:solidFill>
                  <a:schemeClr val="dk1"/>
                </a:solidFill>
                <a:latin typeface="Garamond"/>
                <a:ea typeface="Garamond"/>
                <a:cs typeface="Garamond"/>
                <a:sym typeface="Garamond"/>
              </a:endParaRPr>
            </a:p>
          </p:txBody>
        </p:sp>
      </p:grpSp>
      <p:grpSp>
        <p:nvGrpSpPr>
          <p:cNvPr id="1682" name="Google Shape;1682;p105"/>
          <p:cNvGrpSpPr/>
          <p:nvPr/>
        </p:nvGrpSpPr>
        <p:grpSpPr>
          <a:xfrm>
            <a:off x="652766" y="929908"/>
            <a:ext cx="10736505" cy="5453460"/>
            <a:chOff x="652766" y="929908"/>
            <a:chExt cx="10736505" cy="5453460"/>
          </a:xfrm>
        </p:grpSpPr>
        <p:pic>
          <p:nvPicPr>
            <p:cNvPr id="1683" name="Google Shape;1683;p105"/>
            <p:cNvPicPr preferRelativeResize="0"/>
            <p:nvPr/>
          </p:nvPicPr>
          <p:blipFill rotWithShape="1">
            <a:blip r:embed="rId3">
              <a:alphaModFix/>
            </a:blip>
            <a:srcRect b="0" l="0" r="0" t="0"/>
            <a:stretch/>
          </p:blipFill>
          <p:spPr>
            <a:xfrm>
              <a:off x="652766" y="929908"/>
              <a:ext cx="2402999" cy="3204000"/>
            </a:xfrm>
            <a:prstGeom prst="rect">
              <a:avLst/>
            </a:prstGeom>
            <a:noFill/>
            <a:ln>
              <a:noFill/>
            </a:ln>
          </p:spPr>
        </p:pic>
        <p:pic>
          <p:nvPicPr>
            <p:cNvPr id="1684" name="Google Shape;1684;p105"/>
            <p:cNvPicPr preferRelativeResize="0"/>
            <p:nvPr/>
          </p:nvPicPr>
          <p:blipFill rotWithShape="1">
            <a:blip r:embed="rId4">
              <a:alphaModFix/>
            </a:blip>
            <a:srcRect b="0" l="0" r="0" t="0"/>
            <a:stretch/>
          </p:blipFill>
          <p:spPr>
            <a:xfrm>
              <a:off x="6164355" y="2014904"/>
              <a:ext cx="2402999" cy="3204000"/>
            </a:xfrm>
            <a:prstGeom prst="rect">
              <a:avLst/>
            </a:prstGeom>
            <a:noFill/>
            <a:ln>
              <a:noFill/>
            </a:ln>
          </p:spPr>
        </p:pic>
        <p:pic>
          <p:nvPicPr>
            <p:cNvPr id="1685" name="Google Shape;1685;p105"/>
            <p:cNvPicPr preferRelativeResize="0"/>
            <p:nvPr/>
          </p:nvPicPr>
          <p:blipFill rotWithShape="1">
            <a:blip r:embed="rId5">
              <a:alphaModFix/>
            </a:blip>
            <a:srcRect b="0" l="0" r="0" t="0"/>
            <a:stretch/>
          </p:blipFill>
          <p:spPr>
            <a:xfrm>
              <a:off x="3418701" y="1505576"/>
              <a:ext cx="2427300" cy="3236400"/>
            </a:xfrm>
            <a:prstGeom prst="rect">
              <a:avLst/>
            </a:prstGeom>
            <a:noFill/>
            <a:ln>
              <a:noFill/>
            </a:ln>
          </p:spPr>
        </p:pic>
        <p:pic>
          <p:nvPicPr>
            <p:cNvPr id="1686" name="Google Shape;1686;p105"/>
            <p:cNvPicPr preferRelativeResize="0"/>
            <p:nvPr/>
          </p:nvPicPr>
          <p:blipFill rotWithShape="1">
            <a:blip r:embed="rId6">
              <a:alphaModFix/>
            </a:blip>
            <a:srcRect b="0" l="0" r="42438" t="0"/>
            <a:stretch/>
          </p:blipFill>
          <p:spPr>
            <a:xfrm>
              <a:off x="8930290" y="2456410"/>
              <a:ext cx="2458981" cy="3204000"/>
            </a:xfrm>
            <a:prstGeom prst="rect">
              <a:avLst/>
            </a:prstGeom>
            <a:noFill/>
            <a:ln>
              <a:noFill/>
            </a:ln>
          </p:spPr>
        </p:pic>
        <p:sp>
          <p:nvSpPr>
            <p:cNvPr id="1687" name="Google Shape;1687;p105"/>
            <p:cNvSpPr txBox="1"/>
            <p:nvPr/>
          </p:nvSpPr>
          <p:spPr>
            <a:xfrm>
              <a:off x="1360714" y="4133908"/>
              <a:ext cx="76495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Antes </a:t>
              </a:r>
              <a:endParaRPr sz="1800">
                <a:solidFill>
                  <a:schemeClr val="dk1"/>
                </a:solidFill>
                <a:latin typeface="Garamond"/>
                <a:ea typeface="Garamond"/>
                <a:cs typeface="Garamond"/>
                <a:sym typeface="Garamond"/>
              </a:endParaRPr>
            </a:p>
          </p:txBody>
        </p:sp>
        <p:sp>
          <p:nvSpPr>
            <p:cNvPr id="1688" name="Google Shape;1688;p105"/>
            <p:cNvSpPr txBox="1"/>
            <p:nvPr/>
          </p:nvSpPr>
          <p:spPr>
            <a:xfrm>
              <a:off x="3978332" y="4698902"/>
              <a:ext cx="12041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desmontaje</a:t>
              </a:r>
              <a:endParaRPr sz="1800">
                <a:solidFill>
                  <a:schemeClr val="dk1"/>
                </a:solidFill>
                <a:latin typeface="Garamond"/>
                <a:ea typeface="Garamond"/>
                <a:cs typeface="Garamond"/>
                <a:sym typeface="Garamond"/>
              </a:endParaRPr>
            </a:p>
          </p:txBody>
        </p:sp>
        <p:sp>
          <p:nvSpPr>
            <p:cNvPr id="1689" name="Google Shape;1689;p105"/>
            <p:cNvSpPr txBox="1"/>
            <p:nvPr/>
          </p:nvSpPr>
          <p:spPr>
            <a:xfrm>
              <a:off x="6510577" y="5218904"/>
              <a:ext cx="190485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Montaje de los nuevos tubos PVC</a:t>
              </a:r>
              <a:endParaRPr/>
            </a:p>
          </p:txBody>
        </p:sp>
        <p:sp>
          <p:nvSpPr>
            <p:cNvPr id="1690" name="Google Shape;1690;p105"/>
            <p:cNvSpPr txBox="1"/>
            <p:nvPr/>
          </p:nvSpPr>
          <p:spPr>
            <a:xfrm>
              <a:off x="9533815" y="5737037"/>
              <a:ext cx="125192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Pintado de tubos PVC</a:t>
              </a:r>
              <a:endParaRPr/>
            </a:p>
          </p:txBody>
        </p:sp>
        <p:sp>
          <p:nvSpPr>
            <p:cNvPr id="1691" name="Google Shape;1691;p105"/>
            <p:cNvSpPr/>
            <p:nvPr/>
          </p:nvSpPr>
          <p:spPr>
            <a:xfrm>
              <a:off x="3006436" y="2456410"/>
              <a:ext cx="367683" cy="337590"/>
            </a:xfrm>
            <a:prstGeom prst="rightArrow">
              <a:avLst>
                <a:gd fmla="val 50000" name="adj1"/>
                <a:gd fmla="val 50000" name="adj2"/>
              </a:avLst>
            </a:prstGeom>
            <a:solidFill>
              <a:srgbClr val="FF0000"/>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692" name="Google Shape;1692;p105"/>
            <p:cNvSpPr/>
            <p:nvPr/>
          </p:nvSpPr>
          <p:spPr>
            <a:xfrm>
              <a:off x="5821276" y="3123776"/>
              <a:ext cx="367683" cy="337590"/>
            </a:xfrm>
            <a:prstGeom prst="rightArrow">
              <a:avLst>
                <a:gd fmla="val 50000" name="adj1"/>
                <a:gd fmla="val 50000" name="adj2"/>
              </a:avLst>
            </a:prstGeom>
            <a:solidFill>
              <a:srgbClr val="FF0000"/>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693" name="Google Shape;1693;p105"/>
            <p:cNvSpPr/>
            <p:nvPr/>
          </p:nvSpPr>
          <p:spPr>
            <a:xfrm>
              <a:off x="8586018" y="3720820"/>
              <a:ext cx="367683" cy="337590"/>
            </a:xfrm>
            <a:prstGeom prst="rightArrow">
              <a:avLst>
                <a:gd fmla="val 50000" name="adj1"/>
                <a:gd fmla="val 50000" name="adj2"/>
              </a:avLst>
            </a:prstGeom>
            <a:solidFill>
              <a:srgbClr val="FF0000"/>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gr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7" name="Shape 1697"/>
        <p:cNvGrpSpPr/>
        <p:nvPr/>
      </p:nvGrpSpPr>
      <p:grpSpPr>
        <a:xfrm>
          <a:off x="0" y="0"/>
          <a:ext cx="0" cy="0"/>
          <a:chOff x="0" y="0"/>
          <a:chExt cx="0" cy="0"/>
        </a:xfrm>
      </p:grpSpPr>
      <p:sp>
        <p:nvSpPr>
          <p:cNvPr id="1698" name="Google Shape;1698;p106"/>
          <p:cNvSpPr txBox="1"/>
          <p:nvPr>
            <p:ph type="ctrTitle"/>
          </p:nvPr>
        </p:nvSpPr>
        <p:spPr>
          <a:xfrm>
            <a:off x="1561708" y="2091263"/>
            <a:ext cx="9068586" cy="2590800"/>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rgbClr val="262626"/>
              </a:buClr>
              <a:buSzPts val="7200"/>
              <a:buFont typeface="Garamond"/>
              <a:buNone/>
            </a:pPr>
            <a:r>
              <a:rPr lang="es-BO"/>
              <a:t>PROGRAMACION EN EL PLC</a:t>
            </a:r>
            <a:endParaRPr/>
          </a:p>
        </p:txBody>
      </p:sp>
      <p:sp>
        <p:nvSpPr>
          <p:cNvPr id="1699" name="Google Shape;1699;p106"/>
          <p:cNvSpPr txBox="1"/>
          <p:nvPr>
            <p:ph idx="1" type="subTitle"/>
          </p:nvPr>
        </p:nvSpPr>
        <p:spPr>
          <a:xfrm>
            <a:off x="1562100" y="4682062"/>
            <a:ext cx="9070848" cy="457201"/>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1600"/>
              <a:buNone/>
            </a:pPr>
            <a:r>
              <a:rPr lang="es-BO"/>
              <a:t>ETN-1034</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3" name="Shape 1703"/>
        <p:cNvGrpSpPr/>
        <p:nvPr/>
      </p:nvGrpSpPr>
      <p:grpSpPr>
        <a:xfrm>
          <a:off x="0" y="0"/>
          <a:ext cx="0" cy="0"/>
          <a:chOff x="0" y="0"/>
          <a:chExt cx="0" cy="0"/>
        </a:xfrm>
      </p:grpSpPr>
      <p:sp>
        <p:nvSpPr>
          <p:cNvPr id="1704" name="Google Shape;1704;p107"/>
          <p:cNvSpPr txBox="1"/>
          <p:nvPr>
            <p:ph type="title"/>
          </p:nvPr>
        </p:nvSpPr>
        <p:spPr>
          <a:xfrm>
            <a:off x="1663337" y="372227"/>
            <a:ext cx="9284480" cy="8100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000"/>
              <a:buFont typeface="Garamond"/>
              <a:buNone/>
            </a:pPr>
            <a:r>
              <a:rPr b="1" lang="es-BO" sz="4000"/>
              <a:t>Proceso deberá: </a:t>
            </a:r>
            <a:endParaRPr b="1" sz="4000"/>
          </a:p>
        </p:txBody>
      </p:sp>
      <p:grpSp>
        <p:nvGrpSpPr>
          <p:cNvPr id="1705" name="Google Shape;1705;p107"/>
          <p:cNvGrpSpPr/>
          <p:nvPr/>
        </p:nvGrpSpPr>
        <p:grpSpPr>
          <a:xfrm>
            <a:off x="597624" y="1074420"/>
            <a:ext cx="10679976" cy="5003946"/>
            <a:chOff x="0" y="0"/>
            <a:chExt cx="10679976" cy="5003946"/>
          </a:xfrm>
        </p:grpSpPr>
        <p:sp>
          <p:nvSpPr>
            <p:cNvPr id="1706" name="Google Shape;1706;p107"/>
            <p:cNvSpPr/>
            <p:nvPr/>
          </p:nvSpPr>
          <p:spPr>
            <a:xfrm>
              <a:off x="0" y="4298708"/>
              <a:ext cx="10679976" cy="705238"/>
            </a:xfrm>
            <a:prstGeom prst="rect">
              <a:avLst/>
            </a:prstGeom>
            <a:gradFill>
              <a:gsLst>
                <a:gs pos="0">
                  <a:srgbClr val="F5DFBC"/>
                </a:gs>
                <a:gs pos="100000">
                  <a:srgbClr val="F0D3A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107"/>
            <p:cNvSpPr txBox="1"/>
            <p:nvPr/>
          </p:nvSpPr>
          <p:spPr>
            <a:xfrm>
              <a:off x="0" y="4298708"/>
              <a:ext cx="10679976" cy="705238"/>
            </a:xfrm>
            <a:prstGeom prst="rect">
              <a:avLst/>
            </a:prstGeom>
            <a:noFill/>
            <a:ln>
              <a:noFill/>
            </a:ln>
          </p:spPr>
          <p:txBody>
            <a:bodyPr anchorCtr="0" anchor="ctr" bIns="170675" lIns="170675" spcFirstLastPara="1" rIns="170675" wrap="square" tIns="170675">
              <a:noAutofit/>
            </a:bodyPr>
            <a:lstStyle/>
            <a:p>
              <a:pPr indent="0" lvl="0" marL="0" marR="0" rtl="0" algn="just">
                <a:lnSpc>
                  <a:spcPct val="90000"/>
                </a:lnSpc>
                <a:spcBef>
                  <a:spcPts val="0"/>
                </a:spcBef>
                <a:spcAft>
                  <a:spcPts val="0"/>
                </a:spcAft>
                <a:buClr>
                  <a:schemeClr val="dk1"/>
                </a:buClr>
                <a:buSzPts val="2400"/>
                <a:buFont typeface="Garamond"/>
                <a:buNone/>
              </a:pPr>
              <a:r>
                <a:rPr lang="es-BO" sz="2400">
                  <a:solidFill>
                    <a:schemeClr val="dk1"/>
                  </a:solidFill>
                  <a:latin typeface="Garamond"/>
                  <a:ea typeface="Garamond"/>
                  <a:cs typeface="Garamond"/>
                  <a:sym typeface="Garamond"/>
                </a:rPr>
                <a:t>Mantener la baliza en la señalización verde,mientras el proceso de llenado este vigente. </a:t>
              </a:r>
              <a:endParaRPr sz="2400">
                <a:solidFill>
                  <a:schemeClr val="dk1"/>
                </a:solidFill>
                <a:latin typeface="Garamond"/>
                <a:ea typeface="Garamond"/>
                <a:cs typeface="Garamond"/>
                <a:sym typeface="Garamond"/>
              </a:endParaRPr>
            </a:p>
          </p:txBody>
        </p:sp>
        <p:sp>
          <p:nvSpPr>
            <p:cNvPr id="1708" name="Google Shape;1708;p107"/>
            <p:cNvSpPr/>
            <p:nvPr/>
          </p:nvSpPr>
          <p:spPr>
            <a:xfrm rot="10800000">
              <a:off x="0" y="3224629"/>
              <a:ext cx="10679976" cy="1084657"/>
            </a:xfrm>
            <a:prstGeom prst="upArrowCallout">
              <a:avLst>
                <a:gd fmla="val 25000" name="adj1"/>
                <a:gd fmla="val 25000" name="adj2"/>
                <a:gd fmla="val 25000" name="adj3"/>
                <a:gd fmla="val 64977" name="adj4"/>
              </a:avLst>
            </a:prstGeom>
            <a:gradFill>
              <a:gsLst>
                <a:gs pos="0">
                  <a:srgbClr val="DEEEBC"/>
                </a:gs>
                <a:gs pos="100000">
                  <a:srgbClr val="D2E7A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107"/>
            <p:cNvSpPr txBox="1"/>
            <p:nvPr/>
          </p:nvSpPr>
          <p:spPr>
            <a:xfrm>
              <a:off x="0" y="3224629"/>
              <a:ext cx="10679976" cy="704778"/>
            </a:xfrm>
            <a:prstGeom prst="rect">
              <a:avLst/>
            </a:prstGeom>
            <a:noFill/>
            <a:ln>
              <a:noFill/>
            </a:ln>
          </p:spPr>
          <p:txBody>
            <a:bodyPr anchorCtr="0" anchor="ctr" bIns="170675" lIns="170675" spcFirstLastPara="1" rIns="170675" wrap="square" tIns="170675">
              <a:noAutofit/>
            </a:bodyPr>
            <a:lstStyle/>
            <a:p>
              <a:pPr indent="0" lvl="0" marL="0" marR="0" rtl="0" algn="just">
                <a:lnSpc>
                  <a:spcPct val="90000"/>
                </a:lnSpc>
                <a:spcBef>
                  <a:spcPts val="0"/>
                </a:spcBef>
                <a:spcAft>
                  <a:spcPts val="0"/>
                </a:spcAft>
                <a:buClr>
                  <a:schemeClr val="dk1"/>
                </a:buClr>
                <a:buSzPts val="2400"/>
                <a:buFont typeface="Garamond"/>
                <a:buNone/>
              </a:pPr>
              <a:r>
                <a:rPr lang="es-BO" sz="2400">
                  <a:solidFill>
                    <a:schemeClr val="dk1"/>
                  </a:solidFill>
                  <a:latin typeface="Garamond"/>
                  <a:ea typeface="Garamond"/>
                  <a:cs typeface="Garamond"/>
                  <a:sym typeface="Garamond"/>
                </a:rPr>
                <a:t>desactivar las electroválvulas(NC)cuando el proceso de llenado de tanque de liquido halla llegado a finalizar.</a:t>
              </a:r>
              <a:endParaRPr sz="2400">
                <a:solidFill>
                  <a:schemeClr val="dk1"/>
                </a:solidFill>
                <a:latin typeface="Garamond"/>
                <a:ea typeface="Garamond"/>
                <a:cs typeface="Garamond"/>
                <a:sym typeface="Garamond"/>
              </a:endParaRPr>
            </a:p>
          </p:txBody>
        </p:sp>
        <p:sp>
          <p:nvSpPr>
            <p:cNvPr id="1710" name="Google Shape;1710;p107"/>
            <p:cNvSpPr/>
            <p:nvPr/>
          </p:nvSpPr>
          <p:spPr>
            <a:xfrm rot="10800000">
              <a:off x="0" y="2150550"/>
              <a:ext cx="10679976" cy="1084657"/>
            </a:xfrm>
            <a:prstGeom prst="upArrowCallout">
              <a:avLst>
                <a:gd fmla="val 25000" name="adj1"/>
                <a:gd fmla="val 25000" name="adj2"/>
                <a:gd fmla="val 25000" name="adj3"/>
                <a:gd fmla="val 64977" name="adj4"/>
              </a:avLst>
            </a:prstGeom>
            <a:gradFill>
              <a:gsLst>
                <a:gs pos="0">
                  <a:srgbClr val="C6E5BF"/>
                </a:gs>
                <a:gs pos="100000">
                  <a:srgbClr val="B2DDA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107"/>
            <p:cNvSpPr txBox="1"/>
            <p:nvPr/>
          </p:nvSpPr>
          <p:spPr>
            <a:xfrm>
              <a:off x="0" y="2150550"/>
              <a:ext cx="10679976" cy="704778"/>
            </a:xfrm>
            <a:prstGeom prst="rect">
              <a:avLst/>
            </a:prstGeom>
            <a:noFill/>
            <a:ln>
              <a:noFill/>
            </a:ln>
          </p:spPr>
          <p:txBody>
            <a:bodyPr anchorCtr="0" anchor="ctr" bIns="170675" lIns="170675" spcFirstLastPara="1" rIns="170675" wrap="square" tIns="170675">
              <a:noAutofit/>
            </a:bodyPr>
            <a:lstStyle/>
            <a:p>
              <a:pPr indent="0" lvl="0" marL="0" marR="0" rtl="0" algn="just">
                <a:lnSpc>
                  <a:spcPct val="90000"/>
                </a:lnSpc>
                <a:spcBef>
                  <a:spcPts val="0"/>
                </a:spcBef>
                <a:spcAft>
                  <a:spcPts val="0"/>
                </a:spcAft>
                <a:buClr>
                  <a:schemeClr val="dk1"/>
                </a:buClr>
                <a:buSzPts val="2400"/>
                <a:buFont typeface="Garamond"/>
                <a:buNone/>
              </a:pPr>
              <a:r>
                <a:rPr lang="es-BO" sz="2400">
                  <a:solidFill>
                    <a:schemeClr val="dk1"/>
                  </a:solidFill>
                  <a:latin typeface="Garamond"/>
                  <a:ea typeface="Garamond"/>
                  <a:cs typeface="Garamond"/>
                  <a:sym typeface="Garamond"/>
                </a:rPr>
                <a:t>Manipular el variador de frecuencia de manera que  deberá dejar de funcionar en cuando supere el nivel de liquido de llenado.</a:t>
              </a:r>
              <a:endParaRPr sz="2400">
                <a:solidFill>
                  <a:schemeClr val="dk1"/>
                </a:solidFill>
                <a:latin typeface="Garamond"/>
                <a:ea typeface="Garamond"/>
                <a:cs typeface="Garamond"/>
                <a:sym typeface="Garamond"/>
              </a:endParaRPr>
            </a:p>
          </p:txBody>
        </p:sp>
        <p:sp>
          <p:nvSpPr>
            <p:cNvPr id="1712" name="Google Shape;1712;p107"/>
            <p:cNvSpPr/>
            <p:nvPr/>
          </p:nvSpPr>
          <p:spPr>
            <a:xfrm rot="10800000">
              <a:off x="0" y="1076471"/>
              <a:ext cx="10679976" cy="1084657"/>
            </a:xfrm>
            <a:prstGeom prst="upArrowCallout">
              <a:avLst>
                <a:gd fmla="val 25000" name="adj1"/>
                <a:gd fmla="val 25000" name="adj2"/>
                <a:gd fmla="val 25000" name="adj3"/>
                <a:gd fmla="val 64977" name="adj4"/>
              </a:avLst>
            </a:prstGeom>
            <a:gradFill>
              <a:gsLst>
                <a:gs pos="0">
                  <a:srgbClr val="C3DEC8"/>
                </a:gs>
                <a:gs pos="100000">
                  <a:srgbClr val="AFD2B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107"/>
            <p:cNvSpPr txBox="1"/>
            <p:nvPr/>
          </p:nvSpPr>
          <p:spPr>
            <a:xfrm>
              <a:off x="0" y="1076471"/>
              <a:ext cx="10679976" cy="704778"/>
            </a:xfrm>
            <a:prstGeom prst="rect">
              <a:avLst/>
            </a:prstGeom>
            <a:noFill/>
            <a:ln>
              <a:noFill/>
            </a:ln>
          </p:spPr>
          <p:txBody>
            <a:bodyPr anchorCtr="0" anchor="ctr" bIns="170675" lIns="170675" spcFirstLastPara="1" rIns="170675" wrap="square" tIns="170675">
              <a:noAutofit/>
            </a:bodyPr>
            <a:lstStyle/>
            <a:p>
              <a:pPr indent="0" lvl="0" marL="0" marR="0" rtl="0" algn="just">
                <a:lnSpc>
                  <a:spcPct val="90000"/>
                </a:lnSpc>
                <a:spcBef>
                  <a:spcPts val="0"/>
                </a:spcBef>
                <a:spcAft>
                  <a:spcPts val="0"/>
                </a:spcAft>
                <a:buClr>
                  <a:schemeClr val="dk1"/>
                </a:buClr>
                <a:buSzPts val="2400"/>
                <a:buFont typeface="Garamond"/>
                <a:buNone/>
              </a:pPr>
              <a:r>
                <a:rPr lang="es-BO" sz="2400">
                  <a:solidFill>
                    <a:schemeClr val="dk1"/>
                  </a:solidFill>
                  <a:latin typeface="Garamond"/>
                  <a:ea typeface="Garamond"/>
                  <a:cs typeface="Garamond"/>
                  <a:sym typeface="Garamond"/>
                </a:rPr>
                <a:t>Hacer el control de liquido mediante los sensores vibratorios.</a:t>
              </a:r>
              <a:endParaRPr sz="2400">
                <a:solidFill>
                  <a:schemeClr val="dk1"/>
                </a:solidFill>
                <a:latin typeface="Garamond"/>
                <a:ea typeface="Garamond"/>
                <a:cs typeface="Garamond"/>
                <a:sym typeface="Garamond"/>
              </a:endParaRPr>
            </a:p>
          </p:txBody>
        </p:sp>
        <p:sp>
          <p:nvSpPr>
            <p:cNvPr id="1714" name="Google Shape;1714;p107"/>
            <p:cNvSpPr/>
            <p:nvPr/>
          </p:nvSpPr>
          <p:spPr>
            <a:xfrm rot="10800000">
              <a:off x="0" y="0"/>
              <a:ext cx="10679976" cy="1084657"/>
            </a:xfrm>
            <a:prstGeom prst="upArrowCallout">
              <a:avLst>
                <a:gd fmla="val 25000" name="adj1"/>
                <a:gd fmla="val 25000" name="adj2"/>
                <a:gd fmla="val 25000" name="adj3"/>
                <a:gd fmla="val 64977" name="adj4"/>
              </a:avLst>
            </a:prstGeom>
            <a:gradFill>
              <a:gsLst>
                <a:gs pos="0">
                  <a:srgbClr val="C7D7D3"/>
                </a:gs>
                <a:gs pos="100000">
                  <a:srgbClr val="B6CBC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107"/>
            <p:cNvSpPr txBox="1"/>
            <p:nvPr/>
          </p:nvSpPr>
          <p:spPr>
            <a:xfrm>
              <a:off x="0" y="0"/>
              <a:ext cx="10679976" cy="704778"/>
            </a:xfrm>
            <a:prstGeom prst="rect">
              <a:avLst/>
            </a:prstGeom>
            <a:noFill/>
            <a:ln>
              <a:noFill/>
            </a:ln>
          </p:spPr>
          <p:txBody>
            <a:bodyPr anchorCtr="0" anchor="ctr" bIns="170675" lIns="170675" spcFirstLastPara="1" rIns="170675" wrap="square" tIns="170675">
              <a:noAutofit/>
            </a:bodyPr>
            <a:lstStyle/>
            <a:p>
              <a:pPr indent="0" lvl="0" marL="0" marR="0" rtl="0" algn="just">
                <a:lnSpc>
                  <a:spcPct val="90000"/>
                </a:lnSpc>
                <a:spcBef>
                  <a:spcPts val="0"/>
                </a:spcBef>
                <a:spcAft>
                  <a:spcPts val="0"/>
                </a:spcAft>
                <a:buClr>
                  <a:schemeClr val="dk1"/>
                </a:buClr>
                <a:buSzPts val="2400"/>
                <a:buFont typeface="Garamond"/>
                <a:buNone/>
              </a:pPr>
              <a:r>
                <a:rPr lang="es-BO" sz="2400">
                  <a:solidFill>
                    <a:schemeClr val="dk1"/>
                  </a:solidFill>
                  <a:latin typeface="Garamond"/>
                  <a:ea typeface="Garamond"/>
                  <a:cs typeface="Garamond"/>
                  <a:sym typeface="Garamond"/>
                </a:rPr>
                <a:t>Iniciar con el pulsador de inicio/apagado.</a:t>
              </a:r>
              <a:endParaRPr sz="2400">
                <a:solidFill>
                  <a:schemeClr val="dk1"/>
                </a:solidFill>
                <a:latin typeface="Garamond"/>
                <a:ea typeface="Garamond"/>
                <a:cs typeface="Garamond"/>
                <a:sym typeface="Garamond"/>
              </a:endParaRPr>
            </a:p>
          </p:txBody>
        </p:sp>
      </p:gr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9" name="Shape 1719"/>
        <p:cNvGrpSpPr/>
        <p:nvPr/>
      </p:nvGrpSpPr>
      <p:grpSpPr>
        <a:xfrm>
          <a:off x="0" y="0"/>
          <a:ext cx="0" cy="0"/>
          <a:chOff x="0" y="0"/>
          <a:chExt cx="0" cy="0"/>
        </a:xfrm>
      </p:grpSpPr>
      <p:sp>
        <p:nvSpPr>
          <p:cNvPr id="1720" name="Google Shape;1720;p108"/>
          <p:cNvSpPr txBox="1"/>
          <p:nvPr>
            <p:ph type="title"/>
          </p:nvPr>
        </p:nvSpPr>
        <p:spPr>
          <a:xfrm>
            <a:off x="646111" y="435301"/>
            <a:ext cx="11005958" cy="140053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4800"/>
              <a:buFont typeface="Garamond"/>
              <a:buNone/>
            </a:pPr>
            <a:r>
              <a:rPr lang="es-BO"/>
              <a:t>Proceso de carga y descarga de un tanque </a:t>
            </a:r>
            <a:endParaRPr/>
          </a:p>
        </p:txBody>
      </p:sp>
      <p:sp>
        <p:nvSpPr>
          <p:cNvPr id="1721" name="Google Shape;1721;p108"/>
          <p:cNvSpPr txBox="1"/>
          <p:nvPr>
            <p:ph idx="1" type="body"/>
          </p:nvPr>
        </p:nvSpPr>
        <p:spPr>
          <a:xfrm>
            <a:off x="5329416" y="3474720"/>
            <a:ext cx="5410699" cy="2590799"/>
          </a:xfrm>
          <a:prstGeom prst="rect">
            <a:avLst/>
          </a:prstGeom>
          <a:noFill/>
          <a:ln>
            <a:noFill/>
          </a:ln>
        </p:spPr>
        <p:txBody>
          <a:bodyPr anchorCtr="0" anchor="t" bIns="45700" lIns="91425" spcFirstLastPara="1" rIns="91425" wrap="square" tIns="45700">
            <a:normAutofit/>
          </a:bodyPr>
          <a:lstStyle/>
          <a:p>
            <a:pPr indent="-182880" lvl="0" marL="182880" rtl="0" algn="l">
              <a:lnSpc>
                <a:spcPct val="100000"/>
              </a:lnSpc>
              <a:spcBef>
                <a:spcPts val="0"/>
              </a:spcBef>
              <a:spcAft>
                <a:spcPts val="0"/>
              </a:spcAft>
              <a:buSzPts val="1800"/>
              <a:buChar char="◦"/>
            </a:pPr>
            <a:r>
              <a:rPr b="1" lang="es-BO">
                <a:solidFill>
                  <a:srgbClr val="FF0000"/>
                </a:solidFill>
              </a:rPr>
              <a:t>I0:3  : </a:t>
            </a:r>
            <a:r>
              <a:rPr lang="es-BO"/>
              <a:t>Proceso de carga y descarga del liquido(inicializa con HL=0[m], el tanque vacio)</a:t>
            </a:r>
            <a:endParaRPr/>
          </a:p>
          <a:p>
            <a:pPr indent="-182880" lvl="0" marL="182880" rtl="0" algn="l">
              <a:lnSpc>
                <a:spcPct val="100000"/>
              </a:lnSpc>
              <a:spcBef>
                <a:spcPts val="900"/>
              </a:spcBef>
              <a:spcAft>
                <a:spcPts val="0"/>
              </a:spcAft>
              <a:buSzPts val="1800"/>
              <a:buChar char="◦"/>
            </a:pPr>
            <a:r>
              <a:rPr b="1" lang="es-BO">
                <a:solidFill>
                  <a:srgbClr val="FF0000"/>
                </a:solidFill>
              </a:rPr>
              <a:t>I0:4  : </a:t>
            </a:r>
            <a:r>
              <a:rPr lang="es-BO"/>
              <a:t>Proceso de carga de liquido ( inicializa HL=X[m],desde cualquier altura del tanque).</a:t>
            </a:r>
            <a:endParaRPr/>
          </a:p>
        </p:txBody>
      </p:sp>
      <p:pic>
        <p:nvPicPr>
          <p:cNvPr id="1722" name="Google Shape;1722;p108"/>
          <p:cNvPicPr preferRelativeResize="0"/>
          <p:nvPr/>
        </p:nvPicPr>
        <p:blipFill rotWithShape="1">
          <a:blip r:embed="rId3">
            <a:alphaModFix/>
          </a:blip>
          <a:srcRect b="46539" l="36072" r="28190" t="44546"/>
          <a:stretch/>
        </p:blipFill>
        <p:spPr>
          <a:xfrm>
            <a:off x="5783890" y="2312855"/>
            <a:ext cx="4501749" cy="841258"/>
          </a:xfrm>
          <a:prstGeom prst="rect">
            <a:avLst/>
          </a:prstGeom>
          <a:noFill/>
          <a:ln>
            <a:noFill/>
          </a:ln>
        </p:spPr>
      </p:pic>
      <p:sp>
        <p:nvSpPr>
          <p:cNvPr id="1723" name="Google Shape;1723;p108"/>
          <p:cNvSpPr/>
          <p:nvPr/>
        </p:nvSpPr>
        <p:spPr>
          <a:xfrm>
            <a:off x="6423680" y="2312854"/>
            <a:ext cx="432048" cy="536433"/>
          </a:xfrm>
          <a:prstGeom prst="ellipse">
            <a:avLst/>
          </a:prstGeom>
          <a:noFill/>
          <a:ln cap="flat" cmpd="sng" w="571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latin typeface="Garamond"/>
              <a:ea typeface="Garamond"/>
              <a:cs typeface="Garamond"/>
              <a:sym typeface="Garamond"/>
            </a:endParaRPr>
          </a:p>
        </p:txBody>
      </p:sp>
      <p:pic>
        <p:nvPicPr>
          <p:cNvPr id="1724" name="Google Shape;1724;p108"/>
          <p:cNvPicPr preferRelativeResize="0"/>
          <p:nvPr/>
        </p:nvPicPr>
        <p:blipFill rotWithShape="1">
          <a:blip r:embed="rId4">
            <a:alphaModFix/>
          </a:blip>
          <a:srcRect b="6050" l="0" r="0" t="0"/>
          <a:stretch/>
        </p:blipFill>
        <p:spPr>
          <a:xfrm>
            <a:off x="1103312" y="2052918"/>
            <a:ext cx="3622760" cy="4069208"/>
          </a:xfrm>
          <a:prstGeom prst="rect">
            <a:avLst/>
          </a:prstGeom>
          <a:noFill/>
          <a:ln>
            <a:noFill/>
          </a:ln>
        </p:spPr>
      </p:pic>
      <p:sp>
        <p:nvSpPr>
          <p:cNvPr id="1725" name="Google Shape;1725;p108"/>
          <p:cNvSpPr/>
          <p:nvPr/>
        </p:nvSpPr>
        <p:spPr>
          <a:xfrm>
            <a:off x="8795657" y="1459124"/>
            <a:ext cx="2926080" cy="600892"/>
          </a:xfrm>
          <a:prstGeom prst="roundRect">
            <a:avLst>
              <a:gd fmla="val 16667" name="adj"/>
            </a:avLst>
          </a:prstGeom>
          <a:gradFill>
            <a:gsLst>
              <a:gs pos="0">
                <a:srgbClr val="F3CABC"/>
              </a:gs>
              <a:gs pos="100000">
                <a:srgbClr val="EDB7A4"/>
              </a:gs>
            </a:gsLst>
            <a:lin ang="5400000" scaled="0"/>
          </a:gradFill>
          <a:ln cap="flat"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chemeClr val="dk1"/>
                </a:solidFill>
                <a:latin typeface="Garamond"/>
                <a:ea typeface="Garamond"/>
                <a:cs typeface="Garamond"/>
                <a:sym typeface="Garamond"/>
              </a:rPr>
              <a:t>HL: Altura del liquido</a:t>
            </a:r>
            <a:endParaRPr sz="1800">
              <a:solidFill>
                <a:schemeClr val="dk1"/>
              </a:solidFill>
              <a:latin typeface="Garamond"/>
              <a:ea typeface="Garamond"/>
              <a:cs typeface="Garamond"/>
              <a:sym typeface="Garamond"/>
            </a:endParaRPr>
          </a:p>
        </p:txBody>
      </p:sp>
      <p:sp>
        <p:nvSpPr>
          <p:cNvPr id="1726" name="Google Shape;1726;p108"/>
          <p:cNvSpPr/>
          <p:nvPr/>
        </p:nvSpPr>
        <p:spPr>
          <a:xfrm>
            <a:off x="6994092" y="2312855"/>
            <a:ext cx="432048" cy="536433"/>
          </a:xfrm>
          <a:prstGeom prst="ellipse">
            <a:avLst/>
          </a:prstGeom>
          <a:noFill/>
          <a:ln cap="flat" cmpd="sng" w="571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latin typeface="Garamond"/>
              <a:ea typeface="Garamond"/>
              <a:cs typeface="Garamond"/>
              <a:sym typeface="Garamond"/>
            </a:endParaRPr>
          </a:p>
        </p:txBody>
      </p:sp>
      <p:sp>
        <p:nvSpPr>
          <p:cNvPr id="1727" name="Google Shape;1727;p108"/>
          <p:cNvSpPr/>
          <p:nvPr/>
        </p:nvSpPr>
        <p:spPr>
          <a:xfrm rot="-5400000">
            <a:off x="-1433775" y="3825912"/>
            <a:ext cx="401635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BO" sz="2800">
                <a:solidFill>
                  <a:srgbClr val="0070C0"/>
                </a:solidFill>
                <a:latin typeface="Garamond"/>
                <a:ea typeface="Garamond"/>
                <a:cs typeface="Garamond"/>
                <a:sym typeface="Garamond"/>
              </a:rPr>
              <a:t>Sensor vibratorio de nivel</a:t>
            </a:r>
            <a:endParaRPr b="1" sz="2800" cap="none">
              <a:solidFill>
                <a:srgbClr val="0070C0"/>
              </a:solidFill>
              <a:latin typeface="Garamond"/>
              <a:ea typeface="Garamond"/>
              <a:cs typeface="Garamond"/>
              <a:sym typeface="Garamond"/>
            </a:endParaRPr>
          </a:p>
        </p:txBody>
      </p:sp>
      <p:sp>
        <p:nvSpPr>
          <p:cNvPr id="1728" name="Google Shape;1728;p108"/>
          <p:cNvSpPr/>
          <p:nvPr/>
        </p:nvSpPr>
        <p:spPr>
          <a:xfrm>
            <a:off x="739799" y="2632365"/>
            <a:ext cx="330792" cy="625433"/>
          </a:xfrm>
          <a:prstGeom prst="rightArrow">
            <a:avLst>
              <a:gd fmla="val 50000" name="adj1"/>
              <a:gd fmla="val 50000" name="adj2"/>
            </a:avLst>
          </a:prstGeom>
          <a:solidFill>
            <a:schemeClr val="accent1"/>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729" name="Google Shape;1729;p108"/>
          <p:cNvSpPr/>
          <p:nvPr/>
        </p:nvSpPr>
        <p:spPr>
          <a:xfrm>
            <a:off x="772520" y="5231874"/>
            <a:ext cx="330792" cy="625433"/>
          </a:xfrm>
          <a:prstGeom prst="rightArrow">
            <a:avLst>
              <a:gd fmla="val 50000" name="adj1"/>
              <a:gd fmla="val 50000" name="adj2"/>
            </a:avLst>
          </a:prstGeom>
          <a:solidFill>
            <a:schemeClr val="accent1"/>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730" name="Google Shape;1730;p108"/>
          <p:cNvSpPr/>
          <p:nvPr/>
        </p:nvSpPr>
        <p:spPr>
          <a:xfrm>
            <a:off x="5510714" y="1888615"/>
            <a:ext cx="2966774"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BO" sz="2000">
                <a:solidFill>
                  <a:srgbClr val="0070C0"/>
                </a:solidFill>
                <a:latin typeface="Garamond"/>
                <a:ea typeface="Garamond"/>
                <a:cs typeface="Garamond"/>
                <a:sym typeface="Garamond"/>
              </a:rPr>
              <a:t>Inicialización del proceso</a:t>
            </a:r>
            <a:endParaRPr b="1" sz="2000" cap="none">
              <a:solidFill>
                <a:srgbClr val="0070C0"/>
              </a:solidFill>
              <a:latin typeface="Garamond"/>
              <a:ea typeface="Garamond"/>
              <a:cs typeface="Garamond"/>
              <a:sym typeface="Garamo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22"/>
                                        </p:tgtEl>
                                        <p:attrNameLst>
                                          <p:attrName>style.visibility</p:attrName>
                                        </p:attrNameLst>
                                      </p:cBhvr>
                                      <p:to>
                                        <p:strVal val="visible"/>
                                      </p:to>
                                    </p:set>
                                    <p:anim calcmode="lin" valueType="num">
                                      <p:cBhvr additive="base">
                                        <p:cTn dur="500"/>
                                        <p:tgtEl>
                                          <p:spTgt spid="172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3"/>
                                        </p:tgtEl>
                                        <p:attrNameLst>
                                          <p:attrName>style.visibility</p:attrName>
                                        </p:attrNameLst>
                                      </p:cBhvr>
                                      <p:to>
                                        <p:strVal val="visible"/>
                                      </p:to>
                                    </p:set>
                                    <p:animEffect filter="fade" transition="in">
                                      <p:cBhvr>
                                        <p:cTn dur="500"/>
                                        <p:tgtEl>
                                          <p:spTgt spid="1723"/>
                                        </p:tgtEl>
                                      </p:cBhvr>
                                    </p:animEffect>
                                  </p:childTnLst>
                                </p:cTn>
                              </p:par>
                              <p:par>
                                <p:cTn fill="hold" nodeType="withEffect" presetClass="exit" presetID="1" presetSubtype="0">
                                  <p:stCondLst>
                                    <p:cond delay="0"/>
                                  </p:stCondLst>
                                  <p:childTnLst>
                                    <p:set>
                                      <p:cBhvr>
                                        <p:cTn dur="1" fill="hold">
                                          <p:stCondLst>
                                            <p:cond delay="1"/>
                                          </p:stCondLst>
                                        </p:cTn>
                                        <p:tgtEl>
                                          <p:spTgt spid="172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6"/>
                                        </p:tgtEl>
                                        <p:attrNameLst>
                                          <p:attrName>style.visibility</p:attrName>
                                        </p:attrNameLst>
                                      </p:cBhvr>
                                      <p:to>
                                        <p:strVal val="visible"/>
                                      </p:to>
                                    </p:set>
                                    <p:animEffect filter="fade" transition="in">
                                      <p:cBhvr>
                                        <p:cTn dur="500"/>
                                        <p:tgtEl>
                                          <p:spTgt spid="17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4" name="Shape 1734"/>
        <p:cNvGrpSpPr/>
        <p:nvPr/>
      </p:nvGrpSpPr>
      <p:grpSpPr>
        <a:xfrm>
          <a:off x="0" y="0"/>
          <a:ext cx="0" cy="0"/>
          <a:chOff x="0" y="0"/>
          <a:chExt cx="0" cy="0"/>
        </a:xfrm>
      </p:grpSpPr>
      <p:sp>
        <p:nvSpPr>
          <p:cNvPr id="1735" name="Google Shape;1735;p109"/>
          <p:cNvSpPr txBox="1"/>
          <p:nvPr>
            <p:ph type="title"/>
          </p:nvPr>
        </p:nvSpPr>
        <p:spPr>
          <a:xfrm>
            <a:off x="1965960" y="791688"/>
            <a:ext cx="9105899" cy="82810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262626"/>
              </a:buClr>
              <a:buSzPct val="100000"/>
              <a:buFont typeface="Garamond"/>
              <a:buNone/>
            </a:pPr>
            <a:r>
              <a:rPr b="1" lang="es-BO"/>
              <a:t>Asignación de INICIO/APAGADO</a:t>
            </a:r>
            <a:endParaRPr/>
          </a:p>
        </p:txBody>
      </p:sp>
      <p:pic>
        <p:nvPicPr>
          <p:cNvPr id="1736" name="Google Shape;1736;p109"/>
          <p:cNvPicPr preferRelativeResize="0"/>
          <p:nvPr>
            <p:ph idx="1" type="body"/>
          </p:nvPr>
        </p:nvPicPr>
        <p:blipFill rotWithShape="1">
          <a:blip r:embed="rId3">
            <a:alphaModFix/>
          </a:blip>
          <a:srcRect b="0" l="0" r="0" t="0"/>
          <a:stretch/>
        </p:blipFill>
        <p:spPr>
          <a:xfrm>
            <a:off x="5674295" y="1696985"/>
            <a:ext cx="5876965" cy="4407724"/>
          </a:xfrm>
          <a:prstGeom prst="rect">
            <a:avLst/>
          </a:prstGeom>
          <a:noFill/>
          <a:ln>
            <a:noFill/>
          </a:ln>
        </p:spPr>
      </p:pic>
      <p:sp>
        <p:nvSpPr>
          <p:cNvPr id="1737" name="Google Shape;1737;p109"/>
          <p:cNvSpPr/>
          <p:nvPr/>
        </p:nvSpPr>
        <p:spPr>
          <a:xfrm>
            <a:off x="2858124" y="2846613"/>
            <a:ext cx="5333376" cy="1588228"/>
          </a:xfrm>
          <a:prstGeom prst="rightArrow">
            <a:avLst>
              <a:gd fmla="val 50000" name="adj1"/>
              <a:gd fmla="val 50000" name="adj2"/>
            </a:avLst>
          </a:prstGeom>
          <a:solidFill>
            <a:schemeClr val="accent1"/>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738" name="Google Shape;1738;p109"/>
          <p:cNvSpPr/>
          <p:nvPr/>
        </p:nvSpPr>
        <p:spPr>
          <a:xfrm>
            <a:off x="3126940" y="3456061"/>
            <a:ext cx="35654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400">
                <a:solidFill>
                  <a:schemeClr val="dk1"/>
                </a:solidFill>
                <a:latin typeface="Garamond"/>
                <a:ea typeface="Garamond"/>
                <a:cs typeface="Garamond"/>
                <a:sym typeface="Garamond"/>
              </a:rPr>
              <a:t>I0:3 :INICIO/APAGADO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37"/>
                                        </p:tgtEl>
                                        <p:attrNameLst>
                                          <p:attrName>style.visibility</p:attrName>
                                        </p:attrNameLst>
                                      </p:cBhvr>
                                      <p:to>
                                        <p:strVal val="visible"/>
                                      </p:to>
                                    </p:set>
                                    <p:anim calcmode="lin" valueType="num">
                                      <p:cBhvr additive="base">
                                        <p:cTn dur="500"/>
                                        <p:tgtEl>
                                          <p:spTgt spid="173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2" name="Shape 1742"/>
        <p:cNvGrpSpPr/>
        <p:nvPr/>
      </p:nvGrpSpPr>
      <p:grpSpPr>
        <a:xfrm>
          <a:off x="0" y="0"/>
          <a:ext cx="0" cy="0"/>
          <a:chOff x="0" y="0"/>
          <a:chExt cx="0" cy="0"/>
        </a:xfrm>
      </p:grpSpPr>
      <p:sp>
        <p:nvSpPr>
          <p:cNvPr id="1743" name="Google Shape;1743;p110"/>
          <p:cNvSpPr txBox="1"/>
          <p:nvPr>
            <p:ph idx="1" type="body"/>
          </p:nvPr>
        </p:nvSpPr>
        <p:spPr>
          <a:xfrm>
            <a:off x="1437923" y="759821"/>
            <a:ext cx="9221368" cy="1802462"/>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2800"/>
              <a:buNone/>
            </a:pPr>
            <a:r>
              <a:rPr lang="es-BO" sz="2800"/>
              <a:t>El proceso iniciara con el pulsador de </a:t>
            </a:r>
            <a:r>
              <a:rPr b="1" lang="es-BO" sz="2800">
                <a:solidFill>
                  <a:schemeClr val="dk1"/>
                </a:solidFill>
              </a:rPr>
              <a:t>encendido/apagado</a:t>
            </a:r>
            <a:r>
              <a:rPr lang="es-BO" sz="2800"/>
              <a:t> </a:t>
            </a:r>
            <a:r>
              <a:rPr b="1" lang="es-BO" sz="2800"/>
              <a:t>I:0/3</a:t>
            </a:r>
            <a:r>
              <a:rPr lang="es-BO" sz="2800"/>
              <a:t>, este cambia el estado de las electroválvulas (NC) y enciende el variador de frecuencia. Según la señalización de la baliza:</a:t>
            </a:r>
            <a:endParaRPr/>
          </a:p>
          <a:p>
            <a:pPr indent="0" lvl="0" marL="0" rtl="0" algn="l">
              <a:lnSpc>
                <a:spcPct val="100000"/>
              </a:lnSpc>
              <a:spcBef>
                <a:spcPts val="900"/>
              </a:spcBef>
              <a:spcAft>
                <a:spcPts val="0"/>
              </a:spcAft>
              <a:buSzPts val="3200"/>
              <a:buNone/>
            </a:pPr>
            <a:r>
              <a:rPr lang="es-BO" sz="3200"/>
              <a:t>  </a:t>
            </a:r>
            <a:endParaRPr/>
          </a:p>
        </p:txBody>
      </p:sp>
      <p:grpSp>
        <p:nvGrpSpPr>
          <p:cNvPr id="1744" name="Google Shape;1744;p110"/>
          <p:cNvGrpSpPr/>
          <p:nvPr/>
        </p:nvGrpSpPr>
        <p:grpSpPr>
          <a:xfrm>
            <a:off x="1011203" y="2847701"/>
            <a:ext cx="6133939" cy="3146302"/>
            <a:chOff x="2567607" y="1196758"/>
            <a:chExt cx="9253028" cy="5232675"/>
          </a:xfrm>
        </p:grpSpPr>
        <p:pic>
          <p:nvPicPr>
            <p:cNvPr id="1745" name="Google Shape;1745;p110"/>
            <p:cNvPicPr preferRelativeResize="0"/>
            <p:nvPr/>
          </p:nvPicPr>
          <p:blipFill rotWithShape="1">
            <a:blip r:embed="rId3">
              <a:alphaModFix/>
            </a:blip>
            <a:srcRect b="0" l="12200" r="15350" t="0"/>
            <a:stretch/>
          </p:blipFill>
          <p:spPr>
            <a:xfrm rot="5400000">
              <a:off x="6142385" y="1752221"/>
              <a:ext cx="4968552" cy="3857625"/>
            </a:xfrm>
            <a:prstGeom prst="rect">
              <a:avLst/>
            </a:prstGeom>
            <a:noFill/>
            <a:ln>
              <a:noFill/>
            </a:ln>
          </p:spPr>
        </p:pic>
        <p:pic>
          <p:nvPicPr>
            <p:cNvPr id="1746" name="Google Shape;1746;p110"/>
            <p:cNvPicPr preferRelativeResize="0"/>
            <p:nvPr/>
          </p:nvPicPr>
          <p:blipFill rotWithShape="1">
            <a:blip r:embed="rId4">
              <a:alphaModFix/>
            </a:blip>
            <a:srcRect b="0" l="0" r="18500" t="0"/>
            <a:stretch/>
          </p:blipFill>
          <p:spPr>
            <a:xfrm rot="5400000">
              <a:off x="1787473" y="2120906"/>
              <a:ext cx="5088661" cy="3528392"/>
            </a:xfrm>
            <a:prstGeom prst="rect">
              <a:avLst/>
            </a:prstGeom>
            <a:noFill/>
            <a:ln>
              <a:noFill/>
            </a:ln>
          </p:spPr>
        </p:pic>
        <p:grpSp>
          <p:nvGrpSpPr>
            <p:cNvPr id="1747" name="Google Shape;1747;p110"/>
            <p:cNvGrpSpPr/>
            <p:nvPr/>
          </p:nvGrpSpPr>
          <p:grpSpPr>
            <a:xfrm>
              <a:off x="4314043" y="1718339"/>
              <a:ext cx="7506593" cy="2284056"/>
              <a:chOff x="4314043" y="1718338"/>
              <a:chExt cx="7506593" cy="2284056"/>
            </a:xfrm>
          </p:grpSpPr>
          <p:sp>
            <p:nvSpPr>
              <p:cNvPr id="1748" name="Google Shape;1748;p110"/>
              <p:cNvSpPr txBox="1"/>
              <p:nvPr/>
            </p:nvSpPr>
            <p:spPr>
              <a:xfrm>
                <a:off x="9120336" y="1718338"/>
                <a:ext cx="2700300" cy="460683"/>
              </a:xfrm>
              <a:prstGeom prst="rect">
                <a:avLst/>
              </a:prstGeom>
              <a:solidFill>
                <a:srgbClr val="FF0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1200">
                    <a:solidFill>
                      <a:schemeClr val="dk1"/>
                    </a:solidFill>
                    <a:latin typeface="Garamond"/>
                    <a:ea typeface="Garamond"/>
                    <a:cs typeface="Garamond"/>
                    <a:sym typeface="Garamond"/>
                  </a:rPr>
                  <a:t>Baliza de color Rojo</a:t>
                </a:r>
                <a:endParaRPr/>
              </a:p>
            </p:txBody>
          </p:sp>
          <p:grpSp>
            <p:nvGrpSpPr>
              <p:cNvPr id="1749" name="Google Shape;1749;p110"/>
              <p:cNvGrpSpPr/>
              <p:nvPr/>
            </p:nvGrpSpPr>
            <p:grpSpPr>
              <a:xfrm>
                <a:off x="4314043" y="1844824"/>
                <a:ext cx="3726297" cy="1510160"/>
                <a:chOff x="4314043" y="1844824"/>
                <a:chExt cx="3726297" cy="1510160"/>
              </a:xfrm>
            </p:grpSpPr>
            <p:sp>
              <p:nvSpPr>
                <p:cNvPr id="1750" name="Google Shape;1750;p110"/>
                <p:cNvSpPr/>
                <p:nvPr/>
              </p:nvSpPr>
              <p:spPr>
                <a:xfrm>
                  <a:off x="4314043" y="1844824"/>
                  <a:ext cx="465597" cy="360040"/>
                </a:xfrm>
                <a:prstGeom prst="rect">
                  <a:avLst/>
                </a:prstGeom>
                <a:noFill/>
                <a:ln cap="flat" cmpd="sng" w="12700">
                  <a:solidFill>
                    <a:srgbClr val="FF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1751" name="Google Shape;1751;p110"/>
                <p:cNvSpPr/>
                <p:nvPr/>
              </p:nvSpPr>
              <p:spPr>
                <a:xfrm>
                  <a:off x="4331803" y="2195488"/>
                  <a:ext cx="465597" cy="360040"/>
                </a:xfrm>
                <a:prstGeom prst="rect">
                  <a:avLst/>
                </a:prstGeom>
                <a:noFill/>
                <a:ln cap="flat" cmpd="sng" w="12700">
                  <a:solidFill>
                    <a:srgbClr val="00B05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cxnSp>
              <p:nvCxnSpPr>
                <p:cNvPr id="1752" name="Google Shape;1752;p110"/>
                <p:cNvCxnSpPr>
                  <a:stCxn id="1750" idx="3"/>
                </p:cNvCxnSpPr>
                <p:nvPr/>
              </p:nvCxnSpPr>
              <p:spPr>
                <a:xfrm flipH="1" rot="10800000">
                  <a:off x="4779640" y="1844844"/>
                  <a:ext cx="3260700" cy="180000"/>
                </a:xfrm>
                <a:prstGeom prst="straightConnector1">
                  <a:avLst/>
                </a:prstGeom>
                <a:noFill/>
                <a:ln cap="flat" cmpd="sng" w="28575">
                  <a:solidFill>
                    <a:srgbClr val="FF0000"/>
                  </a:solidFill>
                  <a:prstDash val="dash"/>
                  <a:round/>
                  <a:headEnd len="sm" w="sm" type="none"/>
                  <a:tailEnd len="med" w="med" type="triangle"/>
                </a:ln>
              </p:spPr>
            </p:cxnSp>
            <p:cxnSp>
              <p:nvCxnSpPr>
                <p:cNvPr id="1753" name="Google Shape;1753;p110"/>
                <p:cNvCxnSpPr/>
                <p:nvPr/>
              </p:nvCxnSpPr>
              <p:spPr>
                <a:xfrm>
                  <a:off x="4815160" y="2404919"/>
                  <a:ext cx="3225056" cy="950065"/>
                </a:xfrm>
                <a:prstGeom prst="straightConnector1">
                  <a:avLst/>
                </a:prstGeom>
                <a:noFill/>
                <a:ln cap="flat" cmpd="sng" w="28575">
                  <a:solidFill>
                    <a:srgbClr val="00B050"/>
                  </a:solidFill>
                  <a:prstDash val="dash"/>
                  <a:round/>
                  <a:headEnd len="sm" w="sm" type="none"/>
                  <a:tailEnd len="med" w="med" type="triangle"/>
                </a:ln>
              </p:spPr>
            </p:cxnSp>
          </p:grpSp>
          <p:sp>
            <p:nvSpPr>
              <p:cNvPr id="1754" name="Google Shape;1754;p110"/>
              <p:cNvSpPr txBox="1"/>
              <p:nvPr/>
            </p:nvSpPr>
            <p:spPr>
              <a:xfrm>
                <a:off x="9120336" y="3541712"/>
                <a:ext cx="2700300" cy="460682"/>
              </a:xfrm>
              <a:prstGeom prst="rect">
                <a:avLst/>
              </a:prstGeom>
              <a:solidFill>
                <a:srgbClr val="00B05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BO" sz="1200">
                    <a:solidFill>
                      <a:schemeClr val="dk1"/>
                    </a:solidFill>
                    <a:latin typeface="Garamond"/>
                    <a:ea typeface="Garamond"/>
                    <a:cs typeface="Garamond"/>
                    <a:sym typeface="Garamond"/>
                  </a:rPr>
                  <a:t>Baliza de color Verde</a:t>
                </a:r>
                <a:endParaRPr/>
              </a:p>
            </p:txBody>
          </p:sp>
        </p:grpSp>
      </p:grpSp>
      <p:sp>
        <p:nvSpPr>
          <p:cNvPr id="1755" name="Google Shape;1755;p110"/>
          <p:cNvSpPr/>
          <p:nvPr/>
        </p:nvSpPr>
        <p:spPr>
          <a:xfrm>
            <a:off x="7617325" y="2965014"/>
            <a:ext cx="3764777" cy="15696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BO" sz="2400">
                <a:solidFill>
                  <a:srgbClr val="00B050"/>
                </a:solidFill>
                <a:latin typeface="Garamond"/>
                <a:ea typeface="Garamond"/>
                <a:cs typeface="Garamond"/>
                <a:sym typeface="Garamond"/>
              </a:rPr>
              <a:t>Baliza verde: </a:t>
            </a:r>
            <a:r>
              <a:rPr lang="es-BO" sz="2400">
                <a:solidFill>
                  <a:schemeClr val="dk1"/>
                </a:solidFill>
                <a:latin typeface="Garamond"/>
                <a:ea typeface="Garamond"/>
                <a:cs typeface="Garamond"/>
                <a:sym typeface="Garamond"/>
              </a:rPr>
              <a:t>sistema en operación.</a:t>
            </a:r>
            <a:endParaRPr/>
          </a:p>
          <a:p>
            <a:pPr indent="0" lvl="0" marL="0" marR="0" rtl="0" algn="just">
              <a:spcBef>
                <a:spcPts val="0"/>
              </a:spcBef>
              <a:spcAft>
                <a:spcPts val="0"/>
              </a:spcAft>
              <a:buNone/>
            </a:pPr>
            <a:r>
              <a:rPr b="1" lang="es-BO" sz="2400">
                <a:solidFill>
                  <a:srgbClr val="FF0000"/>
                </a:solidFill>
                <a:latin typeface="Garamond"/>
                <a:ea typeface="Garamond"/>
                <a:cs typeface="Garamond"/>
                <a:sym typeface="Garamond"/>
              </a:rPr>
              <a:t>Baliza roja: </a:t>
            </a:r>
            <a:r>
              <a:rPr lang="es-BO" sz="2400">
                <a:solidFill>
                  <a:schemeClr val="dk1"/>
                </a:solidFill>
                <a:latin typeface="Garamond"/>
                <a:ea typeface="Garamond"/>
                <a:cs typeface="Garamond"/>
                <a:sym typeface="Garamond"/>
              </a:rPr>
              <a:t>sistema en detención.</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9" name="Shape 1759"/>
        <p:cNvGrpSpPr/>
        <p:nvPr/>
      </p:nvGrpSpPr>
      <p:grpSpPr>
        <a:xfrm>
          <a:off x="0" y="0"/>
          <a:ext cx="0" cy="0"/>
          <a:chOff x="0" y="0"/>
          <a:chExt cx="0" cy="0"/>
        </a:xfrm>
      </p:grpSpPr>
      <p:sp>
        <p:nvSpPr>
          <p:cNvPr id="1760" name="Google Shape;1760;p111"/>
          <p:cNvSpPr txBox="1"/>
          <p:nvPr>
            <p:ph type="title"/>
          </p:nvPr>
        </p:nvSpPr>
        <p:spPr>
          <a:xfrm>
            <a:off x="1121049" y="521080"/>
            <a:ext cx="9404723" cy="87208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600"/>
              <a:buFont typeface="Garamond"/>
              <a:buNone/>
            </a:pPr>
            <a:r>
              <a:rPr b="1" lang="es-BO" sz="3600"/>
              <a:t>Adición de sensores de vibración al PLC.</a:t>
            </a:r>
            <a:endParaRPr/>
          </a:p>
        </p:txBody>
      </p:sp>
      <p:sp>
        <p:nvSpPr>
          <p:cNvPr id="1761" name="Google Shape;1761;p111"/>
          <p:cNvSpPr txBox="1"/>
          <p:nvPr>
            <p:ph idx="1" type="body"/>
          </p:nvPr>
        </p:nvSpPr>
        <p:spPr>
          <a:xfrm>
            <a:off x="1121049" y="1267118"/>
            <a:ext cx="10178322" cy="359359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200"/>
              <a:buNone/>
            </a:pPr>
            <a:r>
              <a:rPr lang="es-BO" sz="3200"/>
              <a:t>Se adiciono los sensores de vibración al PLC como entradas I:0/0 y I:0/1, el cual funciona con lógica inversa:							</a:t>
            </a:r>
            <a:r>
              <a:rPr b="1" lang="es-BO" sz="2600">
                <a:solidFill>
                  <a:schemeClr val="dk1"/>
                </a:solidFill>
              </a:rPr>
              <a:t>0: </a:t>
            </a:r>
            <a:r>
              <a:rPr lang="es-BO" sz="2600">
                <a:solidFill>
                  <a:schemeClr val="dk1"/>
                </a:solidFill>
              </a:rPr>
              <a:t>Detección de liquido</a:t>
            </a:r>
            <a:endParaRPr/>
          </a:p>
          <a:p>
            <a:pPr indent="0" lvl="8" marL="3657600" rtl="0" algn="l">
              <a:lnSpc>
                <a:spcPct val="100000"/>
              </a:lnSpc>
              <a:spcBef>
                <a:spcPts val="500"/>
              </a:spcBef>
              <a:spcAft>
                <a:spcPts val="0"/>
              </a:spcAft>
              <a:buSzPts val="2600"/>
              <a:buNone/>
            </a:pPr>
            <a:r>
              <a:rPr lang="es-BO" sz="2600">
                <a:solidFill>
                  <a:schemeClr val="dk1"/>
                </a:solidFill>
              </a:rPr>
              <a:t>	</a:t>
            </a:r>
            <a:r>
              <a:rPr b="1" lang="es-BO" sz="2600">
                <a:solidFill>
                  <a:schemeClr val="dk1"/>
                </a:solidFill>
              </a:rPr>
              <a:t>1: </a:t>
            </a:r>
            <a:r>
              <a:rPr lang="es-BO" sz="2600">
                <a:solidFill>
                  <a:schemeClr val="dk1"/>
                </a:solidFill>
              </a:rPr>
              <a:t>Sin detección</a:t>
            </a:r>
            <a:endParaRPr sz="3200">
              <a:solidFill>
                <a:schemeClr val="dk1"/>
              </a:solidFill>
            </a:endParaRPr>
          </a:p>
        </p:txBody>
      </p:sp>
      <p:sp>
        <p:nvSpPr>
          <p:cNvPr id="1762" name="Google Shape;1762;p111"/>
          <p:cNvSpPr/>
          <p:nvPr/>
        </p:nvSpPr>
        <p:spPr>
          <a:xfrm>
            <a:off x="9544594" y="2300835"/>
            <a:ext cx="714103" cy="426720"/>
          </a:xfrm>
          <a:prstGeom prst="ellipse">
            <a:avLst/>
          </a:prstGeom>
          <a:solidFill>
            <a:srgbClr val="FF0000"/>
          </a:solidFill>
          <a:ln cap="flat" cmpd="sng" w="127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aramond"/>
              <a:ea typeface="Garamond"/>
              <a:cs typeface="Garamond"/>
              <a:sym typeface="Garamond"/>
            </a:endParaRPr>
          </a:p>
        </p:txBody>
      </p:sp>
      <p:sp>
        <p:nvSpPr>
          <p:cNvPr id="1763" name="Google Shape;1763;p111"/>
          <p:cNvSpPr/>
          <p:nvPr/>
        </p:nvSpPr>
        <p:spPr>
          <a:xfrm>
            <a:off x="9544594" y="2850553"/>
            <a:ext cx="714103" cy="426720"/>
          </a:xfrm>
          <a:prstGeom prst="ellipse">
            <a:avLst/>
          </a:prstGeom>
          <a:solidFill>
            <a:srgbClr val="00B050"/>
          </a:solidFill>
          <a:ln cap="flat" cmpd="sng" w="127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graphicFrame>
        <p:nvGraphicFramePr>
          <p:cNvPr id="1764" name="Google Shape;1764;p111"/>
          <p:cNvGraphicFramePr/>
          <p:nvPr/>
        </p:nvGraphicFramePr>
        <p:xfrm>
          <a:off x="1087213" y="3422638"/>
          <a:ext cx="3000000" cy="3000000"/>
        </p:xfrm>
        <a:graphic>
          <a:graphicData uri="http://schemas.openxmlformats.org/drawingml/2006/table">
            <a:tbl>
              <a:tblPr bandRow="1" firstRow="1">
                <a:noFill/>
                <a:tableStyleId>{BC709364-A7B2-4693-9990-78690F8EEA3F}</a:tableStyleId>
              </a:tblPr>
              <a:tblGrid>
                <a:gridCol w="655500"/>
                <a:gridCol w="670550"/>
                <a:gridCol w="844725"/>
                <a:gridCol w="2360025"/>
              </a:tblGrid>
              <a:tr h="370850">
                <a:tc>
                  <a:txBody>
                    <a:bodyPr/>
                    <a:lstStyle/>
                    <a:p>
                      <a:pPr indent="0" lvl="0" marL="0" marR="0" rtl="0" algn="ctr">
                        <a:spcBef>
                          <a:spcPts val="0"/>
                        </a:spcBef>
                        <a:spcAft>
                          <a:spcPts val="0"/>
                        </a:spcAft>
                        <a:buNone/>
                      </a:pPr>
                      <a:r>
                        <a:rPr lang="es-BO" sz="1800"/>
                        <a:t>SW1</a:t>
                      </a:r>
                      <a:endParaRPr sz="1800"/>
                    </a:p>
                  </a:txBody>
                  <a:tcPr marT="45725" marB="45725" marR="91450" marL="91450">
                    <a:solidFill>
                      <a:srgbClr val="C00000"/>
                    </a:solidFill>
                  </a:tcPr>
                </a:tc>
                <a:tc>
                  <a:txBody>
                    <a:bodyPr/>
                    <a:lstStyle/>
                    <a:p>
                      <a:pPr indent="0" lvl="0" marL="0" marR="0" rtl="0" algn="ctr">
                        <a:spcBef>
                          <a:spcPts val="0"/>
                        </a:spcBef>
                        <a:spcAft>
                          <a:spcPts val="0"/>
                        </a:spcAft>
                        <a:buNone/>
                      </a:pPr>
                      <a:r>
                        <a:rPr lang="es-BO" sz="1800"/>
                        <a:t>SW2</a:t>
                      </a:r>
                      <a:endParaRPr sz="1800"/>
                    </a:p>
                  </a:txBody>
                  <a:tcPr marT="45725" marB="45725" marR="91450" marL="91450">
                    <a:solidFill>
                      <a:srgbClr val="C00000"/>
                    </a:solidFill>
                  </a:tcPr>
                </a:tc>
                <a:tc>
                  <a:txBody>
                    <a:bodyPr/>
                    <a:lstStyle/>
                    <a:p>
                      <a:pPr indent="0" lvl="0" marL="0" marR="0" rtl="0" algn="ctr">
                        <a:spcBef>
                          <a:spcPts val="0"/>
                        </a:spcBef>
                        <a:spcAft>
                          <a:spcPts val="0"/>
                        </a:spcAft>
                        <a:buNone/>
                      </a:pPr>
                      <a:r>
                        <a:rPr lang="es-BO" sz="1800"/>
                        <a:t>VF</a:t>
                      </a:r>
                      <a:endParaRPr sz="1800"/>
                    </a:p>
                  </a:txBody>
                  <a:tcPr marT="45725" marB="45725" marR="91450" marL="91450">
                    <a:solidFill>
                      <a:srgbClr val="C00000"/>
                    </a:solidFill>
                  </a:tcPr>
                </a:tc>
                <a:tc>
                  <a:txBody>
                    <a:bodyPr/>
                    <a:lstStyle/>
                    <a:p>
                      <a:pPr indent="0" lvl="0" marL="0" marR="0" rtl="0" algn="ctr">
                        <a:spcBef>
                          <a:spcPts val="0"/>
                        </a:spcBef>
                        <a:spcAft>
                          <a:spcPts val="0"/>
                        </a:spcAft>
                        <a:buNone/>
                      </a:pPr>
                      <a:r>
                        <a:rPr lang="es-BO" sz="1800"/>
                        <a:t>FUNCION</a:t>
                      </a:r>
                      <a:endParaRPr sz="1800"/>
                    </a:p>
                  </a:txBody>
                  <a:tcPr marT="45725" marB="45725" marR="91450" marL="91450">
                    <a:solidFill>
                      <a:srgbClr val="C00000"/>
                    </a:solidFill>
                  </a:tcPr>
                </a:tc>
              </a:tr>
              <a:tr h="370850">
                <a:tc>
                  <a:txBody>
                    <a:bodyPr/>
                    <a:lstStyle/>
                    <a:p>
                      <a:pPr indent="0" lvl="0" marL="0" marR="0" rtl="0" algn="ctr">
                        <a:spcBef>
                          <a:spcPts val="0"/>
                        </a:spcBef>
                        <a:spcAft>
                          <a:spcPts val="0"/>
                        </a:spcAft>
                        <a:buNone/>
                      </a:pPr>
                      <a:r>
                        <a:rPr lang="es-BO" sz="1800"/>
                        <a:t>0</a:t>
                      </a:r>
                      <a:endParaRPr sz="1800"/>
                    </a:p>
                  </a:txBody>
                  <a:tcPr marT="45725" marB="45725" marR="91450" marL="91450"/>
                </a:tc>
                <a:tc>
                  <a:txBody>
                    <a:bodyPr/>
                    <a:lstStyle/>
                    <a:p>
                      <a:pPr indent="0" lvl="0" marL="0" marR="0" rtl="0" algn="ctr">
                        <a:spcBef>
                          <a:spcPts val="0"/>
                        </a:spcBef>
                        <a:spcAft>
                          <a:spcPts val="0"/>
                        </a:spcAft>
                        <a:buNone/>
                      </a:pPr>
                      <a:r>
                        <a:rPr lang="es-BO" sz="1800"/>
                        <a:t>0</a:t>
                      </a:r>
                      <a:endParaRPr sz="1800"/>
                    </a:p>
                  </a:txBody>
                  <a:tcPr marT="45725" marB="45725" marR="91450" marL="91450"/>
                </a:tc>
                <a:tc>
                  <a:txBody>
                    <a:bodyPr/>
                    <a:lstStyle/>
                    <a:p>
                      <a:pPr indent="0" lvl="0" marL="0" marR="0" rtl="0" algn="ctr">
                        <a:spcBef>
                          <a:spcPts val="0"/>
                        </a:spcBef>
                        <a:spcAft>
                          <a:spcPts val="0"/>
                        </a:spcAft>
                        <a:buNone/>
                      </a:pPr>
                      <a:r>
                        <a:rPr lang="es-BO" sz="1800"/>
                        <a:t>1</a:t>
                      </a:r>
                      <a:endParaRPr sz="1800"/>
                    </a:p>
                  </a:txBody>
                  <a:tcPr marT="45725" marB="45725" marR="91450" marL="91450"/>
                </a:tc>
                <a:tc>
                  <a:txBody>
                    <a:bodyPr/>
                    <a:lstStyle/>
                    <a:p>
                      <a:pPr indent="0" lvl="0" marL="0" marR="0" rtl="0" algn="ctr">
                        <a:spcBef>
                          <a:spcPts val="0"/>
                        </a:spcBef>
                        <a:spcAft>
                          <a:spcPts val="0"/>
                        </a:spcAft>
                        <a:buNone/>
                      </a:pPr>
                      <a:r>
                        <a:rPr b="1" lang="es-BO" sz="1800"/>
                        <a:t>Encendido</a:t>
                      </a:r>
                      <a:endParaRPr b="1" sz="1800"/>
                    </a:p>
                  </a:txBody>
                  <a:tcPr marT="45725" marB="45725" marR="91450" marL="91450"/>
                </a:tc>
              </a:tr>
              <a:tr h="370850">
                <a:tc>
                  <a:txBody>
                    <a:bodyPr/>
                    <a:lstStyle/>
                    <a:p>
                      <a:pPr indent="0" lvl="0" marL="0" marR="0" rtl="0" algn="ctr">
                        <a:spcBef>
                          <a:spcPts val="0"/>
                        </a:spcBef>
                        <a:spcAft>
                          <a:spcPts val="0"/>
                        </a:spcAft>
                        <a:buNone/>
                      </a:pPr>
                      <a:r>
                        <a:rPr lang="es-BO" sz="1800"/>
                        <a:t>0</a:t>
                      </a:r>
                      <a:endParaRPr sz="1800"/>
                    </a:p>
                  </a:txBody>
                  <a:tcPr marT="45725" marB="45725" marR="91450" marL="91450"/>
                </a:tc>
                <a:tc>
                  <a:txBody>
                    <a:bodyPr/>
                    <a:lstStyle/>
                    <a:p>
                      <a:pPr indent="0" lvl="0" marL="0" marR="0" rtl="0" algn="ctr">
                        <a:spcBef>
                          <a:spcPts val="0"/>
                        </a:spcBef>
                        <a:spcAft>
                          <a:spcPts val="0"/>
                        </a:spcAft>
                        <a:buNone/>
                      </a:pPr>
                      <a:r>
                        <a:rPr lang="es-BO" sz="1800"/>
                        <a:t>1</a:t>
                      </a:r>
                      <a:endParaRPr sz="1800"/>
                    </a:p>
                  </a:txBody>
                  <a:tcPr marT="45725" marB="45725" marR="91450" marL="91450"/>
                </a:tc>
                <a:tc>
                  <a:txBody>
                    <a:bodyPr/>
                    <a:lstStyle/>
                    <a:p>
                      <a:pPr indent="0" lvl="0" marL="0" marR="0" rtl="0" algn="ctr">
                        <a:spcBef>
                          <a:spcPts val="0"/>
                        </a:spcBef>
                        <a:spcAft>
                          <a:spcPts val="0"/>
                        </a:spcAft>
                        <a:buNone/>
                      </a:pPr>
                      <a:r>
                        <a:rPr lang="es-BO" sz="1800"/>
                        <a:t>1</a:t>
                      </a:r>
                      <a:endParaRPr sz="1800"/>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Gill Sans"/>
                        <a:buNone/>
                      </a:pPr>
                      <a:r>
                        <a:rPr b="0" i="0" lang="es-BO" sz="1800" u="none" cap="none" strike="noStrike">
                          <a:solidFill>
                            <a:srgbClr val="000000"/>
                          </a:solidFill>
                          <a:latin typeface="Gill Sans"/>
                          <a:ea typeface="Gill Sans"/>
                          <a:cs typeface="Gill Sans"/>
                          <a:sym typeface="Gill Sans"/>
                        </a:rPr>
                        <a:t>Encendido </a:t>
                      </a:r>
                      <a:endParaRPr b="0" i="0" sz="1800" u="none" cap="none" strike="noStrike">
                        <a:solidFill>
                          <a:srgbClr val="000000"/>
                        </a:solidFill>
                        <a:latin typeface="Gill Sans"/>
                        <a:ea typeface="Gill Sans"/>
                        <a:cs typeface="Gill Sans"/>
                        <a:sym typeface="Gill Sans"/>
                      </a:endParaRPr>
                    </a:p>
                  </a:txBody>
                  <a:tcPr marT="45725" marB="45725" marR="91450" marL="91450"/>
                </a:tc>
              </a:tr>
              <a:tr h="370850">
                <a:tc>
                  <a:txBody>
                    <a:bodyPr/>
                    <a:lstStyle/>
                    <a:p>
                      <a:pPr indent="0" lvl="0" marL="0" marR="0" rtl="0" algn="ctr">
                        <a:spcBef>
                          <a:spcPts val="0"/>
                        </a:spcBef>
                        <a:spcAft>
                          <a:spcPts val="0"/>
                        </a:spcAft>
                        <a:buNone/>
                      </a:pPr>
                      <a:r>
                        <a:rPr lang="es-BO" sz="1800"/>
                        <a:t>1</a:t>
                      </a:r>
                      <a:endParaRPr sz="1800"/>
                    </a:p>
                  </a:txBody>
                  <a:tcPr marT="45725" marB="45725" marR="91450" marL="91450"/>
                </a:tc>
                <a:tc>
                  <a:txBody>
                    <a:bodyPr/>
                    <a:lstStyle/>
                    <a:p>
                      <a:pPr indent="0" lvl="0" marL="0" marR="0" rtl="0" algn="ctr">
                        <a:spcBef>
                          <a:spcPts val="0"/>
                        </a:spcBef>
                        <a:spcAft>
                          <a:spcPts val="0"/>
                        </a:spcAft>
                        <a:buNone/>
                      </a:pPr>
                      <a:r>
                        <a:rPr lang="es-BO" sz="1800"/>
                        <a:t>0</a:t>
                      </a:r>
                      <a:endParaRPr sz="1800"/>
                    </a:p>
                  </a:txBody>
                  <a:tcPr marT="45725" marB="45725" marR="91450" marL="91450"/>
                </a:tc>
                <a:tc>
                  <a:txBody>
                    <a:bodyPr/>
                    <a:lstStyle/>
                    <a:p>
                      <a:pPr indent="0" lvl="0" marL="0" marR="0" rtl="0" algn="ctr">
                        <a:spcBef>
                          <a:spcPts val="0"/>
                        </a:spcBef>
                        <a:spcAft>
                          <a:spcPts val="0"/>
                        </a:spcAft>
                        <a:buNone/>
                      </a:pPr>
                      <a:r>
                        <a:rPr lang="es-BO" sz="1800"/>
                        <a:t>1</a:t>
                      </a:r>
                      <a:endParaRPr sz="1800"/>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Gill Sans"/>
                        <a:buNone/>
                      </a:pPr>
                      <a:r>
                        <a:rPr b="0" i="0" lang="es-BO" sz="1800" u="none" cap="none" strike="noStrike">
                          <a:solidFill>
                            <a:srgbClr val="000000"/>
                          </a:solidFill>
                          <a:latin typeface="Gill Sans"/>
                          <a:ea typeface="Gill Sans"/>
                          <a:cs typeface="Gill Sans"/>
                          <a:sym typeface="Gill Sans"/>
                        </a:rPr>
                        <a:t>Encendido </a:t>
                      </a:r>
                      <a:endParaRPr b="0" i="0" sz="1800" u="none" cap="none" strike="noStrike">
                        <a:solidFill>
                          <a:srgbClr val="000000"/>
                        </a:solidFill>
                        <a:latin typeface="Gill Sans"/>
                        <a:ea typeface="Gill Sans"/>
                        <a:cs typeface="Gill Sans"/>
                        <a:sym typeface="Gill Sans"/>
                      </a:endParaRPr>
                    </a:p>
                  </a:txBody>
                  <a:tcPr marT="45725" marB="45725" marR="91450" marL="91450"/>
                </a:tc>
              </a:tr>
              <a:tr h="370850">
                <a:tc>
                  <a:txBody>
                    <a:bodyPr/>
                    <a:lstStyle/>
                    <a:p>
                      <a:pPr indent="0" lvl="0" marL="0" marR="0" rtl="0" algn="ctr">
                        <a:spcBef>
                          <a:spcPts val="0"/>
                        </a:spcBef>
                        <a:spcAft>
                          <a:spcPts val="0"/>
                        </a:spcAft>
                        <a:buNone/>
                      </a:pPr>
                      <a:r>
                        <a:rPr lang="es-BO" sz="1800"/>
                        <a:t>1</a:t>
                      </a:r>
                      <a:endParaRPr sz="1800"/>
                    </a:p>
                  </a:txBody>
                  <a:tcPr marT="45725" marB="45725" marR="91450" marL="91450"/>
                </a:tc>
                <a:tc>
                  <a:txBody>
                    <a:bodyPr/>
                    <a:lstStyle/>
                    <a:p>
                      <a:pPr indent="0" lvl="0" marL="0" marR="0" rtl="0" algn="ctr">
                        <a:spcBef>
                          <a:spcPts val="0"/>
                        </a:spcBef>
                        <a:spcAft>
                          <a:spcPts val="0"/>
                        </a:spcAft>
                        <a:buNone/>
                      </a:pPr>
                      <a:r>
                        <a:rPr lang="es-BO" sz="1800"/>
                        <a:t>1</a:t>
                      </a:r>
                      <a:endParaRPr sz="1800"/>
                    </a:p>
                  </a:txBody>
                  <a:tcPr marT="45725" marB="45725" marR="91450" marL="91450"/>
                </a:tc>
                <a:tc>
                  <a:txBody>
                    <a:bodyPr/>
                    <a:lstStyle/>
                    <a:p>
                      <a:pPr indent="0" lvl="0" marL="0" marR="0" rtl="0" algn="ctr">
                        <a:spcBef>
                          <a:spcPts val="0"/>
                        </a:spcBef>
                        <a:spcAft>
                          <a:spcPts val="0"/>
                        </a:spcAft>
                        <a:buNone/>
                      </a:pPr>
                      <a:r>
                        <a:rPr lang="es-BO" sz="1800"/>
                        <a:t>0</a:t>
                      </a:r>
                      <a:endParaRPr sz="1800"/>
                    </a:p>
                  </a:txBody>
                  <a:tcPr marT="45725" marB="45725" marR="91450" marL="91450"/>
                </a:tc>
                <a:tc>
                  <a:txBody>
                    <a:bodyPr/>
                    <a:lstStyle/>
                    <a:p>
                      <a:pPr indent="0" lvl="0" marL="0" marR="0" rtl="0" algn="ctr">
                        <a:spcBef>
                          <a:spcPts val="0"/>
                        </a:spcBef>
                        <a:spcAft>
                          <a:spcPts val="0"/>
                        </a:spcAft>
                        <a:buNone/>
                      </a:pPr>
                      <a:r>
                        <a:rPr lang="es-BO" sz="1800"/>
                        <a:t>Apagado</a:t>
                      </a:r>
                      <a:r>
                        <a:rPr lang="es-BO" sz="1800"/>
                        <a:t> </a:t>
                      </a:r>
                      <a:endParaRPr sz="1800"/>
                    </a:p>
                  </a:txBody>
                  <a:tcPr marT="45725" marB="45725" marR="91450" marL="91450"/>
                </a:tc>
              </a:tr>
            </a:tbl>
          </a:graphicData>
        </a:graphic>
      </p:graphicFrame>
      <p:sp>
        <p:nvSpPr>
          <p:cNvPr id="1765" name="Google Shape;1765;p111"/>
          <p:cNvSpPr/>
          <p:nvPr/>
        </p:nvSpPr>
        <p:spPr>
          <a:xfrm>
            <a:off x="5748974" y="3425663"/>
            <a:ext cx="687977" cy="1731080"/>
          </a:xfrm>
          <a:prstGeom prst="rightBrace">
            <a:avLst>
              <a:gd fmla="val 8333" name="adj1"/>
              <a:gd fmla="val 50000" name="adj2"/>
            </a:avLst>
          </a:prstGeom>
          <a:noFill/>
          <a:ln cap="flat" cmpd="sng" w="38100">
            <a:solidFill>
              <a:srgbClr val="C00000"/>
            </a:solidFill>
            <a:prstDash val="solid"/>
            <a:round/>
            <a:headEnd len="sm" w="sm" type="none"/>
            <a:tailEnd len="sm" w="sm" type="none"/>
          </a:ln>
          <a:effectLst>
            <a:outerShdw blurRad="38100" rotWithShape="0" algn="ctr" dir="5400000" dist="1270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1766" name="Google Shape;1766;p111"/>
          <p:cNvSpPr/>
          <p:nvPr/>
        </p:nvSpPr>
        <p:spPr>
          <a:xfrm>
            <a:off x="6094909" y="5452777"/>
            <a:ext cx="2917371" cy="924148"/>
          </a:xfrm>
          <a:prstGeom prst="cloud">
            <a:avLst/>
          </a:prstGeom>
          <a:solidFill>
            <a:srgbClr val="C00000"/>
          </a:solidFill>
          <a:ln cap="flat" cmpd="sng" w="127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BO" sz="1800">
                <a:solidFill>
                  <a:schemeClr val="lt1"/>
                </a:solidFill>
                <a:latin typeface="Garamond"/>
                <a:ea typeface="Garamond"/>
                <a:cs typeface="Garamond"/>
                <a:sym typeface="Garamond"/>
              </a:rPr>
              <a:t>USO DE LATCH</a:t>
            </a:r>
            <a:endParaRPr b="1" sz="1800">
              <a:solidFill>
                <a:schemeClr val="lt1"/>
              </a:solidFill>
              <a:latin typeface="Garamond"/>
              <a:ea typeface="Garamond"/>
              <a:cs typeface="Garamond"/>
              <a:sym typeface="Garamond"/>
            </a:endParaRPr>
          </a:p>
        </p:txBody>
      </p:sp>
      <p:sp>
        <p:nvSpPr>
          <p:cNvPr id="1767" name="Google Shape;1767;p111"/>
          <p:cNvSpPr/>
          <p:nvPr/>
        </p:nvSpPr>
        <p:spPr>
          <a:xfrm>
            <a:off x="4200706" y="2391284"/>
            <a:ext cx="1349829" cy="701469"/>
          </a:xfrm>
          <a:prstGeom prst="rightArrow">
            <a:avLst>
              <a:gd fmla="val 50000" name="adj1"/>
              <a:gd fmla="val 50000" name="adj2"/>
            </a:avLst>
          </a:prstGeom>
          <a:solidFill>
            <a:srgbClr val="C00000"/>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chemeClr val="lt1"/>
                </a:solidFill>
                <a:latin typeface="Garamond"/>
                <a:ea typeface="Garamond"/>
                <a:cs typeface="Garamond"/>
                <a:sym typeface="Garamond"/>
              </a:rPr>
              <a:t>SWX</a:t>
            </a:r>
            <a:endParaRPr sz="1800">
              <a:solidFill>
                <a:schemeClr val="lt1"/>
              </a:solidFill>
              <a:latin typeface="Garamond"/>
              <a:ea typeface="Garamond"/>
              <a:cs typeface="Garamond"/>
              <a:sym typeface="Garamond"/>
            </a:endParaRPr>
          </a:p>
        </p:txBody>
      </p:sp>
      <p:sp>
        <p:nvSpPr>
          <p:cNvPr id="1768" name="Google Shape;1768;p111"/>
          <p:cNvSpPr/>
          <p:nvPr/>
        </p:nvSpPr>
        <p:spPr>
          <a:xfrm>
            <a:off x="6345280" y="4549276"/>
            <a:ext cx="5334000" cy="467834"/>
          </a:xfrm>
          <a:prstGeom prst="roundRect">
            <a:avLst>
              <a:gd fmla="val 16667" name="adj"/>
            </a:avLst>
          </a:prstGeom>
          <a:solidFill>
            <a:srgbClr val="C00000"/>
          </a:solidFill>
          <a:ln cap="flat" cmpd="sng" w="127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chemeClr val="lt1"/>
                </a:solidFill>
                <a:latin typeface="Garamond"/>
                <a:ea typeface="Garamond"/>
                <a:cs typeface="Garamond"/>
                <a:sym typeface="Garamond"/>
              </a:rPr>
              <a:t>SI SW2 DETECTA EL LIQUIDO: APAGA KW1 Y KW2,VF.</a:t>
            </a:r>
            <a:endParaRPr sz="1800">
              <a:solidFill>
                <a:schemeClr val="lt1"/>
              </a:solidFill>
              <a:latin typeface="Garamond"/>
              <a:ea typeface="Garamond"/>
              <a:cs typeface="Garamond"/>
              <a:sym typeface="Garamond"/>
            </a:endParaRPr>
          </a:p>
        </p:txBody>
      </p:sp>
      <p:sp>
        <p:nvSpPr>
          <p:cNvPr id="1769" name="Google Shape;1769;p111"/>
          <p:cNvSpPr/>
          <p:nvPr/>
        </p:nvSpPr>
        <p:spPr>
          <a:xfrm>
            <a:off x="6346638" y="3580728"/>
            <a:ext cx="5334000" cy="467834"/>
          </a:xfrm>
          <a:prstGeom prst="roundRect">
            <a:avLst>
              <a:gd fmla="val 16667" name="adj"/>
            </a:avLst>
          </a:prstGeom>
          <a:solidFill>
            <a:srgbClr val="C00000"/>
          </a:solidFill>
          <a:ln cap="flat" cmpd="sng" w="127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chemeClr val="lt1"/>
                </a:solidFill>
                <a:latin typeface="Garamond"/>
                <a:ea typeface="Garamond"/>
                <a:cs typeface="Garamond"/>
                <a:sym typeface="Garamond"/>
              </a:rPr>
              <a:t>SI SW1 DETECTA EL LIQUIDO: ENCIENDE KW1 Y KW2,VF.</a:t>
            </a:r>
            <a:endParaRPr sz="1800">
              <a:solidFill>
                <a:schemeClr val="lt1"/>
              </a:solidFill>
              <a:latin typeface="Garamond"/>
              <a:ea typeface="Garamond"/>
              <a:cs typeface="Garamond"/>
              <a:sym typeface="Garamon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3" name="Shape 1773"/>
        <p:cNvGrpSpPr/>
        <p:nvPr/>
      </p:nvGrpSpPr>
      <p:grpSpPr>
        <a:xfrm>
          <a:off x="0" y="0"/>
          <a:ext cx="0" cy="0"/>
          <a:chOff x="0" y="0"/>
          <a:chExt cx="0" cy="0"/>
        </a:xfrm>
      </p:grpSpPr>
      <p:sp>
        <p:nvSpPr>
          <p:cNvPr id="1774" name="Google Shape;1774;p112"/>
          <p:cNvSpPr txBox="1"/>
          <p:nvPr>
            <p:ph type="title"/>
          </p:nvPr>
        </p:nvSpPr>
        <p:spPr>
          <a:xfrm>
            <a:off x="949234" y="82998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62626"/>
              </a:buClr>
              <a:buSzPct val="100000"/>
              <a:buFont typeface="Garamond"/>
              <a:buNone/>
            </a:pPr>
            <a:r>
              <a:rPr b="1" lang="es-BO"/>
              <a:t>Designación de entradas y salidas del PLC </a:t>
            </a:r>
            <a:br>
              <a:rPr lang="es-BO"/>
            </a:br>
            <a:endParaRPr/>
          </a:p>
        </p:txBody>
      </p:sp>
      <p:graphicFrame>
        <p:nvGraphicFramePr>
          <p:cNvPr id="1775" name="Google Shape;1775;p112"/>
          <p:cNvGraphicFramePr/>
          <p:nvPr/>
        </p:nvGraphicFramePr>
        <p:xfrm>
          <a:off x="1883954" y="1645920"/>
          <a:ext cx="3000000" cy="3000000"/>
        </p:xfrm>
        <a:graphic>
          <a:graphicData uri="http://schemas.openxmlformats.org/drawingml/2006/table">
            <a:tbl>
              <a:tblPr bandRow="1" firstRow="1">
                <a:noFill/>
                <a:tableStyleId>{BF1B9074-187F-4A2A-9032-47A855C516E1}</a:tableStyleId>
              </a:tblPr>
              <a:tblGrid>
                <a:gridCol w="676375"/>
                <a:gridCol w="2534200"/>
                <a:gridCol w="4917450"/>
              </a:tblGrid>
              <a:tr h="370850">
                <a:tc>
                  <a:txBody>
                    <a:bodyPr/>
                    <a:lstStyle/>
                    <a:p>
                      <a:pPr indent="0" lvl="0" marL="0" marR="0" rtl="0" algn="l">
                        <a:spcBef>
                          <a:spcPts val="0"/>
                        </a:spcBef>
                        <a:spcAft>
                          <a:spcPts val="0"/>
                        </a:spcAft>
                        <a:buNone/>
                      </a:pPr>
                      <a:r>
                        <a:rPr lang="es-BO" sz="2000"/>
                        <a:t>N°</a:t>
                      </a:r>
                      <a:endParaRPr sz="2000"/>
                    </a:p>
                  </a:txBody>
                  <a:tcPr marT="45725" marB="45725" marR="91450" marL="91450">
                    <a:solidFill>
                      <a:srgbClr val="C00000"/>
                    </a:solidFill>
                  </a:tcPr>
                </a:tc>
                <a:tc>
                  <a:txBody>
                    <a:bodyPr/>
                    <a:lstStyle/>
                    <a:p>
                      <a:pPr indent="0" lvl="0" marL="0" marR="0" rtl="0" algn="l">
                        <a:spcBef>
                          <a:spcPts val="0"/>
                        </a:spcBef>
                        <a:spcAft>
                          <a:spcPts val="0"/>
                        </a:spcAft>
                        <a:buNone/>
                      </a:pPr>
                      <a:r>
                        <a:rPr lang="es-BO" sz="2000"/>
                        <a:t>Entradas o salidas </a:t>
                      </a:r>
                      <a:endParaRPr sz="2000"/>
                    </a:p>
                  </a:txBody>
                  <a:tcPr marT="45725" marB="45725" marR="91450" marL="91450">
                    <a:solidFill>
                      <a:srgbClr val="C00000"/>
                    </a:solidFill>
                  </a:tcPr>
                </a:tc>
                <a:tc>
                  <a:txBody>
                    <a:bodyPr/>
                    <a:lstStyle/>
                    <a:p>
                      <a:pPr indent="0" lvl="0" marL="0" marR="0" rtl="0" algn="l">
                        <a:spcBef>
                          <a:spcPts val="0"/>
                        </a:spcBef>
                        <a:spcAft>
                          <a:spcPts val="0"/>
                        </a:spcAft>
                        <a:buNone/>
                      </a:pPr>
                      <a:r>
                        <a:rPr lang="es-BO" sz="2000"/>
                        <a:t>Nombre </a:t>
                      </a:r>
                      <a:endParaRPr sz="2000"/>
                    </a:p>
                  </a:txBody>
                  <a:tcPr marT="45725" marB="45725" marR="91450" marL="91450">
                    <a:solidFill>
                      <a:srgbClr val="C00000"/>
                    </a:solidFill>
                  </a:tcPr>
                </a:tc>
              </a:tr>
              <a:tr h="370850">
                <a:tc>
                  <a:txBody>
                    <a:bodyPr/>
                    <a:lstStyle/>
                    <a:p>
                      <a:pPr indent="0" lvl="0" marL="0" marR="0" rtl="0" algn="l">
                        <a:spcBef>
                          <a:spcPts val="0"/>
                        </a:spcBef>
                        <a:spcAft>
                          <a:spcPts val="0"/>
                        </a:spcAft>
                        <a:buNone/>
                      </a:pPr>
                      <a:r>
                        <a:rPr lang="es-BO" sz="2000"/>
                        <a:t>1</a:t>
                      </a:r>
                      <a:endParaRPr sz="2000"/>
                    </a:p>
                  </a:txBody>
                  <a:tcPr marT="45725" marB="45725" marR="91450" marL="91450"/>
                </a:tc>
                <a:tc>
                  <a:txBody>
                    <a:bodyPr/>
                    <a:lstStyle/>
                    <a:p>
                      <a:pPr indent="0" lvl="0" marL="0" marR="0" rtl="0" algn="l">
                        <a:spcBef>
                          <a:spcPts val="0"/>
                        </a:spcBef>
                        <a:spcAft>
                          <a:spcPts val="0"/>
                        </a:spcAft>
                        <a:buNone/>
                      </a:pPr>
                      <a:r>
                        <a:rPr lang="es-BO" sz="2000"/>
                        <a:t>I:0/0</a:t>
                      </a:r>
                      <a:endParaRPr sz="2000"/>
                    </a:p>
                  </a:txBody>
                  <a:tcPr marT="45725" marB="45725" marR="91450" marL="91450"/>
                </a:tc>
                <a:tc>
                  <a:txBody>
                    <a:bodyPr/>
                    <a:lstStyle/>
                    <a:p>
                      <a:pPr indent="0" lvl="0" marL="0" marR="0" rtl="0" algn="l">
                        <a:spcBef>
                          <a:spcPts val="0"/>
                        </a:spcBef>
                        <a:spcAft>
                          <a:spcPts val="0"/>
                        </a:spcAft>
                        <a:buNone/>
                      </a:pPr>
                      <a:r>
                        <a:rPr lang="es-BO" sz="2000"/>
                        <a:t>SENSOR VIBRATORIO</a:t>
                      </a:r>
                      <a:r>
                        <a:rPr lang="es-BO" sz="2000"/>
                        <a:t> SUPERIOR</a:t>
                      </a:r>
                      <a:endParaRPr sz="2000"/>
                    </a:p>
                  </a:txBody>
                  <a:tcPr marT="45725" marB="45725" marR="91450" marL="91450"/>
                </a:tc>
              </a:tr>
              <a:tr h="370850">
                <a:tc>
                  <a:txBody>
                    <a:bodyPr/>
                    <a:lstStyle/>
                    <a:p>
                      <a:pPr indent="0" lvl="0" marL="0" marR="0" rtl="0" algn="l">
                        <a:spcBef>
                          <a:spcPts val="0"/>
                        </a:spcBef>
                        <a:spcAft>
                          <a:spcPts val="0"/>
                        </a:spcAft>
                        <a:buNone/>
                      </a:pPr>
                      <a:r>
                        <a:rPr lang="es-BO" sz="2000"/>
                        <a:t>2</a:t>
                      </a:r>
                      <a:endParaRPr sz="20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Garamond"/>
                        <a:buNone/>
                      </a:pPr>
                      <a:r>
                        <a:rPr lang="es-BO" sz="2000" u="none" cap="none" strike="noStrike"/>
                        <a:t>I:0/1</a:t>
                      </a:r>
                      <a:endParaRPr b="0" i="0" sz="2000" u="none" cap="none" strike="noStrike">
                        <a:solidFill>
                          <a:srgbClr val="000000"/>
                        </a:solidFill>
                        <a:latin typeface="Gill Sans"/>
                        <a:ea typeface="Gill Sans"/>
                        <a:cs typeface="Gill Sans"/>
                        <a:sym typeface="Gill Sans"/>
                      </a:endParaRPr>
                    </a:p>
                  </a:txBody>
                  <a:tcPr marT="45725" marB="45725" marR="91450" marL="91450"/>
                </a:tc>
                <a:tc>
                  <a:txBody>
                    <a:bodyPr/>
                    <a:lstStyle/>
                    <a:p>
                      <a:pPr indent="0" lvl="0" marL="0" marR="0" rtl="0" algn="l">
                        <a:spcBef>
                          <a:spcPts val="0"/>
                        </a:spcBef>
                        <a:spcAft>
                          <a:spcPts val="0"/>
                        </a:spcAft>
                        <a:buNone/>
                      </a:pPr>
                      <a:r>
                        <a:rPr lang="es-BO" sz="2000"/>
                        <a:t>SENSOR VIBRATORIO INFERIOR</a:t>
                      </a:r>
                      <a:endParaRPr sz="2000"/>
                    </a:p>
                  </a:txBody>
                  <a:tcPr marT="45725" marB="45725" marR="91450" marL="91450"/>
                </a:tc>
              </a:tr>
              <a:tr h="370850">
                <a:tc>
                  <a:txBody>
                    <a:bodyPr/>
                    <a:lstStyle/>
                    <a:p>
                      <a:pPr indent="0" lvl="0" marL="0" marR="0" rtl="0" algn="l">
                        <a:spcBef>
                          <a:spcPts val="0"/>
                        </a:spcBef>
                        <a:spcAft>
                          <a:spcPts val="0"/>
                        </a:spcAft>
                        <a:buNone/>
                      </a:pPr>
                      <a:r>
                        <a:rPr lang="es-BO" sz="2000"/>
                        <a:t>3</a:t>
                      </a:r>
                      <a:endParaRPr sz="20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Garamond"/>
                        <a:buNone/>
                      </a:pPr>
                      <a:r>
                        <a:rPr lang="es-BO" sz="2000" u="none" cap="none" strike="noStrike"/>
                        <a:t>I:0/3</a:t>
                      </a:r>
                      <a:endParaRPr b="0" i="0" sz="2000" u="none" cap="none" strike="noStrike">
                        <a:solidFill>
                          <a:srgbClr val="000000"/>
                        </a:solidFill>
                        <a:latin typeface="Gill Sans"/>
                        <a:ea typeface="Gill Sans"/>
                        <a:cs typeface="Gill Sans"/>
                        <a:sym typeface="Gill Sans"/>
                      </a:endParaRPr>
                    </a:p>
                  </a:txBody>
                  <a:tcPr marT="45725" marB="45725" marR="91450" marL="91450"/>
                </a:tc>
                <a:tc>
                  <a:txBody>
                    <a:bodyPr/>
                    <a:lstStyle/>
                    <a:p>
                      <a:pPr indent="0" lvl="0" marL="0" marR="0" rtl="0" algn="l">
                        <a:spcBef>
                          <a:spcPts val="0"/>
                        </a:spcBef>
                        <a:spcAft>
                          <a:spcPts val="0"/>
                        </a:spcAft>
                        <a:buNone/>
                      </a:pPr>
                      <a:r>
                        <a:rPr lang="es-BO" sz="2000"/>
                        <a:t>PULSADOR DE INICIO/</a:t>
                      </a:r>
                      <a:r>
                        <a:rPr lang="es-BO" sz="2000"/>
                        <a:t> APAGADO</a:t>
                      </a:r>
                      <a:endParaRPr sz="2000"/>
                    </a:p>
                  </a:txBody>
                  <a:tcPr marT="45725" marB="45725" marR="91450" marL="91450"/>
                </a:tc>
              </a:tr>
              <a:tr h="370850">
                <a:tc>
                  <a:txBody>
                    <a:bodyPr/>
                    <a:lstStyle/>
                    <a:p>
                      <a:pPr indent="0" lvl="0" marL="0" marR="0" rtl="0" algn="l">
                        <a:spcBef>
                          <a:spcPts val="0"/>
                        </a:spcBef>
                        <a:spcAft>
                          <a:spcPts val="0"/>
                        </a:spcAft>
                        <a:buNone/>
                      </a:pPr>
                      <a:r>
                        <a:rPr lang="es-BO" sz="2000"/>
                        <a:t>4</a:t>
                      </a:r>
                      <a:endParaRPr sz="20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Garamond"/>
                        <a:buNone/>
                      </a:pPr>
                      <a:r>
                        <a:rPr lang="es-BO" sz="2000" u="none" cap="none" strike="noStrike"/>
                        <a:t>O:0/0</a:t>
                      </a:r>
                      <a:endParaRPr b="0" i="0" sz="2000" u="none" cap="none" strike="noStrike">
                        <a:solidFill>
                          <a:srgbClr val="000000"/>
                        </a:solidFill>
                        <a:latin typeface="Gill Sans"/>
                        <a:ea typeface="Gill Sans"/>
                        <a:cs typeface="Gill Sans"/>
                        <a:sym typeface="Gill Sans"/>
                      </a:endParaRPr>
                    </a:p>
                  </a:txBody>
                  <a:tcPr marT="45725" marB="45725" marR="91450" marL="91450"/>
                </a:tc>
                <a:tc>
                  <a:txBody>
                    <a:bodyPr/>
                    <a:lstStyle/>
                    <a:p>
                      <a:pPr indent="0" lvl="0" marL="0" marR="0" rtl="0" algn="l">
                        <a:spcBef>
                          <a:spcPts val="0"/>
                        </a:spcBef>
                        <a:spcAft>
                          <a:spcPts val="0"/>
                        </a:spcAft>
                        <a:buNone/>
                      </a:pPr>
                      <a:r>
                        <a:rPr lang="es-BO" sz="2000"/>
                        <a:t>ELECTROVÁLVULA DERECHA</a:t>
                      </a:r>
                      <a:endParaRPr sz="2000"/>
                    </a:p>
                  </a:txBody>
                  <a:tcPr marT="45725" marB="45725" marR="91450" marL="91450"/>
                </a:tc>
              </a:tr>
              <a:tr h="370850">
                <a:tc>
                  <a:txBody>
                    <a:bodyPr/>
                    <a:lstStyle/>
                    <a:p>
                      <a:pPr indent="0" lvl="0" marL="0" marR="0" rtl="0" algn="l">
                        <a:spcBef>
                          <a:spcPts val="0"/>
                        </a:spcBef>
                        <a:spcAft>
                          <a:spcPts val="0"/>
                        </a:spcAft>
                        <a:buNone/>
                      </a:pPr>
                      <a:r>
                        <a:rPr lang="es-BO" sz="2000"/>
                        <a:t>5</a:t>
                      </a:r>
                      <a:endParaRPr sz="20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Garamond"/>
                        <a:buNone/>
                      </a:pPr>
                      <a:r>
                        <a:rPr lang="es-BO" sz="2000" u="none" cap="none" strike="noStrike"/>
                        <a:t>O:0/1</a:t>
                      </a:r>
                      <a:endParaRPr b="0" i="0" sz="2000" u="none" cap="none" strike="noStrike">
                        <a:solidFill>
                          <a:srgbClr val="000000"/>
                        </a:solidFill>
                        <a:latin typeface="Gill Sans"/>
                        <a:ea typeface="Gill Sans"/>
                        <a:cs typeface="Gill Sans"/>
                        <a:sym typeface="Gill Sans"/>
                      </a:endParaRPr>
                    </a:p>
                  </a:txBody>
                  <a:tcPr marT="45725" marB="45725" marR="91450" marL="91450"/>
                </a:tc>
                <a:tc>
                  <a:txBody>
                    <a:bodyPr/>
                    <a:lstStyle/>
                    <a:p>
                      <a:pPr indent="0" lvl="0" marL="0" marR="0" rtl="0" algn="l">
                        <a:spcBef>
                          <a:spcPts val="0"/>
                        </a:spcBef>
                        <a:spcAft>
                          <a:spcPts val="0"/>
                        </a:spcAft>
                        <a:buNone/>
                      </a:pPr>
                      <a:r>
                        <a:rPr lang="es-BO" sz="2000"/>
                        <a:t>ELECTROVÁLVULA IZQUIERDA</a:t>
                      </a:r>
                      <a:endParaRPr sz="2000"/>
                    </a:p>
                  </a:txBody>
                  <a:tcPr marT="45725" marB="45725" marR="91450" marL="91450"/>
                </a:tc>
              </a:tr>
              <a:tr h="370850">
                <a:tc>
                  <a:txBody>
                    <a:bodyPr/>
                    <a:lstStyle/>
                    <a:p>
                      <a:pPr indent="0" lvl="0" marL="0" marR="0" rtl="0" algn="l">
                        <a:spcBef>
                          <a:spcPts val="0"/>
                        </a:spcBef>
                        <a:spcAft>
                          <a:spcPts val="0"/>
                        </a:spcAft>
                        <a:buNone/>
                      </a:pPr>
                      <a:r>
                        <a:rPr lang="es-BO" sz="2000"/>
                        <a:t>6</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Garamond"/>
                        <a:buNone/>
                      </a:pPr>
                      <a:r>
                        <a:rPr lang="es-BO" sz="2000" u="none" cap="none" strike="noStrike"/>
                        <a:t>O:0/3</a:t>
                      </a:r>
                      <a:endParaRPr b="0" i="0" sz="2000" u="none" cap="none" strike="noStrike">
                        <a:solidFill>
                          <a:srgbClr val="000000"/>
                        </a:solidFill>
                        <a:latin typeface="Gill Sans"/>
                        <a:ea typeface="Gill Sans"/>
                        <a:cs typeface="Gill Sans"/>
                        <a:sym typeface="Gill Sans"/>
                      </a:endParaRPr>
                    </a:p>
                  </a:txBody>
                  <a:tcPr marT="45725" marB="45725" marR="91450" marL="91450"/>
                </a:tc>
                <a:tc>
                  <a:txBody>
                    <a:bodyPr/>
                    <a:lstStyle/>
                    <a:p>
                      <a:pPr indent="0" lvl="0" marL="0" marR="0" rtl="0" algn="l">
                        <a:spcBef>
                          <a:spcPts val="0"/>
                        </a:spcBef>
                        <a:spcAft>
                          <a:spcPts val="0"/>
                        </a:spcAft>
                        <a:buNone/>
                      </a:pPr>
                      <a:r>
                        <a:rPr lang="es-BO" sz="2000"/>
                        <a:t>BALIZA  ROJA</a:t>
                      </a:r>
                      <a:endParaRPr/>
                    </a:p>
                  </a:txBody>
                  <a:tcPr marT="45725" marB="45725" marR="91450" marL="91450"/>
                </a:tc>
              </a:tr>
              <a:tr h="370850">
                <a:tc>
                  <a:txBody>
                    <a:bodyPr/>
                    <a:lstStyle/>
                    <a:p>
                      <a:pPr indent="0" lvl="0" marL="0" marR="0" rtl="0" algn="l">
                        <a:spcBef>
                          <a:spcPts val="0"/>
                        </a:spcBef>
                        <a:spcAft>
                          <a:spcPts val="0"/>
                        </a:spcAft>
                        <a:buNone/>
                      </a:pPr>
                      <a:r>
                        <a:rPr lang="es-BO" sz="2000"/>
                        <a:t>7</a:t>
                      </a:r>
                      <a:endParaRPr sz="20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Garamond"/>
                        <a:buNone/>
                      </a:pPr>
                      <a:r>
                        <a:rPr lang="es-BO" sz="2000" u="none" cap="none" strike="noStrike"/>
                        <a:t>O:0/4</a:t>
                      </a:r>
                      <a:endParaRPr b="0" i="0" sz="2000" u="none" cap="none" strike="noStrike">
                        <a:solidFill>
                          <a:srgbClr val="000000"/>
                        </a:solidFill>
                        <a:latin typeface="Gill Sans"/>
                        <a:ea typeface="Gill Sans"/>
                        <a:cs typeface="Gill Sans"/>
                        <a:sym typeface="Gill Sans"/>
                      </a:endParaRPr>
                    </a:p>
                  </a:txBody>
                  <a:tcPr marT="45725" marB="45725" marR="91450" marL="91450"/>
                </a:tc>
                <a:tc>
                  <a:txBody>
                    <a:bodyPr/>
                    <a:lstStyle/>
                    <a:p>
                      <a:pPr indent="0" lvl="0" marL="0" marR="0" rtl="0" algn="l">
                        <a:spcBef>
                          <a:spcPts val="0"/>
                        </a:spcBef>
                        <a:spcAft>
                          <a:spcPts val="0"/>
                        </a:spcAft>
                        <a:buNone/>
                      </a:pPr>
                      <a:r>
                        <a:rPr lang="es-BO" sz="2000"/>
                        <a:t>BALIZA VERDE</a:t>
                      </a:r>
                      <a:endParaRPr sz="2000"/>
                    </a:p>
                  </a:txBody>
                  <a:tcPr marT="45725" marB="45725" marR="91450" marL="91450"/>
                </a:tc>
              </a:tr>
              <a:tr h="370850">
                <a:tc>
                  <a:txBody>
                    <a:bodyPr/>
                    <a:lstStyle/>
                    <a:p>
                      <a:pPr indent="0" lvl="0" marL="0" marR="0" rtl="0" algn="l">
                        <a:spcBef>
                          <a:spcPts val="0"/>
                        </a:spcBef>
                        <a:spcAft>
                          <a:spcPts val="0"/>
                        </a:spcAft>
                        <a:buNone/>
                      </a:pPr>
                      <a:r>
                        <a:rPr lang="es-BO" sz="2000"/>
                        <a:t>8</a:t>
                      </a:r>
                      <a:endParaRPr sz="20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Garamond"/>
                        <a:buNone/>
                      </a:pPr>
                      <a:r>
                        <a:rPr lang="es-BO" sz="2000" u="none" cap="none" strike="noStrike"/>
                        <a:t>O:0/5</a:t>
                      </a:r>
                      <a:endParaRPr b="0" i="0" sz="2000" u="none" cap="none" strike="noStrike">
                        <a:solidFill>
                          <a:srgbClr val="000000"/>
                        </a:solidFill>
                        <a:latin typeface="Gill Sans"/>
                        <a:ea typeface="Gill Sans"/>
                        <a:cs typeface="Gill Sans"/>
                        <a:sym typeface="Gill Sans"/>
                      </a:endParaRPr>
                    </a:p>
                  </a:txBody>
                  <a:tcPr marT="45725" marB="45725" marR="91450" marL="91450"/>
                </a:tc>
                <a:tc>
                  <a:txBody>
                    <a:bodyPr/>
                    <a:lstStyle/>
                    <a:p>
                      <a:pPr indent="0" lvl="0" marL="0" marR="0" rtl="0" algn="l">
                        <a:spcBef>
                          <a:spcPts val="0"/>
                        </a:spcBef>
                        <a:spcAft>
                          <a:spcPts val="0"/>
                        </a:spcAft>
                        <a:buNone/>
                      </a:pPr>
                      <a:r>
                        <a:rPr lang="es-BO" sz="2000"/>
                        <a:t>VARIADOR DE FRECUENCIA</a:t>
                      </a:r>
                      <a:endParaRPr sz="2000"/>
                    </a:p>
                  </a:txBody>
                  <a:tcPr marT="45725" marB="45725" marR="91450" marL="91450"/>
                </a:tc>
              </a:tr>
            </a:tbl>
          </a:graphicData>
        </a:graphic>
      </p:graphicFrame>
      <p:sp>
        <p:nvSpPr>
          <p:cNvPr id="1776" name="Google Shape;1776;p112"/>
          <p:cNvSpPr/>
          <p:nvPr/>
        </p:nvSpPr>
        <p:spPr>
          <a:xfrm>
            <a:off x="949234" y="5466833"/>
            <a:ext cx="9997440" cy="879566"/>
          </a:xfrm>
          <a:prstGeom prst="roundRect">
            <a:avLst>
              <a:gd fmla="val 16667" name="adj"/>
            </a:avLst>
          </a:prstGeom>
          <a:solidFill>
            <a:srgbClr val="C00000"/>
          </a:solidFill>
          <a:ln cap="flat" cmpd="sng" w="12700">
            <a:solidFill>
              <a:srgbClr val="6A80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BO" sz="1800">
                <a:solidFill>
                  <a:schemeClr val="lt1"/>
                </a:solidFill>
                <a:latin typeface="Garamond"/>
                <a:ea typeface="Garamond"/>
                <a:cs typeface="Garamond"/>
                <a:sym typeface="Garamond"/>
              </a:rPr>
              <a:t>PARA EL FUNCIONAMIENTO DEL PROCESO SE UTILIZARA LA HERRAMIENTA DE SOTWARE</a:t>
            </a:r>
            <a:endParaRPr/>
          </a:p>
          <a:p>
            <a:pPr indent="0" lvl="0" marL="0" marR="0" rtl="0" algn="ctr">
              <a:spcBef>
                <a:spcPts val="0"/>
              </a:spcBef>
              <a:spcAft>
                <a:spcPts val="0"/>
              </a:spcAft>
              <a:buNone/>
            </a:pPr>
            <a:r>
              <a:rPr b="1" lang="es-BO" sz="1800">
                <a:solidFill>
                  <a:schemeClr val="lt1"/>
                </a:solidFill>
                <a:latin typeface="Garamond"/>
                <a:ea typeface="Garamond"/>
                <a:cs typeface="Garamond"/>
                <a:sym typeface="Garamond"/>
              </a:rPr>
              <a:t>RS Logic500, EL CUAL UTILIZA EL LENGUAJE LADDER. </a:t>
            </a:r>
            <a:endParaRPr b="1" sz="1800">
              <a:solidFill>
                <a:schemeClr val="lt1"/>
              </a:solidFill>
              <a:latin typeface="Garamond"/>
              <a:ea typeface="Garamond"/>
              <a:cs typeface="Garamond"/>
              <a:sym typeface="Garamon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0" name="Shape 1780"/>
        <p:cNvGrpSpPr/>
        <p:nvPr/>
      </p:nvGrpSpPr>
      <p:grpSpPr>
        <a:xfrm>
          <a:off x="0" y="0"/>
          <a:ext cx="0" cy="0"/>
          <a:chOff x="0" y="0"/>
          <a:chExt cx="0" cy="0"/>
        </a:xfrm>
      </p:grpSpPr>
      <p:sp>
        <p:nvSpPr>
          <p:cNvPr id="1781" name="Google Shape;1781;p113"/>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400"/>
              <a:buFont typeface="Garamond"/>
              <a:buNone/>
            </a:pPr>
            <a:r>
              <a:rPr b="1" lang="es-BO" sz="4400"/>
              <a:t>Lenguaje ladder,  esquema de contactos </a:t>
            </a:r>
            <a:endParaRPr b="1" sz="4400"/>
          </a:p>
        </p:txBody>
      </p:sp>
      <p:sp>
        <p:nvSpPr>
          <p:cNvPr id="1782" name="Google Shape;1782;p113"/>
          <p:cNvSpPr txBox="1"/>
          <p:nvPr>
            <p:ph idx="1" type="body"/>
          </p:nvPr>
        </p:nvSpPr>
        <p:spPr>
          <a:xfrm>
            <a:off x="975360" y="2014194"/>
            <a:ext cx="5120640" cy="3965575"/>
          </a:xfrm>
          <a:prstGeom prst="rect">
            <a:avLst/>
          </a:prstGeom>
          <a:noFill/>
          <a:ln>
            <a:noFill/>
          </a:ln>
        </p:spPr>
        <p:txBody>
          <a:bodyPr anchorCtr="0" anchor="t" bIns="45700" lIns="91425" spcFirstLastPara="1" rIns="91425" wrap="square" tIns="45700">
            <a:normAutofit/>
          </a:bodyPr>
          <a:lstStyle/>
          <a:p>
            <a:pPr indent="-182880" lvl="0" marL="182880" rtl="0" algn="l">
              <a:lnSpc>
                <a:spcPct val="100000"/>
              </a:lnSpc>
              <a:spcBef>
                <a:spcPts val="0"/>
              </a:spcBef>
              <a:spcAft>
                <a:spcPts val="0"/>
              </a:spcAft>
              <a:buSzPts val="2400"/>
              <a:buFont typeface="Noto Sans Symbols"/>
              <a:buChar char="⮚"/>
            </a:pPr>
            <a:r>
              <a:rPr lang="es-BO" sz="2400"/>
              <a:t>Lenguaje de programación donde se programa mediante símbolos gráficos y en diferentes segmentos. En cada segmento (o escalón), se programa  las diferentes sentencias de la lógica. </a:t>
            </a:r>
            <a:endParaRPr/>
          </a:p>
          <a:p>
            <a:pPr indent="-182880" lvl="0" marL="182880" rtl="0" algn="l">
              <a:lnSpc>
                <a:spcPct val="100000"/>
              </a:lnSpc>
              <a:spcBef>
                <a:spcPts val="900"/>
              </a:spcBef>
              <a:spcAft>
                <a:spcPts val="0"/>
              </a:spcAft>
              <a:buSzPts val="2400"/>
              <a:buFont typeface="Noto Sans Symbols"/>
              <a:buChar char="⮚"/>
            </a:pPr>
            <a:r>
              <a:rPr lang="es-BO" sz="2400"/>
              <a:t>Ladder es uno de los varios lenguajes de programación para los  PLCs estandarizados con IEC 61131-3. </a:t>
            </a:r>
            <a:endParaRPr/>
          </a:p>
        </p:txBody>
      </p:sp>
      <p:pic>
        <p:nvPicPr>
          <p:cNvPr id="1783" name="Google Shape;1783;p113"/>
          <p:cNvPicPr preferRelativeResize="0"/>
          <p:nvPr/>
        </p:nvPicPr>
        <p:blipFill rotWithShape="1">
          <a:blip r:embed="rId3">
            <a:alphaModFix/>
          </a:blip>
          <a:srcRect b="9136" l="0" r="0" t="0"/>
          <a:stretch/>
        </p:blipFill>
        <p:spPr>
          <a:xfrm>
            <a:off x="6096000" y="2115911"/>
            <a:ext cx="5245854" cy="3460478"/>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7" name="Shape 1787"/>
        <p:cNvGrpSpPr/>
        <p:nvPr/>
      </p:nvGrpSpPr>
      <p:grpSpPr>
        <a:xfrm>
          <a:off x="0" y="0"/>
          <a:ext cx="0" cy="0"/>
          <a:chOff x="0" y="0"/>
          <a:chExt cx="0" cy="0"/>
        </a:xfrm>
      </p:grpSpPr>
      <p:pic>
        <p:nvPicPr>
          <p:cNvPr id="1788" name="Google Shape;1788;p114"/>
          <p:cNvPicPr preferRelativeResize="0"/>
          <p:nvPr>
            <p:ph idx="1" type="body"/>
          </p:nvPr>
        </p:nvPicPr>
        <p:blipFill rotWithShape="1">
          <a:blip r:embed="rId3">
            <a:alphaModFix/>
          </a:blip>
          <a:srcRect b="0" l="0" r="0" t="2544"/>
          <a:stretch/>
        </p:blipFill>
        <p:spPr>
          <a:xfrm>
            <a:off x="671301" y="860084"/>
            <a:ext cx="10849397" cy="2568916"/>
          </a:xfrm>
          <a:prstGeom prst="rect">
            <a:avLst/>
          </a:prstGeom>
          <a:noFill/>
          <a:ln>
            <a:noFill/>
          </a:ln>
        </p:spPr>
      </p:pic>
      <p:sp>
        <p:nvSpPr>
          <p:cNvPr id="1789" name="Google Shape;1789;p114"/>
          <p:cNvSpPr/>
          <p:nvPr/>
        </p:nvSpPr>
        <p:spPr>
          <a:xfrm>
            <a:off x="1404984" y="3787615"/>
            <a:ext cx="4995816" cy="28007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BO" sz="2800">
                <a:solidFill>
                  <a:srgbClr val="202122"/>
                </a:solidFill>
                <a:latin typeface="Garamond"/>
                <a:ea typeface="Garamond"/>
                <a:cs typeface="Garamond"/>
                <a:sym typeface="Garamond"/>
              </a:rPr>
              <a:t>Estructura general de la distribución de todo programa Ladder, contactos a la izquierda y bobinas y otros elementos a la derecha.</a:t>
            </a:r>
            <a:endParaRPr/>
          </a:p>
          <a:p>
            <a:pPr indent="0" lvl="0" marL="0" marR="0" rtl="0" algn="l">
              <a:spcBef>
                <a:spcPts val="0"/>
              </a:spcBef>
              <a:spcAft>
                <a:spcPts val="0"/>
              </a:spcAft>
              <a:buNone/>
            </a:pPr>
            <a:br>
              <a:rPr b="0" i="0" lang="es-BO" sz="1800">
                <a:solidFill>
                  <a:srgbClr val="202122"/>
                </a:solidFill>
                <a:latin typeface="Arial"/>
                <a:ea typeface="Arial"/>
                <a:cs typeface="Arial"/>
                <a:sym typeface="Arial"/>
              </a:rPr>
            </a:br>
            <a:endParaRPr sz="1800">
              <a:solidFill>
                <a:schemeClr val="dk1"/>
              </a:solidFill>
              <a:latin typeface="Garamond"/>
              <a:ea typeface="Garamond"/>
              <a:cs typeface="Garamond"/>
              <a:sym typeface="Garamond"/>
            </a:endParaRPr>
          </a:p>
        </p:txBody>
      </p:sp>
      <p:pic>
        <p:nvPicPr>
          <p:cNvPr id="1790" name="Google Shape;1790;p114"/>
          <p:cNvPicPr preferRelativeResize="0"/>
          <p:nvPr/>
        </p:nvPicPr>
        <p:blipFill rotWithShape="1">
          <a:blip r:embed="rId4">
            <a:alphaModFix/>
          </a:blip>
          <a:srcRect b="0" l="0" r="0" t="0"/>
          <a:stretch/>
        </p:blipFill>
        <p:spPr>
          <a:xfrm>
            <a:off x="7120433" y="3753380"/>
            <a:ext cx="3390811" cy="2429214"/>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4" name="Shape 1794"/>
        <p:cNvGrpSpPr/>
        <p:nvPr/>
      </p:nvGrpSpPr>
      <p:grpSpPr>
        <a:xfrm>
          <a:off x="0" y="0"/>
          <a:ext cx="0" cy="0"/>
          <a:chOff x="0" y="0"/>
          <a:chExt cx="0" cy="0"/>
        </a:xfrm>
      </p:grpSpPr>
      <p:sp>
        <p:nvSpPr>
          <p:cNvPr id="1795" name="Google Shape;1795;p115"/>
          <p:cNvSpPr txBox="1"/>
          <p:nvPr>
            <p:ph type="title"/>
          </p:nvPr>
        </p:nvSpPr>
        <p:spPr>
          <a:xfrm>
            <a:off x="829568" y="563228"/>
            <a:ext cx="9182387" cy="10804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b="1" lang="es-BO"/>
              <a:t>Programa en lenguaje ladder</a:t>
            </a:r>
            <a:endParaRPr b="1"/>
          </a:p>
        </p:txBody>
      </p:sp>
      <p:pic>
        <p:nvPicPr>
          <p:cNvPr id="1796" name="Google Shape;1796;p115"/>
          <p:cNvPicPr preferRelativeResize="0"/>
          <p:nvPr>
            <p:ph idx="1" type="body"/>
          </p:nvPr>
        </p:nvPicPr>
        <p:blipFill rotWithShape="1">
          <a:blip r:embed="rId3">
            <a:alphaModFix/>
          </a:blip>
          <a:srcRect b="0" l="0" r="0" t="0"/>
          <a:stretch/>
        </p:blipFill>
        <p:spPr>
          <a:xfrm>
            <a:off x="1208134" y="2070553"/>
            <a:ext cx="3735958" cy="2959329"/>
          </a:xfrm>
          <a:prstGeom prst="rect">
            <a:avLst/>
          </a:prstGeom>
          <a:noFill/>
          <a:ln>
            <a:noFill/>
          </a:ln>
        </p:spPr>
      </p:pic>
      <p:sp>
        <p:nvSpPr>
          <p:cNvPr id="1797" name="Google Shape;1797;p115"/>
          <p:cNvSpPr/>
          <p:nvPr/>
        </p:nvSpPr>
        <p:spPr>
          <a:xfrm>
            <a:off x="5675087" y="5833107"/>
            <a:ext cx="598634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2400">
                <a:solidFill>
                  <a:schemeClr val="dk1"/>
                </a:solidFill>
                <a:latin typeface="Garamond"/>
                <a:ea typeface="Garamond"/>
                <a:cs typeface="Garamond"/>
                <a:sym typeface="Garamond"/>
              </a:rPr>
              <a:t>Entorno de programación utilizado: rslogix 500 </a:t>
            </a:r>
            <a:endParaRPr sz="2400">
              <a:solidFill>
                <a:schemeClr val="dk1"/>
              </a:solidFill>
              <a:latin typeface="Garamond"/>
              <a:ea typeface="Garamond"/>
              <a:cs typeface="Garamond"/>
              <a:sym typeface="Garamond"/>
            </a:endParaRPr>
          </a:p>
        </p:txBody>
      </p:sp>
      <p:sp>
        <p:nvSpPr>
          <p:cNvPr id="1798" name="Google Shape;1798;p115"/>
          <p:cNvSpPr/>
          <p:nvPr/>
        </p:nvSpPr>
        <p:spPr>
          <a:xfrm>
            <a:off x="2238029" y="1701221"/>
            <a:ext cx="207460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Entradas del PLC</a:t>
            </a:r>
            <a:endParaRPr/>
          </a:p>
        </p:txBody>
      </p:sp>
      <p:sp>
        <p:nvSpPr>
          <p:cNvPr id="1799" name="Google Shape;1799;p115"/>
          <p:cNvSpPr/>
          <p:nvPr/>
        </p:nvSpPr>
        <p:spPr>
          <a:xfrm>
            <a:off x="2238029" y="5154495"/>
            <a:ext cx="18710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Garamond"/>
                <a:ea typeface="Garamond"/>
                <a:cs typeface="Garamond"/>
                <a:sym typeface="Garamond"/>
              </a:rPr>
              <a:t>Salidas del PLC</a:t>
            </a:r>
            <a:endParaRPr/>
          </a:p>
        </p:txBody>
      </p:sp>
      <p:sp>
        <p:nvSpPr>
          <p:cNvPr id="1800" name="Google Shape;1800;p115"/>
          <p:cNvSpPr/>
          <p:nvPr/>
        </p:nvSpPr>
        <p:spPr>
          <a:xfrm rot="-5400000">
            <a:off x="2894141" y="1371108"/>
            <a:ext cx="447166" cy="1908434"/>
          </a:xfrm>
          <a:prstGeom prst="rightBrace">
            <a:avLst>
              <a:gd fmla="val 8333" name="adj1"/>
              <a:gd fmla="val 50000" name="adj2"/>
            </a:avLst>
          </a:prstGeom>
          <a:no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1801" name="Google Shape;1801;p115"/>
          <p:cNvSpPr/>
          <p:nvPr/>
        </p:nvSpPr>
        <p:spPr>
          <a:xfrm rot="5400000">
            <a:off x="2894141" y="3976695"/>
            <a:ext cx="447166" cy="1908434"/>
          </a:xfrm>
          <a:prstGeom prst="rightBrace">
            <a:avLst>
              <a:gd fmla="val 8333" name="adj1"/>
              <a:gd fmla="val 50000" name="adj2"/>
            </a:avLst>
          </a:prstGeom>
          <a:no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pic>
        <p:nvPicPr>
          <p:cNvPr id="1802" name="Google Shape;1802;p115"/>
          <p:cNvPicPr preferRelativeResize="0"/>
          <p:nvPr/>
        </p:nvPicPr>
        <p:blipFill rotWithShape="1">
          <a:blip r:embed="rId4">
            <a:alphaModFix/>
          </a:blip>
          <a:srcRect b="0" l="0" r="0" t="0"/>
          <a:stretch/>
        </p:blipFill>
        <p:spPr>
          <a:xfrm>
            <a:off x="5668623" y="1643726"/>
            <a:ext cx="5833854" cy="4116929"/>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6" name="Shape 1806"/>
        <p:cNvGrpSpPr/>
        <p:nvPr/>
      </p:nvGrpSpPr>
      <p:grpSpPr>
        <a:xfrm>
          <a:off x="0" y="0"/>
          <a:ext cx="0" cy="0"/>
          <a:chOff x="0" y="0"/>
          <a:chExt cx="0" cy="0"/>
        </a:xfrm>
      </p:grpSpPr>
      <p:pic>
        <p:nvPicPr>
          <p:cNvPr id="1807" name="Google Shape;1807;p116"/>
          <p:cNvPicPr preferRelativeResize="0"/>
          <p:nvPr/>
        </p:nvPicPr>
        <p:blipFill rotWithShape="1">
          <a:blip r:embed="rId3">
            <a:alphaModFix/>
          </a:blip>
          <a:srcRect b="78022" l="0" r="0" t="0"/>
          <a:stretch/>
        </p:blipFill>
        <p:spPr>
          <a:xfrm>
            <a:off x="1051159" y="472200"/>
            <a:ext cx="4807132" cy="1197666"/>
          </a:xfrm>
          <a:prstGeom prst="rect">
            <a:avLst/>
          </a:prstGeom>
          <a:noFill/>
          <a:ln>
            <a:noFill/>
          </a:ln>
        </p:spPr>
      </p:pic>
      <p:pic>
        <p:nvPicPr>
          <p:cNvPr id="1808" name="Google Shape;1808;p116"/>
          <p:cNvPicPr preferRelativeResize="0"/>
          <p:nvPr/>
        </p:nvPicPr>
        <p:blipFill rotWithShape="1">
          <a:blip r:embed="rId3">
            <a:alphaModFix/>
          </a:blip>
          <a:srcRect b="42226" l="0" r="0" t="44759"/>
          <a:stretch/>
        </p:blipFill>
        <p:spPr>
          <a:xfrm>
            <a:off x="5521235" y="3347356"/>
            <a:ext cx="5986342" cy="1227909"/>
          </a:xfrm>
          <a:prstGeom prst="rect">
            <a:avLst/>
          </a:prstGeom>
          <a:noFill/>
          <a:ln>
            <a:noFill/>
          </a:ln>
        </p:spPr>
      </p:pic>
      <p:sp>
        <p:nvSpPr>
          <p:cNvPr id="1809" name="Google Shape;1809;p116"/>
          <p:cNvSpPr/>
          <p:nvPr/>
        </p:nvSpPr>
        <p:spPr>
          <a:xfrm>
            <a:off x="6740434" y="592183"/>
            <a:ext cx="4206240" cy="792480"/>
          </a:xfrm>
          <a:prstGeom prst="roundRect">
            <a:avLst>
              <a:gd fmla="val 16667" name="adj"/>
            </a:avLst>
          </a:prstGeom>
          <a:solidFill>
            <a:srgbClr val="C00000"/>
          </a:solidFill>
          <a:ln cap="flat" cmpd="sng" w="127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chemeClr val="lt1"/>
                </a:solidFill>
                <a:latin typeface="Garamond"/>
                <a:ea typeface="Garamond"/>
                <a:cs typeface="Garamond"/>
                <a:sym typeface="Garamond"/>
              </a:rPr>
              <a:t>Las entradas del botón I03 o I0:4, activan la baliza de señalización: Q0:3: rojo y Q0:4 verde.</a:t>
            </a:r>
            <a:endParaRPr sz="1800">
              <a:solidFill>
                <a:schemeClr val="lt1"/>
              </a:solidFill>
              <a:latin typeface="Garamond"/>
              <a:ea typeface="Garamond"/>
              <a:cs typeface="Garamond"/>
              <a:sym typeface="Garamond"/>
            </a:endParaRPr>
          </a:p>
        </p:txBody>
      </p:sp>
      <p:sp>
        <p:nvSpPr>
          <p:cNvPr id="1810" name="Google Shape;1810;p116"/>
          <p:cNvSpPr/>
          <p:nvPr/>
        </p:nvSpPr>
        <p:spPr>
          <a:xfrm>
            <a:off x="684422" y="5091835"/>
            <a:ext cx="4206240" cy="792480"/>
          </a:xfrm>
          <a:prstGeom prst="roundRect">
            <a:avLst>
              <a:gd fmla="val 16667" name="adj"/>
            </a:avLst>
          </a:prstGeom>
          <a:solidFill>
            <a:srgbClr val="C00000"/>
          </a:solidFill>
          <a:ln cap="flat" cmpd="sng" w="127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chemeClr val="lt1"/>
                </a:solidFill>
                <a:latin typeface="Garamond"/>
                <a:ea typeface="Garamond"/>
                <a:cs typeface="Garamond"/>
                <a:sym typeface="Garamond"/>
              </a:rPr>
              <a:t>Los sensores vibratorios I0:0 y I0:1, activan y desactivan el variador de frecuencia: Q0:0: derecha</a:t>
            </a:r>
            <a:endParaRPr sz="1800">
              <a:solidFill>
                <a:schemeClr val="lt1"/>
              </a:solidFill>
              <a:latin typeface="Garamond"/>
              <a:ea typeface="Garamond"/>
              <a:cs typeface="Garamond"/>
              <a:sym typeface="Garamond"/>
            </a:endParaRPr>
          </a:p>
        </p:txBody>
      </p:sp>
      <p:sp>
        <p:nvSpPr>
          <p:cNvPr id="1811" name="Google Shape;1811;p116"/>
          <p:cNvSpPr/>
          <p:nvPr/>
        </p:nvSpPr>
        <p:spPr>
          <a:xfrm>
            <a:off x="805542" y="2489563"/>
            <a:ext cx="3990702" cy="1471748"/>
          </a:xfrm>
          <a:prstGeom prst="roundRect">
            <a:avLst>
              <a:gd fmla="val 16667" name="adj"/>
            </a:avLst>
          </a:prstGeom>
          <a:solidFill>
            <a:srgbClr val="C00000"/>
          </a:solidFill>
          <a:ln cap="flat" cmpd="sng" w="127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BO" sz="1800">
                <a:solidFill>
                  <a:schemeClr val="lt1"/>
                </a:solidFill>
                <a:latin typeface="Garamond"/>
                <a:ea typeface="Garamond"/>
                <a:cs typeface="Garamond"/>
                <a:sym typeface="Garamond"/>
              </a:rPr>
              <a:t>Los sensores vibratorios I0:0 y I0:1, activan y desactivan las eletrovalvulas : Q0:0: derecha y Q0:1 izquierda.</a:t>
            </a:r>
            <a:endParaRPr sz="1800">
              <a:solidFill>
                <a:schemeClr val="lt1"/>
              </a:solidFill>
              <a:latin typeface="Garamond"/>
              <a:ea typeface="Garamond"/>
              <a:cs typeface="Garamond"/>
              <a:sym typeface="Garamond"/>
            </a:endParaRPr>
          </a:p>
        </p:txBody>
      </p:sp>
      <p:sp>
        <p:nvSpPr>
          <p:cNvPr id="1812" name="Google Shape;1812;p116"/>
          <p:cNvSpPr/>
          <p:nvPr/>
        </p:nvSpPr>
        <p:spPr>
          <a:xfrm>
            <a:off x="4801685" y="2154275"/>
            <a:ext cx="644434" cy="615048"/>
          </a:xfrm>
          <a:prstGeom prst="rightArrow">
            <a:avLst>
              <a:gd fmla="val 50000" name="adj1"/>
              <a:gd fmla="val 50000" name="adj2"/>
            </a:avLst>
          </a:prstGeom>
          <a:solidFill>
            <a:srgbClr val="C00000"/>
          </a:solidFill>
          <a:ln cap="flat" cmpd="sng" w="127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813" name="Google Shape;1813;p116"/>
          <p:cNvSpPr/>
          <p:nvPr/>
        </p:nvSpPr>
        <p:spPr>
          <a:xfrm>
            <a:off x="5959728" y="628100"/>
            <a:ext cx="679268" cy="644434"/>
          </a:xfrm>
          <a:prstGeom prst="leftArrow">
            <a:avLst>
              <a:gd fmla="val 50000" name="adj1"/>
              <a:gd fmla="val 50000" name="adj2"/>
            </a:avLst>
          </a:prstGeom>
          <a:solidFill>
            <a:srgbClr val="C00000"/>
          </a:solidFill>
          <a:ln cap="flat" cmpd="sng" w="127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814" name="Google Shape;1814;p116"/>
          <p:cNvSpPr/>
          <p:nvPr/>
        </p:nvSpPr>
        <p:spPr>
          <a:xfrm>
            <a:off x="4866315" y="5165858"/>
            <a:ext cx="679268" cy="644434"/>
          </a:xfrm>
          <a:prstGeom prst="leftArrow">
            <a:avLst>
              <a:gd fmla="val 50000" name="adj1"/>
              <a:gd fmla="val 50000" name="adj2"/>
            </a:avLst>
          </a:prstGeom>
          <a:solidFill>
            <a:srgbClr val="C00000"/>
          </a:solidFill>
          <a:ln cap="flat" cmpd="sng" w="127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815" name="Google Shape;1815;p116"/>
          <p:cNvSpPr/>
          <p:nvPr/>
        </p:nvSpPr>
        <p:spPr>
          <a:xfrm>
            <a:off x="4836522" y="3531867"/>
            <a:ext cx="644434" cy="615048"/>
          </a:xfrm>
          <a:prstGeom prst="rightArrow">
            <a:avLst>
              <a:gd fmla="val 50000" name="adj1"/>
              <a:gd fmla="val 50000" name="adj2"/>
            </a:avLst>
          </a:prstGeom>
          <a:solidFill>
            <a:srgbClr val="C00000"/>
          </a:solidFill>
          <a:ln cap="flat" cmpd="sng" w="127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pic>
        <p:nvPicPr>
          <p:cNvPr id="1816" name="Google Shape;1816;p116"/>
          <p:cNvPicPr preferRelativeResize="0"/>
          <p:nvPr/>
        </p:nvPicPr>
        <p:blipFill rotWithShape="1">
          <a:blip r:embed="rId4">
            <a:alphaModFix/>
          </a:blip>
          <a:srcRect b="4670" l="0" r="0" t="66790"/>
          <a:stretch/>
        </p:blipFill>
        <p:spPr>
          <a:xfrm>
            <a:off x="5521236" y="4816835"/>
            <a:ext cx="5986342" cy="1227908"/>
          </a:xfrm>
          <a:prstGeom prst="rect">
            <a:avLst/>
          </a:prstGeom>
          <a:noFill/>
          <a:ln>
            <a:noFill/>
          </a:ln>
        </p:spPr>
      </p:pic>
      <p:pic>
        <p:nvPicPr>
          <p:cNvPr id="1817" name="Google Shape;1817;p116"/>
          <p:cNvPicPr preferRelativeResize="0"/>
          <p:nvPr/>
        </p:nvPicPr>
        <p:blipFill rotWithShape="1">
          <a:blip r:embed="rId4">
            <a:alphaModFix/>
          </a:blip>
          <a:srcRect b="46623" l="-692" r="691" t="25832"/>
          <a:stretch/>
        </p:blipFill>
        <p:spPr>
          <a:xfrm>
            <a:off x="5480956" y="1844162"/>
            <a:ext cx="6026621" cy="1235273"/>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1" name="Shape 1821"/>
        <p:cNvGrpSpPr/>
        <p:nvPr/>
      </p:nvGrpSpPr>
      <p:grpSpPr>
        <a:xfrm>
          <a:off x="0" y="0"/>
          <a:ext cx="0" cy="0"/>
          <a:chOff x="0" y="0"/>
          <a:chExt cx="0" cy="0"/>
        </a:xfrm>
      </p:grpSpPr>
      <p:sp>
        <p:nvSpPr>
          <p:cNvPr id="1822" name="Google Shape;1822;p117"/>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b="1" lang="es-BO"/>
              <a:t>MATENIMIENTO PREVENTIVO</a:t>
            </a:r>
            <a:endParaRPr b="1"/>
          </a:p>
        </p:txBody>
      </p:sp>
      <p:grpSp>
        <p:nvGrpSpPr>
          <p:cNvPr id="1823" name="Google Shape;1823;p117"/>
          <p:cNvGrpSpPr/>
          <p:nvPr/>
        </p:nvGrpSpPr>
        <p:grpSpPr>
          <a:xfrm>
            <a:off x="1312638" y="1586290"/>
            <a:ext cx="10178321" cy="4849200"/>
            <a:chOff x="0" y="31810"/>
            <a:chExt cx="10178321" cy="4849200"/>
          </a:xfrm>
        </p:grpSpPr>
        <p:sp>
          <p:nvSpPr>
            <p:cNvPr id="1824" name="Google Shape;1824;p117"/>
            <p:cNvSpPr/>
            <p:nvPr/>
          </p:nvSpPr>
          <p:spPr>
            <a:xfrm>
              <a:off x="0" y="31810"/>
              <a:ext cx="10178321" cy="561599"/>
            </a:xfrm>
            <a:prstGeom prst="roundRect">
              <a:avLst>
                <a:gd fmla="val 16667" name="adj"/>
              </a:avLst>
            </a:prstGeom>
            <a:gradFill>
              <a:gsLst>
                <a:gs pos="0">
                  <a:srgbClr val="91B0C8"/>
                </a:gs>
                <a:gs pos="50000">
                  <a:srgbClr val="8EAFC8"/>
                </a:gs>
                <a:gs pos="100000">
                  <a:srgbClr val="8DAEC7"/>
                </a:gs>
              </a:gsLst>
              <a:lin ang="5400000" scaled="0"/>
            </a:gradFill>
            <a:ln>
              <a:noFill/>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117"/>
            <p:cNvSpPr txBox="1"/>
            <p:nvPr/>
          </p:nvSpPr>
          <p:spPr>
            <a:xfrm>
              <a:off x="27415" y="59225"/>
              <a:ext cx="10123491" cy="506769"/>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Mantenimiento general del sistema.</a:t>
              </a:r>
              <a:endParaRPr b="1" sz="2400">
                <a:solidFill>
                  <a:schemeClr val="dk1"/>
                </a:solidFill>
                <a:latin typeface="Garamond"/>
                <a:ea typeface="Garamond"/>
                <a:cs typeface="Garamond"/>
                <a:sym typeface="Garamond"/>
              </a:endParaRPr>
            </a:p>
          </p:txBody>
        </p:sp>
        <p:sp>
          <p:nvSpPr>
            <p:cNvPr id="1826" name="Google Shape;1826;p117"/>
            <p:cNvSpPr/>
            <p:nvPr/>
          </p:nvSpPr>
          <p:spPr>
            <a:xfrm>
              <a:off x="0" y="593410"/>
              <a:ext cx="10178321" cy="17884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117"/>
            <p:cNvSpPr txBox="1"/>
            <p:nvPr/>
          </p:nvSpPr>
          <p:spPr>
            <a:xfrm>
              <a:off x="0" y="593410"/>
              <a:ext cx="10178321" cy="1788480"/>
            </a:xfrm>
            <a:prstGeom prst="rect">
              <a:avLst/>
            </a:prstGeom>
            <a:noFill/>
            <a:ln>
              <a:noFill/>
            </a:ln>
          </p:spPr>
          <p:txBody>
            <a:bodyPr anchorCtr="0" anchor="t" bIns="30475" lIns="323150" spcFirstLastPara="1" rIns="170675" wrap="square" tIns="30475">
              <a:noAutofit/>
            </a:bodyPr>
            <a:lstStyle/>
            <a:p>
              <a:pPr indent="-171450" lvl="1" marL="171450" marR="0" rtl="0" algn="l">
                <a:lnSpc>
                  <a:spcPct val="90000"/>
                </a:lnSpc>
                <a:spcBef>
                  <a:spcPts val="0"/>
                </a:spcBef>
                <a:spcAft>
                  <a:spcPts val="0"/>
                </a:spcAft>
                <a:buClr>
                  <a:schemeClr val="dk1"/>
                </a:buClr>
                <a:buSzPts val="1900"/>
                <a:buFont typeface="Garamond"/>
                <a:buChar char="•"/>
              </a:pPr>
              <a:r>
                <a:rPr b="0" i="0" lang="es-BO" sz="1900" u="none" cap="none" strike="noStrike">
                  <a:solidFill>
                    <a:schemeClr val="dk1"/>
                  </a:solidFill>
                  <a:latin typeface="Garamond"/>
                  <a:ea typeface="Garamond"/>
                  <a:cs typeface="Garamond"/>
                  <a:sym typeface="Garamond"/>
                </a:rPr>
                <a:t>Se debe realizar mantenimiento (limpieza) a los componentes de control cada cierto tiempo.</a:t>
              </a:r>
              <a:endParaRPr b="0" i="0" sz="1900" u="none" cap="none" strike="noStrike">
                <a:solidFill>
                  <a:schemeClr val="dk1"/>
                </a:solidFill>
                <a:latin typeface="Garamond"/>
                <a:ea typeface="Garamond"/>
                <a:cs typeface="Garamond"/>
                <a:sym typeface="Garamond"/>
              </a:endParaRPr>
            </a:p>
            <a:p>
              <a:pPr indent="-171450" lvl="1" marL="171450" marR="0" rtl="0" algn="l">
                <a:lnSpc>
                  <a:spcPct val="90000"/>
                </a:lnSpc>
                <a:spcBef>
                  <a:spcPts val="380"/>
                </a:spcBef>
                <a:spcAft>
                  <a:spcPts val="0"/>
                </a:spcAft>
                <a:buClr>
                  <a:schemeClr val="dk1"/>
                </a:buClr>
                <a:buSzPts val="1900"/>
                <a:buFont typeface="Garamond"/>
                <a:buChar char="•"/>
              </a:pPr>
              <a:r>
                <a:rPr b="0" i="0" lang="es-BO" sz="1900" u="none" cap="none" strike="noStrike">
                  <a:solidFill>
                    <a:schemeClr val="dk1"/>
                  </a:solidFill>
                  <a:latin typeface="Garamond"/>
                  <a:ea typeface="Garamond"/>
                  <a:cs typeface="Garamond"/>
                  <a:sym typeface="Garamond"/>
                </a:rPr>
                <a:t>Mantener el liquido limpio y libre de impurezas.</a:t>
              </a:r>
              <a:endParaRPr b="0" i="0" sz="1900" u="none" cap="none" strike="noStrike">
                <a:solidFill>
                  <a:schemeClr val="dk1"/>
                </a:solidFill>
                <a:latin typeface="Garamond"/>
                <a:ea typeface="Garamond"/>
                <a:cs typeface="Garamond"/>
                <a:sym typeface="Garamond"/>
              </a:endParaRPr>
            </a:p>
            <a:p>
              <a:pPr indent="-171450" lvl="1" marL="171450" marR="0" rtl="0" algn="l">
                <a:lnSpc>
                  <a:spcPct val="90000"/>
                </a:lnSpc>
                <a:spcBef>
                  <a:spcPts val="380"/>
                </a:spcBef>
                <a:spcAft>
                  <a:spcPts val="0"/>
                </a:spcAft>
                <a:buClr>
                  <a:schemeClr val="dk1"/>
                </a:buClr>
                <a:buSzPts val="1900"/>
                <a:buFont typeface="Garamond"/>
                <a:buChar char="•"/>
              </a:pPr>
              <a:r>
                <a:rPr b="0" i="0" lang="es-BO" sz="1900" u="none" cap="none" strike="noStrike">
                  <a:solidFill>
                    <a:schemeClr val="dk1"/>
                  </a:solidFill>
                  <a:latin typeface="Garamond"/>
                  <a:ea typeface="Garamond"/>
                  <a:cs typeface="Garamond"/>
                  <a:sym typeface="Garamond"/>
                </a:rPr>
                <a:t>Inspección regular para evitar la acumulación de suciedad que pueda afectar su funcionamiento.</a:t>
              </a:r>
              <a:endParaRPr b="0" i="0" sz="1900" u="none" cap="none" strike="noStrike">
                <a:solidFill>
                  <a:schemeClr val="dk1"/>
                </a:solidFill>
                <a:latin typeface="Garamond"/>
                <a:ea typeface="Garamond"/>
                <a:cs typeface="Garamond"/>
                <a:sym typeface="Garamond"/>
              </a:endParaRPr>
            </a:p>
            <a:p>
              <a:pPr indent="-171450" lvl="1" marL="171450" marR="0" rtl="0" algn="l">
                <a:lnSpc>
                  <a:spcPct val="90000"/>
                </a:lnSpc>
                <a:spcBef>
                  <a:spcPts val="380"/>
                </a:spcBef>
                <a:spcAft>
                  <a:spcPts val="0"/>
                </a:spcAft>
                <a:buClr>
                  <a:schemeClr val="dk1"/>
                </a:buClr>
                <a:buSzPts val="1900"/>
                <a:buFont typeface="Garamond"/>
                <a:buChar char="•"/>
              </a:pPr>
              <a:r>
                <a:rPr b="0" i="0" lang="es-BO" sz="1900" u="none" cap="none" strike="noStrike">
                  <a:solidFill>
                    <a:schemeClr val="dk1"/>
                  </a:solidFill>
                  <a:latin typeface="Garamond"/>
                  <a:ea typeface="Garamond"/>
                  <a:cs typeface="Garamond"/>
                  <a:sym typeface="Garamond"/>
                </a:rPr>
                <a:t>Limpieza adecuada, tomar en cuenta las recomendaciones del fabricante.</a:t>
              </a:r>
              <a:endParaRPr b="0" i="0" sz="1900" u="none" cap="none" strike="noStrike">
                <a:solidFill>
                  <a:schemeClr val="dk1"/>
                </a:solidFill>
                <a:latin typeface="Garamond"/>
                <a:ea typeface="Garamond"/>
                <a:cs typeface="Garamond"/>
                <a:sym typeface="Garamond"/>
              </a:endParaRPr>
            </a:p>
            <a:p>
              <a:pPr indent="-171450" lvl="1" marL="171450" marR="0" rtl="0" algn="l">
                <a:lnSpc>
                  <a:spcPct val="90000"/>
                </a:lnSpc>
                <a:spcBef>
                  <a:spcPts val="380"/>
                </a:spcBef>
                <a:spcAft>
                  <a:spcPts val="0"/>
                </a:spcAft>
                <a:buClr>
                  <a:schemeClr val="dk1"/>
                </a:buClr>
                <a:buSzPts val="1900"/>
                <a:buFont typeface="Garamond"/>
                <a:buChar char="•"/>
              </a:pPr>
              <a:r>
                <a:rPr b="0" i="0" lang="es-BO" sz="1900" u="none" cap="none" strike="noStrike">
                  <a:solidFill>
                    <a:schemeClr val="dk1"/>
                  </a:solidFill>
                  <a:latin typeface="Garamond"/>
                  <a:ea typeface="Garamond"/>
                  <a:cs typeface="Garamond"/>
                  <a:sym typeface="Garamond"/>
                </a:rPr>
                <a:t>Capacitación personal. Incluye la comprensión de limpieza, riesgos de contaminación, registros de acciones.</a:t>
              </a:r>
              <a:endParaRPr b="0" i="0" sz="1900" u="none" cap="none" strike="noStrike">
                <a:solidFill>
                  <a:schemeClr val="dk1"/>
                </a:solidFill>
                <a:latin typeface="Garamond"/>
                <a:ea typeface="Garamond"/>
                <a:cs typeface="Garamond"/>
                <a:sym typeface="Garamond"/>
              </a:endParaRPr>
            </a:p>
          </p:txBody>
        </p:sp>
        <p:sp>
          <p:nvSpPr>
            <p:cNvPr id="1828" name="Google Shape;1828;p117"/>
            <p:cNvSpPr/>
            <p:nvPr/>
          </p:nvSpPr>
          <p:spPr>
            <a:xfrm>
              <a:off x="0" y="2381890"/>
              <a:ext cx="10178321" cy="561599"/>
            </a:xfrm>
            <a:prstGeom prst="roundRect">
              <a:avLst>
                <a:gd fmla="val 16667" name="adj"/>
              </a:avLst>
            </a:prstGeom>
            <a:gradFill>
              <a:gsLst>
                <a:gs pos="0">
                  <a:srgbClr val="91B0C8"/>
                </a:gs>
                <a:gs pos="50000">
                  <a:srgbClr val="8EAFC8"/>
                </a:gs>
                <a:gs pos="100000">
                  <a:srgbClr val="8DAEC7"/>
                </a:gs>
              </a:gsLst>
              <a:lin ang="5400000" scaled="0"/>
            </a:gradFill>
            <a:ln>
              <a:noFill/>
            </a:ln>
            <a:effectLst>
              <a:outerShdw blurRad="38100" rotWithShape="0" algn="ctr" dir="5400000" dist="1270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117"/>
            <p:cNvSpPr txBox="1"/>
            <p:nvPr/>
          </p:nvSpPr>
          <p:spPr>
            <a:xfrm>
              <a:off x="27415" y="2409305"/>
              <a:ext cx="10123491" cy="506769"/>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dk1"/>
                </a:buClr>
                <a:buSzPts val="2400"/>
                <a:buFont typeface="Garamond"/>
                <a:buNone/>
              </a:pPr>
              <a:r>
                <a:rPr b="1" lang="es-BO" sz="2400">
                  <a:solidFill>
                    <a:schemeClr val="dk1"/>
                  </a:solidFill>
                  <a:latin typeface="Garamond"/>
                  <a:ea typeface="Garamond"/>
                  <a:cs typeface="Garamond"/>
                  <a:sym typeface="Garamond"/>
                </a:rPr>
                <a:t>Mantenimiento preventivo para los componentes del sistema.</a:t>
              </a:r>
              <a:endParaRPr sz="2400">
                <a:solidFill>
                  <a:schemeClr val="dk1"/>
                </a:solidFill>
                <a:latin typeface="Garamond"/>
                <a:ea typeface="Garamond"/>
                <a:cs typeface="Garamond"/>
                <a:sym typeface="Garamond"/>
              </a:endParaRPr>
            </a:p>
          </p:txBody>
        </p:sp>
        <p:sp>
          <p:nvSpPr>
            <p:cNvPr id="1830" name="Google Shape;1830;p117"/>
            <p:cNvSpPr/>
            <p:nvPr/>
          </p:nvSpPr>
          <p:spPr>
            <a:xfrm>
              <a:off x="0" y="2943490"/>
              <a:ext cx="10178321" cy="19375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117"/>
            <p:cNvSpPr txBox="1"/>
            <p:nvPr/>
          </p:nvSpPr>
          <p:spPr>
            <a:xfrm>
              <a:off x="0" y="2943490"/>
              <a:ext cx="10178321" cy="1937520"/>
            </a:xfrm>
            <a:prstGeom prst="rect">
              <a:avLst/>
            </a:prstGeom>
            <a:noFill/>
            <a:ln>
              <a:noFill/>
            </a:ln>
          </p:spPr>
          <p:txBody>
            <a:bodyPr anchorCtr="0" anchor="t" bIns="30475" lIns="323150" spcFirstLastPara="1" rIns="170675" wrap="square" tIns="30475">
              <a:noAutofit/>
            </a:bodyPr>
            <a:lstStyle/>
            <a:p>
              <a:pPr indent="-171450" lvl="1" marL="171450" marR="0" rtl="0" algn="l">
                <a:lnSpc>
                  <a:spcPct val="90000"/>
                </a:lnSpc>
                <a:spcBef>
                  <a:spcPts val="0"/>
                </a:spcBef>
                <a:spcAft>
                  <a:spcPts val="0"/>
                </a:spcAft>
                <a:buClr>
                  <a:schemeClr val="dk1"/>
                </a:buClr>
                <a:buSzPts val="1900"/>
                <a:buFont typeface="Garamond"/>
                <a:buChar char="•"/>
              </a:pPr>
              <a:r>
                <a:rPr b="0" i="0" lang="es-BO" sz="1900" u="none" cap="none" strike="noStrike">
                  <a:solidFill>
                    <a:schemeClr val="dk1"/>
                  </a:solidFill>
                  <a:latin typeface="Garamond"/>
                  <a:ea typeface="Garamond"/>
                  <a:cs typeface="Garamond"/>
                  <a:sym typeface="Garamond"/>
                </a:rPr>
                <a:t>Realizar una revisión regular del estado de los componentes, </a:t>
              </a:r>
              <a:endParaRPr b="0" i="0" sz="1900" u="none" cap="none" strike="noStrike">
                <a:solidFill>
                  <a:schemeClr val="dk1"/>
                </a:solidFill>
                <a:latin typeface="Garamond"/>
                <a:ea typeface="Garamond"/>
                <a:cs typeface="Garamond"/>
                <a:sym typeface="Garamond"/>
              </a:endParaRPr>
            </a:p>
            <a:p>
              <a:pPr indent="-171450" lvl="1" marL="171450" marR="0" rtl="0" algn="l">
                <a:lnSpc>
                  <a:spcPct val="90000"/>
                </a:lnSpc>
                <a:spcBef>
                  <a:spcPts val="380"/>
                </a:spcBef>
                <a:spcAft>
                  <a:spcPts val="0"/>
                </a:spcAft>
                <a:buClr>
                  <a:schemeClr val="dk1"/>
                </a:buClr>
                <a:buSzPts val="1900"/>
                <a:buFont typeface="Garamond"/>
                <a:buChar char="•"/>
              </a:pPr>
              <a:r>
                <a:rPr b="0" i="0" lang="es-BO" sz="1900" u="none" cap="none" strike="noStrike">
                  <a:solidFill>
                    <a:schemeClr val="dk1"/>
                  </a:solidFill>
                  <a:latin typeface="Garamond"/>
                  <a:ea typeface="Garamond"/>
                  <a:cs typeface="Garamond"/>
                  <a:sym typeface="Garamond"/>
                </a:rPr>
                <a:t>La presión que ejerce el tanque de liquido a la bomba no debe superar los limites, de lo contrario se reducirá la vida útil de la bomba.</a:t>
              </a:r>
              <a:endParaRPr b="0" i="0" sz="1900" u="none" cap="none" strike="noStrike">
                <a:solidFill>
                  <a:schemeClr val="dk1"/>
                </a:solidFill>
                <a:latin typeface="Garamond"/>
                <a:ea typeface="Garamond"/>
                <a:cs typeface="Garamond"/>
                <a:sym typeface="Garamond"/>
              </a:endParaRPr>
            </a:p>
            <a:p>
              <a:pPr indent="-171450" lvl="1" marL="171450" marR="0" rtl="0" algn="l">
                <a:lnSpc>
                  <a:spcPct val="90000"/>
                </a:lnSpc>
                <a:spcBef>
                  <a:spcPts val="380"/>
                </a:spcBef>
                <a:spcAft>
                  <a:spcPts val="0"/>
                </a:spcAft>
                <a:buClr>
                  <a:schemeClr val="dk1"/>
                </a:buClr>
                <a:buSzPts val="1900"/>
                <a:buFont typeface="Garamond"/>
                <a:buChar char="•"/>
              </a:pPr>
              <a:r>
                <a:rPr b="0" i="0" lang="es-BO" sz="1900" u="none" cap="none" strike="noStrike">
                  <a:solidFill>
                    <a:schemeClr val="dk1"/>
                  </a:solidFill>
                  <a:latin typeface="Garamond"/>
                  <a:ea typeface="Garamond"/>
                  <a:cs typeface="Garamond"/>
                  <a:sym typeface="Garamond"/>
                </a:rPr>
                <a:t>La frecuencia utilizada en el variador de frecuencia no deberá superar 90% del limite superior del rango soportado por la bomba(motor).</a:t>
              </a:r>
              <a:endParaRPr b="0" i="0" sz="1900" u="none" cap="none" strike="noStrike">
                <a:solidFill>
                  <a:schemeClr val="dk1"/>
                </a:solidFill>
                <a:latin typeface="Garamond"/>
                <a:ea typeface="Garamond"/>
                <a:cs typeface="Garamond"/>
                <a:sym typeface="Garamond"/>
              </a:endParaRPr>
            </a:p>
            <a:p>
              <a:pPr indent="-171450" lvl="1" marL="171450" marR="0" rtl="0" algn="l">
                <a:lnSpc>
                  <a:spcPct val="90000"/>
                </a:lnSpc>
                <a:spcBef>
                  <a:spcPts val="380"/>
                </a:spcBef>
                <a:spcAft>
                  <a:spcPts val="0"/>
                </a:spcAft>
                <a:buClr>
                  <a:schemeClr val="dk1"/>
                </a:buClr>
                <a:buSzPts val="1900"/>
                <a:buFont typeface="Garamond"/>
                <a:buChar char="•"/>
              </a:pPr>
              <a:r>
                <a:rPr b="0" i="0" lang="es-BO" sz="1900" u="none" cap="none" strike="noStrike">
                  <a:solidFill>
                    <a:schemeClr val="dk1"/>
                  </a:solidFill>
                  <a:latin typeface="Garamond"/>
                  <a:ea typeface="Garamond"/>
                  <a:cs typeface="Garamond"/>
                  <a:sym typeface="Garamond"/>
                </a:rPr>
                <a:t>Los tubos de conexión deben superar la altura del nivel del sensor superior , para evitar oscilaciones en las mediciones.</a:t>
              </a:r>
              <a:endParaRPr b="0" i="0" sz="1900" u="none" cap="none" strike="noStrike">
                <a:solidFill>
                  <a:schemeClr val="dk1"/>
                </a:solidFill>
                <a:latin typeface="Garamond"/>
                <a:ea typeface="Garamond"/>
                <a:cs typeface="Garamond"/>
                <a:sym typeface="Garamond"/>
              </a:endParaRPr>
            </a:p>
          </p:txBody>
        </p:sp>
      </p:gr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5" name="Shape 1835"/>
        <p:cNvGrpSpPr/>
        <p:nvPr/>
      </p:nvGrpSpPr>
      <p:grpSpPr>
        <a:xfrm>
          <a:off x="0" y="0"/>
          <a:ext cx="0" cy="0"/>
          <a:chOff x="0" y="0"/>
          <a:chExt cx="0" cy="0"/>
        </a:xfrm>
      </p:grpSpPr>
      <p:sp>
        <p:nvSpPr>
          <p:cNvPr id="1836" name="Google Shape;1836;p118"/>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b="1" lang="es-BO"/>
              <a:t>MATENIMIENTO CORRECTIVO</a:t>
            </a:r>
            <a:endParaRPr b="1"/>
          </a:p>
        </p:txBody>
      </p:sp>
      <p:grpSp>
        <p:nvGrpSpPr>
          <p:cNvPr id="1837" name="Google Shape;1837;p118"/>
          <p:cNvGrpSpPr/>
          <p:nvPr/>
        </p:nvGrpSpPr>
        <p:grpSpPr>
          <a:xfrm>
            <a:off x="1251678" y="1842221"/>
            <a:ext cx="10178321" cy="4079250"/>
            <a:chOff x="0" y="191946"/>
            <a:chExt cx="10178321" cy="4079250"/>
          </a:xfrm>
        </p:grpSpPr>
        <p:sp>
          <p:nvSpPr>
            <p:cNvPr id="1838" name="Google Shape;1838;p118"/>
            <p:cNvSpPr/>
            <p:nvPr/>
          </p:nvSpPr>
          <p:spPr>
            <a:xfrm>
              <a:off x="0" y="191946"/>
              <a:ext cx="10178321" cy="818999"/>
            </a:xfrm>
            <a:prstGeom prst="roundRect">
              <a:avLst>
                <a:gd fmla="val 16667" name="adj"/>
              </a:avLst>
            </a:prstGeom>
            <a:solidFill>
              <a:srgbClr val="91B0C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118"/>
            <p:cNvSpPr txBox="1"/>
            <p:nvPr/>
          </p:nvSpPr>
          <p:spPr>
            <a:xfrm>
              <a:off x="39980" y="231926"/>
              <a:ext cx="10098361" cy="739039"/>
            </a:xfrm>
            <a:prstGeom prst="rect">
              <a:avLst/>
            </a:prstGeom>
            <a:noFill/>
            <a:ln>
              <a:noFill/>
            </a:ln>
          </p:spPr>
          <p:txBody>
            <a:bodyPr anchorCtr="0" anchor="ctr" bIns="133350" lIns="133350" spcFirstLastPara="1" rIns="133350" wrap="square" tIns="133350">
              <a:noAutofit/>
            </a:bodyPr>
            <a:lstStyle/>
            <a:p>
              <a:pPr indent="0" lvl="0" marL="0" marR="0" rtl="0" algn="l">
                <a:lnSpc>
                  <a:spcPct val="90000"/>
                </a:lnSpc>
                <a:spcBef>
                  <a:spcPts val="0"/>
                </a:spcBef>
                <a:spcAft>
                  <a:spcPts val="0"/>
                </a:spcAft>
                <a:buClr>
                  <a:schemeClr val="dk1"/>
                </a:buClr>
                <a:buSzPts val="3500"/>
                <a:buFont typeface="Garamond"/>
                <a:buNone/>
              </a:pPr>
              <a:r>
                <a:rPr b="1" lang="es-BO" sz="3500">
                  <a:solidFill>
                    <a:schemeClr val="dk1"/>
                  </a:solidFill>
                  <a:latin typeface="Garamond"/>
                  <a:ea typeface="Garamond"/>
                  <a:cs typeface="Garamond"/>
                  <a:sym typeface="Garamond"/>
                </a:rPr>
                <a:t>Para ello:  </a:t>
              </a:r>
              <a:endParaRPr b="1" sz="3500">
                <a:solidFill>
                  <a:schemeClr val="dk1"/>
                </a:solidFill>
                <a:latin typeface="Garamond"/>
                <a:ea typeface="Garamond"/>
                <a:cs typeface="Garamond"/>
                <a:sym typeface="Garamond"/>
              </a:endParaRPr>
            </a:p>
          </p:txBody>
        </p:sp>
        <p:sp>
          <p:nvSpPr>
            <p:cNvPr id="1840" name="Google Shape;1840;p118"/>
            <p:cNvSpPr/>
            <p:nvPr/>
          </p:nvSpPr>
          <p:spPr>
            <a:xfrm>
              <a:off x="0" y="1010946"/>
              <a:ext cx="10178321" cy="326025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118"/>
            <p:cNvSpPr txBox="1"/>
            <p:nvPr/>
          </p:nvSpPr>
          <p:spPr>
            <a:xfrm>
              <a:off x="0" y="1010946"/>
              <a:ext cx="10178321" cy="3260250"/>
            </a:xfrm>
            <a:prstGeom prst="rect">
              <a:avLst/>
            </a:prstGeom>
            <a:noFill/>
            <a:ln>
              <a:noFill/>
            </a:ln>
          </p:spPr>
          <p:txBody>
            <a:bodyPr anchorCtr="0" anchor="t" bIns="44450" lIns="323150" spcFirstLastPara="1" rIns="248900" wrap="square" tIns="44450">
              <a:noAutofit/>
            </a:bodyPr>
            <a:lstStyle/>
            <a:p>
              <a:pPr indent="-228600" lvl="1" marL="228600" marR="0" rtl="0" algn="l">
                <a:lnSpc>
                  <a:spcPct val="90000"/>
                </a:lnSpc>
                <a:spcBef>
                  <a:spcPts val="0"/>
                </a:spcBef>
                <a:spcAft>
                  <a:spcPts val="0"/>
                </a:spcAft>
                <a:buClr>
                  <a:schemeClr val="dk1"/>
                </a:buClr>
                <a:buSzPts val="2700"/>
                <a:buFont typeface="Garamond"/>
                <a:buChar char="•"/>
              </a:pPr>
              <a:r>
                <a:rPr b="0" i="0" lang="es-BO" sz="2700" u="none" cap="none" strike="noStrike">
                  <a:solidFill>
                    <a:schemeClr val="dk1"/>
                  </a:solidFill>
                  <a:latin typeface="Garamond"/>
                  <a:ea typeface="Garamond"/>
                  <a:cs typeface="Garamond"/>
                  <a:sym typeface="Garamond"/>
                </a:rPr>
                <a:t>Se realizó: Modificaciones en la infraestructura de canalización(tamaño del conducto) del sistema de nivel de liquido. </a:t>
              </a:r>
              <a:endParaRPr b="0" i="0" sz="2700" u="none" cap="none" strike="noStrike">
                <a:solidFill>
                  <a:schemeClr val="dk1"/>
                </a:solidFill>
                <a:latin typeface="Garamond"/>
                <a:ea typeface="Garamond"/>
                <a:cs typeface="Garamond"/>
                <a:sym typeface="Garamond"/>
              </a:endParaRPr>
            </a:p>
            <a:p>
              <a:pPr indent="-228600" lvl="1" marL="228600" marR="0" rtl="0" algn="l">
                <a:lnSpc>
                  <a:spcPct val="90000"/>
                </a:lnSpc>
                <a:spcBef>
                  <a:spcPts val="540"/>
                </a:spcBef>
                <a:spcAft>
                  <a:spcPts val="0"/>
                </a:spcAft>
                <a:buClr>
                  <a:schemeClr val="dk1"/>
                </a:buClr>
                <a:buSzPts val="2700"/>
                <a:buFont typeface="Garamond"/>
                <a:buChar char="•"/>
              </a:pPr>
              <a:r>
                <a:rPr b="0" i="0" lang="es-BO" sz="2700" u="none" cap="none" strike="noStrike">
                  <a:solidFill>
                    <a:schemeClr val="dk1"/>
                  </a:solidFill>
                  <a:latin typeface="Garamond"/>
                  <a:ea typeface="Garamond"/>
                  <a:cs typeface="Garamond"/>
                  <a:sym typeface="Garamond"/>
                </a:rPr>
                <a:t>Se realizó: Limpieza general.</a:t>
              </a:r>
              <a:endParaRPr b="0" i="0" sz="2700" u="none" cap="none" strike="noStrike">
                <a:solidFill>
                  <a:schemeClr val="dk1"/>
                </a:solidFill>
                <a:latin typeface="Garamond"/>
                <a:ea typeface="Garamond"/>
                <a:cs typeface="Garamond"/>
                <a:sym typeface="Garamond"/>
              </a:endParaRPr>
            </a:p>
            <a:p>
              <a:pPr indent="-228600" lvl="1" marL="228600" marR="0" rtl="0" algn="l">
                <a:lnSpc>
                  <a:spcPct val="90000"/>
                </a:lnSpc>
                <a:spcBef>
                  <a:spcPts val="540"/>
                </a:spcBef>
                <a:spcAft>
                  <a:spcPts val="0"/>
                </a:spcAft>
                <a:buClr>
                  <a:schemeClr val="dk1"/>
                </a:buClr>
                <a:buSzPts val="2700"/>
                <a:buFont typeface="Garamond"/>
                <a:buChar char="•"/>
              </a:pPr>
              <a:r>
                <a:rPr b="0" i="0" lang="es-BO" sz="2700" u="none" cap="none" strike="noStrike">
                  <a:solidFill>
                    <a:schemeClr val="dk1"/>
                  </a:solidFill>
                  <a:latin typeface="Garamond"/>
                  <a:ea typeface="Garamond"/>
                  <a:cs typeface="Garamond"/>
                  <a:sym typeface="Garamond"/>
                </a:rPr>
                <a:t>Se tomo en cuenta las Precauciones eléctricas:</a:t>
              </a:r>
              <a:endParaRPr b="0" i="0" sz="2700" u="none" cap="none" strike="noStrike">
                <a:solidFill>
                  <a:schemeClr val="dk1"/>
                </a:solidFill>
                <a:latin typeface="Garamond"/>
                <a:ea typeface="Garamond"/>
                <a:cs typeface="Garamond"/>
                <a:sym typeface="Garamond"/>
              </a:endParaRPr>
            </a:p>
            <a:p>
              <a:pPr indent="-228600" lvl="2" marL="457200" marR="0" rtl="0" algn="l">
                <a:lnSpc>
                  <a:spcPct val="90000"/>
                </a:lnSpc>
                <a:spcBef>
                  <a:spcPts val="540"/>
                </a:spcBef>
                <a:spcAft>
                  <a:spcPts val="0"/>
                </a:spcAft>
                <a:buClr>
                  <a:schemeClr val="dk1"/>
                </a:buClr>
                <a:buSzPts val="2700"/>
                <a:buFont typeface="Garamond"/>
                <a:buChar char="•"/>
              </a:pPr>
              <a:r>
                <a:rPr b="0" i="0" lang="es-BO" sz="2700" u="none" cap="none" strike="noStrike">
                  <a:solidFill>
                    <a:schemeClr val="dk1"/>
                  </a:solidFill>
                  <a:latin typeface="Garamond"/>
                  <a:ea typeface="Garamond"/>
                  <a:cs typeface="Garamond"/>
                  <a:sym typeface="Garamond"/>
                </a:rPr>
                <a:t>Aislamiento adecuado de las conexiones eléctricas </a:t>
              </a:r>
              <a:endParaRPr b="0" i="0" sz="2700" u="none" cap="none" strike="noStrike">
                <a:solidFill>
                  <a:schemeClr val="dk1"/>
                </a:solidFill>
                <a:latin typeface="Garamond"/>
                <a:ea typeface="Garamond"/>
                <a:cs typeface="Garamond"/>
                <a:sym typeface="Garamond"/>
              </a:endParaRPr>
            </a:p>
            <a:p>
              <a:pPr indent="-228600" lvl="2" marL="457200" marR="0" rtl="0" algn="l">
                <a:lnSpc>
                  <a:spcPct val="90000"/>
                </a:lnSpc>
                <a:spcBef>
                  <a:spcPts val="540"/>
                </a:spcBef>
                <a:spcAft>
                  <a:spcPts val="0"/>
                </a:spcAft>
                <a:buClr>
                  <a:schemeClr val="dk1"/>
                </a:buClr>
                <a:buSzPts val="2700"/>
                <a:buFont typeface="Garamond"/>
                <a:buChar char="•"/>
              </a:pPr>
              <a:r>
                <a:rPr b="0" i="0" lang="es-BO" sz="2700" u="none" cap="none" strike="noStrike">
                  <a:solidFill>
                    <a:schemeClr val="dk1"/>
                  </a:solidFill>
                  <a:latin typeface="Garamond"/>
                  <a:ea typeface="Garamond"/>
                  <a:cs typeface="Garamond"/>
                  <a:sym typeface="Garamond"/>
                </a:rPr>
                <a:t>Prevenir cortocircuitos y riesgos eléctricos en presencia del liquido.</a:t>
              </a:r>
              <a:endParaRPr b="0" i="0" sz="2700" u="none" cap="none" strike="noStrike">
                <a:solidFill>
                  <a:schemeClr val="dk1"/>
                </a:solidFill>
                <a:latin typeface="Garamond"/>
                <a:ea typeface="Garamond"/>
                <a:cs typeface="Garamond"/>
                <a:sym typeface="Garamond"/>
              </a:endParaRPr>
            </a:p>
            <a:p>
              <a:pPr indent="-228600" lvl="2" marL="457200" marR="0" rtl="0" algn="l">
                <a:lnSpc>
                  <a:spcPct val="90000"/>
                </a:lnSpc>
                <a:spcBef>
                  <a:spcPts val="540"/>
                </a:spcBef>
                <a:spcAft>
                  <a:spcPts val="0"/>
                </a:spcAft>
                <a:buClr>
                  <a:schemeClr val="dk1"/>
                </a:buClr>
                <a:buSzPts val="2700"/>
                <a:buFont typeface="Garamond"/>
                <a:buChar char="•"/>
              </a:pPr>
              <a:r>
                <a:rPr b="0" i="0" lang="es-BO" sz="2700" u="none" cap="none" strike="noStrike">
                  <a:solidFill>
                    <a:schemeClr val="dk1"/>
                  </a:solidFill>
                  <a:latin typeface="Garamond"/>
                  <a:ea typeface="Garamond"/>
                  <a:cs typeface="Garamond"/>
                  <a:sym typeface="Garamond"/>
                </a:rPr>
                <a:t>Cuidado con la manipulación de componentes eléctricos en el sistema.</a:t>
              </a:r>
              <a:endParaRPr b="0" i="0" sz="2700" u="none" cap="none" strike="noStrike">
                <a:solidFill>
                  <a:schemeClr val="dk1"/>
                </a:solidFill>
                <a:latin typeface="Garamond"/>
                <a:ea typeface="Garamond"/>
                <a:cs typeface="Garamond"/>
                <a:sym typeface="Garamond"/>
              </a:endParaRPr>
            </a:p>
          </p:txBody>
        </p:sp>
      </p:gr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5" name="Shape 1845"/>
        <p:cNvGrpSpPr/>
        <p:nvPr/>
      </p:nvGrpSpPr>
      <p:grpSpPr>
        <a:xfrm>
          <a:off x="0" y="0"/>
          <a:ext cx="0" cy="0"/>
          <a:chOff x="0" y="0"/>
          <a:chExt cx="0" cy="0"/>
        </a:xfrm>
      </p:grpSpPr>
      <p:sp>
        <p:nvSpPr>
          <p:cNvPr id="1846" name="Google Shape;1846;p119"/>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Garamond"/>
              <a:buNone/>
            </a:pPr>
            <a:r>
              <a:rPr b="1" lang="es-BO"/>
              <a:t>OBSERVACIONES</a:t>
            </a:r>
            <a:endParaRPr b="1"/>
          </a:p>
        </p:txBody>
      </p:sp>
      <p:sp>
        <p:nvSpPr>
          <p:cNvPr id="1847" name="Google Shape;1847;p119"/>
          <p:cNvSpPr txBox="1"/>
          <p:nvPr>
            <p:ph idx="1" type="body"/>
          </p:nvPr>
        </p:nvSpPr>
        <p:spPr>
          <a:xfrm>
            <a:off x="1066800" y="1727200"/>
            <a:ext cx="10058400" cy="4307840"/>
          </a:xfrm>
          <a:prstGeom prst="rect">
            <a:avLst/>
          </a:prstGeom>
          <a:noFill/>
          <a:ln>
            <a:noFill/>
          </a:ln>
        </p:spPr>
        <p:txBody>
          <a:bodyPr anchorCtr="0" anchor="t" bIns="45700" lIns="91425" spcFirstLastPara="1" rIns="91425" wrap="square" tIns="45700">
            <a:normAutofit/>
          </a:bodyPr>
          <a:lstStyle/>
          <a:p>
            <a:pPr indent="-182880" lvl="0" marL="182880" rtl="0" algn="l">
              <a:lnSpc>
                <a:spcPct val="100000"/>
              </a:lnSpc>
              <a:spcBef>
                <a:spcPts val="0"/>
              </a:spcBef>
              <a:spcAft>
                <a:spcPts val="0"/>
              </a:spcAft>
              <a:buSzPts val="2000"/>
              <a:buChar char="◦"/>
            </a:pPr>
            <a:r>
              <a:rPr lang="es-BO" sz="2000"/>
              <a:t>Se verifico que uno de los soportes de la pantalla HMI estaba fracturada, pero el equipo no fue desmontado por el momento.</a:t>
            </a:r>
            <a:endParaRPr/>
          </a:p>
          <a:p>
            <a:pPr indent="-182880" lvl="0" marL="182880" rtl="0" algn="l">
              <a:lnSpc>
                <a:spcPct val="100000"/>
              </a:lnSpc>
              <a:spcBef>
                <a:spcPts val="900"/>
              </a:spcBef>
              <a:spcAft>
                <a:spcPts val="0"/>
              </a:spcAft>
              <a:buSzPts val="2000"/>
              <a:buChar char="◦"/>
            </a:pPr>
            <a:r>
              <a:rPr lang="es-BO" sz="2000"/>
              <a:t>Se verifico que el equipo presentaba fugas de liquido en las conexiones de tubo PVC lo que provocaba un peligro en las conexiones eléctricas, se realizo un mantenimiento preventivo reajustando las conexiones.</a:t>
            </a:r>
            <a:endParaRPr/>
          </a:p>
          <a:p>
            <a:pPr indent="-182880" lvl="0" marL="182880" rtl="0" algn="l">
              <a:lnSpc>
                <a:spcPct val="100000"/>
              </a:lnSpc>
              <a:spcBef>
                <a:spcPts val="900"/>
              </a:spcBef>
              <a:spcAft>
                <a:spcPts val="0"/>
              </a:spcAft>
              <a:buSzPts val="2000"/>
              <a:buChar char="◦"/>
            </a:pPr>
            <a:r>
              <a:rPr lang="es-BO" sz="2000"/>
              <a:t>Además se observo que el soporte del caudal de entrada presentaba debilidad, lo que generaba inestabilidad en la posición de los tubos al realizar el diseño para el aumento de tubos PVC. Se reforzo el soporte con la conexión de T para asegurar a los tubos.</a:t>
            </a:r>
            <a:endParaRPr/>
          </a:p>
          <a:p>
            <a:pPr indent="-182880" lvl="0" marL="182880" rtl="0" algn="l">
              <a:lnSpc>
                <a:spcPct val="100000"/>
              </a:lnSpc>
              <a:spcBef>
                <a:spcPts val="900"/>
              </a:spcBef>
              <a:spcAft>
                <a:spcPts val="0"/>
              </a:spcAft>
              <a:buSzPts val="2000"/>
              <a:buChar char="◦"/>
            </a:pPr>
            <a:r>
              <a:rPr lang="es-BO" sz="2000"/>
              <a:t>Finalmente se constato que el tanque requiere una tapa, debido a que exponía al liquido a la contaminación externa y afectaba la calidad del liquido, por tanto, se puso una bolsa de forma provisional para no exponer al liquido.</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Savon">
  <a:themeElements>
    <a:clrScheme name="Savon">
      <a:dk1>
        <a:srgbClr val="000000"/>
      </a:dk1>
      <a:lt1>
        <a:srgbClr val="FFFFFF"/>
      </a:lt1>
      <a:dk2>
        <a:srgbClr val="736059"/>
      </a:dk2>
      <a:lt2>
        <a:srgbClr val="E7E0C7"/>
      </a:lt2>
      <a:accent1>
        <a:srgbClr val="92B0C8"/>
      </a:accent1>
      <a:accent2>
        <a:srgbClr val="E37C3D"/>
      </a:accent2>
      <a:accent3>
        <a:srgbClr val="A5AB81"/>
      </a:accent3>
      <a:accent4>
        <a:srgbClr val="E9B635"/>
      </a:accent4>
      <a:accent5>
        <a:srgbClr val="7BA79D"/>
      </a:accent5>
      <a:accent6>
        <a:srgbClr val="968C8C"/>
      </a:accent6>
      <a:hlink>
        <a:srgbClr val="F7A115"/>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2023-04-04T17:59:19Z</dcterms:created>
  <dc:creator>HP PAVILION</dc:creator>
</cp:coreProperties>
</file>