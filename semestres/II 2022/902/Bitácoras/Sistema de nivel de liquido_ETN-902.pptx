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package.core-properties+xml" PartName="/docProps/core.xml"/>
  <Override ContentType="application/vnd.openxmlformats-officedocument.presentationml.presentation.main+xml" PartName="/ppt/presentation.xml"/>
  <Override ContentType="application/vnd.ms-office.chartcolorstyle+xml" PartName="/ppt/charts/colors1.xml"/>
  <Override ContentType="application/vnd.ms-office.chartcolorstyle+xml" PartName="/ppt/charts/colors2.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2.xml"/>
  <Override ContentType="application/vnd.openxmlformats-officedocument.drawingml.chart+xml" PartName="/ppt/charts/chart1.xml"/>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ms-office.chartstyle+xml" PartName="/ppt/charts/style1.xml"/>
  <Override ContentType="application/vnd.ms-office.chartstyle+xml" PartName="/ppt/charts/style2.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Lst>
  <p:sldSz cy="6858000" cx="12192000"/>
  <p:notesSz cx="6858000" cy="9144000"/>
  <p:embeddedFontLst>
    <p:embeddedFont>
      <p:font typeface="Montserrat"/>
      <p:regular r:id="rId114"/>
      <p:bold r:id="rId115"/>
      <p:italic r:id="rId116"/>
      <p:boldItalic r:id="rId117"/>
    </p:embeddedFont>
    <p:embeddedFont>
      <p:font typeface="Lato"/>
      <p:regular r:id="rId118"/>
      <p:bold r:id="rId119"/>
      <p:italic r:id="rId120"/>
      <p:boldItalic r:id="rId1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842">
          <p15:clr>
            <a:srgbClr val="A4A3A4"/>
          </p15:clr>
        </p15:guide>
        <p15:guide id="2" pos="3840">
          <p15:clr>
            <a:srgbClr val="A4A3A4"/>
          </p15:clr>
        </p15:guide>
      </p15:sldGuideLst>
    </p:ext>
    <p:ext uri="http://customooxmlschemas.google.com/">
      <go:slidesCustomData xmlns:go="http://customooxmlschemas.google.com/" r:id="rId122" roundtripDataSignature="AMtx7mjSh3WRWriAi03w9LGg2INawQA8x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22A7E54-5182-43F9-A65E-7F61A87368E1}">
  <a:tblStyle styleId="{222A7E54-5182-43F9-A65E-7F61A87368E1}"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B09D4672-51D9-4354-869B-AB4F12D6FB4A}"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842"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9" Type="http://schemas.openxmlformats.org/officeDocument/2006/relationships/slide" Target="slides/slide103.xml"/><Relationship Id="rId108" Type="http://schemas.openxmlformats.org/officeDocument/2006/relationships/slide" Target="slides/slide102.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121" Type="http://schemas.openxmlformats.org/officeDocument/2006/relationships/font" Target="fonts/Lato-boldItalic.fntdata"/><Relationship Id="rId25" Type="http://schemas.openxmlformats.org/officeDocument/2006/relationships/slide" Target="slides/slide19.xml"/><Relationship Id="rId120" Type="http://schemas.openxmlformats.org/officeDocument/2006/relationships/font" Target="fonts/Lato-italic.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122" Type="http://customschemas.google.com/relationships/presentationmetadata" Target="metadata"/><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font" Target="fonts/Lato-regular.fntdata"/><Relationship Id="rId117" Type="http://schemas.openxmlformats.org/officeDocument/2006/relationships/font" Target="fonts/Montserrat-boldItalic.fntdata"/><Relationship Id="rId116" Type="http://schemas.openxmlformats.org/officeDocument/2006/relationships/font" Target="fonts/Montserrat-italic.fntdata"/><Relationship Id="rId115" Type="http://schemas.openxmlformats.org/officeDocument/2006/relationships/font" Target="fonts/Montserrat-bold.fntdata"/><Relationship Id="rId119" Type="http://schemas.openxmlformats.org/officeDocument/2006/relationships/font" Target="fonts/Lato-bold.fntdata"/><Relationship Id="rId15" Type="http://schemas.openxmlformats.org/officeDocument/2006/relationships/slide" Target="slides/slide9.xml"/><Relationship Id="rId110" Type="http://schemas.openxmlformats.org/officeDocument/2006/relationships/slide" Target="slides/slide104.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14" Type="http://schemas.openxmlformats.org/officeDocument/2006/relationships/font" Target="fonts/Montserrat-regular.fntdata"/><Relationship Id="rId18" Type="http://schemas.openxmlformats.org/officeDocument/2006/relationships/slide" Target="slides/slide12.xml"/><Relationship Id="rId113" Type="http://schemas.openxmlformats.org/officeDocument/2006/relationships/slide" Target="slides/slide107.xml"/><Relationship Id="rId112" Type="http://schemas.openxmlformats.org/officeDocument/2006/relationships/slide" Target="slides/slide106.xml"/><Relationship Id="rId111" Type="http://schemas.openxmlformats.org/officeDocument/2006/relationships/slide" Target="slides/slide105.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oleObject" Target="Libro1" TargetMode="External"/></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oleObject" Target="file:///D:\UNIVERSIDAD\Sistemas%20de%20control%202\Laboratorio\Lab_4\fun.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000" b="0" i="0" u="none" strike="noStrike" kern="1200" spc="0" baseline="0">
                <a:solidFill>
                  <a:schemeClr val="tx1">
                    <a:lumMod val="65000"/>
                    <a:lumOff val="35000"/>
                  </a:schemeClr>
                </a:solidFill>
                <a:latin typeface="+mn-lt"/>
                <a:ea typeface="+mn-ea"/>
                <a:cs typeface="+mn-cs"/>
              </a:defRPr>
            </a:pPr>
            <a:r>
              <a:rPr lang="es-BO" sz="2000" b="1"/>
              <a:t>Dosificador</a:t>
            </a:r>
          </a:p>
        </c:rich>
      </c:tx>
      <c:overlay val="0"/>
      <c:spPr>
        <a:noFill/>
        <a:ln>
          <a:noFill/>
        </a:ln>
        <a:effectLst/>
      </c:spPr>
      <c:txPr>
        <a:bodyPr rot="0" spcFirstLastPara="1" vertOverflow="ellipsis" vert="horz" wrap="square" anchor="ctr" anchorCtr="1"/>
        <a:lstStyle/>
        <a:p>
          <a:pPr>
            <a:defRPr sz="2000" b="0" i="0" u="none" strike="noStrike" kern="1200" spc="0" baseline="0">
              <a:solidFill>
                <a:schemeClr val="tx1">
                  <a:lumMod val="65000"/>
                  <a:lumOff val="35000"/>
                </a:schemeClr>
              </a:solidFill>
              <a:latin typeface="+mn-lt"/>
              <a:ea typeface="+mn-ea"/>
              <a:cs typeface="+mn-cs"/>
            </a:defRPr>
          </a:pPr>
          <a:endParaRPr lang="es-BO"/>
        </a:p>
      </c:txPr>
    </c:title>
    <c:autoTitleDeleted val="0"/>
    <c:plotArea>
      <c:layout/>
      <c:scatterChart>
        <c:scatterStyle val="lineMarker"/>
        <c:varyColors val="0"/>
        <c:ser>
          <c:idx val="0"/>
          <c:order val="0"/>
          <c:spPr>
            <a:ln w="19050" cap="rnd">
              <a:solidFill>
                <a:schemeClr val="accent1"/>
              </a:solidFill>
              <a:round/>
            </a:ln>
            <a:effectLst/>
          </c:spPr>
          <c:marker>
            <c:symbol val="circle"/>
            <c:size val="5"/>
            <c:spPr>
              <a:solidFill>
                <a:schemeClr val="accent1"/>
              </a:solidFill>
              <a:ln w="9525">
                <a:solidFill>
                  <a:schemeClr val="accent1"/>
                </a:solidFill>
              </a:ln>
              <a:effectLst/>
            </c:spPr>
          </c:marker>
          <c:trendline>
            <c:spPr>
              <a:ln w="19050" cap="rnd">
                <a:solidFill>
                  <a:schemeClr val="accent1"/>
                </a:solidFill>
                <a:prstDash val="sysDot"/>
              </a:ln>
              <a:effectLst/>
            </c:spPr>
            <c:trendlineType val="linear"/>
            <c:dispRSqr val="0"/>
            <c:dispEq val="1"/>
            <c:trendlineLbl>
              <c:layout>
                <c:manualLayout>
                  <c:x val="-9.0666160550062339E-2"/>
                  <c:y val="-7.3335176927924453E-3"/>
                </c:manualLayout>
              </c:layout>
              <c:tx>
                <c:rich>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r>
                      <a:rPr lang="en-US" sz="1400" baseline="0" dirty="0"/>
                      <a:t>y = 274,78x + 62,852</a:t>
                    </a:r>
                    <a:endParaRPr lang="en-US" sz="1400" dirty="0"/>
                  </a:p>
                </c:rich>
              </c:tx>
              <c:numFmt formatCode="General" sourceLinked="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BO"/>
                </a:p>
              </c:txPr>
            </c:trendlineLbl>
          </c:trendline>
          <c:xVal>
            <c:numRef>
              <c:f>Hoja1!$E$3:$E$13</c:f>
              <c:numCache>
                <c:formatCode>General</c:formatCode>
                <c:ptCount val="11"/>
                <c:pt idx="0">
                  <c:v>0.11799999999999999</c:v>
                </c:pt>
                <c:pt idx="1">
                  <c:v>0.14299999999999999</c:v>
                </c:pt>
                <c:pt idx="2">
                  <c:v>0.18</c:v>
                </c:pt>
                <c:pt idx="3">
                  <c:v>0.19800000000000001</c:v>
                </c:pt>
                <c:pt idx="4">
                  <c:v>0.22</c:v>
                </c:pt>
                <c:pt idx="5">
                  <c:v>0.252</c:v>
                </c:pt>
                <c:pt idx="6">
                  <c:v>0.28999999999999998</c:v>
                </c:pt>
                <c:pt idx="7">
                  <c:v>0.32200000000000001</c:v>
                </c:pt>
                <c:pt idx="8">
                  <c:v>0.35199999999999998</c:v>
                </c:pt>
                <c:pt idx="9">
                  <c:v>0.38300000000000001</c:v>
                </c:pt>
                <c:pt idx="10">
                  <c:v>0.42</c:v>
                </c:pt>
              </c:numCache>
            </c:numRef>
          </c:xVal>
          <c:yVal>
            <c:numRef>
              <c:f>Hoja1!$F$3:$F$13</c:f>
              <c:numCache>
                <c:formatCode>General</c:formatCode>
                <c:ptCount val="11"/>
                <c:pt idx="0">
                  <c:v>99.7</c:v>
                </c:pt>
                <c:pt idx="1">
                  <c:v>103.2</c:v>
                </c:pt>
                <c:pt idx="2">
                  <c:v>110.7</c:v>
                </c:pt>
                <c:pt idx="3">
                  <c:v>116.7</c:v>
                </c:pt>
                <c:pt idx="4">
                  <c:v>120.7</c:v>
                </c:pt>
                <c:pt idx="5">
                  <c:v>130.5</c:v>
                </c:pt>
                <c:pt idx="6">
                  <c:v>140.19999999999999</c:v>
                </c:pt>
                <c:pt idx="7">
                  <c:v>149.80000000000001</c:v>
                </c:pt>
                <c:pt idx="8">
                  <c:v>160.30000000000001</c:v>
                </c:pt>
                <c:pt idx="9">
                  <c:v>170.2</c:v>
                </c:pt>
                <c:pt idx="10">
                  <c:v>180.2</c:v>
                </c:pt>
              </c:numCache>
            </c:numRef>
          </c:yVal>
          <c:smooth val="0"/>
          <c:extLst>
            <c:ext xmlns:c16="http://schemas.microsoft.com/office/drawing/2014/chart" uri="{C3380CC4-5D6E-409C-BE32-E72D297353CC}">
              <c16:uniqueId val="{00000001-ED31-47E4-BACD-B523B30196F2}"/>
            </c:ext>
          </c:extLst>
        </c:ser>
        <c:dLbls>
          <c:showLegendKey val="0"/>
          <c:showVal val="0"/>
          <c:showCatName val="0"/>
          <c:showSerName val="0"/>
          <c:showPercent val="0"/>
          <c:showBubbleSize val="0"/>
        </c:dLbls>
        <c:axId val="534110120"/>
        <c:axId val="534110448"/>
      </c:scatterChart>
      <c:valAx>
        <c:axId val="534110120"/>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s-BO" sz="1400">
                    <a:solidFill>
                      <a:sysClr val="windowText" lastClr="000000"/>
                    </a:solidFill>
                  </a:rPr>
                  <a:t>Caudal</a:t>
                </a:r>
                <a:r>
                  <a:rPr lang="es-BO" sz="1400" baseline="0">
                    <a:solidFill>
                      <a:sysClr val="windowText" lastClr="000000"/>
                    </a:solidFill>
                  </a:rPr>
                  <a:t> (L/s)</a:t>
                </a:r>
                <a:endParaRPr lang="es-BO" sz="1400">
                  <a:solidFill>
                    <a:sysClr val="windowText" lastClr="000000"/>
                  </a:solidFill>
                </a:endParaRPr>
              </a:p>
            </c:rich>
          </c:tx>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s-BO"/>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BO"/>
          </a:p>
        </c:txPr>
        <c:crossAx val="534110448"/>
        <c:crosses val="autoZero"/>
        <c:crossBetween val="midCat"/>
      </c:valAx>
      <c:valAx>
        <c:axId val="53411044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s-BO" sz="1400">
                    <a:solidFill>
                      <a:sysClr val="windowText" lastClr="000000"/>
                    </a:solidFill>
                  </a:rPr>
                  <a:t>Voltaje (V</a:t>
                </a:r>
                <a:r>
                  <a:rPr lang="es-BO" sz="1400"/>
                  <a:t>)</a:t>
                </a: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s-BO"/>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BO"/>
          </a:p>
        </c:txPr>
        <c:crossAx val="534110120"/>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s-BO"/>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s-BO" dirty="0"/>
              <a:t>Respuesta temporal experimental</a:t>
            </a:r>
          </a:p>
        </c:rich>
      </c:tx>
      <c:layout>
        <c:manualLayout>
          <c:xMode val="edge"/>
          <c:yMode val="edge"/>
          <c:x val="0.26062426359681096"/>
          <c:y val="2.5835877082254721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BO"/>
        </a:p>
      </c:txPr>
    </c:title>
    <c:autoTitleDeleted val="0"/>
    <c:plotArea>
      <c:layout/>
      <c:scatterChart>
        <c:scatterStyle val="lineMarker"/>
        <c:varyColors val="0"/>
        <c:ser>
          <c:idx val="0"/>
          <c:order val="0"/>
          <c:spPr>
            <a:ln w="19050" cap="rnd">
              <a:solidFill>
                <a:schemeClr val="accent1"/>
              </a:solidFill>
              <a:round/>
            </a:ln>
            <a:effectLst/>
          </c:spPr>
          <c:marker>
            <c:symbol val="circle"/>
            <c:size val="5"/>
            <c:spPr>
              <a:solidFill>
                <a:schemeClr val="accent1"/>
              </a:solidFill>
              <a:ln w="9525">
                <a:solidFill>
                  <a:schemeClr val="accent1"/>
                </a:solidFill>
              </a:ln>
              <a:effectLst/>
            </c:spPr>
          </c:marker>
          <c:xVal>
            <c:numRef>
              <c:f>Hoja1!$A$3:$A$83</c:f>
              <c:numCache>
                <c:formatCode>General</c:formatCode>
                <c:ptCount val="81"/>
                <c:pt idx="0">
                  <c:v>0</c:v>
                </c:pt>
                <c:pt idx="1">
                  <c:v>20</c:v>
                </c:pt>
                <c:pt idx="2">
                  <c:v>40</c:v>
                </c:pt>
                <c:pt idx="3">
                  <c:v>60</c:v>
                </c:pt>
                <c:pt idx="4">
                  <c:v>80</c:v>
                </c:pt>
                <c:pt idx="5">
                  <c:v>100</c:v>
                </c:pt>
                <c:pt idx="6">
                  <c:v>120</c:v>
                </c:pt>
                <c:pt idx="7">
                  <c:v>140</c:v>
                </c:pt>
                <c:pt idx="8">
                  <c:v>160</c:v>
                </c:pt>
                <c:pt idx="9">
                  <c:v>180</c:v>
                </c:pt>
                <c:pt idx="10">
                  <c:v>200</c:v>
                </c:pt>
                <c:pt idx="11">
                  <c:v>220</c:v>
                </c:pt>
                <c:pt idx="12">
                  <c:v>240</c:v>
                </c:pt>
                <c:pt idx="13">
                  <c:v>260</c:v>
                </c:pt>
                <c:pt idx="14">
                  <c:v>280</c:v>
                </c:pt>
                <c:pt idx="15">
                  <c:v>300</c:v>
                </c:pt>
                <c:pt idx="16">
                  <c:v>320</c:v>
                </c:pt>
                <c:pt idx="17">
                  <c:v>340</c:v>
                </c:pt>
                <c:pt idx="18">
                  <c:v>360</c:v>
                </c:pt>
                <c:pt idx="19">
                  <c:v>380</c:v>
                </c:pt>
                <c:pt idx="20">
                  <c:v>400</c:v>
                </c:pt>
                <c:pt idx="21">
                  <c:v>420</c:v>
                </c:pt>
                <c:pt idx="22">
                  <c:v>440</c:v>
                </c:pt>
                <c:pt idx="23">
                  <c:v>460</c:v>
                </c:pt>
                <c:pt idx="24">
                  <c:v>480</c:v>
                </c:pt>
                <c:pt idx="25">
                  <c:v>500</c:v>
                </c:pt>
                <c:pt idx="26">
                  <c:v>520</c:v>
                </c:pt>
                <c:pt idx="27">
                  <c:v>540</c:v>
                </c:pt>
                <c:pt idx="28">
                  <c:v>560</c:v>
                </c:pt>
                <c:pt idx="29">
                  <c:v>580</c:v>
                </c:pt>
                <c:pt idx="30">
                  <c:v>600</c:v>
                </c:pt>
                <c:pt idx="31">
                  <c:v>620</c:v>
                </c:pt>
                <c:pt idx="32">
                  <c:v>640</c:v>
                </c:pt>
                <c:pt idx="33">
                  <c:v>660</c:v>
                </c:pt>
                <c:pt idx="34">
                  <c:v>680</c:v>
                </c:pt>
                <c:pt idx="35">
                  <c:v>700</c:v>
                </c:pt>
                <c:pt idx="36">
                  <c:v>720</c:v>
                </c:pt>
                <c:pt idx="37">
                  <c:v>740</c:v>
                </c:pt>
                <c:pt idx="38">
                  <c:v>760</c:v>
                </c:pt>
                <c:pt idx="39">
                  <c:v>780</c:v>
                </c:pt>
                <c:pt idx="40">
                  <c:v>800</c:v>
                </c:pt>
                <c:pt idx="41">
                  <c:v>820</c:v>
                </c:pt>
                <c:pt idx="42">
                  <c:v>840</c:v>
                </c:pt>
                <c:pt idx="43">
                  <c:v>860</c:v>
                </c:pt>
                <c:pt idx="44">
                  <c:v>880</c:v>
                </c:pt>
                <c:pt idx="45">
                  <c:v>900</c:v>
                </c:pt>
                <c:pt idx="46">
                  <c:v>920</c:v>
                </c:pt>
                <c:pt idx="47">
                  <c:v>940</c:v>
                </c:pt>
                <c:pt idx="48">
                  <c:v>960</c:v>
                </c:pt>
                <c:pt idx="49">
                  <c:v>980</c:v>
                </c:pt>
                <c:pt idx="50">
                  <c:v>1000</c:v>
                </c:pt>
                <c:pt idx="51">
                  <c:v>1020</c:v>
                </c:pt>
                <c:pt idx="52">
                  <c:v>1040</c:v>
                </c:pt>
                <c:pt idx="53">
                  <c:v>1060</c:v>
                </c:pt>
                <c:pt idx="54">
                  <c:v>1080</c:v>
                </c:pt>
                <c:pt idx="55">
                  <c:v>1100</c:v>
                </c:pt>
                <c:pt idx="56">
                  <c:v>1120</c:v>
                </c:pt>
                <c:pt idx="57">
                  <c:v>1140</c:v>
                </c:pt>
                <c:pt idx="58">
                  <c:v>1160</c:v>
                </c:pt>
                <c:pt idx="59">
                  <c:v>1180</c:v>
                </c:pt>
                <c:pt idx="60">
                  <c:v>1200</c:v>
                </c:pt>
                <c:pt idx="61">
                  <c:v>1220</c:v>
                </c:pt>
                <c:pt idx="62">
                  <c:v>1240</c:v>
                </c:pt>
                <c:pt idx="63">
                  <c:v>1260</c:v>
                </c:pt>
                <c:pt idx="64">
                  <c:v>1280</c:v>
                </c:pt>
                <c:pt idx="65">
                  <c:v>1300</c:v>
                </c:pt>
                <c:pt idx="66">
                  <c:v>1320</c:v>
                </c:pt>
                <c:pt idx="67">
                  <c:v>1340</c:v>
                </c:pt>
                <c:pt idx="68">
                  <c:v>1360</c:v>
                </c:pt>
                <c:pt idx="69">
                  <c:v>1380</c:v>
                </c:pt>
                <c:pt idx="70">
                  <c:v>1400</c:v>
                </c:pt>
                <c:pt idx="71">
                  <c:v>1420</c:v>
                </c:pt>
                <c:pt idx="72">
                  <c:v>1440</c:v>
                </c:pt>
                <c:pt idx="73">
                  <c:v>1460</c:v>
                </c:pt>
                <c:pt idx="74">
                  <c:v>1480</c:v>
                </c:pt>
                <c:pt idx="75">
                  <c:v>1500</c:v>
                </c:pt>
                <c:pt idx="76">
                  <c:v>1520</c:v>
                </c:pt>
                <c:pt idx="77">
                  <c:v>1540</c:v>
                </c:pt>
                <c:pt idx="78">
                  <c:v>1560</c:v>
                </c:pt>
                <c:pt idx="79">
                  <c:v>1580</c:v>
                </c:pt>
                <c:pt idx="80">
                  <c:v>1600</c:v>
                </c:pt>
              </c:numCache>
            </c:numRef>
          </c:xVal>
          <c:yVal>
            <c:numRef>
              <c:f>Hoja1!$B$3:$B$83</c:f>
              <c:numCache>
                <c:formatCode>General</c:formatCode>
                <c:ptCount val="81"/>
                <c:pt idx="0">
                  <c:v>0</c:v>
                </c:pt>
                <c:pt idx="1">
                  <c:v>6.9000000000000006E-2</c:v>
                </c:pt>
                <c:pt idx="2">
                  <c:v>8.3000000000000004E-2</c:v>
                </c:pt>
                <c:pt idx="3">
                  <c:v>9.8000000000000004E-2</c:v>
                </c:pt>
                <c:pt idx="4">
                  <c:v>0.114</c:v>
                </c:pt>
                <c:pt idx="5">
                  <c:v>0.127</c:v>
                </c:pt>
                <c:pt idx="6">
                  <c:v>0.13900000000000001</c:v>
                </c:pt>
                <c:pt idx="7">
                  <c:v>0.15</c:v>
                </c:pt>
                <c:pt idx="8">
                  <c:v>0.16200000000000001</c:v>
                </c:pt>
                <c:pt idx="9">
                  <c:v>0.17300000000000001</c:v>
                </c:pt>
                <c:pt idx="10">
                  <c:v>0.182</c:v>
                </c:pt>
                <c:pt idx="11">
                  <c:v>0.191</c:v>
                </c:pt>
                <c:pt idx="12">
                  <c:v>0.2</c:v>
                </c:pt>
                <c:pt idx="13">
                  <c:v>0.20600000000000002</c:v>
                </c:pt>
                <c:pt idx="14">
                  <c:v>0.21199999999999999</c:v>
                </c:pt>
                <c:pt idx="15">
                  <c:v>0.221</c:v>
                </c:pt>
                <c:pt idx="16">
                  <c:v>0.22699999999999998</c:v>
                </c:pt>
                <c:pt idx="17">
                  <c:v>0.23499999999999999</c:v>
                </c:pt>
                <c:pt idx="18">
                  <c:v>0.24199999999999999</c:v>
                </c:pt>
                <c:pt idx="19">
                  <c:v>0.247</c:v>
                </c:pt>
                <c:pt idx="20">
                  <c:v>0.254</c:v>
                </c:pt>
                <c:pt idx="21">
                  <c:v>0.25900000000000001</c:v>
                </c:pt>
                <c:pt idx="22">
                  <c:v>0.26500000000000001</c:v>
                </c:pt>
                <c:pt idx="23">
                  <c:v>0.26700000000000002</c:v>
                </c:pt>
                <c:pt idx="24">
                  <c:v>0.27200000000000002</c:v>
                </c:pt>
                <c:pt idx="25">
                  <c:v>0.27500000000000002</c:v>
                </c:pt>
                <c:pt idx="26">
                  <c:v>0.28100000000000003</c:v>
                </c:pt>
                <c:pt idx="27">
                  <c:v>0.28600000000000003</c:v>
                </c:pt>
                <c:pt idx="28">
                  <c:v>0.28999999999999998</c:v>
                </c:pt>
                <c:pt idx="29">
                  <c:v>0.29399999999999998</c:v>
                </c:pt>
                <c:pt idx="30">
                  <c:v>0.29699999999999999</c:v>
                </c:pt>
                <c:pt idx="31">
                  <c:v>0.3</c:v>
                </c:pt>
                <c:pt idx="32">
                  <c:v>0.30399999999999999</c:v>
                </c:pt>
                <c:pt idx="33">
                  <c:v>0.307</c:v>
                </c:pt>
                <c:pt idx="34">
                  <c:v>0.31</c:v>
                </c:pt>
                <c:pt idx="35">
                  <c:v>0.313</c:v>
                </c:pt>
                <c:pt idx="36">
                  <c:v>0.316</c:v>
                </c:pt>
                <c:pt idx="37">
                  <c:v>0.318</c:v>
                </c:pt>
                <c:pt idx="38">
                  <c:v>0.32100000000000001</c:v>
                </c:pt>
                <c:pt idx="39">
                  <c:v>0.32299999999999995</c:v>
                </c:pt>
                <c:pt idx="40">
                  <c:v>0.32500000000000001</c:v>
                </c:pt>
                <c:pt idx="41">
                  <c:v>0.32700000000000001</c:v>
                </c:pt>
                <c:pt idx="42">
                  <c:v>0.32899999999999996</c:v>
                </c:pt>
                <c:pt idx="43">
                  <c:v>0.33100000000000002</c:v>
                </c:pt>
                <c:pt idx="44">
                  <c:v>0.33299999999999996</c:v>
                </c:pt>
                <c:pt idx="45">
                  <c:v>0.33500000000000002</c:v>
                </c:pt>
                <c:pt idx="46">
                  <c:v>0.33700000000000002</c:v>
                </c:pt>
                <c:pt idx="47">
                  <c:v>0.33799999999999997</c:v>
                </c:pt>
                <c:pt idx="48">
                  <c:v>0.34</c:v>
                </c:pt>
                <c:pt idx="49">
                  <c:v>0.34100000000000003</c:v>
                </c:pt>
                <c:pt idx="50">
                  <c:v>0.34299999999999997</c:v>
                </c:pt>
                <c:pt idx="51">
                  <c:v>0.34499999999999997</c:v>
                </c:pt>
                <c:pt idx="52">
                  <c:v>0.34600000000000003</c:v>
                </c:pt>
                <c:pt idx="53">
                  <c:v>0.34700000000000003</c:v>
                </c:pt>
                <c:pt idx="54">
                  <c:v>0.34799999999999998</c:v>
                </c:pt>
                <c:pt idx="55">
                  <c:v>0.35</c:v>
                </c:pt>
                <c:pt idx="56">
                  <c:v>0.35100000000000003</c:v>
                </c:pt>
                <c:pt idx="57">
                  <c:v>0.35200000000000004</c:v>
                </c:pt>
                <c:pt idx="58">
                  <c:v>0.35299999999999998</c:v>
                </c:pt>
                <c:pt idx="59">
                  <c:v>0.35399999999999998</c:v>
                </c:pt>
                <c:pt idx="60">
                  <c:v>0.35549999999999998</c:v>
                </c:pt>
                <c:pt idx="61">
                  <c:v>0.35600000000000004</c:v>
                </c:pt>
                <c:pt idx="62">
                  <c:v>0.35700000000000004</c:v>
                </c:pt>
                <c:pt idx="63">
                  <c:v>0.35799999999999998</c:v>
                </c:pt>
                <c:pt idx="64">
                  <c:v>0.35899999999999999</c:v>
                </c:pt>
                <c:pt idx="65">
                  <c:v>0.36</c:v>
                </c:pt>
                <c:pt idx="66">
                  <c:v>0.36099999999999999</c:v>
                </c:pt>
                <c:pt idx="67">
                  <c:v>0.36249999999999999</c:v>
                </c:pt>
                <c:pt idx="68">
                  <c:v>0.36399999999999999</c:v>
                </c:pt>
                <c:pt idx="69">
                  <c:v>0.36499999999999999</c:v>
                </c:pt>
                <c:pt idx="70">
                  <c:v>0.36599999999999999</c:v>
                </c:pt>
                <c:pt idx="71">
                  <c:v>0.36649999999999999</c:v>
                </c:pt>
                <c:pt idx="72">
                  <c:v>0.36700000000000005</c:v>
                </c:pt>
                <c:pt idx="73">
                  <c:v>0.36700000000000005</c:v>
                </c:pt>
                <c:pt idx="74">
                  <c:v>0.36700000000000005</c:v>
                </c:pt>
                <c:pt idx="75">
                  <c:v>0.36700000000000005</c:v>
                </c:pt>
                <c:pt idx="76">
                  <c:v>0.36700000000000005</c:v>
                </c:pt>
                <c:pt idx="77">
                  <c:v>0.36700000000000005</c:v>
                </c:pt>
                <c:pt idx="78">
                  <c:v>0.36700000000000005</c:v>
                </c:pt>
                <c:pt idx="79">
                  <c:v>0.36700000000000005</c:v>
                </c:pt>
                <c:pt idx="80">
                  <c:v>0.36700000000000005</c:v>
                </c:pt>
              </c:numCache>
            </c:numRef>
          </c:yVal>
          <c:smooth val="0"/>
          <c:extLst>
            <c:ext xmlns:c16="http://schemas.microsoft.com/office/drawing/2014/chart" uri="{C3380CC4-5D6E-409C-BE32-E72D297353CC}">
              <c16:uniqueId val="{00000000-086A-4D9E-9FF2-52E4BC6356A7}"/>
            </c:ext>
          </c:extLst>
        </c:ser>
        <c:dLbls>
          <c:showLegendKey val="0"/>
          <c:showVal val="0"/>
          <c:showCatName val="0"/>
          <c:showSerName val="0"/>
          <c:showPercent val="0"/>
          <c:showBubbleSize val="0"/>
        </c:dLbls>
        <c:axId val="2048907967"/>
        <c:axId val="2048922527"/>
      </c:scatterChart>
      <c:valAx>
        <c:axId val="2048907967"/>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s-BO"/>
                  <a:t>t [s]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s-BO"/>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BO"/>
          </a:p>
        </c:txPr>
        <c:crossAx val="2048922527"/>
        <c:crosses val="autoZero"/>
        <c:crossBetween val="midCat"/>
      </c:valAx>
      <c:valAx>
        <c:axId val="2048922527"/>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s-BO"/>
                  <a:t>h(t) [m]</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s-BO"/>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BO"/>
          </a:p>
        </c:txPr>
        <c:crossAx val="2048907967"/>
        <c:crosses val="autoZero"/>
        <c:crossBetween val="midCat"/>
      </c:valAx>
      <c:spPr>
        <a:noFill/>
        <a:ln>
          <a:noFill/>
        </a:ln>
        <a:effectLst/>
      </c:spPr>
    </c:plotArea>
    <c:plotVisOnly val="1"/>
    <c:dispBlanksAs val="gap"/>
    <c:showDLblsOverMax val="0"/>
  </c:chart>
  <c:spPr>
    <a:solidFill>
      <a:schemeClr val="bg1"/>
    </a:solidFill>
    <a:ln w="9525" cap="flat" cmpd="sng" algn="ctr">
      <a:solidFill>
        <a:schemeClr val="tx1"/>
      </a:solidFill>
      <a:round/>
    </a:ln>
    <a:effectLst/>
  </c:spPr>
  <c:txPr>
    <a:bodyPr/>
    <a:lstStyle/>
    <a:p>
      <a:pPr>
        <a:defRPr/>
      </a:pPr>
      <a:endParaRPr lang="es-BO"/>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BO"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 name="Google Shape;226;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rgbClr val="002060"/>
              </a:buClr>
              <a:buSzPts val="1800"/>
              <a:buFont typeface="Calibri"/>
              <a:buChar char="-"/>
            </a:pPr>
            <a:r>
              <a:rPr b="1" lang="es-BO" sz="1800">
                <a:solidFill>
                  <a:srgbClr val="002060"/>
                </a:solidFill>
                <a:latin typeface="Calibri"/>
                <a:ea typeface="Calibri"/>
                <a:cs typeface="Calibri"/>
                <a:sym typeface="Calibri"/>
              </a:rPr>
              <a:t>Sensores vibratorios: </a:t>
            </a:r>
            <a:r>
              <a:rPr lang="es-BO" sz="1800">
                <a:latin typeface="Calibri"/>
                <a:ea typeface="Calibri"/>
                <a:cs typeface="Calibri"/>
                <a:sym typeface="Calibri"/>
              </a:rPr>
              <a:t>Es utilizado para la detección de nivel alto y bajo del líquido en el tanque.</a:t>
            </a:r>
            <a:endParaRPr sz="1800">
              <a:latin typeface="Times New Roman"/>
              <a:ea typeface="Times New Roman"/>
              <a:cs typeface="Times New Roman"/>
              <a:sym typeface="Times New Roman"/>
            </a:endParaRPr>
          </a:p>
        </p:txBody>
      </p:sp>
      <p:sp>
        <p:nvSpPr>
          <p:cNvPr id="227" name="Google Shape;227;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 name="Google Shape;243;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rgbClr val="002060"/>
              </a:buClr>
              <a:buSzPts val="1800"/>
              <a:buFont typeface="Calibri"/>
              <a:buNone/>
            </a:pPr>
            <a:r>
              <a:rPr b="1" lang="es-BO" sz="1800">
                <a:solidFill>
                  <a:srgbClr val="002060"/>
                </a:solidFill>
                <a:latin typeface="Calibri"/>
                <a:ea typeface="Calibri"/>
                <a:cs typeface="Calibri"/>
                <a:sym typeface="Calibri"/>
              </a:rPr>
              <a:t>Electroválvulas</a:t>
            </a:r>
            <a:r>
              <a:rPr lang="es-BO" sz="1800">
                <a:latin typeface="Calibri"/>
                <a:ea typeface="Calibri"/>
                <a:cs typeface="Calibri"/>
                <a:sym typeface="Calibri"/>
              </a:rPr>
              <a:t>: Permiten el cierre o paso del líquido por la red de cañerías.</a:t>
            </a:r>
            <a:endParaRPr sz="1800">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
        <p:nvSpPr>
          <p:cNvPr id="244" name="Google Shape;244;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2" name="Google Shape;262;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rgbClr val="002060"/>
              </a:buClr>
              <a:buSzPts val="1800"/>
              <a:buFont typeface="Calibri"/>
              <a:buNone/>
            </a:pPr>
            <a:r>
              <a:rPr b="1" lang="es-BO" sz="1800">
                <a:solidFill>
                  <a:srgbClr val="002060"/>
                </a:solidFill>
                <a:latin typeface="Calibri"/>
                <a:ea typeface="Calibri"/>
                <a:cs typeface="Calibri"/>
                <a:sym typeface="Calibri"/>
              </a:rPr>
              <a:t>Flujómetro (Dosificador):</a:t>
            </a:r>
            <a:r>
              <a:rPr lang="es-BO" sz="1800">
                <a:latin typeface="Calibri"/>
                <a:ea typeface="Calibri"/>
                <a:cs typeface="Calibri"/>
                <a:sym typeface="Calibri"/>
              </a:rPr>
              <a:t> Utilizado para la medición del caudal y volumen del líquido.</a:t>
            </a:r>
            <a:endParaRPr sz="1800">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
        <p:nvSpPr>
          <p:cNvPr id="263" name="Google Shape;263;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6" name="Google Shape;276;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rgbClr val="002060"/>
              </a:buClr>
              <a:buSzPts val="1800"/>
              <a:buFont typeface="Calibri"/>
              <a:buNone/>
            </a:pPr>
            <a:r>
              <a:rPr b="1" lang="es-BO" sz="1800">
                <a:solidFill>
                  <a:srgbClr val="002060"/>
                </a:solidFill>
                <a:latin typeface="Calibri"/>
                <a:ea typeface="Calibri"/>
                <a:cs typeface="Calibri"/>
                <a:sym typeface="Calibri"/>
              </a:rPr>
              <a:t>Sensor de presión:</a:t>
            </a:r>
            <a:r>
              <a:rPr lang="es-BO" sz="1800">
                <a:latin typeface="Calibri"/>
                <a:ea typeface="Calibri"/>
                <a:cs typeface="Calibri"/>
                <a:sym typeface="Calibri"/>
              </a:rPr>
              <a:t> Es utilizado para la medición de presión relativa en el tanque y también se puede usar para medir la altura del líquido teniendo como referencia la posición de este sensor.</a:t>
            </a:r>
            <a:endParaRPr sz="1800">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
        <p:nvSpPr>
          <p:cNvPr id="277" name="Google Shape;277;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0" name="Google Shape;290;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rgbClr val="002060"/>
              </a:buClr>
              <a:buSzPts val="1800"/>
              <a:buFont typeface="Calibri"/>
              <a:buNone/>
            </a:pPr>
            <a:r>
              <a:rPr b="1" lang="es-BO" sz="1800">
                <a:solidFill>
                  <a:srgbClr val="002060"/>
                </a:solidFill>
                <a:latin typeface="Calibri"/>
                <a:ea typeface="Calibri"/>
                <a:cs typeface="Calibri"/>
                <a:sym typeface="Calibri"/>
              </a:rPr>
              <a:t>Sensores de temperatura TC/RTD</a:t>
            </a:r>
            <a:r>
              <a:rPr lang="es-BO" sz="1800">
                <a:latin typeface="Calibri"/>
                <a:ea typeface="Calibri"/>
                <a:cs typeface="Calibri"/>
                <a:sym typeface="Calibri"/>
              </a:rPr>
              <a:t>: Están conectados al controlador de temperatura para dar mediciones de la temperatura del líquido.</a:t>
            </a:r>
            <a:endParaRPr sz="1800">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
        <p:nvSpPr>
          <p:cNvPr id="291" name="Google Shape;291;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7" name="Google Shape;307;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s-BO"/>
              <a:t>El motor trifásico genera energía mecánica rotacional que posteriormente la bomba centrifuga transforma a energía hidráulica.</a:t>
            </a:r>
            <a:endParaRPr/>
          </a:p>
        </p:txBody>
      </p:sp>
      <p:sp>
        <p:nvSpPr>
          <p:cNvPr id="308" name="Google Shape;308;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5" name="Google Shape;325;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rgbClr val="002060"/>
              </a:buClr>
              <a:buSzPts val="1800"/>
              <a:buFont typeface="Calibri"/>
              <a:buNone/>
            </a:pPr>
            <a:r>
              <a:rPr b="1" lang="es-BO" sz="1800">
                <a:solidFill>
                  <a:srgbClr val="002060"/>
                </a:solidFill>
                <a:latin typeface="Calibri"/>
                <a:ea typeface="Calibri"/>
                <a:cs typeface="Calibri"/>
                <a:sym typeface="Calibri"/>
              </a:rPr>
              <a:t>Variador de frecuencia:</a:t>
            </a:r>
            <a:r>
              <a:rPr lang="es-BO" sz="1800">
                <a:latin typeface="Calibri"/>
                <a:ea typeface="Calibri"/>
                <a:cs typeface="Calibri"/>
                <a:sym typeface="Calibri"/>
              </a:rPr>
              <a:t> Permite regular la velocidad de giro del motor, mediante la variación de frecuencia del mismo, de manera que se pueda bombear el líquido del tanque inferior al superior.</a:t>
            </a:r>
            <a:endParaRPr sz="1800">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
        <p:nvSpPr>
          <p:cNvPr id="326" name="Google Shape;326;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0" name="Google Shape;340;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rgbClr val="002060"/>
              </a:buClr>
              <a:buSzPts val="1800"/>
              <a:buFont typeface="Calibri"/>
              <a:buNone/>
            </a:pPr>
            <a:r>
              <a:rPr b="1" lang="es-BO" sz="1800">
                <a:solidFill>
                  <a:srgbClr val="002060"/>
                </a:solidFill>
                <a:latin typeface="Calibri"/>
                <a:ea typeface="Calibri"/>
                <a:cs typeface="Calibri"/>
                <a:sym typeface="Calibri"/>
              </a:rPr>
              <a:t>Sensor ultrasónico: </a:t>
            </a:r>
            <a:r>
              <a:rPr lang="es-BO" sz="1800">
                <a:latin typeface="Calibri"/>
                <a:ea typeface="Calibri"/>
                <a:cs typeface="Calibri"/>
                <a:sym typeface="Calibri"/>
              </a:rPr>
              <a:t>Es utilizado para la medición de la altura del nivel de líquido del depósito.</a:t>
            </a:r>
            <a:r>
              <a:rPr b="1" lang="es-BO" sz="1800">
                <a:solidFill>
                  <a:srgbClr val="002060"/>
                </a:solidFill>
                <a:latin typeface="Calibri"/>
                <a:ea typeface="Calibri"/>
                <a:cs typeface="Calibri"/>
                <a:sym typeface="Calibri"/>
              </a:rPr>
              <a:t> </a:t>
            </a:r>
            <a:endParaRPr sz="1800">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
        <p:nvSpPr>
          <p:cNvPr id="341" name="Google Shape;341;p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3" name="Google Shape;353;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rgbClr val="002060"/>
              </a:buClr>
              <a:buSzPts val="1800"/>
              <a:buFont typeface="Calibri"/>
              <a:buNone/>
            </a:pPr>
            <a:r>
              <a:rPr b="1" lang="es-BO" sz="1800">
                <a:solidFill>
                  <a:srgbClr val="002060"/>
                </a:solidFill>
                <a:latin typeface="Calibri"/>
                <a:ea typeface="Calibri"/>
                <a:cs typeface="Calibri"/>
                <a:sym typeface="Calibri"/>
              </a:rPr>
              <a:t>HMI: </a:t>
            </a:r>
            <a:r>
              <a:rPr lang="es-BO" sz="1800">
                <a:latin typeface="Calibri"/>
                <a:ea typeface="Calibri"/>
                <a:cs typeface="Calibri"/>
                <a:sym typeface="Calibri"/>
              </a:rPr>
              <a:t>Este dispositivo nos permite la visualización de las medidas, escaladas por el PLC, en la parte frontal del panel de control.</a:t>
            </a:r>
            <a:endParaRPr sz="1800">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
        <p:nvSpPr>
          <p:cNvPr id="354" name="Google Shape;354;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7" name="Google Shape;367;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368" name="Google Shape;368;p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0" name="Google Shape;380;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rgbClr val="002060"/>
              </a:buClr>
              <a:buSzPts val="1800"/>
              <a:buFont typeface="Calibri"/>
              <a:buNone/>
            </a:pPr>
            <a:r>
              <a:rPr b="1" lang="es-BO" sz="1800">
                <a:solidFill>
                  <a:srgbClr val="002060"/>
                </a:solidFill>
                <a:latin typeface="Calibri"/>
                <a:ea typeface="Calibri"/>
                <a:cs typeface="Calibri"/>
                <a:sym typeface="Calibri"/>
              </a:rPr>
              <a:t>PLC / Modulo de expansión</a:t>
            </a:r>
            <a:r>
              <a:rPr lang="es-BO" sz="1800">
                <a:latin typeface="Calibri"/>
                <a:ea typeface="Calibri"/>
                <a:cs typeface="Calibri"/>
                <a:sym typeface="Calibri"/>
              </a:rPr>
              <a:t>: Es el controlador del sistema de nivel de líquido, el cual recibe señales de los sensores de nivel para accionar el variador de frecuencia el cual regula la velocidad del motor.</a:t>
            </a:r>
            <a:endParaRPr sz="1800">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
        <p:nvSpPr>
          <p:cNvPr id="381" name="Google Shape;381;p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8" name="Google Shape;398;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rgbClr val="002060"/>
              </a:buClr>
              <a:buSzPts val="1800"/>
              <a:buFont typeface="Calibri"/>
              <a:buNone/>
            </a:pPr>
            <a:r>
              <a:rPr b="1" lang="es-BO" sz="1800">
                <a:solidFill>
                  <a:srgbClr val="002060"/>
                </a:solidFill>
                <a:latin typeface="Calibri"/>
                <a:ea typeface="Calibri"/>
                <a:cs typeface="Calibri"/>
                <a:sym typeface="Calibri"/>
              </a:rPr>
              <a:t>Controlador de temperatura: </a:t>
            </a:r>
            <a:r>
              <a:rPr lang="es-BO" sz="1800">
                <a:latin typeface="Calibri"/>
                <a:ea typeface="Calibri"/>
                <a:cs typeface="Calibri"/>
                <a:sym typeface="Calibri"/>
              </a:rPr>
              <a:t>Este controlador es utilizado como un indicador de temperatura, sin aprovechar su capacidad de realizar una acción de control.</a:t>
            </a:r>
            <a:endParaRPr sz="1800">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
        <p:nvSpPr>
          <p:cNvPr id="399" name="Google Shape;399;p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1" name="Google Shape;411;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6" name="Google Shape;436;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5" name="Google Shape;445;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0" name="Google Shape;450;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s-BO"/>
              <a:t>Esquema eléctrico de conexiones al panel frontal</a:t>
            </a:r>
            <a:endParaRPr/>
          </a:p>
        </p:txBody>
      </p:sp>
      <p:sp>
        <p:nvSpPr>
          <p:cNvPr id="451" name="Google Shape;451;p2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7" name="Google Shape;457;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b="0" i="0" lang="es-BO" sz="1800">
                <a:latin typeface="Times New Roman"/>
                <a:ea typeface="Times New Roman"/>
                <a:cs typeface="Times New Roman"/>
                <a:sym typeface="Times New Roman"/>
              </a:rPr>
              <a:t>Diagrama eléctrico-PLC y sus salidas hacia electroválvulas y baliza; entradas del sensor de ultrasonido, de presión a las entradas al módulo de expansión analógica y la conexión del flujómetro.</a:t>
            </a:r>
            <a:endParaRPr b="0" i="0" sz="1800">
              <a:latin typeface="Times New Roman"/>
              <a:ea typeface="Times New Roman"/>
              <a:cs typeface="Times New Roman"/>
              <a:sym typeface="Times New Roman"/>
            </a:endParaRPr>
          </a:p>
        </p:txBody>
      </p:sp>
      <p:sp>
        <p:nvSpPr>
          <p:cNvPr id="458" name="Google Shape;458;p2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5" name="Google Shape;465;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0" name="Google Shape;470;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471" name="Google Shape;471;p3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2" name="Google Shape;492;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7" name="Google Shape;497;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4" name="Google Shape;504;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5" name="Google Shape;515;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7" name="Google Shape;527;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2" name="Google Shape;532;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rPr lang="es-BO" sz="1200"/>
              <a:t>En la presente transparencia se pretende conocer el funcionamiento del sensor y conocer las características mas relevantes.</a:t>
            </a:r>
            <a:endParaRPr sz="1200"/>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1" name="Google Shape;551;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s-BO"/>
              <a:t>Los números son los identificadores de los cables</a:t>
            </a:r>
            <a:endParaRPr/>
          </a:p>
        </p:txBody>
      </p:sp>
      <p:sp>
        <p:nvSpPr>
          <p:cNvPr id="552" name="Google Shape;552;p3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0" name="Google Shape;600;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BO" sz="1100">
                <a:latin typeface="Calibri"/>
                <a:ea typeface="Calibri"/>
                <a:cs typeface="Calibri"/>
                <a:sym typeface="Calibri"/>
              </a:rPr>
              <a:t>Para realizar las respectivas pruebas sobre el sensor, fue necesario tomar en cuenta las siguientes consideraciones básicas:</a:t>
            </a:r>
            <a:endParaRPr sz="1100">
              <a:latin typeface="Times New Roman"/>
              <a:ea typeface="Times New Roman"/>
              <a:cs typeface="Times New Roman"/>
              <a:sym typeface="Times New Roman"/>
            </a:endParaRPr>
          </a:p>
          <a:p>
            <a:pPr indent="-342900" lvl="0" marL="342900" rtl="0" algn="l">
              <a:spcBef>
                <a:spcPts val="0"/>
              </a:spcBef>
              <a:spcAft>
                <a:spcPts val="0"/>
              </a:spcAft>
              <a:buClr>
                <a:schemeClr val="dk1"/>
              </a:buClr>
              <a:buSzPts val="1100"/>
              <a:buFont typeface="Noto Sans Symbols"/>
              <a:buChar char="∙"/>
            </a:pPr>
            <a:r>
              <a:rPr lang="es-BO" sz="1100">
                <a:latin typeface="Calibri"/>
                <a:ea typeface="Calibri"/>
                <a:cs typeface="Calibri"/>
                <a:sym typeface="Calibri"/>
              </a:rPr>
              <a:t>Entender el funcionamiento del sensor de temperatura TC.</a:t>
            </a:r>
            <a:endParaRPr sz="1100">
              <a:latin typeface="Times New Roman"/>
              <a:ea typeface="Times New Roman"/>
              <a:cs typeface="Times New Roman"/>
              <a:sym typeface="Times New Roman"/>
            </a:endParaRPr>
          </a:p>
          <a:p>
            <a:pPr indent="-342900" lvl="0" marL="342900" rtl="0" algn="l">
              <a:spcBef>
                <a:spcPts val="0"/>
              </a:spcBef>
              <a:spcAft>
                <a:spcPts val="0"/>
              </a:spcAft>
              <a:buClr>
                <a:schemeClr val="dk1"/>
              </a:buClr>
              <a:buSzPts val="1100"/>
              <a:buFont typeface="Noto Sans Symbols"/>
              <a:buChar char="∙"/>
            </a:pPr>
            <a:r>
              <a:rPr lang="es-BO" sz="1100">
                <a:latin typeface="Calibri"/>
                <a:ea typeface="Calibri"/>
                <a:cs typeface="Calibri"/>
                <a:sym typeface="Calibri"/>
              </a:rPr>
              <a:t>Las conexiones del sensor en el sistema.</a:t>
            </a:r>
            <a:endParaRPr sz="1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Calibri"/>
              <a:buNone/>
            </a:pPr>
            <a:r>
              <a:rPr lang="es-BO" sz="1100"/>
              <a:t>En la transparencia se pretende mostrar la linealidad del sensor</a:t>
            </a:r>
            <a:endParaRPr sz="1100"/>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9" name="Google Shape;619;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3" name="Google Shape;633;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s-BO"/>
              <a:t>Se puede observar las conexiones realizadas en el sistema al controlador de temperatura.</a:t>
            </a:r>
            <a:endParaRPr/>
          </a:p>
        </p:txBody>
      </p:sp>
      <p:sp>
        <p:nvSpPr>
          <p:cNvPr id="634" name="Google Shape;634;p4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3" name="Google Shape;683;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BO" sz="1200">
                <a:latin typeface="Calibri"/>
                <a:ea typeface="Calibri"/>
                <a:cs typeface="Calibri"/>
                <a:sym typeface="Calibri"/>
              </a:rPr>
              <a:t>Para realizar las respectivas pruebas sobre el sensor, fue necesario tomar en cuenta las siguientes consideraciones básicas:</a:t>
            </a:r>
            <a:endParaRPr sz="1200">
              <a:latin typeface="Times New Roman"/>
              <a:ea typeface="Times New Roman"/>
              <a:cs typeface="Times New Roman"/>
              <a:sym typeface="Times New Roman"/>
            </a:endParaRPr>
          </a:p>
          <a:p>
            <a:pPr indent="-342900" lvl="0" marL="342900" rtl="0" algn="l">
              <a:spcBef>
                <a:spcPts val="0"/>
              </a:spcBef>
              <a:spcAft>
                <a:spcPts val="0"/>
              </a:spcAft>
              <a:buClr>
                <a:schemeClr val="dk1"/>
              </a:buClr>
              <a:buSzPts val="1200"/>
              <a:buFont typeface="Noto Sans Symbols"/>
              <a:buChar char="∙"/>
            </a:pPr>
            <a:r>
              <a:rPr lang="es-BO" sz="1200">
                <a:latin typeface="Calibri"/>
                <a:ea typeface="Calibri"/>
                <a:cs typeface="Calibri"/>
                <a:sym typeface="Calibri"/>
              </a:rPr>
              <a:t>Entender el funcionamiento del sensor de temperatura RTD.</a:t>
            </a:r>
            <a:endParaRPr sz="1200">
              <a:latin typeface="Times New Roman"/>
              <a:ea typeface="Times New Roman"/>
              <a:cs typeface="Times New Roman"/>
              <a:sym typeface="Times New Roman"/>
            </a:endParaRPr>
          </a:p>
          <a:p>
            <a:pPr indent="-342900" lvl="0" marL="342900" rtl="0" algn="l">
              <a:spcBef>
                <a:spcPts val="0"/>
              </a:spcBef>
              <a:spcAft>
                <a:spcPts val="0"/>
              </a:spcAft>
              <a:buClr>
                <a:schemeClr val="dk1"/>
              </a:buClr>
              <a:buSzPts val="1200"/>
              <a:buFont typeface="Noto Sans Symbols"/>
              <a:buChar char="∙"/>
            </a:pPr>
            <a:r>
              <a:rPr lang="es-BO" sz="1200">
                <a:latin typeface="Calibri"/>
                <a:ea typeface="Calibri"/>
                <a:cs typeface="Calibri"/>
                <a:sym typeface="Calibri"/>
              </a:rPr>
              <a:t>Las conexiones del sensor en el sistema.</a:t>
            </a:r>
            <a:endParaRPr sz="1200">
              <a:latin typeface="Times New Roman"/>
              <a:ea typeface="Times New Roman"/>
              <a:cs typeface="Times New Roman"/>
              <a:sym typeface="Times New Roman"/>
            </a:endParaRPr>
          </a:p>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1" name="Google Shape;721;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3" name="Google Shape;733;p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s-BO"/>
              <a:t>Con el panel del dosificador…………..</a:t>
            </a:r>
            <a:endParaRPr/>
          </a:p>
        </p:txBody>
      </p:sp>
      <p:sp>
        <p:nvSpPr>
          <p:cNvPr id="734" name="Google Shape;734;p4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2" name="Google Shape;752;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3" name="Google Shape;763;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BO" sz="1200">
                <a:latin typeface="Calibri"/>
                <a:ea typeface="Calibri"/>
                <a:cs typeface="Calibri"/>
                <a:sym typeface="Calibri"/>
              </a:rPr>
              <a:t>Para realizar las respectivas pruebas con el dosificador, se utilizó el variador de frecuencia para así tener una relación lineal entre el caudal y el voltaje proporcionado del variador de frecuencia a la bomba de agua. </a:t>
            </a:r>
            <a:endParaRPr sz="1200">
              <a:latin typeface="Times New Roman"/>
              <a:ea typeface="Times New Roman"/>
              <a:cs typeface="Times New Roman"/>
              <a:sym typeface="Times New Roman"/>
            </a:endParaRPr>
          </a:p>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p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1" name="Google Shape;771;p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p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8" name="Google Shape;778;p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p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6" name="Google Shape;816;p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817" name="Google Shape;817;p4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p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3" name="Google Shape;823;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BO" sz="1000">
                <a:latin typeface="Calibri"/>
                <a:ea typeface="Calibri"/>
                <a:cs typeface="Calibri"/>
                <a:sym typeface="Calibri"/>
              </a:rPr>
              <a:t>Para realizar las respectivas pruebas sobre el sensor, fue necesario tomar en cuenta las siguientes consideraciones básicas:</a:t>
            </a:r>
            <a:endParaRPr sz="1000">
              <a:latin typeface="Times New Roman"/>
              <a:ea typeface="Times New Roman"/>
              <a:cs typeface="Times New Roman"/>
              <a:sym typeface="Times New Roman"/>
            </a:endParaRPr>
          </a:p>
          <a:p>
            <a:pPr indent="-342900" lvl="0" marL="342900" rtl="0" algn="l">
              <a:spcBef>
                <a:spcPts val="0"/>
              </a:spcBef>
              <a:spcAft>
                <a:spcPts val="0"/>
              </a:spcAft>
              <a:buClr>
                <a:schemeClr val="dk1"/>
              </a:buClr>
              <a:buSzPts val="1000"/>
              <a:buFont typeface="Noto Sans Symbols"/>
              <a:buChar char="∙"/>
            </a:pPr>
            <a:r>
              <a:rPr lang="es-BO" sz="1000">
                <a:latin typeface="Calibri"/>
                <a:ea typeface="Calibri"/>
                <a:cs typeface="Calibri"/>
                <a:sym typeface="Calibri"/>
              </a:rPr>
              <a:t>Entender el funcionamiento del sensor ultrasónico.</a:t>
            </a:r>
            <a:endParaRPr sz="1000">
              <a:latin typeface="Times New Roman"/>
              <a:ea typeface="Times New Roman"/>
              <a:cs typeface="Times New Roman"/>
              <a:sym typeface="Times New Roman"/>
            </a:endParaRPr>
          </a:p>
          <a:p>
            <a:pPr indent="-342900" lvl="0" marL="342900" rtl="0" algn="l">
              <a:spcBef>
                <a:spcPts val="0"/>
              </a:spcBef>
              <a:spcAft>
                <a:spcPts val="0"/>
              </a:spcAft>
              <a:buClr>
                <a:schemeClr val="dk1"/>
              </a:buClr>
              <a:buSzPts val="1000"/>
              <a:buFont typeface="Noto Sans Symbols"/>
              <a:buChar char="∙"/>
            </a:pPr>
            <a:r>
              <a:rPr lang="es-BO" sz="1000">
                <a:latin typeface="Calibri"/>
                <a:ea typeface="Calibri"/>
                <a:cs typeface="Calibri"/>
                <a:sym typeface="Calibri"/>
              </a:rPr>
              <a:t>Las conexiones del sensor en el sistema.</a:t>
            </a:r>
            <a:endParaRPr sz="1000">
              <a:latin typeface="Times New Roman"/>
              <a:ea typeface="Times New Roman"/>
              <a:cs typeface="Times New Roman"/>
              <a:sym typeface="Times New Roman"/>
            </a:endParaRPr>
          </a:p>
          <a:p>
            <a:pPr indent="-342900" lvl="0" marL="342900" rtl="0" algn="l">
              <a:spcBef>
                <a:spcPts val="0"/>
              </a:spcBef>
              <a:spcAft>
                <a:spcPts val="0"/>
              </a:spcAft>
              <a:buClr>
                <a:schemeClr val="dk1"/>
              </a:buClr>
              <a:buSzPts val="1000"/>
              <a:buFont typeface="Noto Sans Symbols"/>
              <a:buChar char="∙"/>
            </a:pPr>
            <a:r>
              <a:rPr lang="es-BO" sz="1000">
                <a:latin typeface="Calibri"/>
                <a:ea typeface="Calibri"/>
                <a:cs typeface="Calibri"/>
                <a:sym typeface="Calibri"/>
              </a:rPr>
              <a:t>Aprender a calibrar el sensor ultrasónico.</a:t>
            </a:r>
            <a:endParaRPr sz="1000">
              <a:latin typeface="Times New Roman"/>
              <a:ea typeface="Times New Roman"/>
              <a:cs typeface="Times New Roman"/>
              <a:sym typeface="Times New Roman"/>
            </a:endParaRPr>
          </a:p>
          <a:p>
            <a:pPr indent="-342900" lvl="0" marL="342900" rtl="0" algn="l">
              <a:spcBef>
                <a:spcPts val="0"/>
              </a:spcBef>
              <a:spcAft>
                <a:spcPts val="0"/>
              </a:spcAft>
              <a:buClr>
                <a:schemeClr val="dk1"/>
              </a:buClr>
              <a:buSzPts val="1000"/>
              <a:buFont typeface="Noto Sans Symbols"/>
              <a:buChar char="∙"/>
            </a:pPr>
            <a:r>
              <a:rPr lang="es-BO" sz="1000">
                <a:latin typeface="Calibri"/>
                <a:ea typeface="Calibri"/>
                <a:cs typeface="Calibri"/>
                <a:sym typeface="Calibri"/>
              </a:rPr>
              <a:t>Aprender a programar el sensor</a:t>
            </a:r>
            <a:endParaRPr sz="1000">
              <a:latin typeface="Times New Roman"/>
              <a:ea typeface="Times New Roman"/>
              <a:cs typeface="Times New Roman"/>
              <a:sym typeface="Times New Roman"/>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p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1" name="Google Shape;831;p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p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9" name="Google Shape;839;p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p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0" name="Google Shape;850;p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p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7" name="Google Shape;857;p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p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4" name="Google Shape;864;p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p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2" name="Google Shape;872;p5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s-BO"/>
              <a:t>La adaptación de señales se mostrara mas adelante</a:t>
            </a:r>
            <a:endParaRPr/>
          </a:p>
        </p:txBody>
      </p:sp>
      <p:sp>
        <p:nvSpPr>
          <p:cNvPr id="873" name="Google Shape;873;p5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9" name="Shape 879"/>
        <p:cNvGrpSpPr/>
        <p:nvPr/>
      </p:nvGrpSpPr>
      <p:grpSpPr>
        <a:xfrm>
          <a:off x="0" y="0"/>
          <a:ext cx="0" cy="0"/>
          <a:chOff x="0" y="0"/>
          <a:chExt cx="0" cy="0"/>
        </a:xfrm>
      </p:grpSpPr>
      <p:sp>
        <p:nvSpPr>
          <p:cNvPr id="880" name="Google Shape;880;p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1" name="Google Shape;881;p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p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0" name="Google Shape;890;p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p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0" name="Google Shape;900;p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5" name="Shape 905"/>
        <p:cNvGrpSpPr/>
        <p:nvPr/>
      </p:nvGrpSpPr>
      <p:grpSpPr>
        <a:xfrm>
          <a:off x="0" y="0"/>
          <a:ext cx="0" cy="0"/>
          <a:chOff x="0" y="0"/>
          <a:chExt cx="0" cy="0"/>
        </a:xfrm>
      </p:grpSpPr>
      <p:sp>
        <p:nvSpPr>
          <p:cNvPr id="906" name="Google Shape;906;p5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7" name="Google Shape;907;p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0" name="Shape 910"/>
        <p:cNvGrpSpPr/>
        <p:nvPr/>
      </p:nvGrpSpPr>
      <p:grpSpPr>
        <a:xfrm>
          <a:off x="0" y="0"/>
          <a:ext cx="0" cy="0"/>
          <a:chOff x="0" y="0"/>
          <a:chExt cx="0" cy="0"/>
        </a:xfrm>
      </p:grpSpPr>
      <p:sp>
        <p:nvSpPr>
          <p:cNvPr id="911" name="Google Shape;911;p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2" name="Google Shape;912;p6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dk1"/>
              </a:buClr>
              <a:buSzPts val="1200"/>
              <a:buFont typeface="Calibri"/>
              <a:buNone/>
            </a:pPr>
            <a:r>
              <a:rPr lang="es-BO" sz="1200"/>
              <a:t>Para la adaptación de señales se detallará más en su debida sección.</a:t>
            </a:r>
            <a:endParaRPr/>
          </a:p>
        </p:txBody>
      </p:sp>
      <p:sp>
        <p:nvSpPr>
          <p:cNvPr id="913" name="Google Shape;913;p6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1" name="Shape 921"/>
        <p:cNvGrpSpPr/>
        <p:nvPr/>
      </p:nvGrpSpPr>
      <p:grpSpPr>
        <a:xfrm>
          <a:off x="0" y="0"/>
          <a:ext cx="0" cy="0"/>
          <a:chOff x="0" y="0"/>
          <a:chExt cx="0" cy="0"/>
        </a:xfrm>
      </p:grpSpPr>
      <p:sp>
        <p:nvSpPr>
          <p:cNvPr id="922" name="Google Shape;922;p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3" name="Google Shape;923;p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p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5" name="Google Shape;935;p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p6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5" name="Google Shape;945;p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0" name="Shape 950"/>
        <p:cNvGrpSpPr/>
        <p:nvPr/>
      </p:nvGrpSpPr>
      <p:grpSpPr>
        <a:xfrm>
          <a:off x="0" y="0"/>
          <a:ext cx="0" cy="0"/>
          <a:chOff x="0" y="0"/>
          <a:chExt cx="0" cy="0"/>
        </a:xfrm>
      </p:grpSpPr>
      <p:sp>
        <p:nvSpPr>
          <p:cNvPr id="951" name="Google Shape;951;p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2" name="Google Shape;952;p6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s-BO"/>
              <a:t>Modo d: Se puede visualizar el voltaje máximo, salida, frecuencia y corriente.</a:t>
            </a:r>
            <a:br>
              <a:rPr lang="es-BO"/>
            </a:br>
            <a:r>
              <a:rPr lang="es-BO"/>
              <a:t>Modo p: Para configurar los parámetros de funcionamiento del VFC: Configuración de modo de comunicación con distintos equipos.</a:t>
            </a:r>
            <a:br>
              <a:rPr lang="es-BO"/>
            </a:br>
            <a:r>
              <a:rPr lang="es-BO"/>
              <a:t>Modo A: Funciones avanzadas, se debe tener precaución al manipularlos.</a:t>
            </a:r>
            <a:br>
              <a:rPr lang="es-BO"/>
            </a:br>
            <a:r>
              <a:rPr lang="es-BO"/>
              <a:t>Modo F: Muestra el código de error en caso de ser necesario.</a:t>
            </a:r>
            <a:br>
              <a:rPr lang="es-BO"/>
            </a:br>
            <a:r>
              <a:rPr lang="es-BO"/>
              <a:t>Modo t: Parámetros para el modo de control.</a:t>
            </a:r>
            <a:endParaRPr/>
          </a:p>
        </p:txBody>
      </p:sp>
      <p:sp>
        <p:nvSpPr>
          <p:cNvPr id="953" name="Google Shape;953;p6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 name="Shape 959"/>
        <p:cNvGrpSpPr/>
        <p:nvPr/>
      </p:nvGrpSpPr>
      <p:grpSpPr>
        <a:xfrm>
          <a:off x="0" y="0"/>
          <a:ext cx="0" cy="0"/>
          <a:chOff x="0" y="0"/>
          <a:chExt cx="0" cy="0"/>
        </a:xfrm>
      </p:grpSpPr>
      <p:sp>
        <p:nvSpPr>
          <p:cNvPr id="960" name="Google Shape;960;p6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1" name="Google Shape;961;p6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4" name="Shape 964"/>
        <p:cNvGrpSpPr/>
        <p:nvPr/>
      </p:nvGrpSpPr>
      <p:grpSpPr>
        <a:xfrm>
          <a:off x="0" y="0"/>
          <a:ext cx="0" cy="0"/>
          <a:chOff x="0" y="0"/>
          <a:chExt cx="0" cy="0"/>
        </a:xfrm>
      </p:grpSpPr>
      <p:sp>
        <p:nvSpPr>
          <p:cNvPr id="965" name="Google Shape;965;p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6" name="Google Shape;966;p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rPr lang="es-BO"/>
              <a:t>Explicación de los parámetros existentes en la placa del componente.</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4" name="Shape 974"/>
        <p:cNvGrpSpPr/>
        <p:nvPr/>
      </p:nvGrpSpPr>
      <p:grpSpPr>
        <a:xfrm>
          <a:off x="0" y="0"/>
          <a:ext cx="0" cy="0"/>
          <a:chOff x="0" y="0"/>
          <a:chExt cx="0" cy="0"/>
        </a:xfrm>
      </p:grpSpPr>
      <p:sp>
        <p:nvSpPr>
          <p:cNvPr id="975" name="Google Shape;975;p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6" name="Google Shape;976;p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rPr lang="es-BO"/>
              <a:t>La bomba de agua permite ambas configuraciones, Delta y estrella.</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6" name="Shape 986"/>
        <p:cNvGrpSpPr/>
        <p:nvPr/>
      </p:nvGrpSpPr>
      <p:grpSpPr>
        <a:xfrm>
          <a:off x="0" y="0"/>
          <a:ext cx="0" cy="0"/>
          <a:chOff x="0" y="0"/>
          <a:chExt cx="0" cy="0"/>
        </a:xfrm>
      </p:grpSpPr>
      <p:sp>
        <p:nvSpPr>
          <p:cNvPr id="987" name="Google Shape;987;p6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8" name="Google Shape;988;p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2" name="Shape 1022"/>
        <p:cNvGrpSpPr/>
        <p:nvPr/>
      </p:nvGrpSpPr>
      <p:grpSpPr>
        <a:xfrm>
          <a:off x="0" y="0"/>
          <a:ext cx="0" cy="0"/>
          <a:chOff x="0" y="0"/>
          <a:chExt cx="0" cy="0"/>
        </a:xfrm>
      </p:grpSpPr>
      <p:sp>
        <p:nvSpPr>
          <p:cNvPr id="1023" name="Google Shape;1023;p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4" name="Google Shape;1024;p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6000"/>
              </a:lnSpc>
              <a:spcBef>
                <a:spcPts val="0"/>
              </a:spcBef>
              <a:spcAft>
                <a:spcPts val="0"/>
              </a:spcAft>
              <a:buClr>
                <a:schemeClr val="dk1"/>
              </a:buClr>
              <a:buSzPts val="1050"/>
              <a:buFont typeface="Calibri"/>
              <a:buNone/>
            </a:pPr>
            <a:r>
              <a:rPr b="1" lang="es-BO" sz="1050">
                <a:solidFill>
                  <a:schemeClr val="dk1"/>
                </a:solidFill>
                <a:latin typeface="Calibri"/>
                <a:ea typeface="Calibri"/>
                <a:cs typeface="Calibri"/>
                <a:sym typeface="Calibri"/>
              </a:rPr>
              <a:t>Altura: </a:t>
            </a:r>
            <a:r>
              <a:rPr b="0" lang="es-BO" sz="1050">
                <a:solidFill>
                  <a:schemeClr val="dk1"/>
                </a:solidFill>
                <a:latin typeface="Calibri"/>
                <a:ea typeface="Calibri"/>
                <a:cs typeface="Calibri"/>
                <a:sym typeface="Calibri"/>
              </a:rPr>
              <a:t>E</a:t>
            </a:r>
            <a:r>
              <a:rPr lang="es-BO" sz="1050">
                <a:solidFill>
                  <a:schemeClr val="dk1"/>
                </a:solidFill>
                <a:latin typeface="Calibri"/>
                <a:ea typeface="Calibri"/>
                <a:cs typeface="Calibri"/>
                <a:sym typeface="Calibri"/>
              </a:rPr>
              <a:t>nergía por unidad de masa que la bomba puede suministrar al fluido</a:t>
            </a:r>
            <a:endParaRPr/>
          </a:p>
          <a:p>
            <a:pPr indent="0" lvl="0" marL="0" rtl="0" algn="l">
              <a:lnSpc>
                <a:spcPct val="106000"/>
              </a:lnSpc>
              <a:spcBef>
                <a:spcPts val="0"/>
              </a:spcBef>
              <a:spcAft>
                <a:spcPts val="0"/>
              </a:spcAft>
              <a:buClr>
                <a:schemeClr val="dk1"/>
              </a:buClr>
              <a:buSzPts val="1050"/>
              <a:buFont typeface="Calibri"/>
              <a:buNone/>
            </a:pPr>
            <a:r>
              <a:rPr b="1" lang="es-BO" sz="1050">
                <a:solidFill>
                  <a:schemeClr val="dk1"/>
                </a:solidFill>
                <a:latin typeface="Calibri"/>
                <a:ea typeface="Calibri"/>
                <a:cs typeface="Calibri"/>
                <a:sym typeface="Calibri"/>
              </a:rPr>
              <a:t>Caudal: </a:t>
            </a:r>
            <a:r>
              <a:rPr b="0" lang="es-BO" sz="1050">
                <a:solidFill>
                  <a:schemeClr val="dk1"/>
                </a:solidFill>
                <a:latin typeface="Calibri"/>
                <a:ea typeface="Calibri"/>
                <a:cs typeface="Calibri"/>
                <a:sym typeface="Calibri"/>
              </a:rPr>
              <a:t>C</a:t>
            </a:r>
            <a:r>
              <a:rPr lang="es-BO" sz="1050">
                <a:solidFill>
                  <a:schemeClr val="dk1"/>
                </a:solidFill>
                <a:latin typeface="Calibri"/>
                <a:ea typeface="Calibri"/>
                <a:cs typeface="Calibri"/>
                <a:sym typeface="Calibri"/>
              </a:rPr>
              <a:t>antidad de líquido que pasa a través de una sección en un período de tiempo determinado</a:t>
            </a:r>
            <a:endParaRPr/>
          </a:p>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0" name="Shape 1030"/>
        <p:cNvGrpSpPr/>
        <p:nvPr/>
      </p:nvGrpSpPr>
      <p:grpSpPr>
        <a:xfrm>
          <a:off x="0" y="0"/>
          <a:ext cx="0" cy="0"/>
          <a:chOff x="0" y="0"/>
          <a:chExt cx="0" cy="0"/>
        </a:xfrm>
      </p:grpSpPr>
      <p:sp>
        <p:nvSpPr>
          <p:cNvPr id="1031" name="Google Shape;1031;p7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2" name="Google Shape;1032;p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5" name="Shape 1035"/>
        <p:cNvGrpSpPr/>
        <p:nvPr/>
      </p:nvGrpSpPr>
      <p:grpSpPr>
        <a:xfrm>
          <a:off x="0" y="0"/>
          <a:ext cx="0" cy="0"/>
          <a:chOff x="0" y="0"/>
          <a:chExt cx="0" cy="0"/>
        </a:xfrm>
      </p:grpSpPr>
      <p:sp>
        <p:nvSpPr>
          <p:cNvPr id="1036" name="Google Shape;1036;p7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7" name="Google Shape;1037;p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p7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1" name="Google Shape;1051;p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9" name="Shape 1069"/>
        <p:cNvGrpSpPr/>
        <p:nvPr/>
      </p:nvGrpSpPr>
      <p:grpSpPr>
        <a:xfrm>
          <a:off x="0" y="0"/>
          <a:ext cx="0" cy="0"/>
          <a:chOff x="0" y="0"/>
          <a:chExt cx="0" cy="0"/>
        </a:xfrm>
      </p:grpSpPr>
      <p:sp>
        <p:nvSpPr>
          <p:cNvPr id="1070" name="Google Shape;1070;p7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1" name="Google Shape;1071;p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p7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5" name="Google Shape;1085;p7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2" name="Shape 1092"/>
        <p:cNvGrpSpPr/>
        <p:nvPr/>
      </p:nvGrpSpPr>
      <p:grpSpPr>
        <a:xfrm>
          <a:off x="0" y="0"/>
          <a:ext cx="0" cy="0"/>
          <a:chOff x="0" y="0"/>
          <a:chExt cx="0" cy="0"/>
        </a:xfrm>
      </p:grpSpPr>
      <p:sp>
        <p:nvSpPr>
          <p:cNvPr id="1093" name="Google Shape;1093;p7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4" name="Google Shape;1094;p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7" name="Shape 1097"/>
        <p:cNvGrpSpPr/>
        <p:nvPr/>
      </p:nvGrpSpPr>
      <p:grpSpPr>
        <a:xfrm>
          <a:off x="0" y="0"/>
          <a:ext cx="0" cy="0"/>
          <a:chOff x="0" y="0"/>
          <a:chExt cx="0" cy="0"/>
        </a:xfrm>
      </p:grpSpPr>
      <p:sp>
        <p:nvSpPr>
          <p:cNvPr id="1098" name="Google Shape;1098;p7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9" name="Google Shape;1099;p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5" name="Shape 1105"/>
        <p:cNvGrpSpPr/>
        <p:nvPr/>
      </p:nvGrpSpPr>
      <p:grpSpPr>
        <a:xfrm>
          <a:off x="0" y="0"/>
          <a:ext cx="0" cy="0"/>
          <a:chOff x="0" y="0"/>
          <a:chExt cx="0" cy="0"/>
        </a:xfrm>
      </p:grpSpPr>
      <p:sp>
        <p:nvSpPr>
          <p:cNvPr id="1106" name="Google Shape;1106;p7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7" name="Google Shape;1107;p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p7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6" name="Google Shape;1116;p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9" name="Shape 1129"/>
        <p:cNvGrpSpPr/>
        <p:nvPr/>
      </p:nvGrpSpPr>
      <p:grpSpPr>
        <a:xfrm>
          <a:off x="0" y="0"/>
          <a:ext cx="0" cy="0"/>
          <a:chOff x="0" y="0"/>
          <a:chExt cx="0" cy="0"/>
        </a:xfrm>
      </p:grpSpPr>
      <p:sp>
        <p:nvSpPr>
          <p:cNvPr id="1130" name="Google Shape;1130;p7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1" name="Google Shape;1131;p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8" name="Shape 1138"/>
        <p:cNvGrpSpPr/>
        <p:nvPr/>
      </p:nvGrpSpPr>
      <p:grpSpPr>
        <a:xfrm>
          <a:off x="0" y="0"/>
          <a:ext cx="0" cy="0"/>
          <a:chOff x="0" y="0"/>
          <a:chExt cx="0" cy="0"/>
        </a:xfrm>
      </p:grpSpPr>
      <p:sp>
        <p:nvSpPr>
          <p:cNvPr id="1139" name="Google Shape;1139;p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0" name="Google Shape;1140;p8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141" name="Google Shape;1141;p8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7" name="Shape 1187"/>
        <p:cNvGrpSpPr/>
        <p:nvPr/>
      </p:nvGrpSpPr>
      <p:grpSpPr>
        <a:xfrm>
          <a:off x="0" y="0"/>
          <a:ext cx="0" cy="0"/>
          <a:chOff x="0" y="0"/>
          <a:chExt cx="0" cy="0"/>
        </a:xfrm>
      </p:grpSpPr>
      <p:sp>
        <p:nvSpPr>
          <p:cNvPr id="1188" name="Google Shape;1188;p8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9" name="Google Shape;1189;p8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2" name="Shape 1192"/>
        <p:cNvGrpSpPr/>
        <p:nvPr/>
      </p:nvGrpSpPr>
      <p:grpSpPr>
        <a:xfrm>
          <a:off x="0" y="0"/>
          <a:ext cx="0" cy="0"/>
          <a:chOff x="0" y="0"/>
          <a:chExt cx="0" cy="0"/>
        </a:xfrm>
      </p:grpSpPr>
      <p:sp>
        <p:nvSpPr>
          <p:cNvPr id="1193" name="Google Shape;1193;p8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4" name="Google Shape;1194;p8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1" name="Shape 1201"/>
        <p:cNvGrpSpPr/>
        <p:nvPr/>
      </p:nvGrpSpPr>
      <p:grpSpPr>
        <a:xfrm>
          <a:off x="0" y="0"/>
          <a:ext cx="0" cy="0"/>
          <a:chOff x="0" y="0"/>
          <a:chExt cx="0" cy="0"/>
        </a:xfrm>
      </p:grpSpPr>
      <p:sp>
        <p:nvSpPr>
          <p:cNvPr id="1202" name="Google Shape;1202;p8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3" name="Google Shape;1203;p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1" name="Shape 1211"/>
        <p:cNvGrpSpPr/>
        <p:nvPr/>
      </p:nvGrpSpPr>
      <p:grpSpPr>
        <a:xfrm>
          <a:off x="0" y="0"/>
          <a:ext cx="0" cy="0"/>
          <a:chOff x="0" y="0"/>
          <a:chExt cx="0" cy="0"/>
        </a:xfrm>
      </p:grpSpPr>
      <p:sp>
        <p:nvSpPr>
          <p:cNvPr id="1212" name="Google Shape;1212;p8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3" name="Google Shape;1213;p8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s-BO"/>
              <a:t>Se obtuvo nuevamente la función de transferencia, ya que en un principio no se considero la saturación del actuador y así establecer el tiempo mínimo para diseñar el controlador</a:t>
            </a:r>
            <a:endParaRPr/>
          </a:p>
        </p:txBody>
      </p:sp>
      <p:sp>
        <p:nvSpPr>
          <p:cNvPr id="1214" name="Google Shape;1214;p8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5" name="Shape 1225"/>
        <p:cNvGrpSpPr/>
        <p:nvPr/>
      </p:nvGrpSpPr>
      <p:grpSpPr>
        <a:xfrm>
          <a:off x="0" y="0"/>
          <a:ext cx="0" cy="0"/>
          <a:chOff x="0" y="0"/>
          <a:chExt cx="0" cy="0"/>
        </a:xfrm>
      </p:grpSpPr>
      <p:sp>
        <p:nvSpPr>
          <p:cNvPr id="1226" name="Google Shape;1226;p8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7" name="Google Shape;1227;p8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4" name="Shape 1234"/>
        <p:cNvGrpSpPr/>
        <p:nvPr/>
      </p:nvGrpSpPr>
      <p:grpSpPr>
        <a:xfrm>
          <a:off x="0" y="0"/>
          <a:ext cx="0" cy="0"/>
          <a:chOff x="0" y="0"/>
          <a:chExt cx="0" cy="0"/>
        </a:xfrm>
      </p:grpSpPr>
      <p:sp>
        <p:nvSpPr>
          <p:cNvPr id="1235" name="Google Shape;1235;p8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6" name="Google Shape;1236;p8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2" name="Shape 1262"/>
        <p:cNvGrpSpPr/>
        <p:nvPr/>
      </p:nvGrpSpPr>
      <p:grpSpPr>
        <a:xfrm>
          <a:off x="0" y="0"/>
          <a:ext cx="0" cy="0"/>
          <a:chOff x="0" y="0"/>
          <a:chExt cx="0" cy="0"/>
        </a:xfrm>
      </p:grpSpPr>
      <p:sp>
        <p:nvSpPr>
          <p:cNvPr id="1263" name="Google Shape;1263;p8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4" name="Google Shape;1264;p8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0" name="Shape 1280"/>
        <p:cNvGrpSpPr/>
        <p:nvPr/>
      </p:nvGrpSpPr>
      <p:grpSpPr>
        <a:xfrm>
          <a:off x="0" y="0"/>
          <a:ext cx="0" cy="0"/>
          <a:chOff x="0" y="0"/>
          <a:chExt cx="0" cy="0"/>
        </a:xfrm>
      </p:grpSpPr>
      <p:sp>
        <p:nvSpPr>
          <p:cNvPr id="1281" name="Google Shape;1281;p8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2" name="Google Shape;1282;p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2" name="Shape 1292"/>
        <p:cNvGrpSpPr/>
        <p:nvPr/>
      </p:nvGrpSpPr>
      <p:grpSpPr>
        <a:xfrm>
          <a:off x="0" y="0"/>
          <a:ext cx="0" cy="0"/>
          <a:chOff x="0" y="0"/>
          <a:chExt cx="0" cy="0"/>
        </a:xfrm>
      </p:grpSpPr>
      <p:sp>
        <p:nvSpPr>
          <p:cNvPr id="1293" name="Google Shape;1293;p8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4" name="Google Shape;1294;p8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1" name="Shape 1311"/>
        <p:cNvGrpSpPr/>
        <p:nvPr/>
      </p:nvGrpSpPr>
      <p:grpSpPr>
        <a:xfrm>
          <a:off x="0" y="0"/>
          <a:ext cx="0" cy="0"/>
          <a:chOff x="0" y="0"/>
          <a:chExt cx="0" cy="0"/>
        </a:xfrm>
      </p:grpSpPr>
      <p:sp>
        <p:nvSpPr>
          <p:cNvPr id="1312" name="Google Shape;1312;p9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3" name="Google Shape;1313;p9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6" name="Shape 1326"/>
        <p:cNvGrpSpPr/>
        <p:nvPr/>
      </p:nvGrpSpPr>
      <p:grpSpPr>
        <a:xfrm>
          <a:off x="0" y="0"/>
          <a:ext cx="0" cy="0"/>
          <a:chOff x="0" y="0"/>
          <a:chExt cx="0" cy="0"/>
        </a:xfrm>
      </p:grpSpPr>
      <p:sp>
        <p:nvSpPr>
          <p:cNvPr id="1327" name="Google Shape;1327;p9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8" name="Google Shape;1328;p9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4" name="Shape 1344"/>
        <p:cNvGrpSpPr/>
        <p:nvPr/>
      </p:nvGrpSpPr>
      <p:grpSpPr>
        <a:xfrm>
          <a:off x="0" y="0"/>
          <a:ext cx="0" cy="0"/>
          <a:chOff x="0" y="0"/>
          <a:chExt cx="0" cy="0"/>
        </a:xfrm>
      </p:grpSpPr>
      <p:sp>
        <p:nvSpPr>
          <p:cNvPr id="1345" name="Google Shape;1345;p9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6" name="Google Shape;1346;p9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1" name="Shape 1371"/>
        <p:cNvGrpSpPr/>
        <p:nvPr/>
      </p:nvGrpSpPr>
      <p:grpSpPr>
        <a:xfrm>
          <a:off x="0" y="0"/>
          <a:ext cx="0" cy="0"/>
          <a:chOff x="0" y="0"/>
          <a:chExt cx="0" cy="0"/>
        </a:xfrm>
      </p:grpSpPr>
      <p:sp>
        <p:nvSpPr>
          <p:cNvPr id="1372" name="Google Shape;1372;p9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3" name="Google Shape;1373;p9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8" name="Shape 1378"/>
        <p:cNvGrpSpPr/>
        <p:nvPr/>
      </p:nvGrpSpPr>
      <p:grpSpPr>
        <a:xfrm>
          <a:off x="0" y="0"/>
          <a:ext cx="0" cy="0"/>
          <a:chOff x="0" y="0"/>
          <a:chExt cx="0" cy="0"/>
        </a:xfrm>
      </p:grpSpPr>
      <p:sp>
        <p:nvSpPr>
          <p:cNvPr id="1379" name="Google Shape;1379;p9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0" name="Google Shape;1380;p9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4" name="Shape 1384"/>
        <p:cNvGrpSpPr/>
        <p:nvPr/>
      </p:nvGrpSpPr>
      <p:grpSpPr>
        <a:xfrm>
          <a:off x="0" y="0"/>
          <a:ext cx="0" cy="0"/>
          <a:chOff x="0" y="0"/>
          <a:chExt cx="0" cy="0"/>
        </a:xfrm>
      </p:grpSpPr>
      <p:sp>
        <p:nvSpPr>
          <p:cNvPr id="1385" name="Google Shape;1385;p9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6" name="Google Shape;1386;p9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0" name="Shape 1390"/>
        <p:cNvGrpSpPr/>
        <p:nvPr/>
      </p:nvGrpSpPr>
      <p:grpSpPr>
        <a:xfrm>
          <a:off x="0" y="0"/>
          <a:ext cx="0" cy="0"/>
          <a:chOff x="0" y="0"/>
          <a:chExt cx="0" cy="0"/>
        </a:xfrm>
      </p:grpSpPr>
      <p:sp>
        <p:nvSpPr>
          <p:cNvPr id="1391" name="Google Shape;1391;p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2" name="Google Shape;1392;p9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393" name="Google Shape;1393;p9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1" name="Shape 1401"/>
        <p:cNvGrpSpPr/>
        <p:nvPr/>
      </p:nvGrpSpPr>
      <p:grpSpPr>
        <a:xfrm>
          <a:off x="0" y="0"/>
          <a:ext cx="0" cy="0"/>
          <a:chOff x="0" y="0"/>
          <a:chExt cx="0" cy="0"/>
        </a:xfrm>
      </p:grpSpPr>
      <p:sp>
        <p:nvSpPr>
          <p:cNvPr id="1402" name="Google Shape;1402;p9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3" name="Google Shape;1403;p9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6" name="Shape 1416"/>
        <p:cNvGrpSpPr/>
        <p:nvPr/>
      </p:nvGrpSpPr>
      <p:grpSpPr>
        <a:xfrm>
          <a:off x="0" y="0"/>
          <a:ext cx="0" cy="0"/>
          <a:chOff x="0" y="0"/>
          <a:chExt cx="0" cy="0"/>
        </a:xfrm>
      </p:grpSpPr>
      <p:sp>
        <p:nvSpPr>
          <p:cNvPr id="1417" name="Google Shape;1417;p9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8" name="Google Shape;1418;p9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1" name="Shape 1421"/>
        <p:cNvGrpSpPr/>
        <p:nvPr/>
      </p:nvGrpSpPr>
      <p:grpSpPr>
        <a:xfrm>
          <a:off x="0" y="0"/>
          <a:ext cx="0" cy="0"/>
          <a:chOff x="0" y="0"/>
          <a:chExt cx="0" cy="0"/>
        </a:xfrm>
      </p:grpSpPr>
      <p:sp>
        <p:nvSpPr>
          <p:cNvPr id="1422" name="Google Shape;1422;p9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3" name="Google Shape;1423;p9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5" name="Shape 1435"/>
        <p:cNvGrpSpPr/>
        <p:nvPr/>
      </p:nvGrpSpPr>
      <p:grpSpPr>
        <a:xfrm>
          <a:off x="0" y="0"/>
          <a:ext cx="0" cy="0"/>
          <a:chOff x="0" y="0"/>
          <a:chExt cx="0" cy="0"/>
        </a:xfrm>
      </p:grpSpPr>
      <p:sp>
        <p:nvSpPr>
          <p:cNvPr id="1436" name="Google Shape;1436;p10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7" name="Google Shape;1437;p10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9" name="Shape 1459"/>
        <p:cNvGrpSpPr/>
        <p:nvPr/>
      </p:nvGrpSpPr>
      <p:grpSpPr>
        <a:xfrm>
          <a:off x="0" y="0"/>
          <a:ext cx="0" cy="0"/>
          <a:chOff x="0" y="0"/>
          <a:chExt cx="0" cy="0"/>
        </a:xfrm>
      </p:grpSpPr>
      <p:sp>
        <p:nvSpPr>
          <p:cNvPr id="1460" name="Google Shape;1460;p10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1" name="Google Shape;1461;p10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9" name="Shape 1469"/>
        <p:cNvGrpSpPr/>
        <p:nvPr/>
      </p:nvGrpSpPr>
      <p:grpSpPr>
        <a:xfrm>
          <a:off x="0" y="0"/>
          <a:ext cx="0" cy="0"/>
          <a:chOff x="0" y="0"/>
          <a:chExt cx="0" cy="0"/>
        </a:xfrm>
      </p:grpSpPr>
      <p:sp>
        <p:nvSpPr>
          <p:cNvPr id="1470" name="Google Shape;1470;p10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1" name="Google Shape;1471;p10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6" name="Shape 1476"/>
        <p:cNvGrpSpPr/>
        <p:nvPr/>
      </p:nvGrpSpPr>
      <p:grpSpPr>
        <a:xfrm>
          <a:off x="0" y="0"/>
          <a:ext cx="0" cy="0"/>
          <a:chOff x="0" y="0"/>
          <a:chExt cx="0" cy="0"/>
        </a:xfrm>
      </p:grpSpPr>
      <p:sp>
        <p:nvSpPr>
          <p:cNvPr id="1477" name="Google Shape;1477;p10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8" name="Google Shape;1478;p10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3" name="Shape 1483"/>
        <p:cNvGrpSpPr/>
        <p:nvPr/>
      </p:nvGrpSpPr>
      <p:grpSpPr>
        <a:xfrm>
          <a:off x="0" y="0"/>
          <a:ext cx="0" cy="0"/>
          <a:chOff x="0" y="0"/>
          <a:chExt cx="0" cy="0"/>
        </a:xfrm>
      </p:grpSpPr>
      <p:sp>
        <p:nvSpPr>
          <p:cNvPr id="1484" name="Google Shape;1484;p10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5" name="Google Shape;1485;p10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2" name="Shape 1492"/>
        <p:cNvGrpSpPr/>
        <p:nvPr/>
      </p:nvGrpSpPr>
      <p:grpSpPr>
        <a:xfrm>
          <a:off x="0" y="0"/>
          <a:ext cx="0" cy="0"/>
          <a:chOff x="0" y="0"/>
          <a:chExt cx="0" cy="0"/>
        </a:xfrm>
      </p:grpSpPr>
      <p:sp>
        <p:nvSpPr>
          <p:cNvPr id="1493" name="Google Shape;1493;p10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4" name="Google Shape;1494;p10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6" name="Shape 1506"/>
        <p:cNvGrpSpPr/>
        <p:nvPr/>
      </p:nvGrpSpPr>
      <p:grpSpPr>
        <a:xfrm>
          <a:off x="0" y="0"/>
          <a:ext cx="0" cy="0"/>
          <a:chOff x="0" y="0"/>
          <a:chExt cx="0" cy="0"/>
        </a:xfrm>
      </p:grpSpPr>
      <p:sp>
        <p:nvSpPr>
          <p:cNvPr id="1507" name="Google Shape;1507;p10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8" name="Google Shape;1508;p10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2" name="Shape 1512"/>
        <p:cNvGrpSpPr/>
        <p:nvPr/>
      </p:nvGrpSpPr>
      <p:grpSpPr>
        <a:xfrm>
          <a:off x="0" y="0"/>
          <a:ext cx="0" cy="0"/>
          <a:chOff x="0" y="0"/>
          <a:chExt cx="0" cy="0"/>
        </a:xfrm>
      </p:grpSpPr>
      <p:sp>
        <p:nvSpPr>
          <p:cNvPr id="1513" name="Google Shape;1513;p10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4" name="Google Shape;1514;p10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6" name="Shape 16"/>
        <p:cNvGrpSpPr/>
        <p:nvPr/>
      </p:nvGrpSpPr>
      <p:grpSpPr>
        <a:xfrm>
          <a:off x="0" y="0"/>
          <a:ext cx="0" cy="0"/>
          <a:chOff x="0" y="0"/>
          <a:chExt cx="0" cy="0"/>
        </a:xfrm>
      </p:grpSpPr>
      <p:sp>
        <p:nvSpPr>
          <p:cNvPr id="17" name="Google Shape;17;p109"/>
          <p:cNvSpPr txBox="1"/>
          <p:nvPr>
            <p:ph type="ctrTitle"/>
          </p:nvPr>
        </p:nvSpPr>
        <p:spPr>
          <a:xfrm>
            <a:off x="914400" y="2130426"/>
            <a:ext cx="103632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109"/>
          <p:cNvSpPr txBox="1"/>
          <p:nvPr>
            <p:ph idx="1" type="subTitle"/>
          </p:nvPr>
        </p:nvSpPr>
        <p:spPr>
          <a:xfrm>
            <a:off x="1828800" y="3886200"/>
            <a:ext cx="85344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9" name="Google Shape;19;p109"/>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09"/>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09"/>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2" name="Shape 22"/>
        <p:cNvGrpSpPr/>
        <p:nvPr/>
      </p:nvGrpSpPr>
      <p:grpSpPr>
        <a:xfrm>
          <a:off x="0" y="0"/>
          <a:ext cx="0" cy="0"/>
          <a:chOff x="0" y="0"/>
          <a:chExt cx="0" cy="0"/>
        </a:xfrm>
      </p:grpSpPr>
      <p:sp>
        <p:nvSpPr>
          <p:cNvPr id="23" name="Google Shape;23;p110"/>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110"/>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5" name="Google Shape;25;p110"/>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10"/>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10"/>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28" name="Shape 28"/>
        <p:cNvGrpSpPr/>
        <p:nvPr/>
      </p:nvGrpSpPr>
      <p:grpSpPr>
        <a:xfrm>
          <a:off x="0" y="0"/>
          <a:ext cx="0" cy="0"/>
          <a:chOff x="0" y="0"/>
          <a:chExt cx="0" cy="0"/>
        </a:xfrm>
      </p:grpSpPr>
      <p:sp>
        <p:nvSpPr>
          <p:cNvPr id="29" name="Google Shape;29;p111"/>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11"/>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11"/>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2" name="Shape 32"/>
        <p:cNvGrpSpPr/>
        <p:nvPr/>
      </p:nvGrpSpPr>
      <p:grpSpPr>
        <a:xfrm>
          <a:off x="0" y="0"/>
          <a:ext cx="0" cy="0"/>
          <a:chOff x="0" y="0"/>
          <a:chExt cx="0" cy="0"/>
        </a:xfrm>
      </p:grpSpPr>
      <p:sp>
        <p:nvSpPr>
          <p:cNvPr id="33" name="Google Shape;33;p112"/>
          <p:cNvSpPr txBox="1"/>
          <p:nvPr>
            <p:ph type="title"/>
          </p:nvPr>
        </p:nvSpPr>
        <p:spPr>
          <a:xfrm>
            <a:off x="1730000" y="525000"/>
            <a:ext cx="9385200" cy="1218800"/>
          </a:xfrm>
          <a:prstGeom prst="rect">
            <a:avLst/>
          </a:prstGeom>
          <a:noFill/>
          <a:ln>
            <a:noFill/>
          </a:ln>
        </p:spPr>
        <p:txBody>
          <a:bodyPr anchorCtr="0" anchor="t" bIns="91425" lIns="91425" spcFirstLastPara="1" rIns="91425" wrap="square" tIns="91425">
            <a:normAutofit/>
          </a:bodyPr>
          <a:lstStyle>
            <a:lvl1pPr lvl="0" algn="ctr">
              <a:spcBef>
                <a:spcPts val="0"/>
              </a:spcBef>
              <a:spcAft>
                <a:spcPts val="0"/>
              </a:spcAft>
              <a:buClr>
                <a:schemeClr val="dk1"/>
              </a:buClr>
              <a:buSzPts val="2400"/>
              <a:buFont typeface="Calibri"/>
              <a:buNone/>
              <a:defRPr sz="3200"/>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p:txBody>
      </p:sp>
      <p:sp>
        <p:nvSpPr>
          <p:cNvPr id="34" name="Google Shape;34;p112"/>
          <p:cNvSpPr txBox="1"/>
          <p:nvPr>
            <p:ph idx="1" type="body"/>
          </p:nvPr>
        </p:nvSpPr>
        <p:spPr>
          <a:xfrm>
            <a:off x="1730000" y="2090067"/>
            <a:ext cx="9385200" cy="3881600"/>
          </a:xfrm>
          <a:prstGeom prst="rect">
            <a:avLst/>
          </a:prstGeom>
          <a:noFill/>
          <a:ln>
            <a:noFill/>
          </a:ln>
        </p:spPr>
        <p:txBody>
          <a:bodyPr anchorCtr="0" anchor="t" bIns="91425" lIns="91425" spcFirstLastPara="1" rIns="91425" wrap="square" tIns="91425">
            <a:normAutofit/>
          </a:bodyPr>
          <a:lstStyle>
            <a:lvl1pPr indent="-311150" lvl="0" marL="457200" algn="l">
              <a:spcBef>
                <a:spcPts val="0"/>
              </a:spcBef>
              <a:spcAft>
                <a:spcPts val="0"/>
              </a:spcAft>
              <a:buClr>
                <a:schemeClr val="dk1"/>
              </a:buClr>
              <a:buSzPts val="1300"/>
              <a:buChar char="●"/>
              <a:defRPr/>
            </a:lvl1pPr>
            <a:lvl2pPr indent="-298450" lvl="1" marL="914400" algn="l">
              <a:spcBef>
                <a:spcPts val="0"/>
              </a:spcBef>
              <a:spcAft>
                <a:spcPts val="0"/>
              </a:spcAft>
              <a:buClr>
                <a:schemeClr val="dk1"/>
              </a:buClr>
              <a:buSzPts val="1100"/>
              <a:buChar char="○"/>
              <a:defRPr/>
            </a:lvl2pPr>
            <a:lvl3pPr indent="-298450" lvl="2" marL="1371600" algn="l">
              <a:spcBef>
                <a:spcPts val="0"/>
              </a:spcBef>
              <a:spcAft>
                <a:spcPts val="0"/>
              </a:spcAft>
              <a:buClr>
                <a:schemeClr val="dk1"/>
              </a:buClr>
              <a:buSzPts val="1100"/>
              <a:buChar char="■"/>
              <a:defRPr/>
            </a:lvl3pPr>
            <a:lvl4pPr indent="-298450" lvl="3" marL="1828800" algn="l">
              <a:spcBef>
                <a:spcPts val="0"/>
              </a:spcBef>
              <a:spcAft>
                <a:spcPts val="0"/>
              </a:spcAft>
              <a:buClr>
                <a:schemeClr val="dk1"/>
              </a:buClr>
              <a:buSzPts val="1100"/>
              <a:buChar char="●"/>
              <a:defRPr/>
            </a:lvl4pPr>
            <a:lvl5pPr indent="-298450" lvl="4" marL="2286000" algn="l">
              <a:spcBef>
                <a:spcPts val="0"/>
              </a:spcBef>
              <a:spcAft>
                <a:spcPts val="0"/>
              </a:spcAft>
              <a:buClr>
                <a:schemeClr val="dk1"/>
              </a:buClr>
              <a:buSzPts val="1100"/>
              <a:buChar char="○"/>
              <a:defRPr/>
            </a:lvl5pPr>
            <a:lvl6pPr indent="-298450" lvl="5" marL="2743200" algn="l">
              <a:spcBef>
                <a:spcPts val="0"/>
              </a:spcBef>
              <a:spcAft>
                <a:spcPts val="0"/>
              </a:spcAft>
              <a:buClr>
                <a:schemeClr val="dk1"/>
              </a:buClr>
              <a:buSzPts val="1100"/>
              <a:buChar char="■"/>
              <a:defRPr/>
            </a:lvl6pPr>
            <a:lvl7pPr indent="-298450" lvl="6" marL="3200400" algn="l">
              <a:spcBef>
                <a:spcPts val="0"/>
              </a:spcBef>
              <a:spcAft>
                <a:spcPts val="0"/>
              </a:spcAft>
              <a:buClr>
                <a:schemeClr val="dk1"/>
              </a:buClr>
              <a:buSzPts val="1100"/>
              <a:buChar char="●"/>
              <a:defRPr/>
            </a:lvl7pPr>
            <a:lvl8pPr indent="-298450" lvl="7" marL="3657600" algn="l">
              <a:spcBef>
                <a:spcPts val="0"/>
              </a:spcBef>
              <a:spcAft>
                <a:spcPts val="0"/>
              </a:spcAft>
              <a:buClr>
                <a:schemeClr val="dk1"/>
              </a:buClr>
              <a:buSzPts val="1100"/>
              <a:buChar char="○"/>
              <a:defRPr/>
            </a:lvl8pPr>
            <a:lvl9pPr indent="-298450" lvl="8" marL="4114800" algn="l">
              <a:spcBef>
                <a:spcPts val="0"/>
              </a:spcBef>
              <a:spcAft>
                <a:spcPts val="0"/>
              </a:spcAft>
              <a:buClr>
                <a:schemeClr val="dk1"/>
              </a:buClr>
              <a:buSzPts val="1100"/>
              <a:buChar char="■"/>
              <a:defRPr/>
            </a:lvl9pPr>
          </a:lstStyle>
          <a:p/>
        </p:txBody>
      </p:sp>
      <p:sp>
        <p:nvSpPr>
          <p:cNvPr id="35" name="Google Shape;35;p112"/>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rgbClr val="888888"/>
              </a:buClr>
              <a:buSzPts val="1200"/>
              <a:buFont typeface="Calibri"/>
              <a:buNone/>
              <a:defRPr sz="1200">
                <a:solidFill>
                  <a:srgbClr val="888888"/>
                </a:solidFill>
                <a:latin typeface="Calibri"/>
                <a:ea typeface="Calibri"/>
                <a:cs typeface="Calibri"/>
                <a:sym typeface="Calibri"/>
              </a:defRPr>
            </a:lvl1pPr>
            <a:lvl2pPr indent="0" lvl="1" marL="0" algn="r">
              <a:buClr>
                <a:srgbClr val="888888"/>
              </a:buClr>
              <a:buSzPts val="1200"/>
              <a:buFont typeface="Calibri"/>
              <a:buNone/>
              <a:defRPr sz="1200">
                <a:solidFill>
                  <a:srgbClr val="888888"/>
                </a:solidFill>
                <a:latin typeface="Calibri"/>
                <a:ea typeface="Calibri"/>
                <a:cs typeface="Calibri"/>
                <a:sym typeface="Calibri"/>
              </a:defRPr>
            </a:lvl2pPr>
            <a:lvl3pPr indent="0" lvl="2" marL="0" algn="r">
              <a:buClr>
                <a:srgbClr val="888888"/>
              </a:buClr>
              <a:buSzPts val="1200"/>
              <a:buFont typeface="Calibri"/>
              <a:buNone/>
              <a:defRPr sz="1200">
                <a:solidFill>
                  <a:srgbClr val="888888"/>
                </a:solidFill>
                <a:latin typeface="Calibri"/>
                <a:ea typeface="Calibri"/>
                <a:cs typeface="Calibri"/>
                <a:sym typeface="Calibri"/>
              </a:defRPr>
            </a:lvl3pPr>
            <a:lvl4pPr indent="0" lvl="3" marL="0" algn="r">
              <a:buClr>
                <a:srgbClr val="888888"/>
              </a:buClr>
              <a:buSzPts val="1200"/>
              <a:buFont typeface="Calibri"/>
              <a:buNone/>
              <a:defRPr sz="1200">
                <a:solidFill>
                  <a:srgbClr val="888888"/>
                </a:solidFill>
                <a:latin typeface="Calibri"/>
                <a:ea typeface="Calibri"/>
                <a:cs typeface="Calibri"/>
                <a:sym typeface="Calibri"/>
              </a:defRPr>
            </a:lvl4pPr>
            <a:lvl5pPr indent="0" lvl="4" marL="0" algn="r">
              <a:buClr>
                <a:srgbClr val="888888"/>
              </a:buClr>
              <a:buSzPts val="1200"/>
              <a:buFont typeface="Calibri"/>
              <a:buNone/>
              <a:defRPr sz="1200">
                <a:solidFill>
                  <a:srgbClr val="888888"/>
                </a:solidFill>
                <a:latin typeface="Calibri"/>
                <a:ea typeface="Calibri"/>
                <a:cs typeface="Calibri"/>
                <a:sym typeface="Calibri"/>
              </a:defRPr>
            </a:lvl5pPr>
            <a:lvl6pPr indent="0" lvl="5" marL="0" algn="r">
              <a:buClr>
                <a:srgbClr val="888888"/>
              </a:buClr>
              <a:buSzPts val="1200"/>
              <a:buFont typeface="Calibri"/>
              <a:buNone/>
              <a:defRPr sz="1200">
                <a:solidFill>
                  <a:srgbClr val="888888"/>
                </a:solidFill>
                <a:latin typeface="Calibri"/>
                <a:ea typeface="Calibri"/>
                <a:cs typeface="Calibri"/>
                <a:sym typeface="Calibri"/>
              </a:defRPr>
            </a:lvl6pPr>
            <a:lvl7pPr indent="0" lvl="6" marL="0" algn="r">
              <a:buClr>
                <a:srgbClr val="888888"/>
              </a:buClr>
              <a:buSzPts val="1200"/>
              <a:buFont typeface="Calibri"/>
              <a:buNone/>
              <a:defRPr sz="1200">
                <a:solidFill>
                  <a:srgbClr val="888888"/>
                </a:solidFill>
                <a:latin typeface="Calibri"/>
                <a:ea typeface="Calibri"/>
                <a:cs typeface="Calibri"/>
                <a:sym typeface="Calibri"/>
              </a:defRPr>
            </a:lvl7pPr>
            <a:lvl8pPr indent="0" lvl="7" marL="0" algn="r">
              <a:buClr>
                <a:srgbClr val="888888"/>
              </a:buClr>
              <a:buSzPts val="1200"/>
              <a:buFont typeface="Calibri"/>
              <a:buNone/>
              <a:defRPr sz="1200">
                <a:solidFill>
                  <a:srgbClr val="888888"/>
                </a:solidFill>
                <a:latin typeface="Calibri"/>
                <a:ea typeface="Calibri"/>
                <a:cs typeface="Calibri"/>
                <a:sym typeface="Calibri"/>
              </a:defRPr>
            </a:lvl8pPr>
            <a:lvl9pPr indent="0" lvl="8" marL="0" algn="r">
              <a:buClr>
                <a:srgbClr val="888888"/>
              </a:buClr>
              <a:buSzPts val="1200"/>
              <a:buFont typeface="Calibri"/>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36" name="Shape 36"/>
        <p:cNvGrpSpPr/>
        <p:nvPr/>
      </p:nvGrpSpPr>
      <p:grpSpPr>
        <a:xfrm>
          <a:off x="0" y="0"/>
          <a:ext cx="0" cy="0"/>
          <a:chOff x="0" y="0"/>
          <a:chExt cx="0" cy="0"/>
        </a:xfrm>
      </p:grpSpPr>
      <p:sp>
        <p:nvSpPr>
          <p:cNvPr id="37" name="Google Shape;37;p113"/>
          <p:cNvSpPr txBox="1"/>
          <p:nvPr>
            <p:ph type="title"/>
          </p:nvPr>
        </p:nvSpPr>
        <p:spPr>
          <a:xfrm>
            <a:off x="963084" y="4406901"/>
            <a:ext cx="103632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13"/>
          <p:cNvSpPr txBox="1"/>
          <p:nvPr>
            <p:ph idx="1" type="body"/>
          </p:nvPr>
        </p:nvSpPr>
        <p:spPr>
          <a:xfrm>
            <a:off x="963084" y="2906713"/>
            <a:ext cx="103632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9" name="Google Shape;39;p113"/>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113"/>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113"/>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42" name="Shape 42"/>
        <p:cNvGrpSpPr/>
        <p:nvPr/>
      </p:nvGrpSpPr>
      <p:grpSpPr>
        <a:xfrm>
          <a:off x="0" y="0"/>
          <a:ext cx="0" cy="0"/>
          <a:chOff x="0" y="0"/>
          <a:chExt cx="0" cy="0"/>
        </a:xfrm>
      </p:grpSpPr>
      <p:sp>
        <p:nvSpPr>
          <p:cNvPr id="43" name="Google Shape;43;p114"/>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114"/>
          <p:cNvSpPr txBox="1"/>
          <p:nvPr>
            <p:ph idx="1" type="body"/>
          </p:nvPr>
        </p:nvSpPr>
        <p:spPr>
          <a:xfrm>
            <a:off x="609600" y="1600201"/>
            <a:ext cx="53848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5" name="Google Shape;45;p114"/>
          <p:cNvSpPr txBox="1"/>
          <p:nvPr>
            <p:ph idx="2" type="body"/>
          </p:nvPr>
        </p:nvSpPr>
        <p:spPr>
          <a:xfrm>
            <a:off x="6197600" y="1600201"/>
            <a:ext cx="53848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6" name="Google Shape;46;p114"/>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14"/>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14"/>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9" name="Shape 49"/>
        <p:cNvGrpSpPr/>
        <p:nvPr/>
      </p:nvGrpSpPr>
      <p:grpSpPr>
        <a:xfrm>
          <a:off x="0" y="0"/>
          <a:ext cx="0" cy="0"/>
          <a:chOff x="0" y="0"/>
          <a:chExt cx="0" cy="0"/>
        </a:xfrm>
      </p:grpSpPr>
      <p:sp>
        <p:nvSpPr>
          <p:cNvPr id="50" name="Google Shape;50;p115"/>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15"/>
          <p:cNvSpPr txBox="1"/>
          <p:nvPr>
            <p:ph idx="1" type="body"/>
          </p:nvPr>
        </p:nvSpPr>
        <p:spPr>
          <a:xfrm>
            <a:off x="609600" y="1535113"/>
            <a:ext cx="5386917"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2" name="Google Shape;52;p115"/>
          <p:cNvSpPr txBox="1"/>
          <p:nvPr>
            <p:ph idx="2" type="body"/>
          </p:nvPr>
        </p:nvSpPr>
        <p:spPr>
          <a:xfrm>
            <a:off x="609600" y="2174875"/>
            <a:ext cx="5386917"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3" name="Google Shape;53;p115"/>
          <p:cNvSpPr txBox="1"/>
          <p:nvPr>
            <p:ph idx="3" type="body"/>
          </p:nvPr>
        </p:nvSpPr>
        <p:spPr>
          <a:xfrm>
            <a:off x="6193368" y="1535113"/>
            <a:ext cx="5389033"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4" name="Google Shape;54;p115"/>
          <p:cNvSpPr txBox="1"/>
          <p:nvPr>
            <p:ph idx="4" type="body"/>
          </p:nvPr>
        </p:nvSpPr>
        <p:spPr>
          <a:xfrm>
            <a:off x="6193368" y="2174875"/>
            <a:ext cx="5389033"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5" name="Google Shape;55;p115"/>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15"/>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15"/>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ólo el título" type="titleOnly">
  <p:cSld name="TITLE_ONLY">
    <p:spTree>
      <p:nvGrpSpPr>
        <p:cNvPr id="58" name="Shape 58"/>
        <p:cNvGrpSpPr/>
        <p:nvPr/>
      </p:nvGrpSpPr>
      <p:grpSpPr>
        <a:xfrm>
          <a:off x="0" y="0"/>
          <a:ext cx="0" cy="0"/>
          <a:chOff x="0" y="0"/>
          <a:chExt cx="0" cy="0"/>
        </a:xfrm>
      </p:grpSpPr>
      <p:sp>
        <p:nvSpPr>
          <p:cNvPr id="59" name="Google Shape;59;p116"/>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116"/>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116"/>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116"/>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63" name="Shape 63"/>
        <p:cNvGrpSpPr/>
        <p:nvPr/>
      </p:nvGrpSpPr>
      <p:grpSpPr>
        <a:xfrm>
          <a:off x="0" y="0"/>
          <a:ext cx="0" cy="0"/>
          <a:chOff x="0" y="0"/>
          <a:chExt cx="0" cy="0"/>
        </a:xfrm>
      </p:grpSpPr>
      <p:sp>
        <p:nvSpPr>
          <p:cNvPr id="64" name="Google Shape;64;p117"/>
          <p:cNvSpPr txBox="1"/>
          <p:nvPr>
            <p:ph type="title"/>
          </p:nvPr>
        </p:nvSpPr>
        <p:spPr>
          <a:xfrm>
            <a:off x="609601" y="273050"/>
            <a:ext cx="4011084"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117"/>
          <p:cNvSpPr txBox="1"/>
          <p:nvPr>
            <p:ph idx="1" type="body"/>
          </p:nvPr>
        </p:nvSpPr>
        <p:spPr>
          <a:xfrm>
            <a:off x="4766733" y="273051"/>
            <a:ext cx="6815667"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6" name="Google Shape;66;p117"/>
          <p:cNvSpPr txBox="1"/>
          <p:nvPr>
            <p:ph idx="2" type="body"/>
          </p:nvPr>
        </p:nvSpPr>
        <p:spPr>
          <a:xfrm>
            <a:off x="609601" y="1435101"/>
            <a:ext cx="4011084"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7" name="Google Shape;67;p117"/>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117"/>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117"/>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70" name="Shape 70"/>
        <p:cNvGrpSpPr/>
        <p:nvPr/>
      </p:nvGrpSpPr>
      <p:grpSpPr>
        <a:xfrm>
          <a:off x="0" y="0"/>
          <a:ext cx="0" cy="0"/>
          <a:chOff x="0" y="0"/>
          <a:chExt cx="0" cy="0"/>
        </a:xfrm>
      </p:grpSpPr>
      <p:sp>
        <p:nvSpPr>
          <p:cNvPr id="71" name="Google Shape;71;p118"/>
          <p:cNvSpPr txBox="1"/>
          <p:nvPr>
            <p:ph type="title"/>
          </p:nvPr>
        </p:nvSpPr>
        <p:spPr>
          <a:xfrm>
            <a:off x="2389717" y="4800600"/>
            <a:ext cx="73152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118"/>
          <p:cNvSpPr/>
          <p:nvPr>
            <p:ph idx="2" type="pic"/>
          </p:nvPr>
        </p:nvSpPr>
        <p:spPr>
          <a:xfrm>
            <a:off x="2389717" y="612775"/>
            <a:ext cx="7315200" cy="4114800"/>
          </a:xfrm>
          <a:prstGeom prst="rect">
            <a:avLst/>
          </a:prstGeom>
          <a:noFill/>
          <a:ln>
            <a:noFill/>
          </a:ln>
        </p:spPr>
      </p:sp>
      <p:sp>
        <p:nvSpPr>
          <p:cNvPr id="73" name="Google Shape;73;p118"/>
          <p:cNvSpPr txBox="1"/>
          <p:nvPr>
            <p:ph idx="1" type="body"/>
          </p:nvPr>
        </p:nvSpPr>
        <p:spPr>
          <a:xfrm>
            <a:off x="2389717" y="5367338"/>
            <a:ext cx="73152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74" name="Google Shape;74;p118"/>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18"/>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8"/>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77" name="Shape 77"/>
        <p:cNvGrpSpPr/>
        <p:nvPr/>
      </p:nvGrpSpPr>
      <p:grpSpPr>
        <a:xfrm>
          <a:off x="0" y="0"/>
          <a:ext cx="0" cy="0"/>
          <a:chOff x="0" y="0"/>
          <a:chExt cx="0" cy="0"/>
        </a:xfrm>
      </p:grpSpPr>
      <p:sp>
        <p:nvSpPr>
          <p:cNvPr id="78" name="Google Shape;78;p119"/>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119"/>
          <p:cNvSpPr txBox="1"/>
          <p:nvPr>
            <p:ph idx="1" type="body"/>
          </p:nvPr>
        </p:nvSpPr>
        <p:spPr>
          <a:xfrm rot="5400000">
            <a:off x="3833019" y="-1623218"/>
            <a:ext cx="4525963" cy="10972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0" name="Google Shape;80;p119"/>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119"/>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19"/>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83" name="Shape 83"/>
        <p:cNvGrpSpPr/>
        <p:nvPr/>
      </p:nvGrpSpPr>
      <p:grpSpPr>
        <a:xfrm>
          <a:off x="0" y="0"/>
          <a:ext cx="0" cy="0"/>
          <a:chOff x="0" y="0"/>
          <a:chExt cx="0" cy="0"/>
        </a:xfrm>
      </p:grpSpPr>
      <p:sp>
        <p:nvSpPr>
          <p:cNvPr id="84" name="Google Shape;84;p120"/>
          <p:cNvSpPr txBox="1"/>
          <p:nvPr>
            <p:ph type="title"/>
          </p:nvPr>
        </p:nvSpPr>
        <p:spPr>
          <a:xfrm rot="5400000">
            <a:off x="7285038" y="1828802"/>
            <a:ext cx="5851525" cy="27432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120"/>
          <p:cNvSpPr txBox="1"/>
          <p:nvPr>
            <p:ph idx="1" type="body"/>
          </p:nvPr>
        </p:nvSpPr>
        <p:spPr>
          <a:xfrm rot="5400000">
            <a:off x="1697038" y="-812799"/>
            <a:ext cx="5851525" cy="80264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6" name="Google Shape;86;p120"/>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120"/>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120"/>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type="objOnly">
  <p:cSld name="OBJECT_ONLY">
    <p:spTree>
      <p:nvGrpSpPr>
        <p:cNvPr id="89" name="Shape 89"/>
        <p:cNvGrpSpPr/>
        <p:nvPr/>
      </p:nvGrpSpPr>
      <p:grpSpPr>
        <a:xfrm>
          <a:off x="0" y="0"/>
          <a:ext cx="0" cy="0"/>
          <a:chOff x="0" y="0"/>
          <a:chExt cx="0" cy="0"/>
        </a:xfrm>
      </p:grpSpPr>
      <p:sp>
        <p:nvSpPr>
          <p:cNvPr id="90" name="Google Shape;90;p121"/>
          <p:cNvSpPr txBox="1"/>
          <p:nvPr>
            <p:ph idx="1" type="body"/>
          </p:nvPr>
        </p:nvSpPr>
        <p:spPr>
          <a:xfrm>
            <a:off x="609600" y="274639"/>
            <a:ext cx="10972800" cy="5851525"/>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1" name="Google Shape;91;p121"/>
          <p:cNvSpPr txBox="1"/>
          <p:nvPr>
            <p:ph idx="10" type="dt"/>
          </p:nvPr>
        </p:nvSpPr>
        <p:spPr>
          <a:xfrm>
            <a:off x="609600" y="6245225"/>
            <a:ext cx="2844800" cy="4762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121"/>
          <p:cNvSpPr txBox="1"/>
          <p:nvPr>
            <p:ph idx="11" type="ftr"/>
          </p:nvPr>
        </p:nvSpPr>
        <p:spPr>
          <a:xfrm>
            <a:off x="4165600" y="6245225"/>
            <a:ext cx="3860800" cy="47625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121"/>
          <p:cNvSpPr txBox="1"/>
          <p:nvPr>
            <p:ph idx="12" type="sldNum"/>
          </p:nvPr>
        </p:nvSpPr>
        <p:spPr>
          <a:xfrm>
            <a:off x="8737600" y="6245225"/>
            <a:ext cx="2844800" cy="47625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88888"/>
                </a:solidFill>
                <a:latin typeface="Calibri"/>
                <a:ea typeface="Calibri"/>
                <a:cs typeface="Calibri"/>
                <a:sym typeface="Calibri"/>
              </a:defRPr>
            </a:lvl1pPr>
            <a:lvl2pPr indent="0" lvl="1" marL="0" algn="r">
              <a:spcBef>
                <a:spcPts val="0"/>
              </a:spcBef>
              <a:buNone/>
              <a:defRPr sz="1200">
                <a:solidFill>
                  <a:srgbClr val="888888"/>
                </a:solidFill>
                <a:latin typeface="Calibri"/>
                <a:ea typeface="Calibri"/>
                <a:cs typeface="Calibri"/>
                <a:sym typeface="Calibri"/>
              </a:defRPr>
            </a:lvl2pPr>
            <a:lvl3pPr indent="0" lvl="2" marL="0" algn="r">
              <a:spcBef>
                <a:spcPts val="0"/>
              </a:spcBef>
              <a:buNone/>
              <a:defRPr sz="1200">
                <a:solidFill>
                  <a:srgbClr val="888888"/>
                </a:solidFill>
                <a:latin typeface="Calibri"/>
                <a:ea typeface="Calibri"/>
                <a:cs typeface="Calibri"/>
                <a:sym typeface="Calibri"/>
              </a:defRPr>
            </a:lvl3pPr>
            <a:lvl4pPr indent="0" lvl="3" marL="0" algn="r">
              <a:spcBef>
                <a:spcPts val="0"/>
              </a:spcBef>
              <a:buNone/>
              <a:defRPr sz="1200">
                <a:solidFill>
                  <a:srgbClr val="888888"/>
                </a:solidFill>
                <a:latin typeface="Calibri"/>
                <a:ea typeface="Calibri"/>
                <a:cs typeface="Calibri"/>
                <a:sym typeface="Calibri"/>
              </a:defRPr>
            </a:lvl4pPr>
            <a:lvl5pPr indent="0" lvl="4" marL="0" algn="r">
              <a:spcBef>
                <a:spcPts val="0"/>
              </a:spcBef>
              <a:buNone/>
              <a:defRPr sz="1200">
                <a:solidFill>
                  <a:srgbClr val="888888"/>
                </a:solidFill>
                <a:latin typeface="Calibri"/>
                <a:ea typeface="Calibri"/>
                <a:cs typeface="Calibri"/>
                <a:sym typeface="Calibri"/>
              </a:defRPr>
            </a:lvl5pPr>
            <a:lvl6pPr indent="0" lvl="5" marL="0" algn="r">
              <a:spcBef>
                <a:spcPts val="0"/>
              </a:spcBef>
              <a:buNone/>
              <a:defRPr sz="1200">
                <a:solidFill>
                  <a:srgbClr val="888888"/>
                </a:solidFill>
                <a:latin typeface="Calibri"/>
                <a:ea typeface="Calibri"/>
                <a:cs typeface="Calibri"/>
                <a:sym typeface="Calibri"/>
              </a:defRPr>
            </a:lvl6pPr>
            <a:lvl7pPr indent="0" lvl="6" marL="0" algn="r">
              <a:spcBef>
                <a:spcPts val="0"/>
              </a:spcBef>
              <a:buNone/>
              <a:defRPr sz="1200">
                <a:solidFill>
                  <a:srgbClr val="888888"/>
                </a:solidFill>
                <a:latin typeface="Calibri"/>
                <a:ea typeface="Calibri"/>
                <a:cs typeface="Calibri"/>
                <a:sym typeface="Calibri"/>
              </a:defRPr>
            </a:lvl7pPr>
            <a:lvl8pPr indent="0" lvl="7" marL="0" algn="r">
              <a:spcBef>
                <a:spcPts val="0"/>
              </a:spcBef>
              <a:buNone/>
              <a:defRPr sz="1200">
                <a:solidFill>
                  <a:srgbClr val="888888"/>
                </a:solidFill>
                <a:latin typeface="Calibri"/>
                <a:ea typeface="Calibri"/>
                <a:cs typeface="Calibri"/>
                <a:sym typeface="Calibri"/>
              </a:defRPr>
            </a:lvl8pPr>
            <a:lvl9pPr indent="0" lvl="8" mar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abla" type="tbl">
  <p:cSld name="TABLE">
    <p:spTree>
      <p:nvGrpSpPr>
        <p:cNvPr id="94" name="Shape 94"/>
        <p:cNvGrpSpPr/>
        <p:nvPr/>
      </p:nvGrpSpPr>
      <p:grpSpPr>
        <a:xfrm>
          <a:off x="0" y="0"/>
          <a:ext cx="0" cy="0"/>
          <a:chOff x="0" y="0"/>
          <a:chExt cx="0" cy="0"/>
        </a:xfrm>
      </p:grpSpPr>
      <p:sp>
        <p:nvSpPr>
          <p:cNvPr id="95" name="Google Shape;95;p122"/>
          <p:cNvSpPr txBox="1"/>
          <p:nvPr>
            <p:ph type="title"/>
          </p:nvPr>
        </p:nvSpPr>
        <p:spPr>
          <a:xfrm>
            <a:off x="1826684" y="301625"/>
            <a:ext cx="9751483"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 name="Google Shape;96;p122"/>
          <p:cNvSpPr txBox="1"/>
          <p:nvPr>
            <p:ph idx="10" type="dt"/>
          </p:nvPr>
        </p:nvSpPr>
        <p:spPr>
          <a:xfrm>
            <a:off x="609600" y="6248400"/>
            <a:ext cx="28448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122"/>
          <p:cNvSpPr txBox="1"/>
          <p:nvPr>
            <p:ph idx="11" type="ftr"/>
          </p:nvPr>
        </p:nvSpPr>
        <p:spPr>
          <a:xfrm>
            <a:off x="4165600" y="6248400"/>
            <a:ext cx="3860800" cy="4572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122"/>
          <p:cNvSpPr txBox="1"/>
          <p:nvPr>
            <p:ph idx="12" type="sldNum"/>
          </p:nvPr>
        </p:nvSpPr>
        <p:spPr>
          <a:xfrm>
            <a:off x="8737600" y="6248400"/>
            <a:ext cx="2844800" cy="4572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88888"/>
                </a:solidFill>
                <a:latin typeface="Calibri"/>
                <a:ea typeface="Calibri"/>
                <a:cs typeface="Calibri"/>
                <a:sym typeface="Calibri"/>
              </a:defRPr>
            </a:lvl1pPr>
            <a:lvl2pPr indent="0" lvl="1" marL="0" algn="r">
              <a:spcBef>
                <a:spcPts val="0"/>
              </a:spcBef>
              <a:buNone/>
              <a:defRPr sz="1200">
                <a:solidFill>
                  <a:srgbClr val="888888"/>
                </a:solidFill>
                <a:latin typeface="Calibri"/>
                <a:ea typeface="Calibri"/>
                <a:cs typeface="Calibri"/>
                <a:sym typeface="Calibri"/>
              </a:defRPr>
            </a:lvl2pPr>
            <a:lvl3pPr indent="0" lvl="2" marL="0" algn="r">
              <a:spcBef>
                <a:spcPts val="0"/>
              </a:spcBef>
              <a:buNone/>
              <a:defRPr sz="1200">
                <a:solidFill>
                  <a:srgbClr val="888888"/>
                </a:solidFill>
                <a:latin typeface="Calibri"/>
                <a:ea typeface="Calibri"/>
                <a:cs typeface="Calibri"/>
                <a:sym typeface="Calibri"/>
              </a:defRPr>
            </a:lvl3pPr>
            <a:lvl4pPr indent="0" lvl="3" marL="0" algn="r">
              <a:spcBef>
                <a:spcPts val="0"/>
              </a:spcBef>
              <a:buNone/>
              <a:defRPr sz="1200">
                <a:solidFill>
                  <a:srgbClr val="888888"/>
                </a:solidFill>
                <a:latin typeface="Calibri"/>
                <a:ea typeface="Calibri"/>
                <a:cs typeface="Calibri"/>
                <a:sym typeface="Calibri"/>
              </a:defRPr>
            </a:lvl4pPr>
            <a:lvl5pPr indent="0" lvl="4" marL="0" algn="r">
              <a:spcBef>
                <a:spcPts val="0"/>
              </a:spcBef>
              <a:buNone/>
              <a:defRPr sz="1200">
                <a:solidFill>
                  <a:srgbClr val="888888"/>
                </a:solidFill>
                <a:latin typeface="Calibri"/>
                <a:ea typeface="Calibri"/>
                <a:cs typeface="Calibri"/>
                <a:sym typeface="Calibri"/>
              </a:defRPr>
            </a:lvl5pPr>
            <a:lvl6pPr indent="0" lvl="5" marL="0" algn="r">
              <a:spcBef>
                <a:spcPts val="0"/>
              </a:spcBef>
              <a:buNone/>
              <a:defRPr sz="1200">
                <a:solidFill>
                  <a:srgbClr val="888888"/>
                </a:solidFill>
                <a:latin typeface="Calibri"/>
                <a:ea typeface="Calibri"/>
                <a:cs typeface="Calibri"/>
                <a:sym typeface="Calibri"/>
              </a:defRPr>
            </a:lvl6pPr>
            <a:lvl7pPr indent="0" lvl="6" marL="0" algn="r">
              <a:spcBef>
                <a:spcPts val="0"/>
              </a:spcBef>
              <a:buNone/>
              <a:defRPr sz="1200">
                <a:solidFill>
                  <a:srgbClr val="888888"/>
                </a:solidFill>
                <a:latin typeface="Calibri"/>
                <a:ea typeface="Calibri"/>
                <a:cs typeface="Calibri"/>
                <a:sym typeface="Calibri"/>
              </a:defRPr>
            </a:lvl7pPr>
            <a:lvl8pPr indent="0" lvl="7" marL="0" algn="r">
              <a:spcBef>
                <a:spcPts val="0"/>
              </a:spcBef>
              <a:buNone/>
              <a:defRPr sz="1200">
                <a:solidFill>
                  <a:srgbClr val="888888"/>
                </a:solidFill>
                <a:latin typeface="Calibri"/>
                <a:ea typeface="Calibri"/>
                <a:cs typeface="Calibri"/>
                <a:sym typeface="Calibri"/>
              </a:defRPr>
            </a:lvl8pPr>
            <a:lvl9pPr indent="0" lvl="8" mar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08"/>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08"/>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08"/>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08"/>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08"/>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BO"/>
              <a:t>‹#›</a:t>
            </a:fld>
            <a:endParaRPr/>
          </a:p>
        </p:txBody>
      </p:sp>
      <p:sp>
        <p:nvSpPr>
          <p:cNvPr id="15" name="Google Shape;15;p108"/>
          <p:cNvSpPr txBox="1"/>
          <p:nvPr/>
        </p:nvSpPr>
        <p:spPr>
          <a:xfrm rot="-5400000">
            <a:off x="-3203297" y="3259723"/>
            <a:ext cx="6858000" cy="338554"/>
          </a:xfrm>
          <a:prstGeom prst="rect">
            <a:avLst/>
          </a:prstGeom>
          <a:solidFill>
            <a:srgbClr val="CCC0D9"/>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s-BO" sz="1600" u="none" cap="none" strike="noStrike">
                <a:solidFill>
                  <a:schemeClr val="lt1"/>
                </a:solidFill>
                <a:latin typeface="Calibri"/>
                <a:ea typeface="Calibri"/>
                <a:cs typeface="Calibri"/>
                <a:sym typeface="Calibri"/>
              </a:rPr>
              <a:t>SISTEMAS DE CONTROL II – ETN 902 - (Pregrado UMSA 2022)</a:t>
            </a:r>
            <a:endParaRPr b="1" i="0" sz="1600" u="none" cap="none" strike="noStrike">
              <a:solidFill>
                <a:schemeClr val="lt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jpg"/><Relationship Id="rId4" Type="http://schemas.openxmlformats.org/officeDocument/2006/relationships/image" Target="../media/image7.jpg"/><Relationship Id="rId5" Type="http://schemas.openxmlformats.org/officeDocument/2006/relationships/image" Target="../media/image5.jpg"/><Relationship Id="rId6"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jp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2.png"/><Relationship Id="rId4" Type="http://schemas.openxmlformats.org/officeDocument/2006/relationships/image" Target="../media/image1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3.jpg"/><Relationship Id="rId4" Type="http://schemas.openxmlformats.org/officeDocument/2006/relationships/image" Target="../media/image11.jpg"/><Relationship Id="rId5" Type="http://schemas.openxmlformats.org/officeDocument/2006/relationships/image" Target="../media/image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5.jpg"/><Relationship Id="rId4" Type="http://schemas.openxmlformats.org/officeDocument/2006/relationships/image" Target="../media/image8.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6.jpg"/><Relationship Id="rId4" Type="http://schemas.openxmlformats.org/officeDocument/2006/relationships/image" Target="../media/image1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6.jpg"/><Relationship Id="rId4" Type="http://schemas.openxmlformats.org/officeDocument/2006/relationships/image" Target="../media/image55.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0.jp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0.jpg"/><Relationship Id="rId4" Type="http://schemas.openxmlformats.org/officeDocument/2006/relationships/image" Target="../media/image18.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0.jpg"/><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1.jpg"/><Relationship Id="rId4" Type="http://schemas.openxmlformats.org/officeDocument/2006/relationships/image" Target="../media/image74.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2.jpg"/><Relationship Id="rId4" Type="http://schemas.openxmlformats.org/officeDocument/2006/relationships/image" Target="../media/image29.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4.jpg"/><Relationship Id="rId4" Type="http://schemas.openxmlformats.org/officeDocument/2006/relationships/image" Target="../media/image27.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0.jpg"/><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4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1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1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8.png"/><Relationship Id="rId4" Type="http://schemas.openxmlformats.org/officeDocument/2006/relationships/image" Target="../media/image33.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36.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40.png"/><Relationship Id="rId4" Type="http://schemas.openxmlformats.org/officeDocument/2006/relationships/image" Target="../media/image3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35.jpg"/><Relationship Id="rId4" Type="http://schemas.openxmlformats.org/officeDocument/2006/relationships/image" Target="../media/image37.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 Id="rId3" Type="http://schemas.openxmlformats.org/officeDocument/2006/relationships/image" Target="../media/image38.png"/><Relationship Id="rId4" Type="http://schemas.openxmlformats.org/officeDocument/2006/relationships/image" Target="../media/image42.jpg"/><Relationship Id="rId5" Type="http://schemas.openxmlformats.org/officeDocument/2006/relationships/image" Target="../media/image41.gi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 Id="rId3" Type="http://schemas.openxmlformats.org/officeDocument/2006/relationships/image" Target="../media/image95.jpg"/><Relationship Id="rId4" Type="http://schemas.openxmlformats.org/officeDocument/2006/relationships/image" Target="../media/image46.png"/><Relationship Id="rId5" Type="http://schemas.openxmlformats.org/officeDocument/2006/relationships/image" Target="../media/image43.png"/><Relationship Id="rId6" Type="http://schemas.openxmlformats.org/officeDocument/2006/relationships/image" Target="../media/image3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 Id="rId3" Type="http://schemas.openxmlformats.org/officeDocument/2006/relationships/image" Target="../media/image47.png"/><Relationship Id="rId4" Type="http://schemas.openxmlformats.org/officeDocument/2006/relationships/image" Target="../media/image5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 Id="rId3" Type="http://schemas.openxmlformats.org/officeDocument/2006/relationships/image" Target="../media/image45.jpg"/><Relationship Id="rId4" Type="http://schemas.openxmlformats.org/officeDocument/2006/relationships/image" Target="../media/image4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 Id="rId3" Type="http://schemas.openxmlformats.org/officeDocument/2006/relationships/image" Target="../media/image49.png"/><Relationship Id="rId4" Type="http://schemas.openxmlformats.org/officeDocument/2006/relationships/image" Target="../media/image95.jpg"/><Relationship Id="rId5" Type="http://schemas.openxmlformats.org/officeDocument/2006/relationships/image" Target="../media/image61.png"/><Relationship Id="rId6" Type="http://schemas.openxmlformats.org/officeDocument/2006/relationships/image" Target="../media/image6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 Id="rId3" Type="http://schemas.openxmlformats.org/officeDocument/2006/relationships/image" Target="../media/image61.png"/><Relationship Id="rId4" Type="http://schemas.openxmlformats.org/officeDocument/2006/relationships/image" Target="../media/image51.png"/><Relationship Id="rId5" Type="http://schemas.openxmlformats.org/officeDocument/2006/relationships/image" Target="../media/image58.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 Id="rId3" Type="http://schemas.openxmlformats.org/officeDocument/2006/relationships/image" Target="../media/image56.png"/><Relationship Id="rId4" Type="http://schemas.openxmlformats.org/officeDocument/2006/relationships/image" Target="../media/image60.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 Id="rId3" Type="http://schemas.openxmlformats.org/officeDocument/2006/relationships/image" Target="../media/image57.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 Id="rId3" Type="http://schemas.openxmlformats.org/officeDocument/2006/relationships/image" Target="../media/image59.png"/><Relationship Id="rId4" Type="http://schemas.openxmlformats.org/officeDocument/2006/relationships/image" Target="../media/image67.png"/><Relationship Id="rId5" Type="http://schemas.openxmlformats.org/officeDocument/2006/relationships/image" Target="../media/image6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 Id="rId3" Type="http://schemas.openxmlformats.org/officeDocument/2006/relationships/chart" Target="../charts/char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6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 Id="rId3" Type="http://schemas.openxmlformats.org/officeDocument/2006/relationships/image" Target="../media/image65.png"/><Relationship Id="rId4" Type="http://schemas.openxmlformats.org/officeDocument/2006/relationships/image" Target="../media/image63.png"/><Relationship Id="rId5" Type="http://schemas.openxmlformats.org/officeDocument/2006/relationships/image" Target="../media/image7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 Id="rId3" Type="http://schemas.openxmlformats.org/officeDocument/2006/relationships/image" Target="../media/image7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 Id="rId3" Type="http://schemas.openxmlformats.org/officeDocument/2006/relationships/image" Target="../media/image6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 Id="rId3" Type="http://schemas.openxmlformats.org/officeDocument/2006/relationships/image" Target="../media/image69.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 Id="rId3" Type="http://schemas.openxmlformats.org/officeDocument/2006/relationships/image" Target="../media/image70.png"/><Relationship Id="rId4" Type="http://schemas.openxmlformats.org/officeDocument/2006/relationships/image" Target="../media/image7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 Id="rId3" Type="http://schemas.openxmlformats.org/officeDocument/2006/relationships/image" Target="../media/image76.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 Id="rId3" Type="http://schemas.openxmlformats.org/officeDocument/2006/relationships/image" Target="../media/image7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 Id="rId3" Type="http://schemas.openxmlformats.org/officeDocument/2006/relationships/image" Target="../media/image7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 Id="rId3" Type="http://schemas.openxmlformats.org/officeDocument/2006/relationships/image" Target="../media/image8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 Id="rId3" Type="http://schemas.openxmlformats.org/officeDocument/2006/relationships/image" Target="../media/image78.png"/><Relationship Id="rId4" Type="http://schemas.openxmlformats.org/officeDocument/2006/relationships/image" Target="../media/image7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 Id="rId3" Type="http://schemas.openxmlformats.org/officeDocument/2006/relationships/image" Target="../media/image80.png"/><Relationship Id="rId4" Type="http://schemas.openxmlformats.org/officeDocument/2006/relationships/image" Target="../media/image81.png"/><Relationship Id="rId5" Type="http://schemas.openxmlformats.org/officeDocument/2006/relationships/image" Target="../media/image8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 Id="rId3" Type="http://schemas.openxmlformats.org/officeDocument/2006/relationships/image" Target="../media/image84.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86.png"/><Relationship Id="rId4" Type="http://schemas.openxmlformats.org/officeDocument/2006/relationships/image" Target="../media/image104.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 Id="rId3" Type="http://schemas.openxmlformats.org/officeDocument/2006/relationships/image" Target="../media/image88.png"/><Relationship Id="rId4" Type="http://schemas.openxmlformats.org/officeDocument/2006/relationships/image" Target="../media/image9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 Id="rId3" Type="http://schemas.openxmlformats.org/officeDocument/2006/relationships/image" Target="../media/image89.png"/><Relationship Id="rId4" Type="http://schemas.openxmlformats.org/officeDocument/2006/relationships/image" Target="../media/image93.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92.png"/><Relationship Id="rId4" Type="http://schemas.openxmlformats.org/officeDocument/2006/relationships/image" Target="../media/image94.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122.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6.xml"/><Relationship Id="rId3" Type="http://schemas.openxmlformats.org/officeDocument/2006/relationships/image" Target="../media/image99.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7.xml"/><Relationship Id="rId3" Type="http://schemas.openxmlformats.org/officeDocument/2006/relationships/image" Target="../media/image103.png"/><Relationship Id="rId4" Type="http://schemas.openxmlformats.org/officeDocument/2006/relationships/image" Target="../media/image97.jp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8.xml"/><Relationship Id="rId3" Type="http://schemas.openxmlformats.org/officeDocument/2006/relationships/image" Target="../media/image96.jpg"/><Relationship Id="rId4" Type="http://schemas.openxmlformats.org/officeDocument/2006/relationships/image" Target="../media/image98.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9.xml"/><Relationship Id="rId3" Type="http://schemas.openxmlformats.org/officeDocument/2006/relationships/image" Target="../media/image109.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 Id="rId3" Type="http://schemas.openxmlformats.org/officeDocument/2006/relationships/image" Target="../media/image101.png"/><Relationship Id="rId4" Type="http://schemas.openxmlformats.org/officeDocument/2006/relationships/image" Target="../media/image108.png"/><Relationship Id="rId5" Type="http://schemas.openxmlformats.org/officeDocument/2006/relationships/image" Target="../media/image106.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 Id="rId3" Type="http://schemas.openxmlformats.org/officeDocument/2006/relationships/image" Target="../media/image105.png"/><Relationship Id="rId4" Type="http://schemas.openxmlformats.org/officeDocument/2006/relationships/image" Target="../media/image10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 Id="rId3" Type="http://schemas.openxmlformats.org/officeDocument/2006/relationships/image" Target="../media/image110.png"/><Relationship Id="rId4" Type="http://schemas.openxmlformats.org/officeDocument/2006/relationships/image" Target="../media/image111.png"/><Relationship Id="rId5" Type="http://schemas.openxmlformats.org/officeDocument/2006/relationships/image" Target="../media/image112.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 Id="rId3" Type="http://schemas.openxmlformats.org/officeDocument/2006/relationships/image" Target="../media/image113.png"/><Relationship Id="rId4" Type="http://schemas.openxmlformats.org/officeDocument/2006/relationships/image" Target="../media/image118.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 Id="rId3" Type="http://schemas.openxmlformats.org/officeDocument/2006/relationships/image" Target="../media/image115.png"/><Relationship Id="rId4" Type="http://schemas.openxmlformats.org/officeDocument/2006/relationships/image" Target="../media/image121.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 Id="rId3" Type="http://schemas.openxmlformats.org/officeDocument/2006/relationships/image" Target="../media/image114.png"/><Relationship Id="rId4" Type="http://schemas.openxmlformats.org/officeDocument/2006/relationships/chart" Target="../charts/chart2.xml"/><Relationship Id="rId5" Type="http://schemas.openxmlformats.org/officeDocument/2006/relationships/image" Target="../media/image150.png"/><Relationship Id="rId6" Type="http://schemas.openxmlformats.org/officeDocument/2006/relationships/image" Target="../media/image120.jpg"/></Relationships>
</file>

<file path=ppt/slides/_rels/slide80.xml.rels><?xml version="1.0" encoding="UTF-8" standalone="yes"?><Relationships xmlns="http://schemas.openxmlformats.org/package/2006/relationships"><Relationship Id="rId10" Type="http://schemas.openxmlformats.org/officeDocument/2006/relationships/image" Target="../media/image130.png"/><Relationship Id="rId1" Type="http://schemas.openxmlformats.org/officeDocument/2006/relationships/slideLayout" Target="../slideLayouts/slideLayout3.xml"/><Relationship Id="rId2" Type="http://schemas.openxmlformats.org/officeDocument/2006/relationships/notesSlide" Target="../notesSlides/notesSlide80.xml"/><Relationship Id="rId3" Type="http://schemas.openxmlformats.org/officeDocument/2006/relationships/image" Target="../media/image129.png"/><Relationship Id="rId4" Type="http://schemas.openxmlformats.org/officeDocument/2006/relationships/image" Target="../media/image117.png"/><Relationship Id="rId9" Type="http://schemas.openxmlformats.org/officeDocument/2006/relationships/image" Target="../media/image127.png"/><Relationship Id="rId5" Type="http://schemas.openxmlformats.org/officeDocument/2006/relationships/image" Target="../media/image119.png"/><Relationship Id="rId6" Type="http://schemas.openxmlformats.org/officeDocument/2006/relationships/image" Target="../media/image71.png"/><Relationship Id="rId7" Type="http://schemas.openxmlformats.org/officeDocument/2006/relationships/image" Target="../media/image123.jpg"/><Relationship Id="rId8" Type="http://schemas.openxmlformats.org/officeDocument/2006/relationships/image" Target="../media/image126.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 Id="rId3" Type="http://schemas.openxmlformats.org/officeDocument/2006/relationships/image" Target="../media/image128.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 Id="rId3" Type="http://schemas.openxmlformats.org/officeDocument/2006/relationships/image" Target="../media/image133.png"/><Relationship Id="rId4" Type="http://schemas.openxmlformats.org/officeDocument/2006/relationships/image" Target="../media/image156.png"/><Relationship Id="rId9" Type="http://schemas.openxmlformats.org/officeDocument/2006/relationships/image" Target="../media/image136.png"/><Relationship Id="rId5" Type="http://schemas.openxmlformats.org/officeDocument/2006/relationships/image" Target="../media/image132.png"/><Relationship Id="rId6" Type="http://schemas.openxmlformats.org/officeDocument/2006/relationships/image" Target="../media/image131.png"/><Relationship Id="rId7" Type="http://schemas.openxmlformats.org/officeDocument/2006/relationships/image" Target="../media/image134.png"/><Relationship Id="rId8" Type="http://schemas.openxmlformats.org/officeDocument/2006/relationships/image" Target="../media/image137.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 Id="rId3" Type="http://schemas.openxmlformats.org/officeDocument/2006/relationships/image" Target="../media/image135.png"/><Relationship Id="rId4" Type="http://schemas.openxmlformats.org/officeDocument/2006/relationships/image" Target="../media/image138.png"/><Relationship Id="rId5" Type="http://schemas.openxmlformats.org/officeDocument/2006/relationships/image" Target="../media/image139.png"/></Relationships>
</file>

<file path=ppt/slides/_rels/slide86.xml.rels><?xml version="1.0" encoding="UTF-8" standalone="yes"?><Relationships xmlns="http://schemas.openxmlformats.org/package/2006/relationships"><Relationship Id="rId11" Type="http://schemas.openxmlformats.org/officeDocument/2006/relationships/image" Target="../media/image149.png"/><Relationship Id="rId10" Type="http://schemas.openxmlformats.org/officeDocument/2006/relationships/image" Target="../media/image147.png"/><Relationship Id="rId13" Type="http://schemas.openxmlformats.org/officeDocument/2006/relationships/image" Target="../media/image154.png"/><Relationship Id="rId12" Type="http://schemas.openxmlformats.org/officeDocument/2006/relationships/image" Target="../media/image148.png"/><Relationship Id="rId1" Type="http://schemas.openxmlformats.org/officeDocument/2006/relationships/slideLayout" Target="../slideLayouts/slideLayout3.xml"/><Relationship Id="rId2" Type="http://schemas.openxmlformats.org/officeDocument/2006/relationships/notesSlide" Target="../notesSlides/notesSlide86.xml"/><Relationship Id="rId3" Type="http://schemas.openxmlformats.org/officeDocument/2006/relationships/image" Target="../media/image141.png"/><Relationship Id="rId4" Type="http://schemas.openxmlformats.org/officeDocument/2006/relationships/image" Target="../media/image142.png"/><Relationship Id="rId9" Type="http://schemas.openxmlformats.org/officeDocument/2006/relationships/image" Target="../media/image146.png"/><Relationship Id="rId15" Type="http://schemas.openxmlformats.org/officeDocument/2006/relationships/image" Target="../media/image138.png"/><Relationship Id="rId14" Type="http://schemas.openxmlformats.org/officeDocument/2006/relationships/image" Target="../media/image151.png"/><Relationship Id="rId5" Type="http://schemas.openxmlformats.org/officeDocument/2006/relationships/image" Target="../media/image144.png"/><Relationship Id="rId6" Type="http://schemas.openxmlformats.org/officeDocument/2006/relationships/image" Target="../media/image143.png"/><Relationship Id="rId7" Type="http://schemas.openxmlformats.org/officeDocument/2006/relationships/image" Target="../media/image155.png"/><Relationship Id="rId8" Type="http://schemas.openxmlformats.org/officeDocument/2006/relationships/image" Target="../media/image152.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 Id="rId3" Type="http://schemas.openxmlformats.org/officeDocument/2006/relationships/image" Target="../media/image158.png"/><Relationship Id="rId4" Type="http://schemas.openxmlformats.org/officeDocument/2006/relationships/image" Target="../media/image157.png"/><Relationship Id="rId9" Type="http://schemas.openxmlformats.org/officeDocument/2006/relationships/image" Target="../media/image168.png"/><Relationship Id="rId5" Type="http://schemas.openxmlformats.org/officeDocument/2006/relationships/image" Target="../media/image159.png"/><Relationship Id="rId6" Type="http://schemas.openxmlformats.org/officeDocument/2006/relationships/image" Target="../media/image164.png"/><Relationship Id="rId7" Type="http://schemas.openxmlformats.org/officeDocument/2006/relationships/image" Target="../media/image160.png"/><Relationship Id="rId8" Type="http://schemas.openxmlformats.org/officeDocument/2006/relationships/image" Target="../media/image162.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 Id="rId3" Type="http://schemas.openxmlformats.org/officeDocument/2006/relationships/image" Target="../media/image166.png"/><Relationship Id="rId4" Type="http://schemas.openxmlformats.org/officeDocument/2006/relationships/image" Target="../media/image163.png"/><Relationship Id="rId5" Type="http://schemas.openxmlformats.org/officeDocument/2006/relationships/image" Target="../media/image165.png"/><Relationship Id="rId6" Type="http://schemas.openxmlformats.org/officeDocument/2006/relationships/image" Target="../media/image183.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 Id="rId3" Type="http://schemas.openxmlformats.org/officeDocument/2006/relationships/image" Target="../media/image167.png"/><Relationship Id="rId4" Type="http://schemas.openxmlformats.org/officeDocument/2006/relationships/image" Target="../media/image178.png"/><Relationship Id="rId5" Type="http://schemas.openxmlformats.org/officeDocument/2006/relationships/image" Target="../media/image176.png"/><Relationship Id="rId6" Type="http://schemas.openxmlformats.org/officeDocument/2006/relationships/image" Target="../media/image96.jp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 Id="rId3" Type="http://schemas.openxmlformats.org/officeDocument/2006/relationships/image" Target="../media/image169.png"/><Relationship Id="rId4" Type="http://schemas.openxmlformats.org/officeDocument/2006/relationships/image" Target="../media/image182.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 Id="rId3" Type="http://schemas.openxmlformats.org/officeDocument/2006/relationships/image" Target="../media/image171.png"/><Relationship Id="rId4" Type="http://schemas.openxmlformats.org/officeDocument/2006/relationships/image" Target="../media/image188.png"/><Relationship Id="rId5" Type="http://schemas.openxmlformats.org/officeDocument/2006/relationships/image" Target="../media/image174.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 Id="rId3" Type="http://schemas.openxmlformats.org/officeDocument/2006/relationships/image" Target="../media/image173.png"/><Relationship Id="rId4" Type="http://schemas.openxmlformats.org/officeDocument/2006/relationships/image" Target="../media/image175.png"/><Relationship Id="rId5" Type="http://schemas.openxmlformats.org/officeDocument/2006/relationships/image" Target="../media/image172.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 Id="rId3" Type="http://schemas.openxmlformats.org/officeDocument/2006/relationships/image" Target="../media/image177.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 Id="rId3" Type="http://schemas.openxmlformats.org/officeDocument/2006/relationships/image" Target="../media/image179.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 Id="rId3" Type="http://schemas.openxmlformats.org/officeDocument/2006/relationships/image" Target="../media/image180.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 Id="rId3" Type="http://schemas.openxmlformats.org/officeDocument/2006/relationships/image" Target="../media/image181.png"/><Relationship Id="rId4" Type="http://schemas.openxmlformats.org/officeDocument/2006/relationships/image" Target="../media/image212.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 Id="rId3" Type="http://schemas.openxmlformats.org/officeDocument/2006/relationships/image" Target="../media/image184.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 Id="rId3" Type="http://schemas.openxmlformats.org/officeDocument/2006/relationships/image" Target="../media/image187.png"/><Relationship Id="rId4" Type="http://schemas.openxmlformats.org/officeDocument/2006/relationships/image" Target="../media/image185.png"/><Relationship Id="rId5" Type="http://schemas.openxmlformats.org/officeDocument/2006/relationships/image" Target="../media/image186.png"/><Relationship Id="rId6" Type="http://schemas.openxmlformats.org/officeDocument/2006/relationships/image" Target="../media/image189.png"/><Relationship Id="rId7" Type="http://schemas.openxmlformats.org/officeDocument/2006/relationships/image" Target="../media/image190.png"/><Relationship Id="rId8" Type="http://schemas.openxmlformats.org/officeDocument/2006/relationships/image" Target="../media/image192.png"/></Relationships>
</file>

<file path=ppt/slides/_rels/slide100.xml.rels><?xml version="1.0" encoding="UTF-8" standalone="yes"?><Relationships xmlns="http://schemas.openxmlformats.org/package/2006/relationships"><Relationship Id="rId11" Type="http://schemas.openxmlformats.org/officeDocument/2006/relationships/image" Target="../media/image200.png"/><Relationship Id="rId10" Type="http://schemas.openxmlformats.org/officeDocument/2006/relationships/image" Target="../media/image198.png"/><Relationship Id="rId13" Type="http://schemas.openxmlformats.org/officeDocument/2006/relationships/image" Target="../media/image205.png"/><Relationship Id="rId12" Type="http://schemas.openxmlformats.org/officeDocument/2006/relationships/image" Target="../media/image216.png"/><Relationship Id="rId1" Type="http://schemas.openxmlformats.org/officeDocument/2006/relationships/slideLayout" Target="../slideLayouts/slideLayout3.xml"/><Relationship Id="rId2" Type="http://schemas.openxmlformats.org/officeDocument/2006/relationships/notesSlide" Target="../notesSlides/notesSlide100.xml"/><Relationship Id="rId3" Type="http://schemas.openxmlformats.org/officeDocument/2006/relationships/image" Target="../media/image193.png"/><Relationship Id="rId4" Type="http://schemas.openxmlformats.org/officeDocument/2006/relationships/image" Target="../media/image195.png"/><Relationship Id="rId9" Type="http://schemas.openxmlformats.org/officeDocument/2006/relationships/image" Target="../media/image197.png"/><Relationship Id="rId15" Type="http://schemas.openxmlformats.org/officeDocument/2006/relationships/image" Target="../media/image201.png"/><Relationship Id="rId14" Type="http://schemas.openxmlformats.org/officeDocument/2006/relationships/image" Target="../media/image203.png"/><Relationship Id="rId16" Type="http://schemas.openxmlformats.org/officeDocument/2006/relationships/image" Target="../media/image202.png"/><Relationship Id="rId5" Type="http://schemas.openxmlformats.org/officeDocument/2006/relationships/image" Target="../media/image194.png"/><Relationship Id="rId6" Type="http://schemas.openxmlformats.org/officeDocument/2006/relationships/image" Target="../media/image196.png"/><Relationship Id="rId7" Type="http://schemas.openxmlformats.org/officeDocument/2006/relationships/image" Target="../media/image191.png"/><Relationship Id="rId8" Type="http://schemas.openxmlformats.org/officeDocument/2006/relationships/image" Target="../media/image199.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1.xml"/><Relationship Id="rId3" Type="http://schemas.openxmlformats.org/officeDocument/2006/relationships/image" Target="../media/image206.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2.xml"/><Relationship Id="rId3" Type="http://schemas.openxmlformats.org/officeDocument/2006/relationships/image" Target="../media/image204.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3.xml"/><Relationship Id="rId3" Type="http://schemas.openxmlformats.org/officeDocument/2006/relationships/image" Target="../media/image210.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4.xml"/><Relationship Id="rId3" Type="http://schemas.openxmlformats.org/officeDocument/2006/relationships/image" Target="../media/image209.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5.xml"/><Relationship Id="rId3" Type="http://schemas.openxmlformats.org/officeDocument/2006/relationships/image" Target="../media/image211.png"/><Relationship Id="rId4" Type="http://schemas.openxmlformats.org/officeDocument/2006/relationships/image" Target="../media/image213.png"/><Relationship Id="rId5" Type="http://schemas.openxmlformats.org/officeDocument/2006/relationships/image" Target="../media/image203.png"/><Relationship Id="rId6" Type="http://schemas.openxmlformats.org/officeDocument/2006/relationships/image" Target="../media/image214.png"/><Relationship Id="rId7" Type="http://schemas.openxmlformats.org/officeDocument/2006/relationships/image" Target="../media/image202.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6.xml"/><Relationship Id="rId3" Type="http://schemas.openxmlformats.org/officeDocument/2006/relationships/image" Target="../media/image215.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
          <p:cNvSpPr txBox="1"/>
          <p:nvPr>
            <p:ph type="ctrTitle"/>
          </p:nvPr>
        </p:nvSpPr>
        <p:spPr>
          <a:xfrm>
            <a:off x="1415480" y="2538692"/>
            <a:ext cx="7550933" cy="770966"/>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953734"/>
              </a:buClr>
              <a:buSzPts val="4000"/>
              <a:buFont typeface="Calibri"/>
              <a:buNone/>
            </a:pPr>
            <a:r>
              <a:rPr b="1" lang="es-BO" sz="4000">
                <a:solidFill>
                  <a:srgbClr val="953734"/>
                </a:solidFill>
              </a:rPr>
              <a:t>CONTROL DE NIVEL DE LÍQUIDO</a:t>
            </a:r>
            <a:endParaRPr b="1" sz="4000">
              <a:solidFill>
                <a:srgbClr val="953734"/>
              </a:solidFill>
            </a:endParaRPr>
          </a:p>
        </p:txBody>
      </p:sp>
      <p:sp>
        <p:nvSpPr>
          <p:cNvPr id="104" name="Google Shape;104;p1"/>
          <p:cNvSpPr txBox="1"/>
          <p:nvPr>
            <p:ph idx="1" type="subTitle"/>
          </p:nvPr>
        </p:nvSpPr>
        <p:spPr>
          <a:xfrm>
            <a:off x="1703512" y="594961"/>
            <a:ext cx="4551805" cy="886307"/>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BO" sz="1600">
                <a:solidFill>
                  <a:schemeClr val="dk1"/>
                </a:solidFill>
                <a:latin typeface="Calibri"/>
                <a:ea typeface="Calibri"/>
                <a:cs typeface="Calibri"/>
                <a:sym typeface="Calibri"/>
              </a:rPr>
              <a:t>UNIVERSIDAD MAYOR DE SAN ANDRES</a:t>
            </a:r>
            <a:endParaRPr sz="16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BO" sz="1600">
                <a:solidFill>
                  <a:schemeClr val="dk1"/>
                </a:solidFill>
                <a:latin typeface="Calibri"/>
                <a:ea typeface="Calibri"/>
                <a:cs typeface="Calibri"/>
                <a:sym typeface="Calibri"/>
              </a:rPr>
              <a:t>FACULTAD DE INGENIERIA</a:t>
            </a:r>
            <a:endParaRPr/>
          </a:p>
          <a:p>
            <a:pPr indent="0" lvl="0" marL="0" rtl="0" algn="l">
              <a:spcBef>
                <a:spcPts val="0"/>
              </a:spcBef>
              <a:spcAft>
                <a:spcPts val="0"/>
              </a:spcAft>
              <a:buClr>
                <a:schemeClr val="dk1"/>
              </a:buClr>
              <a:buSzPts val="1100"/>
              <a:buFont typeface="Arial"/>
              <a:buNone/>
            </a:pPr>
            <a:r>
              <a:rPr lang="es-BO" sz="1600">
                <a:solidFill>
                  <a:schemeClr val="dk1"/>
                </a:solidFill>
                <a:latin typeface="Calibri"/>
                <a:ea typeface="Calibri"/>
                <a:cs typeface="Calibri"/>
                <a:sym typeface="Calibri"/>
              </a:rPr>
              <a:t>INGENIERIA ELECTRONICA</a:t>
            </a:r>
            <a:endParaRPr sz="1600">
              <a:solidFill>
                <a:schemeClr val="dk1"/>
              </a:solidFill>
              <a:latin typeface="Calibri"/>
              <a:ea typeface="Calibri"/>
              <a:cs typeface="Calibri"/>
              <a:sym typeface="Calibri"/>
            </a:endParaRPr>
          </a:p>
          <a:p>
            <a:pPr indent="0" lvl="0" marL="0" rtl="0" algn="l">
              <a:spcBef>
                <a:spcPts val="0"/>
              </a:spcBef>
              <a:spcAft>
                <a:spcPts val="0"/>
              </a:spcAft>
              <a:buClr>
                <a:srgbClr val="888888"/>
              </a:buClr>
              <a:buSzPts val="3200"/>
              <a:buNone/>
            </a:pPr>
            <a:r>
              <a:t/>
            </a:r>
            <a:endParaRPr>
              <a:latin typeface="Calibri"/>
              <a:ea typeface="Calibri"/>
              <a:cs typeface="Calibri"/>
              <a:sym typeface="Calibri"/>
            </a:endParaRPr>
          </a:p>
        </p:txBody>
      </p:sp>
      <p:pic>
        <p:nvPicPr>
          <p:cNvPr id="105" name="Google Shape;105;p1"/>
          <p:cNvPicPr preferRelativeResize="0"/>
          <p:nvPr/>
        </p:nvPicPr>
        <p:blipFill rotWithShape="1">
          <a:blip r:embed="rId3">
            <a:alphaModFix/>
          </a:blip>
          <a:srcRect b="0" l="0" r="0" t="0"/>
          <a:stretch/>
        </p:blipFill>
        <p:spPr>
          <a:xfrm>
            <a:off x="10041640" y="549150"/>
            <a:ext cx="1449946" cy="2663826"/>
          </a:xfrm>
          <a:prstGeom prst="rect">
            <a:avLst/>
          </a:prstGeom>
          <a:noFill/>
          <a:ln>
            <a:noFill/>
          </a:ln>
        </p:spPr>
      </p:pic>
      <p:sp>
        <p:nvSpPr>
          <p:cNvPr id="106" name="Google Shape;106;p1"/>
          <p:cNvSpPr txBox="1"/>
          <p:nvPr/>
        </p:nvSpPr>
        <p:spPr>
          <a:xfrm>
            <a:off x="1703512" y="3548343"/>
            <a:ext cx="6769551" cy="224676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s-BO" sz="2000" u="none" cap="none" strike="noStrike">
                <a:solidFill>
                  <a:schemeClr val="dk1"/>
                </a:solidFill>
                <a:latin typeface="Calibri"/>
                <a:ea typeface="Calibri"/>
                <a:cs typeface="Calibri"/>
                <a:sym typeface="Calibri"/>
              </a:rPr>
              <a:t>INTEGRANTES:        </a:t>
            </a:r>
            <a:r>
              <a:rPr b="0" i="0" lang="es-BO" sz="2000" u="none" cap="none" strike="noStrike">
                <a:solidFill>
                  <a:schemeClr val="dk1"/>
                </a:solidFill>
                <a:latin typeface="Calibri"/>
                <a:ea typeface="Calibri"/>
                <a:cs typeface="Calibri"/>
                <a:sym typeface="Calibri"/>
              </a:rPr>
              <a:t>Condori Mamani Roger</a:t>
            </a:r>
            <a:endParaRPr/>
          </a:p>
          <a:p>
            <a:pPr indent="0" lvl="0" marL="0" marR="0" rtl="0" algn="l">
              <a:spcBef>
                <a:spcPts val="0"/>
              </a:spcBef>
              <a:spcAft>
                <a:spcPts val="0"/>
              </a:spcAft>
              <a:buNone/>
            </a:pPr>
            <a:r>
              <a:rPr lang="es-BO" sz="2000">
                <a:solidFill>
                  <a:schemeClr val="dk1"/>
                </a:solidFill>
                <a:latin typeface="Calibri"/>
                <a:ea typeface="Calibri"/>
                <a:cs typeface="Calibri"/>
                <a:sym typeface="Calibri"/>
              </a:rPr>
              <a:t>		   Espino Marca Mary Isabel</a:t>
            </a:r>
            <a:endParaRPr/>
          </a:p>
          <a:p>
            <a:pPr indent="0" lvl="0" marL="0" marR="0" rtl="0" algn="l">
              <a:spcBef>
                <a:spcPts val="0"/>
              </a:spcBef>
              <a:spcAft>
                <a:spcPts val="0"/>
              </a:spcAft>
              <a:buNone/>
            </a:pPr>
            <a:r>
              <a:rPr lang="es-BO" sz="2000">
                <a:solidFill>
                  <a:schemeClr val="dk1"/>
                </a:solidFill>
                <a:latin typeface="Calibri"/>
                <a:ea typeface="Calibri"/>
                <a:cs typeface="Calibri"/>
                <a:sym typeface="Calibri"/>
              </a:rPr>
              <a:t>		   Linares Poma Guido Alvaro</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rPr lang="es-BO" sz="2000">
                <a:solidFill>
                  <a:schemeClr val="dk1"/>
                </a:solidFill>
                <a:latin typeface="Calibri"/>
                <a:ea typeface="Calibri"/>
                <a:cs typeface="Calibri"/>
                <a:sym typeface="Calibri"/>
              </a:rPr>
              <a:t>		   </a:t>
            </a:r>
            <a:endParaRPr/>
          </a:p>
          <a:p>
            <a:pPr indent="0" lvl="0" marL="0" marR="0" rtl="0" algn="l">
              <a:spcBef>
                <a:spcPts val="0"/>
              </a:spcBef>
              <a:spcAft>
                <a:spcPts val="0"/>
              </a:spcAft>
              <a:buNone/>
            </a:pPr>
            <a:r>
              <a:rPr b="1" lang="es-BO" sz="2000">
                <a:solidFill>
                  <a:schemeClr val="dk1"/>
                </a:solidFill>
                <a:latin typeface="Calibri"/>
                <a:ea typeface="Calibri"/>
                <a:cs typeface="Calibri"/>
                <a:sym typeface="Calibri"/>
              </a:rPr>
              <a:t>DOCENTE</a:t>
            </a:r>
            <a:r>
              <a:rPr lang="es-BO" sz="2000">
                <a:solidFill>
                  <a:schemeClr val="dk1"/>
                </a:solidFill>
                <a:latin typeface="Calibri"/>
                <a:ea typeface="Calibri"/>
                <a:cs typeface="Calibri"/>
                <a:sym typeface="Calibri"/>
              </a:rPr>
              <a:t>:                Jorge Antonio Nava Amador</a:t>
            </a:r>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rPr b="1" lang="es-BO" sz="2000">
                <a:solidFill>
                  <a:schemeClr val="dk1"/>
                </a:solidFill>
                <a:latin typeface="Calibri"/>
                <a:ea typeface="Calibri"/>
                <a:cs typeface="Calibri"/>
                <a:sym typeface="Calibri"/>
              </a:rPr>
              <a:t>MATERIA:                 </a:t>
            </a:r>
            <a:r>
              <a:rPr lang="es-BO" sz="2000">
                <a:solidFill>
                  <a:schemeClr val="dk1"/>
                </a:solidFill>
                <a:latin typeface="Calibri"/>
                <a:ea typeface="Calibri"/>
                <a:cs typeface="Calibri"/>
                <a:sym typeface="Calibri"/>
              </a:rPr>
              <a:t>Sistemas de control ll  ETN-902</a:t>
            </a:r>
            <a:endParaRPr/>
          </a:p>
        </p:txBody>
      </p:sp>
    </p:spTree>
  </p:cSld>
  <p:clrMapOvr>
    <a:masterClrMapping/>
  </p:clrMapOvr>
  <p:transition spd="slow">
    <p:push/>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
          <p:cNvSpPr txBox="1"/>
          <p:nvPr>
            <p:ph idx="1" type="body"/>
          </p:nvPr>
        </p:nvSpPr>
        <p:spPr>
          <a:xfrm>
            <a:off x="3930889" y="548680"/>
            <a:ext cx="4330222" cy="648072"/>
          </a:xfrm>
          <a:prstGeom prst="rect">
            <a:avLst/>
          </a:prstGeom>
          <a:noFill/>
          <a:ln>
            <a:noFill/>
          </a:ln>
        </p:spPr>
        <p:txBody>
          <a:bodyPr anchorCtr="0" anchor="t" bIns="45700" lIns="91425" spcFirstLastPara="1" rIns="91425" wrap="square" tIns="45700">
            <a:normAutofit fontScale="92500"/>
          </a:bodyPr>
          <a:lstStyle/>
          <a:p>
            <a:pPr indent="0" lvl="0" marL="0" rtl="0" algn="ctr">
              <a:spcBef>
                <a:spcPts val="0"/>
              </a:spcBef>
              <a:spcAft>
                <a:spcPts val="0"/>
              </a:spcAft>
              <a:buClr>
                <a:schemeClr val="dk1"/>
              </a:buClr>
              <a:buSzPct val="100000"/>
              <a:buNone/>
            </a:pPr>
            <a:r>
              <a:rPr b="1" lang="es-BO" sz="3600"/>
              <a:t>Nombres y diapositivas</a:t>
            </a:r>
            <a:endParaRPr sz="3600"/>
          </a:p>
        </p:txBody>
      </p:sp>
      <p:graphicFrame>
        <p:nvGraphicFramePr>
          <p:cNvPr id="112" name="Google Shape;112;p2"/>
          <p:cNvGraphicFramePr/>
          <p:nvPr/>
        </p:nvGraphicFramePr>
        <p:xfrm>
          <a:off x="2279576" y="1844824"/>
          <a:ext cx="3000000" cy="3000000"/>
        </p:xfrm>
        <a:graphic>
          <a:graphicData uri="http://schemas.openxmlformats.org/drawingml/2006/table">
            <a:tbl>
              <a:tblPr bandRow="1" firstRow="1">
                <a:noFill/>
                <a:tableStyleId>{222A7E54-5182-43F9-A65E-7F61A87368E1}</a:tableStyleId>
              </a:tblPr>
              <a:tblGrid>
                <a:gridCol w="4064000"/>
                <a:gridCol w="4064000"/>
              </a:tblGrid>
              <a:tr h="370850">
                <a:tc>
                  <a:txBody>
                    <a:bodyPr/>
                    <a:lstStyle/>
                    <a:p>
                      <a:pPr indent="0" lvl="0" marL="0" marR="0" rtl="0" algn="l">
                        <a:spcBef>
                          <a:spcPts val="0"/>
                        </a:spcBef>
                        <a:spcAft>
                          <a:spcPts val="0"/>
                        </a:spcAft>
                        <a:buNone/>
                      </a:pPr>
                      <a:r>
                        <a:rPr lang="es-BO" sz="1800" u="none" cap="none" strike="noStrike"/>
                        <a:t>Nombres </a:t>
                      </a:r>
                      <a:endParaRPr/>
                    </a:p>
                  </a:txBody>
                  <a:tcPr marT="45725" marB="45725" marR="91450" marL="91450"/>
                </a:tc>
                <a:tc>
                  <a:txBody>
                    <a:bodyPr/>
                    <a:lstStyle/>
                    <a:p>
                      <a:pPr indent="0" lvl="0" marL="0" marR="0" rtl="0" algn="l">
                        <a:spcBef>
                          <a:spcPts val="0"/>
                        </a:spcBef>
                        <a:spcAft>
                          <a:spcPts val="0"/>
                        </a:spcAft>
                        <a:buNone/>
                      </a:pPr>
                      <a:r>
                        <a:rPr lang="es-BO" sz="1800"/>
                        <a:t>Diapositivas</a:t>
                      </a:r>
                      <a:endParaRPr/>
                    </a:p>
                  </a:txBody>
                  <a:tcPr marT="45725" marB="45725" marR="91450" marL="91450"/>
                </a:tc>
              </a:tr>
              <a:tr h="370850">
                <a:tc>
                  <a:txBody>
                    <a:bodyPr/>
                    <a:lstStyle/>
                    <a:p>
                      <a:pPr indent="0" lvl="0" marL="0" marR="0" rtl="0" algn="l">
                        <a:spcBef>
                          <a:spcPts val="0"/>
                        </a:spcBef>
                        <a:spcAft>
                          <a:spcPts val="0"/>
                        </a:spcAft>
                        <a:buNone/>
                      </a:pPr>
                      <a:r>
                        <a:rPr lang="es-BO" sz="1800"/>
                        <a:t>Guido Alvaro Linares Poma</a:t>
                      </a:r>
                      <a:endParaRPr/>
                    </a:p>
                  </a:txBody>
                  <a:tcPr marT="45725" marB="45725" marR="91450" marL="91450"/>
                </a:tc>
                <a:tc>
                  <a:txBody>
                    <a:bodyPr/>
                    <a:lstStyle/>
                    <a:p>
                      <a:pPr indent="0" lvl="0" marL="0" marR="0" rtl="0" algn="l">
                        <a:spcBef>
                          <a:spcPts val="0"/>
                        </a:spcBef>
                        <a:spcAft>
                          <a:spcPts val="0"/>
                        </a:spcAft>
                        <a:buNone/>
                      </a:pPr>
                      <a:r>
                        <a:rPr lang="es-BO" sz="1800"/>
                        <a:t>(1 – 34)  (64 - 68)  (74 - 79)</a:t>
                      </a:r>
                      <a:endParaRPr/>
                    </a:p>
                  </a:txBody>
                  <a:tcPr marT="45725" marB="45725" marR="91450" marL="91450"/>
                </a:tc>
              </a:tr>
              <a:tr h="370850">
                <a:tc>
                  <a:txBody>
                    <a:bodyPr/>
                    <a:lstStyle/>
                    <a:p>
                      <a:pPr indent="0" lvl="0" marL="0" marR="0" rtl="0" algn="l">
                        <a:spcBef>
                          <a:spcPts val="0"/>
                        </a:spcBef>
                        <a:spcAft>
                          <a:spcPts val="0"/>
                        </a:spcAft>
                        <a:buNone/>
                      </a:pPr>
                      <a:r>
                        <a:rPr lang="es-BO" sz="1800"/>
                        <a:t>Mary Isabel Espino Marca</a:t>
                      </a:r>
                      <a:endParaRPr/>
                    </a:p>
                  </a:txBody>
                  <a:tcPr marT="45725" marB="45725" marR="91450" marL="91450"/>
                </a:tc>
                <a:tc>
                  <a:txBody>
                    <a:bodyPr/>
                    <a:lstStyle/>
                    <a:p>
                      <a:pPr indent="0" lvl="0" marL="0" marR="0" rtl="0" algn="l">
                        <a:spcBef>
                          <a:spcPts val="0"/>
                        </a:spcBef>
                        <a:spcAft>
                          <a:spcPts val="0"/>
                        </a:spcAft>
                        <a:buNone/>
                      </a:pPr>
                      <a:r>
                        <a:rPr lang="es-BO" sz="1800"/>
                        <a:t>(35 - 64)</a:t>
                      </a:r>
                      <a:endParaRPr/>
                    </a:p>
                  </a:txBody>
                  <a:tcPr marT="45725" marB="45725" marR="91450" marL="91450"/>
                </a:tc>
              </a:tr>
              <a:tr h="370850">
                <a:tc>
                  <a:txBody>
                    <a:bodyPr/>
                    <a:lstStyle/>
                    <a:p>
                      <a:pPr indent="0" lvl="0" marL="0" marR="0" rtl="0" algn="l">
                        <a:spcBef>
                          <a:spcPts val="0"/>
                        </a:spcBef>
                        <a:spcAft>
                          <a:spcPts val="0"/>
                        </a:spcAft>
                        <a:buNone/>
                      </a:pPr>
                      <a:r>
                        <a:rPr lang="es-BO" sz="1800"/>
                        <a:t>Roger</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lang="es-BO" sz="1800"/>
                        <a:t>(70 - 74) (81 - 107)</a:t>
                      </a:r>
                      <a:endParaRPr/>
                    </a:p>
                  </a:txBody>
                  <a:tcPr marT="45725" marB="45725" marR="91450" marL="91450"/>
                </a:tc>
              </a:tr>
            </a:tbl>
          </a:graphicData>
        </a:graphic>
      </p:graphicFrame>
    </p:spTree>
  </p:cSld>
  <p:clrMapOvr>
    <a:masterClrMapping/>
  </p:clrMapOvr>
  <p:transition spd="slow">
    <p:push/>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3"/>
          <p:cNvSpPr txBox="1"/>
          <p:nvPr/>
        </p:nvSpPr>
        <p:spPr>
          <a:xfrm>
            <a:off x="1631504" y="1412776"/>
            <a:ext cx="9577064" cy="5262979"/>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2400"/>
              <a:buFont typeface="Arial"/>
              <a:buChar char="•"/>
            </a:pPr>
            <a:r>
              <a:rPr lang="es-BO" sz="2400">
                <a:solidFill>
                  <a:schemeClr val="dk1"/>
                </a:solidFill>
                <a:latin typeface="Calibri"/>
                <a:ea typeface="Calibri"/>
                <a:cs typeface="Calibri"/>
                <a:sym typeface="Calibri"/>
              </a:rPr>
              <a:t>Video  descripción del sistema de nivel de liquido e instrumentación. </a:t>
            </a:r>
            <a:r>
              <a:rPr lang="es-BO" sz="2400">
                <a:solidFill>
                  <a:srgbClr val="0070C0"/>
                </a:solidFill>
                <a:latin typeface="Calibri"/>
                <a:ea typeface="Calibri"/>
                <a:cs typeface="Calibri"/>
                <a:sym typeface="Calibri"/>
              </a:rPr>
              <a:t>(Guido Alvaro Linares Poma)</a:t>
            </a:r>
            <a:endParaRPr/>
          </a:p>
          <a:p>
            <a:pPr indent="-285750" lvl="0" marL="285750" marR="0" rtl="0" algn="l">
              <a:spcBef>
                <a:spcPts val="0"/>
              </a:spcBef>
              <a:spcAft>
                <a:spcPts val="0"/>
              </a:spcAft>
              <a:buClr>
                <a:schemeClr val="dk1"/>
              </a:buClr>
              <a:buSzPts val="2400"/>
              <a:buFont typeface="Arial"/>
              <a:buChar char="•"/>
            </a:pPr>
            <a:r>
              <a:rPr lang="es-BO" sz="2400">
                <a:solidFill>
                  <a:schemeClr val="dk1"/>
                </a:solidFill>
                <a:latin typeface="Calibri"/>
                <a:ea typeface="Calibri"/>
                <a:cs typeface="Calibri"/>
                <a:sym typeface="Calibri"/>
              </a:rPr>
              <a:t>Video obtención de la función de transferencia y  elementos seleccionados para el control.</a:t>
            </a:r>
            <a:r>
              <a:rPr lang="es-BO" sz="2400">
                <a:solidFill>
                  <a:srgbClr val="FF0000"/>
                </a:solidFill>
                <a:latin typeface="Calibri"/>
                <a:ea typeface="Calibri"/>
                <a:cs typeface="Calibri"/>
                <a:sym typeface="Calibri"/>
              </a:rPr>
              <a:t> </a:t>
            </a:r>
            <a:r>
              <a:rPr lang="es-BO" sz="2400">
                <a:solidFill>
                  <a:srgbClr val="0070C0"/>
                </a:solidFill>
                <a:latin typeface="Calibri"/>
                <a:ea typeface="Calibri"/>
                <a:cs typeface="Calibri"/>
                <a:sym typeface="Calibri"/>
              </a:rPr>
              <a:t>(Guido Alvaro Linares Poma)</a:t>
            </a:r>
            <a:endParaRPr/>
          </a:p>
          <a:p>
            <a:pPr indent="-285750" lvl="0" marL="285750" marR="0" rtl="0" algn="l">
              <a:spcBef>
                <a:spcPts val="0"/>
              </a:spcBef>
              <a:spcAft>
                <a:spcPts val="0"/>
              </a:spcAft>
              <a:buClr>
                <a:schemeClr val="dk1"/>
              </a:buClr>
              <a:buSzPts val="2400"/>
              <a:buFont typeface="Arial"/>
              <a:buChar char="•"/>
            </a:pPr>
            <a:r>
              <a:rPr lang="es-BO" sz="2400">
                <a:solidFill>
                  <a:schemeClr val="dk1"/>
                </a:solidFill>
                <a:latin typeface="Calibri"/>
                <a:ea typeface="Calibri"/>
                <a:cs typeface="Calibri"/>
                <a:sym typeface="Calibri"/>
              </a:rPr>
              <a:t> Video bomba de agua</a:t>
            </a:r>
            <a:r>
              <a:rPr lang="es-BO" sz="2400">
                <a:solidFill>
                  <a:srgbClr val="0070C0"/>
                </a:solidFill>
                <a:latin typeface="Calibri"/>
                <a:ea typeface="Calibri"/>
                <a:cs typeface="Calibri"/>
                <a:sym typeface="Calibri"/>
              </a:rPr>
              <a:t>(Guido Alvaro Linares Poma)</a:t>
            </a:r>
            <a:endParaRPr/>
          </a:p>
          <a:p>
            <a:pPr indent="-285750" lvl="0" marL="285750" marR="0" rtl="0" algn="l">
              <a:spcBef>
                <a:spcPts val="0"/>
              </a:spcBef>
              <a:spcAft>
                <a:spcPts val="0"/>
              </a:spcAft>
              <a:buClr>
                <a:schemeClr val="dk1"/>
              </a:buClr>
              <a:buSzPts val="2400"/>
              <a:buFont typeface="Arial"/>
              <a:buChar char="•"/>
            </a:pPr>
            <a:r>
              <a:rPr lang="es-BO" sz="2400">
                <a:solidFill>
                  <a:schemeClr val="dk1"/>
                </a:solidFill>
                <a:latin typeface="Calibri"/>
                <a:ea typeface="Calibri"/>
                <a:cs typeface="Calibri"/>
                <a:sym typeface="Calibri"/>
              </a:rPr>
              <a:t>Video explicativo sobre los transductores en el sistema </a:t>
            </a:r>
            <a:r>
              <a:rPr lang="es-BO" sz="2400">
                <a:solidFill>
                  <a:srgbClr val="0070C0"/>
                </a:solidFill>
                <a:latin typeface="Calibri"/>
                <a:ea typeface="Calibri"/>
                <a:cs typeface="Calibri"/>
                <a:sym typeface="Calibri"/>
              </a:rPr>
              <a:t>(Mary Isabel Espino Marca)</a:t>
            </a:r>
            <a:endParaRPr/>
          </a:p>
          <a:p>
            <a:pPr indent="-285750" lvl="0" marL="285750" marR="0" rtl="0" algn="l">
              <a:spcBef>
                <a:spcPts val="0"/>
              </a:spcBef>
              <a:spcAft>
                <a:spcPts val="0"/>
              </a:spcAft>
              <a:buClr>
                <a:schemeClr val="dk1"/>
              </a:buClr>
              <a:buSzPts val="2400"/>
              <a:buFont typeface="Arial"/>
              <a:buChar char="•"/>
            </a:pPr>
            <a:r>
              <a:rPr lang="es-BO" sz="2400">
                <a:solidFill>
                  <a:schemeClr val="dk1"/>
                </a:solidFill>
                <a:latin typeface="Calibri"/>
                <a:ea typeface="Calibri"/>
                <a:cs typeface="Calibri"/>
                <a:sym typeface="Calibri"/>
              </a:rPr>
              <a:t>Video explicativo sobre los controladores </a:t>
            </a:r>
            <a:r>
              <a:rPr lang="es-BO" sz="2400">
                <a:solidFill>
                  <a:srgbClr val="0070C0"/>
                </a:solidFill>
                <a:latin typeface="Calibri"/>
                <a:ea typeface="Calibri"/>
                <a:cs typeface="Calibri"/>
                <a:sym typeface="Calibri"/>
              </a:rPr>
              <a:t>(Mary Isabel Espino Marca)</a:t>
            </a:r>
            <a:endParaRPr/>
          </a:p>
          <a:p>
            <a:pPr indent="-285750" lvl="0" marL="285750" marR="0" rtl="0" algn="l">
              <a:spcBef>
                <a:spcPts val="0"/>
              </a:spcBef>
              <a:spcAft>
                <a:spcPts val="0"/>
              </a:spcAft>
              <a:buClr>
                <a:schemeClr val="dk1"/>
              </a:buClr>
              <a:buSzPts val="2400"/>
              <a:buFont typeface="Arial"/>
              <a:buChar char="•"/>
            </a:pPr>
            <a:r>
              <a:rPr lang="es-BO" sz="2400">
                <a:solidFill>
                  <a:schemeClr val="dk1"/>
                </a:solidFill>
                <a:latin typeface="Calibri"/>
                <a:ea typeface="Calibri"/>
                <a:cs typeface="Calibri"/>
                <a:sym typeface="Calibri"/>
              </a:rPr>
              <a:t>Video explicativo sobre El bloque PID</a:t>
            </a:r>
            <a:r>
              <a:rPr lang="es-BO" sz="2400">
                <a:solidFill>
                  <a:srgbClr val="0070C0"/>
                </a:solidFill>
                <a:latin typeface="Calibri"/>
                <a:ea typeface="Calibri"/>
                <a:cs typeface="Calibri"/>
                <a:sym typeface="Calibri"/>
              </a:rPr>
              <a:t>(Condori Mamani Roger)</a:t>
            </a:r>
            <a:endParaRPr/>
          </a:p>
          <a:p>
            <a:pPr indent="-285750" lvl="0" marL="285750" marR="0" rtl="0" algn="l">
              <a:spcBef>
                <a:spcPts val="0"/>
              </a:spcBef>
              <a:spcAft>
                <a:spcPts val="0"/>
              </a:spcAft>
              <a:buClr>
                <a:schemeClr val="dk1"/>
              </a:buClr>
              <a:buSzPts val="2400"/>
              <a:buFont typeface="Arial"/>
              <a:buChar char="•"/>
            </a:pPr>
            <a:r>
              <a:rPr lang="es-BO" sz="2400">
                <a:solidFill>
                  <a:schemeClr val="dk1"/>
                </a:solidFill>
                <a:latin typeface="Calibri"/>
                <a:ea typeface="Calibri"/>
                <a:cs typeface="Calibri"/>
                <a:sym typeface="Calibri"/>
              </a:rPr>
              <a:t>Video explicativo sobre el controlador PI y consideraciones a tomar para la saturación del actuador</a:t>
            </a:r>
            <a:r>
              <a:rPr lang="es-BO" sz="2400">
                <a:solidFill>
                  <a:srgbClr val="0070C0"/>
                </a:solidFill>
                <a:latin typeface="Calibri"/>
                <a:ea typeface="Calibri"/>
                <a:cs typeface="Calibri"/>
                <a:sym typeface="Calibri"/>
              </a:rPr>
              <a:t>(Condori Mamani Roger)</a:t>
            </a:r>
            <a:endParaRPr/>
          </a:p>
          <a:p>
            <a:pPr indent="-133350" lvl="0" marL="285750" marR="0" rtl="0" algn="l">
              <a:spcBef>
                <a:spcPts val="0"/>
              </a:spcBef>
              <a:spcAft>
                <a:spcPts val="0"/>
              </a:spcAft>
              <a:buClr>
                <a:schemeClr val="dk1"/>
              </a:buClr>
              <a:buSzPts val="2400"/>
              <a:buFont typeface="Arial"/>
              <a:buNone/>
            </a:pPr>
            <a:r>
              <a:t/>
            </a:r>
            <a:endParaRPr sz="2400">
              <a:solidFill>
                <a:srgbClr val="0070C0"/>
              </a:solidFill>
              <a:latin typeface="Calibri"/>
              <a:ea typeface="Calibri"/>
              <a:cs typeface="Calibri"/>
              <a:sym typeface="Calibri"/>
            </a:endParaRPr>
          </a:p>
          <a:p>
            <a:pPr indent="-133350" lvl="0" marL="285750" marR="0" rtl="0" algn="l">
              <a:spcBef>
                <a:spcPts val="0"/>
              </a:spcBef>
              <a:spcAft>
                <a:spcPts val="0"/>
              </a:spcAft>
              <a:buClr>
                <a:schemeClr val="dk1"/>
              </a:buClr>
              <a:buSzPts val="2400"/>
              <a:buFont typeface="Arial"/>
              <a:buNone/>
            </a:pPr>
            <a:r>
              <a:t/>
            </a:r>
            <a:endParaRPr sz="2400">
              <a:solidFill>
                <a:srgbClr val="0070C0"/>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8" name="Google Shape;118;p3"/>
          <p:cNvSpPr txBox="1"/>
          <p:nvPr>
            <p:ph idx="1" type="body"/>
          </p:nvPr>
        </p:nvSpPr>
        <p:spPr>
          <a:xfrm>
            <a:off x="3930889" y="548680"/>
            <a:ext cx="4330222" cy="648072"/>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chemeClr val="dk1"/>
              </a:buClr>
              <a:buSzPts val="3600"/>
              <a:buNone/>
            </a:pPr>
            <a:r>
              <a:rPr b="1" lang="es-BO" sz="3600"/>
              <a:t>Videos a realizarse</a:t>
            </a:r>
            <a:endParaRPr sz="3600"/>
          </a:p>
        </p:txBody>
      </p:sp>
    </p:spTree>
  </p:cSld>
  <p:clrMapOvr>
    <a:masterClrMapping/>
  </p:clrMapOvr>
  <p:transition spd="slow">
    <p:push/>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4"/>
          <p:cNvSpPr txBox="1"/>
          <p:nvPr>
            <p:ph idx="1" type="body"/>
          </p:nvPr>
        </p:nvSpPr>
        <p:spPr>
          <a:xfrm>
            <a:off x="839416" y="980728"/>
            <a:ext cx="4330222" cy="648072"/>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chemeClr val="dk1"/>
              </a:buClr>
              <a:buSzPts val="3600"/>
              <a:buNone/>
            </a:pPr>
            <a:r>
              <a:rPr b="1" lang="es-BO" sz="3600"/>
              <a:t>Contenido</a:t>
            </a:r>
            <a:endParaRPr sz="3600"/>
          </a:p>
        </p:txBody>
      </p:sp>
      <p:sp>
        <p:nvSpPr>
          <p:cNvPr id="124" name="Google Shape;124;p4"/>
          <p:cNvSpPr txBox="1"/>
          <p:nvPr/>
        </p:nvSpPr>
        <p:spPr>
          <a:xfrm>
            <a:off x="2711624" y="2348880"/>
            <a:ext cx="8136904" cy="3447098"/>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2000"/>
              <a:buFont typeface="Arial"/>
              <a:buChar char="•"/>
            </a:pPr>
            <a:r>
              <a:rPr lang="es-BO" sz="2000">
                <a:solidFill>
                  <a:schemeClr val="dk1"/>
                </a:solidFill>
                <a:latin typeface="Calibri"/>
                <a:ea typeface="Calibri"/>
                <a:cs typeface="Calibri"/>
                <a:sym typeface="Calibri"/>
              </a:rPr>
              <a:t>Objetivos</a:t>
            </a:r>
            <a:endParaRPr/>
          </a:p>
          <a:p>
            <a:pPr indent="-285750" lvl="0" marL="285750" marR="0" rtl="0" algn="l">
              <a:spcBef>
                <a:spcPts val="0"/>
              </a:spcBef>
              <a:spcAft>
                <a:spcPts val="0"/>
              </a:spcAft>
              <a:buClr>
                <a:schemeClr val="dk1"/>
              </a:buClr>
              <a:buSzPts val="2000"/>
              <a:buFont typeface="Arial"/>
              <a:buChar char="•"/>
            </a:pPr>
            <a:r>
              <a:rPr lang="es-BO" sz="2000">
                <a:solidFill>
                  <a:schemeClr val="dk1"/>
                </a:solidFill>
                <a:latin typeface="Calibri"/>
                <a:ea typeface="Calibri"/>
                <a:cs typeface="Calibri"/>
                <a:sym typeface="Calibri"/>
              </a:rPr>
              <a:t>Descripción del sistema de nivel de líquido</a:t>
            </a:r>
            <a:endParaRPr/>
          </a:p>
          <a:p>
            <a:pPr indent="-285750" lvl="0" marL="285750" marR="0" rtl="0" algn="l">
              <a:spcBef>
                <a:spcPts val="0"/>
              </a:spcBef>
              <a:spcAft>
                <a:spcPts val="0"/>
              </a:spcAft>
              <a:buClr>
                <a:schemeClr val="dk1"/>
              </a:buClr>
              <a:buSzPts val="2000"/>
              <a:buFont typeface="Arial"/>
              <a:buChar char="•"/>
            </a:pPr>
            <a:r>
              <a:rPr lang="es-BO" sz="2000">
                <a:solidFill>
                  <a:schemeClr val="dk1"/>
                </a:solidFill>
                <a:latin typeface="Calibri"/>
                <a:ea typeface="Calibri"/>
                <a:cs typeface="Calibri"/>
                <a:sym typeface="Calibri"/>
              </a:rPr>
              <a:t>Instrumentación</a:t>
            </a:r>
            <a:endParaRPr/>
          </a:p>
          <a:p>
            <a:pPr indent="-285750" lvl="0" marL="285750" marR="0" rtl="0" algn="l">
              <a:spcBef>
                <a:spcPts val="0"/>
              </a:spcBef>
              <a:spcAft>
                <a:spcPts val="0"/>
              </a:spcAft>
              <a:buClr>
                <a:schemeClr val="dk1"/>
              </a:buClr>
              <a:buSzPts val="2000"/>
              <a:buFont typeface="Arial"/>
              <a:buChar char="•"/>
            </a:pPr>
            <a:r>
              <a:rPr lang="es-BO" sz="2000">
                <a:solidFill>
                  <a:schemeClr val="dk1"/>
                </a:solidFill>
                <a:latin typeface="Calibri"/>
                <a:ea typeface="Calibri"/>
                <a:cs typeface="Calibri"/>
                <a:sym typeface="Calibri"/>
              </a:rPr>
              <a:t>Transductores</a:t>
            </a:r>
            <a:endParaRPr/>
          </a:p>
          <a:p>
            <a:pPr indent="-285750" lvl="0" marL="285750" marR="0" rtl="0" algn="l">
              <a:spcBef>
                <a:spcPts val="0"/>
              </a:spcBef>
              <a:spcAft>
                <a:spcPts val="0"/>
              </a:spcAft>
              <a:buClr>
                <a:schemeClr val="dk1"/>
              </a:buClr>
              <a:buSzPts val="2000"/>
              <a:buFont typeface="Arial"/>
              <a:buChar char="•"/>
            </a:pPr>
            <a:r>
              <a:rPr lang="es-BO" sz="2000">
                <a:solidFill>
                  <a:schemeClr val="dk1"/>
                </a:solidFill>
                <a:latin typeface="Calibri"/>
                <a:ea typeface="Calibri"/>
                <a:cs typeface="Calibri"/>
                <a:sym typeface="Calibri"/>
              </a:rPr>
              <a:t>Controladores</a:t>
            </a:r>
            <a:endParaRPr/>
          </a:p>
          <a:p>
            <a:pPr indent="-285750" lvl="0" marL="285750" marR="0" rtl="0" algn="l">
              <a:spcBef>
                <a:spcPts val="0"/>
              </a:spcBef>
              <a:spcAft>
                <a:spcPts val="0"/>
              </a:spcAft>
              <a:buClr>
                <a:schemeClr val="dk1"/>
              </a:buClr>
              <a:buSzPts val="2000"/>
              <a:buFont typeface="Arial"/>
              <a:buChar char="•"/>
            </a:pPr>
            <a:r>
              <a:rPr lang="es-BO" sz="2000">
                <a:solidFill>
                  <a:schemeClr val="dk1"/>
                </a:solidFill>
                <a:latin typeface="Calibri"/>
                <a:ea typeface="Calibri"/>
                <a:cs typeface="Calibri"/>
                <a:sym typeface="Calibri"/>
              </a:rPr>
              <a:t>Actuador</a:t>
            </a:r>
            <a:endParaRPr/>
          </a:p>
          <a:p>
            <a:pPr indent="-285750" lvl="0" marL="285750" marR="0" rtl="0" algn="l">
              <a:spcBef>
                <a:spcPts val="0"/>
              </a:spcBef>
              <a:spcAft>
                <a:spcPts val="0"/>
              </a:spcAft>
              <a:buClr>
                <a:schemeClr val="dk1"/>
              </a:buClr>
              <a:buSzPts val="2000"/>
              <a:buFont typeface="Arial"/>
              <a:buChar char="•"/>
            </a:pPr>
            <a:r>
              <a:rPr lang="es-BO" sz="2000">
                <a:solidFill>
                  <a:schemeClr val="dk1"/>
                </a:solidFill>
                <a:latin typeface="Calibri"/>
                <a:ea typeface="Calibri"/>
                <a:cs typeface="Calibri"/>
                <a:sym typeface="Calibri"/>
              </a:rPr>
              <a:t>Adaptación de señales</a:t>
            </a:r>
            <a:endParaRPr/>
          </a:p>
          <a:p>
            <a:pPr indent="-285750" lvl="0" marL="285750" marR="0" rtl="0" algn="l">
              <a:spcBef>
                <a:spcPts val="0"/>
              </a:spcBef>
              <a:spcAft>
                <a:spcPts val="0"/>
              </a:spcAft>
              <a:buClr>
                <a:schemeClr val="dk1"/>
              </a:buClr>
              <a:buSzPts val="2000"/>
              <a:buFont typeface="Arial"/>
              <a:buChar char="•"/>
            </a:pPr>
            <a:r>
              <a:rPr lang="es-BO" sz="2000">
                <a:solidFill>
                  <a:schemeClr val="dk1"/>
                </a:solidFill>
                <a:latin typeface="Calibri"/>
                <a:ea typeface="Calibri"/>
                <a:cs typeface="Calibri"/>
                <a:sym typeface="Calibri"/>
              </a:rPr>
              <a:t>Función de transferencia</a:t>
            </a:r>
            <a:endParaRPr/>
          </a:p>
          <a:p>
            <a:pPr indent="-285750" lvl="0" marL="285750" marR="0" rtl="0" algn="l">
              <a:spcBef>
                <a:spcPts val="0"/>
              </a:spcBef>
              <a:spcAft>
                <a:spcPts val="0"/>
              </a:spcAft>
              <a:buClr>
                <a:schemeClr val="dk1"/>
              </a:buClr>
              <a:buSzPts val="2000"/>
              <a:buFont typeface="Arial"/>
              <a:buChar char="•"/>
            </a:pPr>
            <a:r>
              <a:rPr lang="es-BO" sz="2000">
                <a:solidFill>
                  <a:schemeClr val="dk1"/>
                </a:solidFill>
                <a:latin typeface="Calibri"/>
                <a:ea typeface="Calibri"/>
                <a:cs typeface="Calibri"/>
                <a:sym typeface="Calibri"/>
              </a:rPr>
              <a:t>Controlador PI</a:t>
            </a:r>
            <a:endParaRPr/>
          </a:p>
          <a:p>
            <a:pPr indent="-285750" lvl="0" marL="285750" marR="0" rtl="0" algn="l">
              <a:spcBef>
                <a:spcPts val="0"/>
              </a:spcBef>
              <a:spcAft>
                <a:spcPts val="0"/>
              </a:spcAft>
              <a:buClr>
                <a:schemeClr val="dk1"/>
              </a:buClr>
              <a:buSzPts val="2000"/>
              <a:buFont typeface="Arial"/>
              <a:buChar char="•"/>
            </a:pPr>
            <a:r>
              <a:rPr lang="es-BO" sz="2000">
                <a:solidFill>
                  <a:schemeClr val="dk1"/>
                </a:solidFill>
                <a:latin typeface="Calibri"/>
                <a:ea typeface="Calibri"/>
                <a:cs typeface="Calibri"/>
                <a:sym typeface="Calibri"/>
              </a:rPr>
              <a:t>Conclusiones</a:t>
            </a:r>
            <a:endParaRPr/>
          </a:p>
          <a:p>
            <a:pPr indent="0" lvl="0" marL="0" marR="0" rtl="0" algn="l">
              <a:spcBef>
                <a:spcPts val="0"/>
              </a:spcBef>
              <a:spcAft>
                <a:spcPts val="0"/>
              </a:spcAft>
              <a:buNone/>
            </a:pPr>
            <a:r>
              <a:rPr lang="es-BO"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p:txBody>
      </p:sp>
    </p:spTree>
  </p:cSld>
  <p:clrMapOvr>
    <a:masterClrMapping/>
  </p:clrMapOvr>
  <p:transition spd="slow">
    <p:push/>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5"/>
          <p:cNvSpPr txBox="1"/>
          <p:nvPr>
            <p:ph idx="1" type="body"/>
          </p:nvPr>
        </p:nvSpPr>
        <p:spPr>
          <a:xfrm>
            <a:off x="1487488" y="783771"/>
            <a:ext cx="9866312" cy="5407706"/>
          </a:xfrm>
          <a:prstGeom prst="rect">
            <a:avLst/>
          </a:prstGeom>
          <a:noFill/>
          <a:ln>
            <a:noFill/>
          </a:ln>
        </p:spPr>
        <p:txBody>
          <a:bodyPr anchorCtr="0" anchor="t" bIns="45700" lIns="91425" spcFirstLastPara="1" rIns="91425" wrap="square" tIns="45700">
            <a:normAutofit/>
          </a:bodyPr>
          <a:lstStyle/>
          <a:p>
            <a:pPr indent="0" lvl="0" marL="0" rtl="0" algn="l">
              <a:lnSpc>
                <a:spcPct val="107000"/>
              </a:lnSpc>
              <a:spcBef>
                <a:spcPts val="0"/>
              </a:spcBef>
              <a:spcAft>
                <a:spcPts val="0"/>
              </a:spcAft>
              <a:buClr>
                <a:schemeClr val="dk1"/>
              </a:buClr>
              <a:buSzPts val="3200"/>
              <a:buNone/>
            </a:pPr>
            <a:r>
              <a:rPr b="1" lang="es-BO">
                <a:latin typeface="Calibri"/>
                <a:ea typeface="Calibri"/>
                <a:cs typeface="Calibri"/>
                <a:sym typeface="Calibri"/>
              </a:rPr>
              <a:t>Objetivos</a:t>
            </a:r>
            <a:endParaRPr/>
          </a:p>
          <a:p>
            <a:pPr indent="0" lvl="0" marL="0" rtl="0" algn="l">
              <a:lnSpc>
                <a:spcPct val="107000"/>
              </a:lnSpc>
              <a:spcBef>
                <a:spcPts val="1160"/>
              </a:spcBef>
              <a:spcAft>
                <a:spcPts val="0"/>
              </a:spcAft>
              <a:buClr>
                <a:schemeClr val="dk1"/>
              </a:buClr>
              <a:buSzPts val="1800"/>
              <a:buNone/>
            </a:pPr>
            <a:r>
              <a:t/>
            </a:r>
            <a:endParaRPr sz="1800">
              <a:latin typeface="Calibri"/>
              <a:ea typeface="Calibri"/>
              <a:cs typeface="Calibri"/>
              <a:sym typeface="Calibri"/>
            </a:endParaRPr>
          </a:p>
          <a:p>
            <a:pPr indent="-342900" lvl="0" marL="342900" rtl="0" algn="l">
              <a:lnSpc>
                <a:spcPct val="107000"/>
              </a:lnSpc>
              <a:spcBef>
                <a:spcPts val="1160"/>
              </a:spcBef>
              <a:spcAft>
                <a:spcPts val="0"/>
              </a:spcAft>
              <a:buClr>
                <a:schemeClr val="dk1"/>
              </a:buClr>
              <a:buSzPts val="1800"/>
              <a:buChar char="•"/>
            </a:pPr>
            <a:r>
              <a:rPr lang="es-BO" sz="1800">
                <a:latin typeface="Calibri"/>
                <a:ea typeface="Calibri"/>
                <a:cs typeface="Calibri"/>
                <a:sym typeface="Calibri"/>
              </a:rPr>
              <a:t>Representar el sistema mediante la normativa ISA</a:t>
            </a:r>
            <a:endParaRPr/>
          </a:p>
          <a:p>
            <a:pPr indent="-342900" lvl="0" marL="342900" rtl="0" algn="l">
              <a:lnSpc>
                <a:spcPct val="107000"/>
              </a:lnSpc>
              <a:spcBef>
                <a:spcPts val="1160"/>
              </a:spcBef>
              <a:spcAft>
                <a:spcPts val="0"/>
              </a:spcAft>
              <a:buClr>
                <a:schemeClr val="dk1"/>
              </a:buClr>
              <a:buSzPts val="1800"/>
              <a:buChar char="•"/>
            </a:pPr>
            <a:r>
              <a:rPr lang="es-BO" sz="1800">
                <a:latin typeface="Calibri"/>
                <a:ea typeface="Calibri"/>
                <a:cs typeface="Calibri"/>
                <a:sym typeface="Calibri"/>
              </a:rPr>
              <a:t>Caracterizar los distintos sensores y actuadores presentes en la planta de nivel de líquido.</a:t>
            </a:r>
            <a:endParaRPr/>
          </a:p>
          <a:p>
            <a:pPr indent="-342900" lvl="0" marL="342900" rtl="0" algn="l">
              <a:lnSpc>
                <a:spcPct val="107000"/>
              </a:lnSpc>
              <a:spcBef>
                <a:spcPts val="1160"/>
              </a:spcBef>
              <a:spcAft>
                <a:spcPts val="0"/>
              </a:spcAft>
              <a:buClr>
                <a:schemeClr val="dk1"/>
              </a:buClr>
              <a:buSzPts val="1800"/>
              <a:buChar char="•"/>
            </a:pPr>
            <a:r>
              <a:rPr lang="es-BO" sz="1800">
                <a:latin typeface="Calibri"/>
                <a:ea typeface="Calibri"/>
                <a:cs typeface="Calibri"/>
                <a:sym typeface="Calibri"/>
              </a:rPr>
              <a:t>Conocer y entender el funcionamiento de los instrumentos y el panel dentro del control de proceso.</a:t>
            </a:r>
            <a:endParaRPr/>
          </a:p>
          <a:p>
            <a:pPr indent="-342900" lvl="0" marL="342900" rtl="0" algn="l">
              <a:lnSpc>
                <a:spcPct val="107000"/>
              </a:lnSpc>
              <a:spcBef>
                <a:spcPts val="1160"/>
              </a:spcBef>
              <a:spcAft>
                <a:spcPts val="0"/>
              </a:spcAft>
              <a:buClr>
                <a:schemeClr val="dk1"/>
              </a:buClr>
              <a:buSzPts val="1800"/>
              <a:buChar char="•"/>
            </a:pPr>
            <a:r>
              <a:rPr lang="es-BO" sz="1800">
                <a:latin typeface="Calibri"/>
                <a:ea typeface="Calibri"/>
                <a:cs typeface="Calibri"/>
                <a:sym typeface="Calibri"/>
              </a:rPr>
              <a:t>Realizar la adaptación de señales de los sensores que así lo requieran.</a:t>
            </a:r>
            <a:endParaRPr/>
          </a:p>
          <a:p>
            <a:pPr indent="-342900" lvl="0" marL="342900" rtl="0" algn="l">
              <a:lnSpc>
                <a:spcPct val="107000"/>
              </a:lnSpc>
              <a:spcBef>
                <a:spcPts val="1160"/>
              </a:spcBef>
              <a:spcAft>
                <a:spcPts val="0"/>
              </a:spcAft>
              <a:buClr>
                <a:schemeClr val="dk1"/>
              </a:buClr>
              <a:buSzPts val="1800"/>
              <a:buChar char="•"/>
            </a:pPr>
            <a:r>
              <a:rPr lang="es-BO" sz="1800">
                <a:latin typeface="Calibri"/>
                <a:ea typeface="Calibri"/>
                <a:cs typeface="Calibri"/>
                <a:sym typeface="Calibri"/>
              </a:rPr>
              <a:t>Realizar la implementación de un controlador PI para el sistema de nivel de líquido.</a:t>
            </a:r>
            <a:endParaRPr/>
          </a:p>
          <a:p>
            <a:pPr indent="-342900" lvl="0" marL="342900" rtl="0" algn="l">
              <a:lnSpc>
                <a:spcPct val="107000"/>
              </a:lnSpc>
              <a:spcBef>
                <a:spcPts val="1160"/>
              </a:spcBef>
              <a:spcAft>
                <a:spcPts val="0"/>
              </a:spcAft>
              <a:buClr>
                <a:schemeClr val="dk1"/>
              </a:buClr>
              <a:buSzPts val="1800"/>
              <a:buChar char="•"/>
            </a:pPr>
            <a:r>
              <a:rPr lang="es-BO" sz="1800">
                <a:latin typeface="Calibri"/>
                <a:ea typeface="Calibri"/>
                <a:cs typeface="Calibri"/>
                <a:sym typeface="Calibri"/>
              </a:rPr>
              <a:t>Comprobar la robustez del sistema y el controlador para distintas perturbaciones y ruidos.</a:t>
            </a:r>
            <a:endParaRPr/>
          </a:p>
          <a:p>
            <a:pPr indent="-139700" lvl="0" marL="342900" rtl="0" algn="l">
              <a:spcBef>
                <a:spcPts val="1440"/>
              </a:spcBef>
              <a:spcAft>
                <a:spcPts val="0"/>
              </a:spcAft>
              <a:buClr>
                <a:schemeClr val="dk1"/>
              </a:buClr>
              <a:buSzPts val="32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6"/>
          <p:cNvSpPr txBox="1"/>
          <p:nvPr>
            <p:ph idx="1" type="body"/>
          </p:nvPr>
        </p:nvSpPr>
        <p:spPr>
          <a:xfrm>
            <a:off x="3213244" y="2636912"/>
            <a:ext cx="5765512" cy="1296144"/>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chemeClr val="dk1"/>
              </a:buClr>
              <a:buSzPts val="3600"/>
              <a:buNone/>
            </a:pPr>
            <a:r>
              <a:rPr b="1" lang="es-BO" sz="3600"/>
              <a:t>DESCRIPCIÓN DEL SISTEMA DE NIVEL DE LÍQUIDO</a:t>
            </a:r>
            <a:endParaRPr sz="3600"/>
          </a:p>
        </p:txBody>
      </p:sp>
    </p:spTree>
  </p:cSld>
  <p:clrMapOvr>
    <a:masterClrMapping/>
  </p:clrMapOvr>
  <p:transition spd="slow">
    <p:push/>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7"/>
          <p:cNvSpPr txBox="1"/>
          <p:nvPr>
            <p:ph idx="1" type="body"/>
          </p:nvPr>
        </p:nvSpPr>
        <p:spPr>
          <a:xfrm>
            <a:off x="1127448" y="476672"/>
            <a:ext cx="4114118" cy="64807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b="1" lang="es-BO" sz="2400"/>
              <a:t>Sistema de nivel de líquido</a:t>
            </a:r>
            <a:endParaRPr b="1" sz="2400"/>
          </a:p>
        </p:txBody>
      </p:sp>
      <p:sp>
        <p:nvSpPr>
          <p:cNvPr id="140" name="Google Shape;140;p7"/>
          <p:cNvSpPr txBox="1"/>
          <p:nvPr/>
        </p:nvSpPr>
        <p:spPr>
          <a:xfrm>
            <a:off x="1055440" y="1340768"/>
            <a:ext cx="4968552" cy="2957861"/>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lang="es-BO" sz="1800">
                <a:solidFill>
                  <a:srgbClr val="333333"/>
                </a:solidFill>
                <a:latin typeface="Calibri"/>
                <a:ea typeface="Calibri"/>
                <a:cs typeface="Calibri"/>
                <a:sym typeface="Calibri"/>
              </a:rPr>
              <a:t>Este sistema tiene la función de</a:t>
            </a:r>
            <a:r>
              <a:rPr b="0" i="0" lang="es-BO" sz="1800">
                <a:solidFill>
                  <a:srgbClr val="333333"/>
                </a:solidFill>
                <a:latin typeface="Calibri"/>
                <a:ea typeface="Calibri"/>
                <a:cs typeface="Calibri"/>
                <a:sym typeface="Calibri"/>
              </a:rPr>
              <a:t> medir el nivel de líquido en un área contenida. Se utiliza para evitar que los niveles de líquido se pongan excesivamente altos o bajos y para mantener un volumen deseado de liquido contenido en el tanque. </a:t>
            </a:r>
            <a:endParaRPr/>
          </a:p>
          <a:p>
            <a:pPr indent="0" lvl="0" marL="0" marR="0" rtl="0" algn="just">
              <a:lnSpc>
                <a:spcPct val="150000"/>
              </a:lnSpc>
              <a:spcBef>
                <a:spcPts val="0"/>
              </a:spcBef>
              <a:spcAft>
                <a:spcPts val="0"/>
              </a:spcAft>
              <a:buNone/>
            </a:pPr>
            <a:r>
              <a:rPr lang="es-BO" sz="1800">
                <a:solidFill>
                  <a:srgbClr val="333333"/>
                </a:solidFill>
                <a:latin typeface="Calibri"/>
                <a:ea typeface="Calibri"/>
                <a:cs typeface="Calibri"/>
                <a:sym typeface="Calibri"/>
              </a:rPr>
              <a:t>En este caso también puede obtenerse información de temperatura y  de presión.</a:t>
            </a:r>
            <a:endParaRPr sz="1800">
              <a:solidFill>
                <a:schemeClr val="dk1"/>
              </a:solidFill>
              <a:latin typeface="Calibri"/>
              <a:ea typeface="Calibri"/>
              <a:cs typeface="Calibri"/>
              <a:sym typeface="Calibri"/>
            </a:endParaRPr>
          </a:p>
        </p:txBody>
      </p:sp>
      <p:grpSp>
        <p:nvGrpSpPr>
          <p:cNvPr id="141" name="Google Shape;141;p7"/>
          <p:cNvGrpSpPr/>
          <p:nvPr/>
        </p:nvGrpSpPr>
        <p:grpSpPr>
          <a:xfrm>
            <a:off x="6787469" y="539946"/>
            <a:ext cx="4968552" cy="5990279"/>
            <a:chOff x="6499932" y="85509"/>
            <a:chExt cx="4968552" cy="5990279"/>
          </a:xfrm>
        </p:grpSpPr>
        <p:pic>
          <p:nvPicPr>
            <p:cNvPr id="142" name="Google Shape;142;p7"/>
            <p:cNvPicPr preferRelativeResize="0"/>
            <p:nvPr/>
          </p:nvPicPr>
          <p:blipFill rotWithShape="1">
            <a:blip r:embed="rId3">
              <a:alphaModFix/>
            </a:blip>
            <a:srcRect b="0" l="7999" r="12200" t="0"/>
            <a:stretch/>
          </p:blipFill>
          <p:spPr>
            <a:xfrm rot="5400000">
              <a:off x="6214861" y="902752"/>
              <a:ext cx="5538694" cy="3904209"/>
            </a:xfrm>
            <a:prstGeom prst="rect">
              <a:avLst/>
            </a:prstGeom>
            <a:noFill/>
            <a:ln>
              <a:noFill/>
            </a:ln>
          </p:spPr>
        </p:pic>
        <p:sp>
          <p:nvSpPr>
            <p:cNvPr id="143" name="Google Shape;143;p7"/>
            <p:cNvSpPr txBox="1"/>
            <p:nvPr/>
          </p:nvSpPr>
          <p:spPr>
            <a:xfrm>
              <a:off x="6499932" y="5706456"/>
              <a:ext cx="496855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BO" sz="1800">
                  <a:solidFill>
                    <a:schemeClr val="dk1"/>
                  </a:solidFill>
                  <a:latin typeface="Calibri"/>
                  <a:ea typeface="Calibri"/>
                  <a:cs typeface="Calibri"/>
                  <a:sym typeface="Calibri"/>
                </a:rPr>
                <a:t>Vista frontal</a:t>
              </a:r>
              <a:endParaRPr sz="1800">
                <a:solidFill>
                  <a:schemeClr val="dk1"/>
                </a:solidFill>
                <a:latin typeface="Calibri"/>
                <a:ea typeface="Calibri"/>
                <a:cs typeface="Calibri"/>
                <a:sym typeface="Calibri"/>
              </a:endParaRPr>
            </a:p>
          </p:txBody>
        </p:sp>
      </p:grpSp>
      <p:grpSp>
        <p:nvGrpSpPr>
          <p:cNvPr id="144" name="Google Shape;144;p7"/>
          <p:cNvGrpSpPr/>
          <p:nvPr/>
        </p:nvGrpSpPr>
        <p:grpSpPr>
          <a:xfrm>
            <a:off x="7520886" y="361651"/>
            <a:ext cx="4429467" cy="6017575"/>
            <a:chOff x="2165766" y="-302507"/>
            <a:chExt cx="4968552" cy="6749940"/>
          </a:xfrm>
        </p:grpSpPr>
        <p:pic>
          <p:nvPicPr>
            <p:cNvPr id="145" name="Google Shape;145;p7"/>
            <p:cNvPicPr preferRelativeResize="0"/>
            <p:nvPr/>
          </p:nvPicPr>
          <p:blipFill rotWithShape="1">
            <a:blip r:embed="rId4">
              <a:alphaModFix/>
            </a:blip>
            <a:srcRect b="0" l="1701" r="13249" t="0"/>
            <a:stretch/>
          </p:blipFill>
          <p:spPr>
            <a:xfrm rot="5400000">
              <a:off x="1492679" y="766624"/>
              <a:ext cx="6314726" cy="4176464"/>
            </a:xfrm>
            <a:prstGeom prst="rect">
              <a:avLst/>
            </a:prstGeom>
            <a:noFill/>
            <a:ln>
              <a:noFill/>
            </a:ln>
          </p:spPr>
        </p:pic>
        <p:sp>
          <p:nvSpPr>
            <p:cNvPr id="146" name="Google Shape;146;p7"/>
            <p:cNvSpPr txBox="1"/>
            <p:nvPr/>
          </p:nvSpPr>
          <p:spPr>
            <a:xfrm>
              <a:off x="2165766" y="6078101"/>
              <a:ext cx="496855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BO" sz="1800">
                  <a:solidFill>
                    <a:schemeClr val="dk1"/>
                  </a:solidFill>
                  <a:latin typeface="Calibri"/>
                  <a:ea typeface="Calibri"/>
                  <a:cs typeface="Calibri"/>
                  <a:sym typeface="Calibri"/>
                </a:rPr>
                <a:t>Vista posterior</a:t>
              </a:r>
              <a:endParaRPr sz="1800">
                <a:solidFill>
                  <a:schemeClr val="dk1"/>
                </a:solidFill>
                <a:latin typeface="Calibri"/>
                <a:ea typeface="Calibri"/>
                <a:cs typeface="Calibri"/>
                <a:sym typeface="Calibri"/>
              </a:endParaRPr>
            </a:p>
          </p:txBody>
        </p:sp>
      </p:grpSp>
      <p:grpSp>
        <p:nvGrpSpPr>
          <p:cNvPr id="147" name="Google Shape;147;p7"/>
          <p:cNvGrpSpPr/>
          <p:nvPr/>
        </p:nvGrpSpPr>
        <p:grpSpPr>
          <a:xfrm>
            <a:off x="7200691" y="284643"/>
            <a:ext cx="4429467" cy="6352946"/>
            <a:chOff x="3510084" y="1032283"/>
            <a:chExt cx="4429467" cy="6352946"/>
          </a:xfrm>
        </p:grpSpPr>
        <p:pic>
          <p:nvPicPr>
            <p:cNvPr id="148" name="Google Shape;148;p7"/>
            <p:cNvPicPr preferRelativeResize="0"/>
            <p:nvPr/>
          </p:nvPicPr>
          <p:blipFill rotWithShape="1">
            <a:blip r:embed="rId5">
              <a:alphaModFix/>
            </a:blip>
            <a:srcRect b="3482" l="2749" r="0" t="0"/>
            <a:stretch/>
          </p:blipFill>
          <p:spPr>
            <a:xfrm rot="5400000">
              <a:off x="2721001" y="2276874"/>
              <a:ext cx="6017575" cy="3528393"/>
            </a:xfrm>
            <a:prstGeom prst="rect">
              <a:avLst/>
            </a:prstGeom>
            <a:noFill/>
            <a:ln>
              <a:noFill/>
            </a:ln>
          </p:spPr>
        </p:pic>
        <p:sp>
          <p:nvSpPr>
            <p:cNvPr id="149" name="Google Shape;149;p7"/>
            <p:cNvSpPr txBox="1"/>
            <p:nvPr/>
          </p:nvSpPr>
          <p:spPr>
            <a:xfrm>
              <a:off x="3510084" y="7015897"/>
              <a:ext cx="4429467"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BO" sz="1800">
                  <a:solidFill>
                    <a:schemeClr val="dk1"/>
                  </a:solidFill>
                  <a:latin typeface="Calibri"/>
                  <a:ea typeface="Calibri"/>
                  <a:cs typeface="Calibri"/>
                  <a:sym typeface="Calibri"/>
                </a:rPr>
                <a:t>Vista lateral izquierda</a:t>
              </a:r>
              <a:endParaRPr sz="1800">
                <a:solidFill>
                  <a:schemeClr val="dk1"/>
                </a:solidFill>
                <a:latin typeface="Calibri"/>
                <a:ea typeface="Calibri"/>
                <a:cs typeface="Calibri"/>
                <a:sym typeface="Calibri"/>
              </a:endParaRPr>
            </a:p>
          </p:txBody>
        </p:sp>
      </p:grpSp>
      <p:grpSp>
        <p:nvGrpSpPr>
          <p:cNvPr id="150" name="Google Shape;150;p7"/>
          <p:cNvGrpSpPr/>
          <p:nvPr/>
        </p:nvGrpSpPr>
        <p:grpSpPr>
          <a:xfrm>
            <a:off x="7077912" y="90255"/>
            <a:ext cx="4429467" cy="6547334"/>
            <a:chOff x="2520969" y="-819472"/>
            <a:chExt cx="4429467" cy="6547334"/>
          </a:xfrm>
        </p:grpSpPr>
        <p:pic>
          <p:nvPicPr>
            <p:cNvPr id="151" name="Google Shape;151;p7"/>
            <p:cNvPicPr preferRelativeResize="0"/>
            <p:nvPr/>
          </p:nvPicPr>
          <p:blipFill rotWithShape="1">
            <a:blip r:embed="rId6">
              <a:alphaModFix/>
            </a:blip>
            <a:srcRect b="0" l="0" r="4779" t="0"/>
            <a:stretch/>
          </p:blipFill>
          <p:spPr>
            <a:xfrm rot="5400000">
              <a:off x="1648377" y="438335"/>
              <a:ext cx="6146644" cy="3631030"/>
            </a:xfrm>
            <a:prstGeom prst="rect">
              <a:avLst/>
            </a:prstGeom>
            <a:noFill/>
            <a:ln>
              <a:noFill/>
            </a:ln>
          </p:spPr>
        </p:pic>
        <p:sp>
          <p:nvSpPr>
            <p:cNvPr id="152" name="Google Shape;152;p7"/>
            <p:cNvSpPr txBox="1"/>
            <p:nvPr/>
          </p:nvSpPr>
          <p:spPr>
            <a:xfrm>
              <a:off x="2520969" y="5358530"/>
              <a:ext cx="4429467"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BO" sz="1800">
                  <a:solidFill>
                    <a:schemeClr val="dk1"/>
                  </a:solidFill>
                  <a:latin typeface="Calibri"/>
                  <a:ea typeface="Calibri"/>
                  <a:cs typeface="Calibri"/>
                  <a:sym typeface="Calibri"/>
                </a:rPr>
                <a:t>Vista lateral derecha</a:t>
              </a:r>
              <a:endParaRPr sz="1800">
                <a:solidFill>
                  <a:schemeClr val="dk1"/>
                </a:solidFill>
                <a:latin typeface="Calibri"/>
                <a:ea typeface="Calibri"/>
                <a:cs typeface="Calibri"/>
                <a:sym typeface="Calibri"/>
              </a:endParaRPr>
            </a:p>
          </p:txBody>
        </p:sp>
      </p:gr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41"/>
                                        </p:tgtEl>
                                      </p:cBhvr>
                                    </p:animEffect>
                                    <p:set>
                                      <p:cBhvr>
                                        <p:cTn dur="1" fill="hold">
                                          <p:stCondLst>
                                            <p:cond delay="500"/>
                                          </p:stCondLst>
                                        </p:cTn>
                                        <p:tgtEl>
                                          <p:spTgt spid="14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
                                        </p:tgtEl>
                                        <p:attrNameLst>
                                          <p:attrName>style.visibility</p:attrName>
                                        </p:attrNameLst>
                                      </p:cBhvr>
                                      <p:to>
                                        <p:strVal val="visible"/>
                                      </p:to>
                                    </p:set>
                                    <p:animEffect filter="fade" transition="in">
                                      <p:cBhvr>
                                        <p:cTn dur="500"/>
                                        <p:tgtEl>
                                          <p:spTgt spid="1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44"/>
                                        </p:tgtEl>
                                      </p:cBhvr>
                                    </p:animEffect>
                                    <p:set>
                                      <p:cBhvr>
                                        <p:cTn dur="1" fill="hold">
                                          <p:stCondLst>
                                            <p:cond delay="500"/>
                                          </p:stCondLst>
                                        </p:cTn>
                                        <p:tgtEl>
                                          <p:spTgt spid="14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7"/>
                                        </p:tgtEl>
                                        <p:attrNameLst>
                                          <p:attrName>style.visibility</p:attrName>
                                        </p:attrNameLst>
                                      </p:cBhvr>
                                      <p:to>
                                        <p:strVal val="visible"/>
                                      </p:to>
                                    </p:set>
                                    <p:animEffect filter="fade" transition="in">
                                      <p:cBhvr>
                                        <p:cTn dur="500"/>
                                        <p:tgtEl>
                                          <p:spTgt spid="1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47"/>
                                        </p:tgtEl>
                                      </p:cBhvr>
                                    </p:animEffect>
                                    <p:set>
                                      <p:cBhvr>
                                        <p:cTn dur="1" fill="hold">
                                          <p:stCondLst>
                                            <p:cond delay="500"/>
                                          </p:stCondLst>
                                        </p:cTn>
                                        <p:tgtEl>
                                          <p:spTgt spid="14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gtEl>
                                        <p:attrNameLst>
                                          <p:attrName>style.visibility</p:attrName>
                                        </p:attrNameLst>
                                      </p:cBhvr>
                                      <p:to>
                                        <p:strVal val="visible"/>
                                      </p:to>
                                    </p:set>
                                    <p:animEffect filter="fade" transition="in">
                                      <p:cBhvr>
                                        <p:cTn dur="500"/>
                                        <p:tgtEl>
                                          <p:spTgt spid="1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8"/>
          <p:cNvSpPr txBox="1"/>
          <p:nvPr/>
        </p:nvSpPr>
        <p:spPr>
          <a:xfrm>
            <a:off x="911424" y="273881"/>
            <a:ext cx="799288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BO" sz="1800">
                <a:solidFill>
                  <a:schemeClr val="dk1"/>
                </a:solidFill>
                <a:latin typeface="Calibri"/>
                <a:ea typeface="Calibri"/>
                <a:cs typeface="Calibri"/>
                <a:sym typeface="Calibri"/>
              </a:rPr>
              <a:t>EL SISTEMA DE NIVEL DE LIQUIDO - Elementos</a:t>
            </a:r>
            <a:endParaRPr b="1" sz="1200">
              <a:solidFill>
                <a:schemeClr val="dk1"/>
              </a:solidFill>
              <a:latin typeface="Calibri"/>
              <a:ea typeface="Calibri"/>
              <a:cs typeface="Calibri"/>
              <a:sym typeface="Calibri"/>
            </a:endParaRPr>
          </a:p>
        </p:txBody>
      </p:sp>
      <p:pic>
        <p:nvPicPr>
          <p:cNvPr id="158" name="Google Shape;158;p8"/>
          <p:cNvPicPr preferRelativeResize="0"/>
          <p:nvPr/>
        </p:nvPicPr>
        <p:blipFill rotWithShape="1">
          <a:blip r:embed="rId3">
            <a:alphaModFix/>
          </a:blip>
          <a:srcRect b="0" l="11239" r="25850" t="0"/>
          <a:stretch/>
        </p:blipFill>
        <p:spPr>
          <a:xfrm rot="5400000">
            <a:off x="6203830" y="1448780"/>
            <a:ext cx="5400964" cy="3960440"/>
          </a:xfrm>
          <a:prstGeom prst="rect">
            <a:avLst/>
          </a:prstGeom>
          <a:noFill/>
          <a:ln>
            <a:noFill/>
          </a:ln>
        </p:spPr>
      </p:pic>
      <p:sp>
        <p:nvSpPr>
          <p:cNvPr id="159" name="Google Shape;159;p8"/>
          <p:cNvSpPr txBox="1"/>
          <p:nvPr/>
        </p:nvSpPr>
        <p:spPr>
          <a:xfrm>
            <a:off x="855156" y="606366"/>
            <a:ext cx="565619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s-BO" sz="2800">
                <a:solidFill>
                  <a:schemeClr val="dk1"/>
                </a:solidFill>
                <a:latin typeface="Calibri"/>
                <a:ea typeface="Calibri"/>
                <a:cs typeface="Calibri"/>
                <a:sym typeface="Calibri"/>
              </a:rPr>
              <a:t> </a:t>
            </a:r>
            <a:r>
              <a:rPr b="1" i="1" lang="es-BO" sz="1800">
                <a:solidFill>
                  <a:schemeClr val="dk1"/>
                </a:solidFill>
                <a:latin typeface="Calibri"/>
                <a:ea typeface="Calibri"/>
                <a:cs typeface="Calibri"/>
                <a:sym typeface="Calibri"/>
              </a:rPr>
              <a:t>Estructura metálica de color azul (rodante)</a:t>
            </a:r>
            <a:endParaRPr sz="1800">
              <a:solidFill>
                <a:schemeClr val="dk1"/>
              </a:solidFill>
              <a:latin typeface="Calibri"/>
              <a:ea typeface="Calibri"/>
              <a:cs typeface="Calibri"/>
              <a:sym typeface="Calibri"/>
            </a:endParaRPr>
          </a:p>
        </p:txBody>
      </p:sp>
      <p:sp>
        <p:nvSpPr>
          <p:cNvPr id="160" name="Google Shape;160;p8"/>
          <p:cNvSpPr/>
          <p:nvPr/>
        </p:nvSpPr>
        <p:spPr>
          <a:xfrm>
            <a:off x="7572163" y="3155046"/>
            <a:ext cx="3168352" cy="216024"/>
          </a:xfrm>
          <a:prstGeom prst="rect">
            <a:avLst/>
          </a:prstGeom>
          <a:noFill/>
          <a:ln cap="flat" cmpd="sng" w="25400">
            <a:solidFill>
              <a:srgbClr val="00B0F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1" name="Google Shape;161;p8"/>
          <p:cNvSpPr/>
          <p:nvPr/>
        </p:nvSpPr>
        <p:spPr>
          <a:xfrm rot="-5588712">
            <a:off x="6481764" y="4250259"/>
            <a:ext cx="2415714" cy="216024"/>
          </a:xfrm>
          <a:prstGeom prst="rect">
            <a:avLst/>
          </a:prstGeom>
          <a:noFill/>
          <a:ln cap="flat" cmpd="sng" w="25400">
            <a:solidFill>
              <a:srgbClr val="00B0F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2" name="Google Shape;162;p8"/>
          <p:cNvSpPr/>
          <p:nvPr/>
        </p:nvSpPr>
        <p:spPr>
          <a:xfrm rot="-5087658">
            <a:off x="9174059" y="4359308"/>
            <a:ext cx="2633653" cy="216024"/>
          </a:xfrm>
          <a:prstGeom prst="rect">
            <a:avLst/>
          </a:prstGeom>
          <a:noFill/>
          <a:ln cap="flat" cmpd="sng" w="25400">
            <a:solidFill>
              <a:srgbClr val="00B0F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3" name="Google Shape;163;p8"/>
          <p:cNvSpPr/>
          <p:nvPr/>
        </p:nvSpPr>
        <p:spPr>
          <a:xfrm rot="264111">
            <a:off x="8833438" y="5064894"/>
            <a:ext cx="1010836" cy="216024"/>
          </a:xfrm>
          <a:prstGeom prst="rect">
            <a:avLst/>
          </a:prstGeom>
          <a:noFill/>
          <a:ln cap="flat" cmpd="sng" w="25400">
            <a:solidFill>
              <a:srgbClr val="00B0F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4" name="Google Shape;164;p8"/>
          <p:cNvSpPr/>
          <p:nvPr/>
        </p:nvSpPr>
        <p:spPr>
          <a:xfrm>
            <a:off x="7566606" y="5570235"/>
            <a:ext cx="509614" cy="437094"/>
          </a:xfrm>
          <a:prstGeom prst="ellipse">
            <a:avLst/>
          </a:prstGeom>
          <a:noFill/>
          <a:ln cap="flat" cmpd="sng" w="25400">
            <a:solidFill>
              <a:srgbClr val="FFFF00"/>
            </a:solidFill>
            <a:prstDash val="lg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5" name="Google Shape;165;p8"/>
          <p:cNvSpPr/>
          <p:nvPr/>
        </p:nvSpPr>
        <p:spPr>
          <a:xfrm>
            <a:off x="9957587" y="5677459"/>
            <a:ext cx="509614" cy="437094"/>
          </a:xfrm>
          <a:prstGeom prst="ellipse">
            <a:avLst/>
          </a:prstGeom>
          <a:noFill/>
          <a:ln cap="flat" cmpd="sng" w="25400">
            <a:solidFill>
              <a:srgbClr val="FFFF00"/>
            </a:solidFill>
            <a:prstDash val="lg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166" name="Google Shape;166;p8"/>
          <p:cNvCxnSpPr>
            <a:stCxn id="164" idx="2"/>
          </p:cNvCxnSpPr>
          <p:nvPr/>
        </p:nvCxnSpPr>
        <p:spPr>
          <a:xfrm rot="10800000">
            <a:off x="5475006" y="5493582"/>
            <a:ext cx="2091600" cy="295200"/>
          </a:xfrm>
          <a:prstGeom prst="straightConnector1">
            <a:avLst/>
          </a:prstGeom>
          <a:noFill/>
          <a:ln cap="flat" cmpd="sng" w="28575">
            <a:solidFill>
              <a:srgbClr val="FFFF00"/>
            </a:solidFill>
            <a:prstDash val="dash"/>
            <a:round/>
            <a:headEnd len="sm" w="sm" type="none"/>
            <a:tailEnd len="med" w="med" type="triangle"/>
          </a:ln>
        </p:spPr>
      </p:cxnSp>
      <p:cxnSp>
        <p:nvCxnSpPr>
          <p:cNvPr id="167" name="Google Shape;167;p8"/>
          <p:cNvCxnSpPr/>
          <p:nvPr/>
        </p:nvCxnSpPr>
        <p:spPr>
          <a:xfrm rot="10800000">
            <a:off x="5584335" y="5511727"/>
            <a:ext cx="4424881" cy="409151"/>
          </a:xfrm>
          <a:prstGeom prst="straightConnector1">
            <a:avLst/>
          </a:prstGeom>
          <a:noFill/>
          <a:ln cap="flat" cmpd="sng" w="28575">
            <a:solidFill>
              <a:srgbClr val="FFFF00"/>
            </a:solidFill>
            <a:prstDash val="dash"/>
            <a:round/>
            <a:headEnd len="sm" w="sm" type="none"/>
            <a:tailEnd len="med" w="med" type="triangle"/>
          </a:ln>
        </p:spPr>
      </p:cxnSp>
      <p:sp>
        <p:nvSpPr>
          <p:cNvPr id="168" name="Google Shape;168;p8"/>
          <p:cNvSpPr txBox="1"/>
          <p:nvPr/>
        </p:nvSpPr>
        <p:spPr>
          <a:xfrm>
            <a:off x="4911438" y="5032803"/>
            <a:ext cx="970079" cy="400110"/>
          </a:xfrm>
          <a:prstGeom prst="rect">
            <a:avLst/>
          </a:prstGeom>
          <a:solidFill>
            <a:srgbClr val="FFFF0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spcBef>
                <a:spcPts val="0"/>
              </a:spcBef>
              <a:spcAft>
                <a:spcPts val="0"/>
              </a:spcAft>
              <a:buNone/>
            </a:pPr>
            <a:r>
              <a:rPr lang="es-BO" sz="2000">
                <a:solidFill>
                  <a:schemeClr val="dk1"/>
                </a:solidFill>
                <a:latin typeface="Calibri"/>
                <a:ea typeface="Calibri"/>
                <a:cs typeface="Calibri"/>
                <a:sym typeface="Calibri"/>
              </a:rPr>
              <a:t>Ruedas</a:t>
            </a:r>
            <a:endParaRPr b="0" i="0" sz="2000">
              <a:solidFill>
                <a:schemeClr val="dk1"/>
              </a:solidFill>
              <a:latin typeface="Calibri"/>
              <a:ea typeface="Calibri"/>
              <a:cs typeface="Calibri"/>
              <a:sym typeface="Calibri"/>
            </a:endParaRPr>
          </a:p>
        </p:txBody>
      </p:sp>
      <p:cxnSp>
        <p:nvCxnSpPr>
          <p:cNvPr id="169" name="Google Shape;169;p8"/>
          <p:cNvCxnSpPr/>
          <p:nvPr/>
        </p:nvCxnSpPr>
        <p:spPr>
          <a:xfrm rot="10800000">
            <a:off x="4295800" y="3371070"/>
            <a:ext cx="3456384" cy="0"/>
          </a:xfrm>
          <a:prstGeom prst="straightConnector1">
            <a:avLst/>
          </a:prstGeom>
          <a:noFill/>
          <a:ln cap="flat" cmpd="sng" w="28575">
            <a:solidFill>
              <a:srgbClr val="00B0F0"/>
            </a:solidFill>
            <a:prstDash val="dash"/>
            <a:round/>
            <a:headEnd len="sm" w="sm" type="none"/>
            <a:tailEnd len="med" w="med" type="triangle"/>
          </a:ln>
        </p:spPr>
      </p:cxnSp>
      <p:sp>
        <p:nvSpPr>
          <p:cNvPr id="170" name="Google Shape;170;p8"/>
          <p:cNvSpPr txBox="1"/>
          <p:nvPr/>
        </p:nvSpPr>
        <p:spPr>
          <a:xfrm>
            <a:off x="1991544" y="3155046"/>
            <a:ext cx="2340260" cy="400110"/>
          </a:xfrm>
          <a:prstGeom prst="rect">
            <a:avLst/>
          </a:prstGeom>
          <a:solidFill>
            <a:srgbClr val="00B0F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s-BO" sz="2000">
                <a:solidFill>
                  <a:schemeClr val="dk1"/>
                </a:solidFill>
                <a:latin typeface="Calibri"/>
                <a:ea typeface="Calibri"/>
                <a:cs typeface="Calibri"/>
                <a:sym typeface="Calibri"/>
              </a:rPr>
              <a:t>Estructura Metálica</a:t>
            </a:r>
            <a:endParaRPr/>
          </a:p>
        </p:txBody>
      </p:sp>
      <p:sp>
        <p:nvSpPr>
          <p:cNvPr id="171" name="Google Shape;171;p8"/>
          <p:cNvSpPr/>
          <p:nvPr/>
        </p:nvSpPr>
        <p:spPr>
          <a:xfrm rot="264111">
            <a:off x="7723036" y="5675434"/>
            <a:ext cx="2888639" cy="216024"/>
          </a:xfrm>
          <a:prstGeom prst="rect">
            <a:avLst/>
          </a:prstGeom>
          <a:noFill/>
          <a:ln cap="flat" cmpd="sng" w="25400">
            <a:solidFill>
              <a:srgbClr val="00B0F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2" name="Google Shape;172;p8"/>
          <p:cNvSpPr txBox="1"/>
          <p:nvPr/>
        </p:nvSpPr>
        <p:spPr>
          <a:xfrm>
            <a:off x="7786008" y="6319197"/>
            <a:ext cx="282969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chemeClr val="dk1"/>
                </a:solidFill>
                <a:latin typeface="Calibri"/>
                <a:ea typeface="Calibri"/>
                <a:cs typeface="Calibri"/>
                <a:sym typeface="Calibri"/>
              </a:rPr>
              <a:t>Vista frontal del sistema</a:t>
            </a:r>
            <a:endParaRPr/>
          </a:p>
        </p:txBody>
      </p:sp>
    </p:spTree>
  </p:cSld>
  <p:clrMapOvr>
    <a:masterClrMapping/>
  </p:clrMapOvr>
  <p:transition spd="slow">
    <p:push/>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9"/>
          <p:cNvSpPr txBox="1"/>
          <p:nvPr/>
        </p:nvSpPr>
        <p:spPr>
          <a:xfrm>
            <a:off x="983432" y="692696"/>
            <a:ext cx="1065718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s-BO" sz="1800">
                <a:solidFill>
                  <a:schemeClr val="dk1"/>
                </a:solidFill>
                <a:latin typeface="Calibri"/>
                <a:ea typeface="Calibri"/>
                <a:cs typeface="Calibri"/>
                <a:sym typeface="Calibri"/>
              </a:rPr>
              <a:t>2 tanques de almacenamiento de agua uno fijo de metal y otro de plástico.</a:t>
            </a:r>
            <a:endParaRPr/>
          </a:p>
        </p:txBody>
      </p:sp>
      <p:sp>
        <p:nvSpPr>
          <p:cNvPr id="178" name="Google Shape;178;p9"/>
          <p:cNvSpPr txBox="1"/>
          <p:nvPr/>
        </p:nvSpPr>
        <p:spPr>
          <a:xfrm>
            <a:off x="983432" y="277041"/>
            <a:ext cx="842493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BO" sz="1600">
                <a:solidFill>
                  <a:schemeClr val="dk1"/>
                </a:solidFill>
                <a:latin typeface="Calibri"/>
                <a:ea typeface="Calibri"/>
                <a:cs typeface="Calibri"/>
                <a:sym typeface="Calibri"/>
              </a:rPr>
              <a:t>EL SISTEMA DE NIVEL DE LIQUIDO - ELEMENTOS</a:t>
            </a:r>
            <a:endParaRPr b="1" sz="1100">
              <a:solidFill>
                <a:schemeClr val="dk1"/>
              </a:solidFill>
              <a:latin typeface="Calibri"/>
              <a:ea typeface="Calibri"/>
              <a:cs typeface="Calibri"/>
              <a:sym typeface="Calibri"/>
            </a:endParaRPr>
          </a:p>
        </p:txBody>
      </p:sp>
      <p:pic>
        <p:nvPicPr>
          <p:cNvPr id="179" name="Google Shape;179;p9"/>
          <p:cNvPicPr preferRelativeResize="0"/>
          <p:nvPr/>
        </p:nvPicPr>
        <p:blipFill rotWithShape="1">
          <a:blip r:embed="rId3">
            <a:alphaModFix/>
          </a:blip>
          <a:srcRect b="0" l="15350" r="21650" t="0"/>
          <a:stretch/>
        </p:blipFill>
        <p:spPr>
          <a:xfrm rot="5400000">
            <a:off x="3421518" y="2143042"/>
            <a:ext cx="4916916" cy="3600400"/>
          </a:xfrm>
          <a:prstGeom prst="rect">
            <a:avLst/>
          </a:prstGeom>
          <a:noFill/>
          <a:ln>
            <a:noFill/>
          </a:ln>
        </p:spPr>
      </p:pic>
      <p:sp>
        <p:nvSpPr>
          <p:cNvPr id="180" name="Google Shape;180;p9"/>
          <p:cNvSpPr/>
          <p:nvPr/>
        </p:nvSpPr>
        <p:spPr>
          <a:xfrm>
            <a:off x="4583832" y="1988840"/>
            <a:ext cx="1512168" cy="1800200"/>
          </a:xfrm>
          <a:prstGeom prst="rect">
            <a:avLst/>
          </a:prstGeom>
          <a:noFill/>
          <a:ln cap="flat" cmpd="sng" w="25400">
            <a:solidFill>
              <a:srgbClr val="FFFF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1" name="Google Shape;181;p9"/>
          <p:cNvSpPr/>
          <p:nvPr/>
        </p:nvSpPr>
        <p:spPr>
          <a:xfrm>
            <a:off x="4583832" y="3943242"/>
            <a:ext cx="1512168" cy="1944216"/>
          </a:xfrm>
          <a:prstGeom prst="rect">
            <a:avLst/>
          </a:prstGeom>
          <a:noFill/>
          <a:ln cap="flat" cmpd="sng" w="25400">
            <a:solidFill>
              <a:srgbClr val="00B0F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182" name="Google Shape;182;p9"/>
          <p:cNvCxnSpPr>
            <a:stCxn id="180" idx="3"/>
          </p:cNvCxnSpPr>
          <p:nvPr/>
        </p:nvCxnSpPr>
        <p:spPr>
          <a:xfrm flipH="1" rot="10800000">
            <a:off x="6096000" y="2365740"/>
            <a:ext cx="2700300" cy="523200"/>
          </a:xfrm>
          <a:prstGeom prst="straightConnector1">
            <a:avLst/>
          </a:prstGeom>
          <a:noFill/>
          <a:ln cap="flat" cmpd="sng" w="28575">
            <a:solidFill>
              <a:srgbClr val="FFFF00"/>
            </a:solidFill>
            <a:prstDash val="dash"/>
            <a:round/>
            <a:headEnd len="sm" w="sm" type="none"/>
            <a:tailEnd len="med" w="med" type="triangle"/>
          </a:ln>
        </p:spPr>
      </p:cxnSp>
      <p:sp>
        <p:nvSpPr>
          <p:cNvPr id="183" name="Google Shape;183;p9"/>
          <p:cNvSpPr txBox="1"/>
          <p:nvPr/>
        </p:nvSpPr>
        <p:spPr>
          <a:xfrm>
            <a:off x="8796300" y="2112876"/>
            <a:ext cx="2700300" cy="400110"/>
          </a:xfrm>
          <a:prstGeom prst="rect">
            <a:avLst/>
          </a:prstGeom>
          <a:solidFill>
            <a:srgbClr val="FFFF0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spcBef>
                <a:spcPts val="0"/>
              </a:spcBef>
              <a:spcAft>
                <a:spcPts val="0"/>
              </a:spcAft>
              <a:buNone/>
            </a:pPr>
            <a:r>
              <a:rPr lang="es-BO" sz="2000">
                <a:solidFill>
                  <a:schemeClr val="dk1"/>
                </a:solidFill>
                <a:latin typeface="Calibri"/>
                <a:ea typeface="Calibri"/>
                <a:cs typeface="Calibri"/>
                <a:sym typeface="Calibri"/>
              </a:rPr>
              <a:t>Tanque fijo de metal</a:t>
            </a:r>
            <a:endParaRPr b="0" i="0" sz="2000">
              <a:solidFill>
                <a:schemeClr val="dk1"/>
              </a:solidFill>
              <a:latin typeface="Calibri"/>
              <a:ea typeface="Calibri"/>
              <a:cs typeface="Calibri"/>
              <a:sym typeface="Calibri"/>
            </a:endParaRPr>
          </a:p>
        </p:txBody>
      </p:sp>
      <p:cxnSp>
        <p:nvCxnSpPr>
          <p:cNvPr id="184" name="Google Shape;184;p9"/>
          <p:cNvCxnSpPr/>
          <p:nvPr/>
        </p:nvCxnSpPr>
        <p:spPr>
          <a:xfrm rot="10800000">
            <a:off x="2783632" y="3943242"/>
            <a:ext cx="1800200" cy="1197540"/>
          </a:xfrm>
          <a:prstGeom prst="straightConnector1">
            <a:avLst/>
          </a:prstGeom>
          <a:noFill/>
          <a:ln cap="flat" cmpd="sng" w="28575">
            <a:solidFill>
              <a:srgbClr val="00B0F0"/>
            </a:solidFill>
            <a:prstDash val="dash"/>
            <a:round/>
            <a:headEnd len="sm" w="sm" type="none"/>
            <a:tailEnd len="med" w="med" type="triangle"/>
          </a:ln>
        </p:spPr>
      </p:cxnSp>
      <p:sp>
        <p:nvSpPr>
          <p:cNvPr id="185" name="Google Shape;185;p9"/>
          <p:cNvSpPr txBox="1"/>
          <p:nvPr/>
        </p:nvSpPr>
        <p:spPr>
          <a:xfrm>
            <a:off x="1127448" y="3455931"/>
            <a:ext cx="2700300" cy="400110"/>
          </a:xfrm>
          <a:prstGeom prst="rect">
            <a:avLst/>
          </a:prstGeom>
          <a:solidFill>
            <a:srgbClr val="00B0F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spcBef>
                <a:spcPts val="0"/>
              </a:spcBef>
              <a:spcAft>
                <a:spcPts val="0"/>
              </a:spcAft>
              <a:buNone/>
            </a:pPr>
            <a:r>
              <a:rPr lang="es-BO" sz="2000">
                <a:solidFill>
                  <a:schemeClr val="dk1"/>
                </a:solidFill>
                <a:latin typeface="Calibri"/>
                <a:ea typeface="Calibri"/>
                <a:cs typeface="Calibri"/>
                <a:sym typeface="Calibri"/>
              </a:rPr>
              <a:t>Tanque de plástico</a:t>
            </a:r>
            <a:endParaRPr b="0" i="0" sz="2000">
              <a:solidFill>
                <a:schemeClr val="dk1"/>
              </a:solidFill>
              <a:latin typeface="Calibri"/>
              <a:ea typeface="Calibri"/>
              <a:cs typeface="Calibri"/>
              <a:sym typeface="Calibri"/>
            </a:endParaRPr>
          </a:p>
        </p:txBody>
      </p:sp>
      <p:sp>
        <p:nvSpPr>
          <p:cNvPr id="186" name="Google Shape;186;p9"/>
          <p:cNvSpPr txBox="1"/>
          <p:nvPr/>
        </p:nvSpPr>
        <p:spPr>
          <a:xfrm>
            <a:off x="1270334" y="3943242"/>
            <a:ext cx="178895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chemeClr val="dk1"/>
                </a:solidFill>
                <a:latin typeface="Calibri"/>
                <a:ea typeface="Calibri"/>
                <a:cs typeface="Calibri"/>
                <a:sym typeface="Calibri"/>
              </a:rPr>
              <a:t>(Tanque inferior)</a:t>
            </a:r>
            <a:endParaRPr sz="1800">
              <a:solidFill>
                <a:schemeClr val="dk1"/>
              </a:solidFill>
              <a:latin typeface="Calibri"/>
              <a:ea typeface="Calibri"/>
              <a:cs typeface="Calibri"/>
              <a:sym typeface="Calibri"/>
            </a:endParaRPr>
          </a:p>
        </p:txBody>
      </p:sp>
      <p:sp>
        <p:nvSpPr>
          <p:cNvPr id="187" name="Google Shape;187;p9"/>
          <p:cNvSpPr txBox="1"/>
          <p:nvPr/>
        </p:nvSpPr>
        <p:spPr>
          <a:xfrm>
            <a:off x="9263263" y="2519608"/>
            <a:ext cx="209040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chemeClr val="dk1"/>
                </a:solidFill>
                <a:latin typeface="Calibri"/>
                <a:ea typeface="Calibri"/>
                <a:cs typeface="Calibri"/>
                <a:sym typeface="Calibri"/>
              </a:rPr>
              <a:t>(Tanque superior)</a:t>
            </a:r>
            <a:endParaRPr sz="1800">
              <a:solidFill>
                <a:schemeClr val="dk1"/>
              </a:solidFill>
              <a:latin typeface="Calibri"/>
              <a:ea typeface="Calibri"/>
              <a:cs typeface="Calibri"/>
              <a:sym typeface="Calibri"/>
            </a:endParaRPr>
          </a:p>
        </p:txBody>
      </p:sp>
      <p:sp>
        <p:nvSpPr>
          <p:cNvPr id="188" name="Google Shape;188;p9"/>
          <p:cNvSpPr txBox="1"/>
          <p:nvPr/>
        </p:nvSpPr>
        <p:spPr>
          <a:xfrm>
            <a:off x="4681151" y="6455124"/>
            <a:ext cx="282969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chemeClr val="dk1"/>
                </a:solidFill>
                <a:latin typeface="Calibri"/>
                <a:ea typeface="Calibri"/>
                <a:cs typeface="Calibri"/>
                <a:sym typeface="Calibri"/>
              </a:rPr>
              <a:t>Vista frontal del sistema</a:t>
            </a:r>
            <a:endParaRPr/>
          </a:p>
        </p:txBody>
      </p:sp>
    </p:spTree>
  </p:cSld>
  <p:clrMapOvr>
    <a:masterClrMapping/>
  </p:clrMapOvr>
  <p:transition spd="slow">
    <p:push/>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0"/>
          <p:cNvSpPr txBox="1"/>
          <p:nvPr/>
        </p:nvSpPr>
        <p:spPr>
          <a:xfrm>
            <a:off x="1109446" y="620688"/>
            <a:ext cx="803455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s-BO" sz="1800">
                <a:solidFill>
                  <a:schemeClr val="dk1"/>
                </a:solidFill>
                <a:latin typeface="Calibri"/>
                <a:ea typeface="Calibri"/>
                <a:cs typeface="Calibri"/>
                <a:sym typeface="Calibri"/>
              </a:rPr>
              <a:t>Tuberías de ½ y ¾ de pulgada</a:t>
            </a:r>
            <a:endParaRPr/>
          </a:p>
        </p:txBody>
      </p:sp>
      <p:sp>
        <p:nvSpPr>
          <p:cNvPr id="194" name="Google Shape;194;p10"/>
          <p:cNvSpPr txBox="1"/>
          <p:nvPr/>
        </p:nvSpPr>
        <p:spPr>
          <a:xfrm>
            <a:off x="1109446" y="302219"/>
            <a:ext cx="781286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BO" sz="1800">
                <a:solidFill>
                  <a:schemeClr val="dk1"/>
                </a:solidFill>
                <a:latin typeface="Calibri"/>
                <a:ea typeface="Calibri"/>
                <a:cs typeface="Calibri"/>
                <a:sym typeface="Calibri"/>
              </a:rPr>
              <a:t>EL SISTEMA DE NIVEL DE LIQUIDO - ELEMENTOS</a:t>
            </a:r>
            <a:endParaRPr b="1" sz="1200">
              <a:solidFill>
                <a:schemeClr val="dk1"/>
              </a:solidFill>
              <a:latin typeface="Calibri"/>
              <a:ea typeface="Calibri"/>
              <a:cs typeface="Calibri"/>
              <a:sym typeface="Calibri"/>
            </a:endParaRPr>
          </a:p>
        </p:txBody>
      </p:sp>
      <p:pic>
        <p:nvPicPr>
          <p:cNvPr id="195" name="Google Shape;195;p10"/>
          <p:cNvPicPr preferRelativeResize="0"/>
          <p:nvPr/>
        </p:nvPicPr>
        <p:blipFill rotWithShape="1">
          <a:blip r:embed="rId3">
            <a:alphaModFix/>
          </a:blip>
          <a:srcRect b="0" l="12923" r="13975" t="0"/>
          <a:stretch/>
        </p:blipFill>
        <p:spPr>
          <a:xfrm rot="5400000">
            <a:off x="6177553" y="1862663"/>
            <a:ext cx="5013176" cy="3736123"/>
          </a:xfrm>
          <a:prstGeom prst="rect">
            <a:avLst/>
          </a:prstGeom>
          <a:noFill/>
          <a:ln>
            <a:noFill/>
          </a:ln>
        </p:spPr>
      </p:pic>
      <p:pic>
        <p:nvPicPr>
          <p:cNvPr id="196" name="Google Shape;196;p10"/>
          <p:cNvPicPr preferRelativeResize="0"/>
          <p:nvPr/>
        </p:nvPicPr>
        <p:blipFill rotWithShape="1">
          <a:blip r:embed="rId4">
            <a:alphaModFix/>
          </a:blip>
          <a:srcRect b="0" l="15350" r="21650" t="0"/>
          <a:stretch/>
        </p:blipFill>
        <p:spPr>
          <a:xfrm rot="5400000">
            <a:off x="1621318" y="1995670"/>
            <a:ext cx="4916916" cy="3600400"/>
          </a:xfrm>
          <a:prstGeom prst="rect">
            <a:avLst/>
          </a:prstGeom>
          <a:noFill/>
          <a:ln>
            <a:noFill/>
          </a:ln>
        </p:spPr>
      </p:pic>
      <p:sp>
        <p:nvSpPr>
          <p:cNvPr id="197" name="Google Shape;197;p10"/>
          <p:cNvSpPr/>
          <p:nvPr/>
        </p:nvSpPr>
        <p:spPr>
          <a:xfrm>
            <a:off x="2279576" y="1990610"/>
            <a:ext cx="720080" cy="1800200"/>
          </a:xfrm>
          <a:prstGeom prst="rect">
            <a:avLst/>
          </a:prstGeom>
          <a:noFill/>
          <a:ln cap="flat" cmpd="sng" w="25400">
            <a:solidFill>
              <a:srgbClr val="FFFF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8" name="Google Shape;198;p10"/>
          <p:cNvSpPr/>
          <p:nvPr/>
        </p:nvSpPr>
        <p:spPr>
          <a:xfrm>
            <a:off x="4049812" y="4293096"/>
            <a:ext cx="1326108" cy="421862"/>
          </a:xfrm>
          <a:prstGeom prst="rect">
            <a:avLst/>
          </a:prstGeom>
          <a:noFill/>
          <a:ln cap="flat" cmpd="sng" w="25400">
            <a:solidFill>
              <a:srgbClr val="00B0F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9" name="Google Shape;199;p10"/>
          <p:cNvSpPr/>
          <p:nvPr/>
        </p:nvSpPr>
        <p:spPr>
          <a:xfrm>
            <a:off x="5015880" y="4293096"/>
            <a:ext cx="360040" cy="936104"/>
          </a:xfrm>
          <a:prstGeom prst="rect">
            <a:avLst/>
          </a:prstGeom>
          <a:noFill/>
          <a:ln cap="flat" cmpd="sng" w="25400">
            <a:solidFill>
              <a:srgbClr val="00B0F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00" name="Google Shape;200;p10"/>
          <p:cNvSpPr/>
          <p:nvPr/>
        </p:nvSpPr>
        <p:spPr>
          <a:xfrm>
            <a:off x="9264352" y="2348880"/>
            <a:ext cx="864096" cy="2808312"/>
          </a:xfrm>
          <a:prstGeom prst="rect">
            <a:avLst/>
          </a:prstGeom>
          <a:noFill/>
          <a:ln cap="flat" cmpd="sng" w="25400">
            <a:solidFill>
              <a:srgbClr val="00B0F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01" name="Google Shape;201;p10"/>
          <p:cNvSpPr/>
          <p:nvPr/>
        </p:nvSpPr>
        <p:spPr>
          <a:xfrm>
            <a:off x="7146156" y="4714957"/>
            <a:ext cx="2982292" cy="442235"/>
          </a:xfrm>
          <a:prstGeom prst="rect">
            <a:avLst/>
          </a:prstGeom>
          <a:noFill/>
          <a:ln cap="flat" cmpd="sng" w="25400">
            <a:solidFill>
              <a:srgbClr val="00B0F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02" name="Google Shape;202;p10"/>
          <p:cNvSpPr/>
          <p:nvPr/>
        </p:nvSpPr>
        <p:spPr>
          <a:xfrm rot="-2881461">
            <a:off x="6952656" y="4530252"/>
            <a:ext cx="1040419" cy="442235"/>
          </a:xfrm>
          <a:prstGeom prst="rect">
            <a:avLst/>
          </a:prstGeom>
          <a:noFill/>
          <a:ln cap="flat" cmpd="sng" w="25400">
            <a:solidFill>
              <a:srgbClr val="00B0F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203" name="Google Shape;203;p10"/>
          <p:cNvCxnSpPr/>
          <p:nvPr/>
        </p:nvCxnSpPr>
        <p:spPr>
          <a:xfrm flipH="1">
            <a:off x="1639797" y="3015336"/>
            <a:ext cx="675783" cy="413664"/>
          </a:xfrm>
          <a:prstGeom prst="straightConnector1">
            <a:avLst/>
          </a:prstGeom>
          <a:noFill/>
          <a:ln cap="flat" cmpd="sng" w="28575">
            <a:solidFill>
              <a:srgbClr val="FFFF00"/>
            </a:solidFill>
            <a:prstDash val="dash"/>
            <a:round/>
            <a:headEnd len="sm" w="sm" type="none"/>
            <a:tailEnd len="med" w="med" type="triangle"/>
          </a:ln>
        </p:spPr>
      </p:cxnSp>
      <p:sp>
        <p:nvSpPr>
          <p:cNvPr id="204" name="Google Shape;204;p10"/>
          <p:cNvSpPr txBox="1"/>
          <p:nvPr/>
        </p:nvSpPr>
        <p:spPr>
          <a:xfrm rot="-5400000">
            <a:off x="23520" y="3372910"/>
            <a:ext cx="2785155" cy="400110"/>
          </a:xfrm>
          <a:prstGeom prst="rect">
            <a:avLst/>
          </a:prstGeom>
          <a:solidFill>
            <a:srgbClr val="FFFF0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s-BO" sz="2000">
                <a:solidFill>
                  <a:schemeClr val="dk1"/>
                </a:solidFill>
                <a:latin typeface="Calibri"/>
                <a:ea typeface="Calibri"/>
                <a:cs typeface="Calibri"/>
                <a:sym typeface="Calibri"/>
              </a:rPr>
              <a:t>Tubería de ¾ de pulgada</a:t>
            </a:r>
            <a:endParaRPr/>
          </a:p>
        </p:txBody>
      </p:sp>
      <p:sp>
        <p:nvSpPr>
          <p:cNvPr id="205" name="Google Shape;205;p10"/>
          <p:cNvSpPr txBox="1"/>
          <p:nvPr/>
        </p:nvSpPr>
        <p:spPr>
          <a:xfrm rot="-5400000">
            <a:off x="9802027" y="3022113"/>
            <a:ext cx="2700300" cy="400110"/>
          </a:xfrm>
          <a:prstGeom prst="rect">
            <a:avLst/>
          </a:prstGeom>
          <a:solidFill>
            <a:srgbClr val="00B0F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s-BO" sz="2000">
                <a:solidFill>
                  <a:schemeClr val="dk1"/>
                </a:solidFill>
                <a:latin typeface="Calibri"/>
                <a:ea typeface="Calibri"/>
                <a:cs typeface="Calibri"/>
                <a:sym typeface="Calibri"/>
              </a:rPr>
              <a:t>Tubería de ½ pulgada</a:t>
            </a:r>
            <a:endParaRPr/>
          </a:p>
        </p:txBody>
      </p:sp>
      <p:cxnSp>
        <p:nvCxnSpPr>
          <p:cNvPr id="206" name="Google Shape;206;p10"/>
          <p:cNvCxnSpPr>
            <a:endCxn id="205" idx="0"/>
          </p:cNvCxnSpPr>
          <p:nvPr/>
        </p:nvCxnSpPr>
        <p:spPr>
          <a:xfrm flipH="1" rot="10800000">
            <a:off x="10128322" y="3222168"/>
            <a:ext cx="823800" cy="711000"/>
          </a:xfrm>
          <a:prstGeom prst="straightConnector1">
            <a:avLst/>
          </a:prstGeom>
          <a:noFill/>
          <a:ln cap="flat" cmpd="sng" w="28575">
            <a:solidFill>
              <a:srgbClr val="00B0F0"/>
            </a:solidFill>
            <a:prstDash val="dash"/>
            <a:round/>
            <a:headEnd len="sm" w="sm" type="none"/>
            <a:tailEnd len="med" w="med" type="triangle"/>
          </a:ln>
        </p:spPr>
      </p:cxnSp>
      <p:sp>
        <p:nvSpPr>
          <p:cNvPr id="207" name="Google Shape;207;p10"/>
          <p:cNvSpPr txBox="1"/>
          <p:nvPr/>
        </p:nvSpPr>
        <p:spPr>
          <a:xfrm>
            <a:off x="2999656" y="6363334"/>
            <a:ext cx="282969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chemeClr val="dk1"/>
                </a:solidFill>
                <a:latin typeface="Calibri"/>
                <a:ea typeface="Calibri"/>
                <a:cs typeface="Calibri"/>
                <a:sym typeface="Calibri"/>
              </a:rPr>
              <a:t>Vista frontal del sistema</a:t>
            </a:r>
            <a:endParaRPr/>
          </a:p>
        </p:txBody>
      </p:sp>
      <p:sp>
        <p:nvSpPr>
          <p:cNvPr id="208" name="Google Shape;208;p10"/>
          <p:cNvSpPr txBox="1"/>
          <p:nvPr/>
        </p:nvSpPr>
        <p:spPr>
          <a:xfrm>
            <a:off x="7507465" y="6371115"/>
            <a:ext cx="282969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chemeClr val="dk1"/>
                </a:solidFill>
                <a:latin typeface="Calibri"/>
                <a:ea typeface="Calibri"/>
                <a:cs typeface="Calibri"/>
                <a:sym typeface="Calibri"/>
              </a:rPr>
              <a:t>Vista posterior del sistema</a:t>
            </a:r>
            <a:endParaRPr/>
          </a:p>
        </p:txBody>
      </p:sp>
    </p:spTree>
  </p:cSld>
  <p:clrMapOvr>
    <a:masterClrMapping/>
  </p:clrMapOvr>
  <p:transition spd="slow">
    <p:push/>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pic>
        <p:nvPicPr>
          <p:cNvPr id="213" name="Google Shape;213;p11"/>
          <p:cNvPicPr preferRelativeResize="0"/>
          <p:nvPr/>
        </p:nvPicPr>
        <p:blipFill rotWithShape="1">
          <a:blip r:embed="rId3">
            <a:alphaModFix/>
          </a:blip>
          <a:srcRect b="0" l="12200" r="15350" t="0"/>
          <a:stretch/>
        </p:blipFill>
        <p:spPr>
          <a:xfrm rot="5400000">
            <a:off x="6142385" y="1752216"/>
            <a:ext cx="4968552" cy="3857625"/>
          </a:xfrm>
          <a:prstGeom prst="rect">
            <a:avLst/>
          </a:prstGeom>
          <a:noFill/>
          <a:ln>
            <a:noFill/>
          </a:ln>
        </p:spPr>
      </p:pic>
      <p:sp>
        <p:nvSpPr>
          <p:cNvPr id="214" name="Google Shape;214;p11"/>
          <p:cNvSpPr txBox="1"/>
          <p:nvPr/>
        </p:nvSpPr>
        <p:spPr>
          <a:xfrm>
            <a:off x="984182" y="692696"/>
            <a:ext cx="972033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s-BO" sz="1800">
                <a:solidFill>
                  <a:schemeClr val="dk1"/>
                </a:solidFill>
                <a:latin typeface="Calibri"/>
                <a:ea typeface="Calibri"/>
                <a:cs typeface="Calibri"/>
                <a:sym typeface="Calibri"/>
              </a:rPr>
              <a:t>Baliza Luminosa (Rojo y verde)</a:t>
            </a:r>
            <a:endParaRPr/>
          </a:p>
        </p:txBody>
      </p:sp>
      <p:sp>
        <p:nvSpPr>
          <p:cNvPr id="215" name="Google Shape;215;p11"/>
          <p:cNvSpPr txBox="1"/>
          <p:nvPr/>
        </p:nvSpPr>
        <p:spPr>
          <a:xfrm>
            <a:off x="984182" y="303329"/>
            <a:ext cx="795688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BO" sz="1800">
                <a:solidFill>
                  <a:schemeClr val="dk1"/>
                </a:solidFill>
                <a:latin typeface="Calibri"/>
                <a:ea typeface="Calibri"/>
                <a:cs typeface="Calibri"/>
                <a:sym typeface="Calibri"/>
              </a:rPr>
              <a:t>EL SISTEMA DE NIVEL DE LIQUIDO - ELEMENTOS</a:t>
            </a:r>
            <a:endParaRPr b="1" sz="1200">
              <a:solidFill>
                <a:schemeClr val="dk1"/>
              </a:solidFill>
              <a:latin typeface="Calibri"/>
              <a:ea typeface="Calibri"/>
              <a:cs typeface="Calibri"/>
              <a:sym typeface="Calibri"/>
            </a:endParaRPr>
          </a:p>
        </p:txBody>
      </p:sp>
      <p:pic>
        <p:nvPicPr>
          <p:cNvPr id="216" name="Google Shape;216;p11"/>
          <p:cNvPicPr preferRelativeResize="0"/>
          <p:nvPr/>
        </p:nvPicPr>
        <p:blipFill rotWithShape="1">
          <a:blip r:embed="rId4">
            <a:alphaModFix/>
          </a:blip>
          <a:srcRect b="0" l="0" r="18500" t="0"/>
          <a:stretch/>
        </p:blipFill>
        <p:spPr>
          <a:xfrm rot="5400000">
            <a:off x="1787473" y="2120903"/>
            <a:ext cx="5088661" cy="3528392"/>
          </a:xfrm>
          <a:prstGeom prst="rect">
            <a:avLst/>
          </a:prstGeom>
          <a:noFill/>
          <a:ln>
            <a:noFill/>
          </a:ln>
        </p:spPr>
      </p:pic>
      <p:sp>
        <p:nvSpPr>
          <p:cNvPr id="217" name="Google Shape;217;p11"/>
          <p:cNvSpPr/>
          <p:nvPr/>
        </p:nvSpPr>
        <p:spPr>
          <a:xfrm>
            <a:off x="4314043" y="1844824"/>
            <a:ext cx="465597" cy="360040"/>
          </a:xfrm>
          <a:prstGeom prst="rect">
            <a:avLst/>
          </a:prstGeom>
          <a:noFill/>
          <a:ln cap="flat" cmpd="sng" w="25400">
            <a:solidFill>
              <a:srgbClr val="FF00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8" name="Google Shape;218;p11"/>
          <p:cNvSpPr/>
          <p:nvPr/>
        </p:nvSpPr>
        <p:spPr>
          <a:xfrm>
            <a:off x="4331803" y="2195488"/>
            <a:ext cx="465597" cy="360040"/>
          </a:xfrm>
          <a:prstGeom prst="rect">
            <a:avLst/>
          </a:prstGeom>
          <a:noFill/>
          <a:ln cap="flat" cmpd="sng" w="25400">
            <a:solidFill>
              <a:srgbClr val="00B05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219" name="Google Shape;219;p11"/>
          <p:cNvCxnSpPr>
            <a:stCxn id="217" idx="3"/>
          </p:cNvCxnSpPr>
          <p:nvPr/>
        </p:nvCxnSpPr>
        <p:spPr>
          <a:xfrm flipH="1" rot="10800000">
            <a:off x="4779640" y="1844844"/>
            <a:ext cx="3260700" cy="180000"/>
          </a:xfrm>
          <a:prstGeom prst="straightConnector1">
            <a:avLst/>
          </a:prstGeom>
          <a:noFill/>
          <a:ln cap="flat" cmpd="sng" w="28575">
            <a:solidFill>
              <a:srgbClr val="FF0000"/>
            </a:solidFill>
            <a:prstDash val="dash"/>
            <a:round/>
            <a:headEnd len="sm" w="sm" type="none"/>
            <a:tailEnd len="med" w="med" type="triangle"/>
          </a:ln>
        </p:spPr>
      </p:cxnSp>
      <p:sp>
        <p:nvSpPr>
          <p:cNvPr id="220" name="Google Shape;220;p11"/>
          <p:cNvSpPr txBox="1"/>
          <p:nvPr/>
        </p:nvSpPr>
        <p:spPr>
          <a:xfrm>
            <a:off x="9120336" y="1718338"/>
            <a:ext cx="2700300" cy="400110"/>
          </a:xfrm>
          <a:prstGeom prst="rect">
            <a:avLst/>
          </a:prstGeom>
          <a:solidFill>
            <a:srgbClr val="FF000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s-BO" sz="2000">
                <a:solidFill>
                  <a:schemeClr val="dk1"/>
                </a:solidFill>
                <a:latin typeface="Calibri"/>
                <a:ea typeface="Calibri"/>
                <a:cs typeface="Calibri"/>
                <a:sym typeface="Calibri"/>
              </a:rPr>
              <a:t>Baliza de color Rojo</a:t>
            </a:r>
            <a:endParaRPr/>
          </a:p>
        </p:txBody>
      </p:sp>
      <p:cxnSp>
        <p:nvCxnSpPr>
          <p:cNvPr id="221" name="Google Shape;221;p11"/>
          <p:cNvCxnSpPr/>
          <p:nvPr/>
        </p:nvCxnSpPr>
        <p:spPr>
          <a:xfrm>
            <a:off x="4815160" y="2404919"/>
            <a:ext cx="3225056" cy="950065"/>
          </a:xfrm>
          <a:prstGeom prst="straightConnector1">
            <a:avLst/>
          </a:prstGeom>
          <a:noFill/>
          <a:ln cap="flat" cmpd="sng" w="28575">
            <a:solidFill>
              <a:srgbClr val="00B050"/>
            </a:solidFill>
            <a:prstDash val="dash"/>
            <a:round/>
            <a:headEnd len="sm" w="sm" type="none"/>
            <a:tailEnd len="med" w="med" type="triangle"/>
          </a:ln>
        </p:spPr>
      </p:cxnSp>
      <p:sp>
        <p:nvSpPr>
          <p:cNvPr id="222" name="Google Shape;222;p11"/>
          <p:cNvSpPr txBox="1"/>
          <p:nvPr/>
        </p:nvSpPr>
        <p:spPr>
          <a:xfrm>
            <a:off x="9120336" y="3541711"/>
            <a:ext cx="2700300" cy="400110"/>
          </a:xfrm>
          <a:prstGeom prst="rect">
            <a:avLst/>
          </a:prstGeom>
          <a:solidFill>
            <a:srgbClr val="00B05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s-BO" sz="2000">
                <a:solidFill>
                  <a:schemeClr val="dk1"/>
                </a:solidFill>
                <a:latin typeface="Calibri"/>
                <a:ea typeface="Calibri"/>
                <a:cs typeface="Calibri"/>
                <a:sym typeface="Calibri"/>
              </a:rPr>
              <a:t>Baliza de color Verde</a:t>
            </a:r>
            <a:endParaRPr/>
          </a:p>
        </p:txBody>
      </p:sp>
      <p:sp>
        <p:nvSpPr>
          <p:cNvPr id="223" name="Google Shape;223;p11"/>
          <p:cNvSpPr txBox="1"/>
          <p:nvPr/>
        </p:nvSpPr>
        <p:spPr>
          <a:xfrm>
            <a:off x="3071664" y="6429430"/>
            <a:ext cx="282969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chemeClr val="dk1"/>
                </a:solidFill>
                <a:latin typeface="Calibri"/>
                <a:ea typeface="Calibri"/>
                <a:cs typeface="Calibri"/>
                <a:sym typeface="Calibri"/>
              </a:rPr>
              <a:t>Vista frontal del sistema</a:t>
            </a:r>
            <a:endParaRPr/>
          </a:p>
        </p:txBody>
      </p:sp>
    </p:spTree>
  </p:cSld>
  <p:clrMapOvr>
    <a:masterClrMapping/>
  </p:clrMapOvr>
  <p:transition spd="slow">
    <p:push/>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2"/>
          <p:cNvSpPr txBox="1"/>
          <p:nvPr/>
        </p:nvSpPr>
        <p:spPr>
          <a:xfrm>
            <a:off x="1055440" y="620688"/>
            <a:ext cx="551993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s-BO" sz="1800">
                <a:solidFill>
                  <a:schemeClr val="dk1"/>
                </a:solidFill>
                <a:latin typeface="Calibri"/>
                <a:ea typeface="Calibri"/>
                <a:cs typeface="Calibri"/>
                <a:sym typeface="Calibri"/>
              </a:rPr>
              <a:t>2 sensores vibratorios</a:t>
            </a:r>
            <a:endParaRPr b="1" i="1" sz="1800">
              <a:solidFill>
                <a:schemeClr val="dk1"/>
              </a:solidFill>
              <a:latin typeface="Times New Roman"/>
              <a:ea typeface="Times New Roman"/>
              <a:cs typeface="Times New Roman"/>
              <a:sym typeface="Times New Roman"/>
            </a:endParaRPr>
          </a:p>
        </p:txBody>
      </p:sp>
      <p:sp>
        <p:nvSpPr>
          <p:cNvPr id="230" name="Google Shape;230;p12"/>
          <p:cNvSpPr txBox="1"/>
          <p:nvPr/>
        </p:nvSpPr>
        <p:spPr>
          <a:xfrm>
            <a:off x="1055440" y="197296"/>
            <a:ext cx="774086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BO" sz="1800">
                <a:solidFill>
                  <a:schemeClr val="dk1"/>
                </a:solidFill>
                <a:latin typeface="Calibri"/>
                <a:ea typeface="Calibri"/>
                <a:cs typeface="Calibri"/>
                <a:sym typeface="Calibri"/>
              </a:rPr>
              <a:t>EL SISTEMA DE NIVEL DE LIQUIDO - ELEMENTOS</a:t>
            </a:r>
            <a:endParaRPr b="1" sz="1200">
              <a:solidFill>
                <a:schemeClr val="dk1"/>
              </a:solidFill>
              <a:latin typeface="Calibri"/>
              <a:ea typeface="Calibri"/>
              <a:cs typeface="Calibri"/>
              <a:sym typeface="Calibri"/>
            </a:endParaRPr>
          </a:p>
        </p:txBody>
      </p:sp>
      <p:pic>
        <p:nvPicPr>
          <p:cNvPr id="231" name="Google Shape;231;p12"/>
          <p:cNvPicPr preferRelativeResize="0"/>
          <p:nvPr/>
        </p:nvPicPr>
        <p:blipFill rotWithShape="1">
          <a:blip r:embed="rId3">
            <a:alphaModFix/>
          </a:blip>
          <a:srcRect b="0" l="22831" r="0" t="0"/>
          <a:stretch/>
        </p:blipFill>
        <p:spPr>
          <a:xfrm>
            <a:off x="3287688" y="1130836"/>
            <a:ext cx="8311449" cy="4968552"/>
          </a:xfrm>
          <a:prstGeom prst="rect">
            <a:avLst/>
          </a:prstGeom>
          <a:noFill/>
          <a:ln>
            <a:noFill/>
          </a:ln>
        </p:spPr>
      </p:pic>
      <p:sp>
        <p:nvSpPr>
          <p:cNvPr id="232" name="Google Shape;232;p12"/>
          <p:cNvSpPr/>
          <p:nvPr/>
        </p:nvSpPr>
        <p:spPr>
          <a:xfrm>
            <a:off x="4079776" y="1628800"/>
            <a:ext cx="1152128" cy="1080120"/>
          </a:xfrm>
          <a:prstGeom prst="rect">
            <a:avLst/>
          </a:prstGeom>
          <a:noFill/>
          <a:ln cap="flat" cmpd="sng" w="25400">
            <a:solidFill>
              <a:srgbClr val="FFFF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33" name="Google Shape;233;p12"/>
          <p:cNvSpPr/>
          <p:nvPr/>
        </p:nvSpPr>
        <p:spPr>
          <a:xfrm>
            <a:off x="4079776" y="4203081"/>
            <a:ext cx="1152128" cy="1080120"/>
          </a:xfrm>
          <a:prstGeom prst="rect">
            <a:avLst/>
          </a:prstGeom>
          <a:noFill/>
          <a:ln cap="flat" cmpd="sng" w="25400">
            <a:solidFill>
              <a:srgbClr val="FFFF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234" name="Google Shape;234;p12"/>
          <p:cNvCxnSpPr>
            <a:stCxn id="232" idx="1"/>
          </p:cNvCxnSpPr>
          <p:nvPr/>
        </p:nvCxnSpPr>
        <p:spPr>
          <a:xfrm rot="10800000">
            <a:off x="2855776" y="2168860"/>
            <a:ext cx="1224000" cy="0"/>
          </a:xfrm>
          <a:prstGeom prst="straightConnector1">
            <a:avLst/>
          </a:prstGeom>
          <a:noFill/>
          <a:ln cap="flat" cmpd="sng" w="28575">
            <a:solidFill>
              <a:srgbClr val="FFFF00"/>
            </a:solidFill>
            <a:prstDash val="dash"/>
            <a:round/>
            <a:headEnd len="sm" w="sm" type="none"/>
            <a:tailEnd len="med" w="med" type="triangle"/>
          </a:ln>
        </p:spPr>
      </p:cxnSp>
      <p:cxnSp>
        <p:nvCxnSpPr>
          <p:cNvPr id="235" name="Google Shape;235;p12"/>
          <p:cNvCxnSpPr/>
          <p:nvPr/>
        </p:nvCxnSpPr>
        <p:spPr>
          <a:xfrm rot="10800000">
            <a:off x="2855640" y="4725144"/>
            <a:ext cx="1224136" cy="0"/>
          </a:xfrm>
          <a:prstGeom prst="straightConnector1">
            <a:avLst/>
          </a:prstGeom>
          <a:noFill/>
          <a:ln cap="flat" cmpd="sng" w="28575">
            <a:solidFill>
              <a:srgbClr val="FFFF00"/>
            </a:solidFill>
            <a:prstDash val="dash"/>
            <a:round/>
            <a:headEnd len="sm" w="sm" type="none"/>
            <a:tailEnd len="med" w="med" type="triangle"/>
          </a:ln>
        </p:spPr>
      </p:cxnSp>
      <p:sp>
        <p:nvSpPr>
          <p:cNvPr id="236" name="Google Shape;236;p12"/>
          <p:cNvSpPr txBox="1"/>
          <p:nvPr/>
        </p:nvSpPr>
        <p:spPr>
          <a:xfrm>
            <a:off x="623392" y="1968805"/>
            <a:ext cx="2268252" cy="400110"/>
          </a:xfrm>
          <a:prstGeom prst="rect">
            <a:avLst/>
          </a:prstGeom>
          <a:solidFill>
            <a:srgbClr val="FFFF0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s-BO" sz="2000">
                <a:solidFill>
                  <a:schemeClr val="dk1"/>
                </a:solidFill>
                <a:latin typeface="Calibri"/>
                <a:ea typeface="Calibri"/>
                <a:cs typeface="Calibri"/>
                <a:sym typeface="Calibri"/>
              </a:rPr>
              <a:t>Sensor vibratorio 1</a:t>
            </a:r>
            <a:endParaRPr/>
          </a:p>
        </p:txBody>
      </p:sp>
      <p:sp>
        <p:nvSpPr>
          <p:cNvPr id="237" name="Google Shape;237;p12"/>
          <p:cNvSpPr txBox="1"/>
          <p:nvPr/>
        </p:nvSpPr>
        <p:spPr>
          <a:xfrm>
            <a:off x="592863" y="4525089"/>
            <a:ext cx="2268252" cy="400110"/>
          </a:xfrm>
          <a:prstGeom prst="rect">
            <a:avLst/>
          </a:prstGeom>
          <a:solidFill>
            <a:srgbClr val="FFFF0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s-BO" sz="2000">
                <a:solidFill>
                  <a:schemeClr val="dk1"/>
                </a:solidFill>
                <a:latin typeface="Calibri"/>
                <a:ea typeface="Calibri"/>
                <a:cs typeface="Calibri"/>
                <a:sym typeface="Calibri"/>
              </a:rPr>
              <a:t>Sensor vibratorio 2</a:t>
            </a:r>
            <a:endParaRPr/>
          </a:p>
        </p:txBody>
      </p:sp>
      <p:sp>
        <p:nvSpPr>
          <p:cNvPr id="238" name="Google Shape;238;p12"/>
          <p:cNvSpPr txBox="1"/>
          <p:nvPr/>
        </p:nvSpPr>
        <p:spPr>
          <a:xfrm>
            <a:off x="1285450" y="2454278"/>
            <a:ext cx="178895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chemeClr val="dk1"/>
                </a:solidFill>
                <a:latin typeface="Calibri"/>
                <a:ea typeface="Calibri"/>
                <a:cs typeface="Calibri"/>
                <a:sym typeface="Calibri"/>
              </a:rPr>
              <a:t>(SW1)</a:t>
            </a:r>
            <a:endParaRPr sz="1800">
              <a:solidFill>
                <a:schemeClr val="dk1"/>
              </a:solidFill>
              <a:latin typeface="Calibri"/>
              <a:ea typeface="Calibri"/>
              <a:cs typeface="Calibri"/>
              <a:sym typeface="Calibri"/>
            </a:endParaRPr>
          </a:p>
        </p:txBody>
      </p:sp>
      <p:sp>
        <p:nvSpPr>
          <p:cNvPr id="239" name="Google Shape;239;p12"/>
          <p:cNvSpPr txBox="1"/>
          <p:nvPr/>
        </p:nvSpPr>
        <p:spPr>
          <a:xfrm>
            <a:off x="1280706" y="4970654"/>
            <a:ext cx="178895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chemeClr val="dk1"/>
                </a:solidFill>
                <a:latin typeface="Calibri"/>
                <a:ea typeface="Calibri"/>
                <a:cs typeface="Calibri"/>
                <a:sym typeface="Calibri"/>
              </a:rPr>
              <a:t>(SW2)</a:t>
            </a:r>
            <a:endParaRPr sz="1800">
              <a:solidFill>
                <a:schemeClr val="dk1"/>
              </a:solidFill>
              <a:latin typeface="Calibri"/>
              <a:ea typeface="Calibri"/>
              <a:cs typeface="Calibri"/>
              <a:sym typeface="Calibri"/>
            </a:endParaRPr>
          </a:p>
        </p:txBody>
      </p:sp>
      <p:sp>
        <p:nvSpPr>
          <p:cNvPr id="240" name="Google Shape;240;p12"/>
          <p:cNvSpPr txBox="1"/>
          <p:nvPr/>
        </p:nvSpPr>
        <p:spPr>
          <a:xfrm>
            <a:off x="5966603" y="6291372"/>
            <a:ext cx="282969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chemeClr val="dk1"/>
                </a:solidFill>
                <a:latin typeface="Calibri"/>
                <a:ea typeface="Calibri"/>
                <a:cs typeface="Calibri"/>
                <a:sym typeface="Calibri"/>
              </a:rPr>
              <a:t>Vista frontal del sistema</a:t>
            </a:r>
            <a:endParaRPr/>
          </a:p>
        </p:txBody>
      </p:sp>
    </p:spTree>
  </p:cSld>
  <p:clrMapOvr>
    <a:masterClrMapping/>
  </p:clrMapOvr>
  <p:transition spd="slow">
    <p:push/>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pic>
        <p:nvPicPr>
          <p:cNvPr id="246" name="Google Shape;246;p13"/>
          <p:cNvPicPr preferRelativeResize="0"/>
          <p:nvPr/>
        </p:nvPicPr>
        <p:blipFill rotWithShape="1">
          <a:blip r:embed="rId3">
            <a:alphaModFix/>
          </a:blip>
          <a:srcRect b="30476" l="0" r="67093" t="8094"/>
          <a:stretch/>
        </p:blipFill>
        <p:spPr>
          <a:xfrm>
            <a:off x="637525" y="2064700"/>
            <a:ext cx="3125073" cy="3281427"/>
          </a:xfrm>
          <a:prstGeom prst="rect">
            <a:avLst/>
          </a:prstGeom>
          <a:noFill/>
          <a:ln>
            <a:noFill/>
          </a:ln>
        </p:spPr>
      </p:pic>
      <p:pic>
        <p:nvPicPr>
          <p:cNvPr id="247" name="Google Shape;247;p13"/>
          <p:cNvPicPr preferRelativeResize="0"/>
          <p:nvPr/>
        </p:nvPicPr>
        <p:blipFill rotWithShape="1">
          <a:blip r:embed="rId4">
            <a:alphaModFix/>
          </a:blip>
          <a:srcRect b="21225" l="32956" r="28306" t="9970"/>
          <a:stretch/>
        </p:blipFill>
        <p:spPr>
          <a:xfrm>
            <a:off x="8447266" y="1052736"/>
            <a:ext cx="3309739" cy="3306807"/>
          </a:xfrm>
          <a:prstGeom prst="rect">
            <a:avLst/>
          </a:prstGeom>
          <a:noFill/>
          <a:ln>
            <a:noFill/>
          </a:ln>
        </p:spPr>
      </p:pic>
      <p:sp>
        <p:nvSpPr>
          <p:cNvPr id="248" name="Google Shape;248;p13"/>
          <p:cNvSpPr txBox="1"/>
          <p:nvPr/>
        </p:nvSpPr>
        <p:spPr>
          <a:xfrm>
            <a:off x="1271464" y="683404"/>
            <a:ext cx="539261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BO" sz="1800">
                <a:solidFill>
                  <a:schemeClr val="dk1"/>
                </a:solidFill>
                <a:latin typeface="Calibri"/>
                <a:ea typeface="Calibri"/>
                <a:cs typeface="Calibri"/>
                <a:sym typeface="Calibri"/>
              </a:rPr>
              <a:t>2 </a:t>
            </a:r>
            <a:r>
              <a:rPr b="1" i="1" lang="es-BO" sz="1800">
                <a:solidFill>
                  <a:schemeClr val="dk1"/>
                </a:solidFill>
                <a:latin typeface="Calibri"/>
                <a:ea typeface="Calibri"/>
                <a:cs typeface="Calibri"/>
                <a:sym typeface="Calibri"/>
              </a:rPr>
              <a:t>electroválvulas</a:t>
            </a:r>
            <a:endParaRPr b="1" i="1" sz="1800">
              <a:solidFill>
                <a:schemeClr val="dk1"/>
              </a:solidFill>
              <a:latin typeface="Calibri"/>
              <a:ea typeface="Calibri"/>
              <a:cs typeface="Calibri"/>
              <a:sym typeface="Calibri"/>
            </a:endParaRPr>
          </a:p>
        </p:txBody>
      </p:sp>
      <p:sp>
        <p:nvSpPr>
          <p:cNvPr id="249" name="Google Shape;249;p13"/>
          <p:cNvSpPr txBox="1"/>
          <p:nvPr/>
        </p:nvSpPr>
        <p:spPr>
          <a:xfrm>
            <a:off x="1271464" y="203406"/>
            <a:ext cx="745282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BO" sz="1800">
                <a:solidFill>
                  <a:schemeClr val="dk1"/>
                </a:solidFill>
                <a:latin typeface="Calibri"/>
                <a:ea typeface="Calibri"/>
                <a:cs typeface="Calibri"/>
                <a:sym typeface="Calibri"/>
              </a:rPr>
              <a:t>EL SISTEMA DE NIVEL DE LIQUIDO - ELEMENTOS</a:t>
            </a:r>
            <a:endParaRPr/>
          </a:p>
        </p:txBody>
      </p:sp>
      <p:pic>
        <p:nvPicPr>
          <p:cNvPr id="250" name="Google Shape;250;p13"/>
          <p:cNvPicPr preferRelativeResize="0"/>
          <p:nvPr/>
        </p:nvPicPr>
        <p:blipFill rotWithShape="1">
          <a:blip r:embed="rId5">
            <a:alphaModFix/>
          </a:blip>
          <a:srcRect b="0" l="12923" r="13975" t="0"/>
          <a:stretch/>
        </p:blipFill>
        <p:spPr>
          <a:xfrm rot="5400000">
            <a:off x="3507449" y="1780232"/>
            <a:ext cx="5013176" cy="3736123"/>
          </a:xfrm>
          <a:prstGeom prst="rect">
            <a:avLst/>
          </a:prstGeom>
          <a:noFill/>
          <a:ln>
            <a:noFill/>
          </a:ln>
        </p:spPr>
      </p:pic>
      <p:sp>
        <p:nvSpPr>
          <p:cNvPr id="251" name="Google Shape;251;p13"/>
          <p:cNvSpPr/>
          <p:nvPr/>
        </p:nvSpPr>
        <p:spPr>
          <a:xfrm>
            <a:off x="6435723" y="3739485"/>
            <a:ext cx="432048" cy="432048"/>
          </a:xfrm>
          <a:prstGeom prst="rect">
            <a:avLst/>
          </a:prstGeom>
          <a:noFill/>
          <a:ln cap="flat" cmpd="sng" w="25400">
            <a:solidFill>
              <a:srgbClr val="00B0F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2" name="Google Shape;252;p13"/>
          <p:cNvSpPr/>
          <p:nvPr/>
        </p:nvSpPr>
        <p:spPr>
          <a:xfrm>
            <a:off x="6978260" y="3705414"/>
            <a:ext cx="432048" cy="432048"/>
          </a:xfrm>
          <a:prstGeom prst="rect">
            <a:avLst/>
          </a:prstGeom>
          <a:noFill/>
          <a:ln cap="flat" cmpd="sng" w="25400">
            <a:solidFill>
              <a:srgbClr val="00B0F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253" name="Google Shape;253;p13"/>
          <p:cNvCxnSpPr>
            <a:stCxn id="251" idx="1"/>
          </p:cNvCxnSpPr>
          <p:nvPr/>
        </p:nvCxnSpPr>
        <p:spPr>
          <a:xfrm rot="10800000">
            <a:off x="3287823" y="3739509"/>
            <a:ext cx="3147900" cy="216000"/>
          </a:xfrm>
          <a:prstGeom prst="straightConnector1">
            <a:avLst/>
          </a:prstGeom>
          <a:noFill/>
          <a:ln cap="flat" cmpd="sng" w="28575">
            <a:solidFill>
              <a:srgbClr val="00B0F0"/>
            </a:solidFill>
            <a:prstDash val="dash"/>
            <a:round/>
            <a:headEnd len="sm" w="sm" type="none"/>
            <a:tailEnd len="med" w="med" type="triangle"/>
          </a:ln>
        </p:spPr>
      </p:cxnSp>
      <p:cxnSp>
        <p:nvCxnSpPr>
          <p:cNvPr id="254" name="Google Shape;254;p13"/>
          <p:cNvCxnSpPr/>
          <p:nvPr/>
        </p:nvCxnSpPr>
        <p:spPr>
          <a:xfrm flipH="1" rot="10800000">
            <a:off x="7805444" y="3212976"/>
            <a:ext cx="1242884" cy="392240"/>
          </a:xfrm>
          <a:prstGeom prst="straightConnector1">
            <a:avLst/>
          </a:prstGeom>
          <a:noFill/>
          <a:ln cap="flat" cmpd="sng" w="28575">
            <a:solidFill>
              <a:srgbClr val="00B0F0"/>
            </a:solidFill>
            <a:prstDash val="dash"/>
            <a:round/>
            <a:headEnd len="sm" w="sm" type="none"/>
            <a:tailEnd len="med" w="med" type="triangle"/>
          </a:ln>
        </p:spPr>
      </p:cxnSp>
      <p:sp>
        <p:nvSpPr>
          <p:cNvPr id="255" name="Google Shape;255;p13"/>
          <p:cNvSpPr txBox="1"/>
          <p:nvPr/>
        </p:nvSpPr>
        <p:spPr>
          <a:xfrm>
            <a:off x="1271464" y="5517232"/>
            <a:ext cx="1910072" cy="400110"/>
          </a:xfrm>
          <a:prstGeom prst="rect">
            <a:avLst/>
          </a:prstGeom>
          <a:solidFill>
            <a:srgbClr val="00B0F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spcBef>
                <a:spcPts val="0"/>
              </a:spcBef>
              <a:spcAft>
                <a:spcPts val="0"/>
              </a:spcAft>
              <a:buNone/>
            </a:pPr>
            <a:r>
              <a:rPr lang="es-BO" sz="2000">
                <a:solidFill>
                  <a:schemeClr val="dk1"/>
                </a:solidFill>
                <a:latin typeface="Calibri"/>
                <a:ea typeface="Calibri"/>
                <a:cs typeface="Calibri"/>
                <a:sym typeface="Calibri"/>
              </a:rPr>
              <a:t>Electroválvula 1</a:t>
            </a:r>
            <a:endParaRPr b="0" i="0" sz="2000">
              <a:solidFill>
                <a:schemeClr val="dk1"/>
              </a:solidFill>
              <a:latin typeface="Calibri"/>
              <a:ea typeface="Calibri"/>
              <a:cs typeface="Calibri"/>
              <a:sym typeface="Calibri"/>
            </a:endParaRPr>
          </a:p>
        </p:txBody>
      </p:sp>
      <p:sp>
        <p:nvSpPr>
          <p:cNvPr id="256" name="Google Shape;256;p13"/>
          <p:cNvSpPr txBox="1"/>
          <p:nvPr/>
        </p:nvSpPr>
        <p:spPr>
          <a:xfrm>
            <a:off x="9172097" y="4490963"/>
            <a:ext cx="1910072" cy="400110"/>
          </a:xfrm>
          <a:prstGeom prst="rect">
            <a:avLst/>
          </a:prstGeom>
          <a:solidFill>
            <a:srgbClr val="00B0F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spcBef>
                <a:spcPts val="0"/>
              </a:spcBef>
              <a:spcAft>
                <a:spcPts val="0"/>
              </a:spcAft>
              <a:buNone/>
            </a:pPr>
            <a:r>
              <a:rPr lang="es-BO" sz="2000">
                <a:solidFill>
                  <a:schemeClr val="dk1"/>
                </a:solidFill>
                <a:latin typeface="Calibri"/>
                <a:ea typeface="Calibri"/>
                <a:cs typeface="Calibri"/>
                <a:sym typeface="Calibri"/>
              </a:rPr>
              <a:t>Electroválvula 2</a:t>
            </a:r>
            <a:endParaRPr b="0" i="0" sz="2000">
              <a:solidFill>
                <a:schemeClr val="dk1"/>
              </a:solidFill>
              <a:latin typeface="Calibri"/>
              <a:ea typeface="Calibri"/>
              <a:cs typeface="Calibri"/>
              <a:sym typeface="Calibri"/>
            </a:endParaRPr>
          </a:p>
        </p:txBody>
      </p:sp>
      <p:sp>
        <p:nvSpPr>
          <p:cNvPr id="257" name="Google Shape;257;p13"/>
          <p:cNvSpPr txBox="1"/>
          <p:nvPr/>
        </p:nvSpPr>
        <p:spPr>
          <a:xfrm>
            <a:off x="1874804" y="6076481"/>
            <a:ext cx="178895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chemeClr val="dk1"/>
                </a:solidFill>
                <a:latin typeface="Calibri"/>
                <a:ea typeface="Calibri"/>
                <a:cs typeface="Calibri"/>
                <a:sym typeface="Calibri"/>
              </a:rPr>
              <a:t>(KV1)</a:t>
            </a:r>
            <a:endParaRPr sz="1800">
              <a:solidFill>
                <a:schemeClr val="dk1"/>
              </a:solidFill>
              <a:latin typeface="Calibri"/>
              <a:ea typeface="Calibri"/>
              <a:cs typeface="Calibri"/>
              <a:sym typeface="Calibri"/>
            </a:endParaRPr>
          </a:p>
        </p:txBody>
      </p:sp>
      <p:sp>
        <p:nvSpPr>
          <p:cNvPr id="258" name="Google Shape;258;p13"/>
          <p:cNvSpPr txBox="1"/>
          <p:nvPr/>
        </p:nvSpPr>
        <p:spPr>
          <a:xfrm>
            <a:off x="9779501" y="4935679"/>
            <a:ext cx="178895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chemeClr val="dk1"/>
                </a:solidFill>
                <a:latin typeface="Calibri"/>
                <a:ea typeface="Calibri"/>
                <a:cs typeface="Calibri"/>
                <a:sym typeface="Calibri"/>
              </a:rPr>
              <a:t>(KV2)</a:t>
            </a:r>
            <a:endParaRPr sz="1800">
              <a:solidFill>
                <a:schemeClr val="dk1"/>
              </a:solidFill>
              <a:latin typeface="Calibri"/>
              <a:ea typeface="Calibri"/>
              <a:cs typeface="Calibri"/>
              <a:sym typeface="Calibri"/>
            </a:endParaRPr>
          </a:p>
        </p:txBody>
      </p:sp>
      <p:sp>
        <p:nvSpPr>
          <p:cNvPr id="259" name="Google Shape;259;p13"/>
          <p:cNvSpPr txBox="1"/>
          <p:nvPr/>
        </p:nvSpPr>
        <p:spPr>
          <a:xfrm>
            <a:off x="4609143" y="6280936"/>
            <a:ext cx="282969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chemeClr val="dk1"/>
                </a:solidFill>
                <a:latin typeface="Calibri"/>
                <a:ea typeface="Calibri"/>
                <a:cs typeface="Calibri"/>
                <a:sym typeface="Calibri"/>
              </a:rPr>
              <a:t>Vista posterior del sistema</a:t>
            </a:r>
            <a:endParaRPr/>
          </a:p>
        </p:txBody>
      </p:sp>
    </p:spTree>
  </p:cSld>
  <p:clrMapOvr>
    <a:masterClrMapping/>
  </p:clrMapOvr>
  <p:transition spd="slow">
    <p:push/>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14"/>
          <p:cNvSpPr txBox="1"/>
          <p:nvPr/>
        </p:nvSpPr>
        <p:spPr>
          <a:xfrm>
            <a:off x="1343472" y="813380"/>
            <a:ext cx="60960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s-BO" sz="1800">
                <a:solidFill>
                  <a:schemeClr val="dk1"/>
                </a:solidFill>
                <a:latin typeface="Calibri"/>
                <a:ea typeface="Calibri"/>
                <a:cs typeface="Calibri"/>
                <a:sym typeface="Calibri"/>
              </a:rPr>
              <a:t>Flujómetro digital (Dosificador) </a:t>
            </a:r>
            <a:endParaRPr b="1" i="1" sz="1800">
              <a:solidFill>
                <a:schemeClr val="dk1"/>
              </a:solidFill>
              <a:latin typeface="Calibri"/>
              <a:ea typeface="Calibri"/>
              <a:cs typeface="Calibri"/>
              <a:sym typeface="Calibri"/>
            </a:endParaRPr>
          </a:p>
        </p:txBody>
      </p:sp>
      <p:sp>
        <p:nvSpPr>
          <p:cNvPr id="266" name="Google Shape;266;p14"/>
          <p:cNvSpPr txBox="1"/>
          <p:nvPr/>
        </p:nvSpPr>
        <p:spPr>
          <a:xfrm>
            <a:off x="1343472" y="398649"/>
            <a:ext cx="745282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BO" sz="1800">
                <a:solidFill>
                  <a:schemeClr val="dk1"/>
                </a:solidFill>
                <a:latin typeface="Calibri"/>
                <a:ea typeface="Calibri"/>
                <a:cs typeface="Calibri"/>
                <a:sym typeface="Calibri"/>
              </a:rPr>
              <a:t>EL SISTEMA DE NIVEL DE LIQUIDO - ELEMENTOS</a:t>
            </a:r>
            <a:endParaRPr/>
          </a:p>
        </p:txBody>
      </p:sp>
      <p:pic>
        <p:nvPicPr>
          <p:cNvPr id="267" name="Google Shape;267;p14"/>
          <p:cNvPicPr preferRelativeResize="0"/>
          <p:nvPr/>
        </p:nvPicPr>
        <p:blipFill rotWithShape="1">
          <a:blip r:embed="rId3">
            <a:alphaModFix/>
          </a:blip>
          <a:srcRect b="0" l="12923" r="13975" t="0"/>
          <a:stretch/>
        </p:blipFill>
        <p:spPr>
          <a:xfrm rot="5400000">
            <a:off x="1976235" y="1934825"/>
            <a:ext cx="5010492" cy="3971763"/>
          </a:xfrm>
          <a:prstGeom prst="rect">
            <a:avLst/>
          </a:prstGeom>
          <a:noFill/>
          <a:ln>
            <a:noFill/>
          </a:ln>
        </p:spPr>
      </p:pic>
      <p:sp>
        <p:nvSpPr>
          <p:cNvPr id="268" name="Google Shape;268;p14"/>
          <p:cNvSpPr/>
          <p:nvPr/>
        </p:nvSpPr>
        <p:spPr>
          <a:xfrm>
            <a:off x="4223792" y="4650452"/>
            <a:ext cx="678416" cy="792088"/>
          </a:xfrm>
          <a:prstGeom prst="rect">
            <a:avLst/>
          </a:prstGeom>
          <a:noFill/>
          <a:ln cap="flat" cmpd="sng" w="25400">
            <a:solidFill>
              <a:srgbClr val="00B0F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269" name="Google Shape;269;p14"/>
          <p:cNvCxnSpPr>
            <a:stCxn id="268" idx="3"/>
            <a:endCxn id="270" idx="2"/>
          </p:cNvCxnSpPr>
          <p:nvPr/>
        </p:nvCxnSpPr>
        <p:spPr>
          <a:xfrm flipH="1" rot="10800000">
            <a:off x="4902208" y="3322396"/>
            <a:ext cx="2537400" cy="1724100"/>
          </a:xfrm>
          <a:prstGeom prst="straightConnector1">
            <a:avLst/>
          </a:prstGeom>
          <a:noFill/>
          <a:ln cap="flat" cmpd="sng" w="28575">
            <a:solidFill>
              <a:srgbClr val="00B0F0"/>
            </a:solidFill>
            <a:prstDash val="dash"/>
            <a:round/>
            <a:headEnd len="sm" w="sm" type="none"/>
            <a:tailEnd len="med" w="med" type="triangle"/>
          </a:ln>
        </p:spPr>
      </p:cxnSp>
      <p:sp>
        <p:nvSpPr>
          <p:cNvPr id="271" name="Google Shape;271;p14"/>
          <p:cNvSpPr txBox="1"/>
          <p:nvPr/>
        </p:nvSpPr>
        <p:spPr>
          <a:xfrm>
            <a:off x="8040216" y="5061933"/>
            <a:ext cx="2808312" cy="400110"/>
          </a:xfrm>
          <a:prstGeom prst="rect">
            <a:avLst/>
          </a:prstGeom>
          <a:solidFill>
            <a:srgbClr val="00B0F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s-BO" sz="2000">
                <a:solidFill>
                  <a:schemeClr val="dk1"/>
                </a:solidFill>
                <a:latin typeface="Calibri"/>
                <a:ea typeface="Calibri"/>
                <a:cs typeface="Calibri"/>
                <a:sym typeface="Calibri"/>
              </a:rPr>
              <a:t>Flujómetro digital</a:t>
            </a:r>
            <a:endParaRPr/>
          </a:p>
        </p:txBody>
      </p:sp>
      <p:sp>
        <p:nvSpPr>
          <p:cNvPr id="272" name="Google Shape;272;p14"/>
          <p:cNvSpPr txBox="1"/>
          <p:nvPr/>
        </p:nvSpPr>
        <p:spPr>
          <a:xfrm>
            <a:off x="8616280" y="5529293"/>
            <a:ext cx="178895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chemeClr val="dk1"/>
                </a:solidFill>
                <a:latin typeface="Calibri"/>
                <a:ea typeface="Calibri"/>
                <a:cs typeface="Calibri"/>
                <a:sym typeface="Calibri"/>
              </a:rPr>
              <a:t>(Dosificador)</a:t>
            </a:r>
            <a:endParaRPr sz="1800">
              <a:solidFill>
                <a:schemeClr val="dk1"/>
              </a:solidFill>
              <a:latin typeface="Calibri"/>
              <a:ea typeface="Calibri"/>
              <a:cs typeface="Calibri"/>
              <a:sym typeface="Calibri"/>
            </a:endParaRPr>
          </a:p>
        </p:txBody>
      </p:sp>
      <p:sp>
        <p:nvSpPr>
          <p:cNvPr id="273" name="Google Shape;273;p14"/>
          <p:cNvSpPr txBox="1"/>
          <p:nvPr/>
        </p:nvSpPr>
        <p:spPr>
          <a:xfrm>
            <a:off x="3040139" y="6427317"/>
            <a:ext cx="282969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chemeClr val="dk1"/>
                </a:solidFill>
                <a:latin typeface="Calibri"/>
                <a:ea typeface="Calibri"/>
                <a:cs typeface="Calibri"/>
                <a:sym typeface="Calibri"/>
              </a:rPr>
              <a:t>Vista posterior del sistema</a:t>
            </a:r>
            <a:endParaRPr/>
          </a:p>
        </p:txBody>
      </p:sp>
      <p:pic>
        <p:nvPicPr>
          <p:cNvPr id="270" name="Google Shape;270;p14"/>
          <p:cNvPicPr preferRelativeResize="0"/>
          <p:nvPr/>
        </p:nvPicPr>
        <p:blipFill rotWithShape="1">
          <a:blip r:embed="rId4">
            <a:alphaModFix/>
          </a:blip>
          <a:srcRect b="0" l="14300" r="38449" t="3333"/>
          <a:stretch/>
        </p:blipFill>
        <p:spPr>
          <a:xfrm rot="5400000">
            <a:off x="7683799" y="1457871"/>
            <a:ext cx="3240358" cy="3729013"/>
          </a:xfrm>
          <a:prstGeom prst="rect">
            <a:avLst/>
          </a:prstGeom>
          <a:noFill/>
          <a:ln>
            <a:noFill/>
          </a:ln>
        </p:spPr>
      </p:pic>
    </p:spTree>
  </p:cSld>
  <p:clrMapOvr>
    <a:masterClrMapping/>
  </p:clrMapOvr>
  <p:transition spd="slow">
    <p:push/>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15"/>
          <p:cNvSpPr txBox="1"/>
          <p:nvPr/>
        </p:nvSpPr>
        <p:spPr>
          <a:xfrm>
            <a:off x="1363525" y="762473"/>
            <a:ext cx="60960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BO" sz="1800">
                <a:solidFill>
                  <a:schemeClr val="dk1"/>
                </a:solidFill>
                <a:latin typeface="Calibri"/>
                <a:ea typeface="Calibri"/>
                <a:cs typeface="Calibri"/>
                <a:sym typeface="Calibri"/>
              </a:rPr>
              <a:t>Sensor de presión</a:t>
            </a:r>
            <a:endParaRPr b="1" sz="1800">
              <a:solidFill>
                <a:schemeClr val="dk1"/>
              </a:solidFill>
              <a:latin typeface="Times New Roman"/>
              <a:ea typeface="Times New Roman"/>
              <a:cs typeface="Times New Roman"/>
              <a:sym typeface="Times New Roman"/>
            </a:endParaRPr>
          </a:p>
        </p:txBody>
      </p:sp>
      <p:sp>
        <p:nvSpPr>
          <p:cNvPr id="280" name="Google Shape;280;p15"/>
          <p:cNvSpPr txBox="1"/>
          <p:nvPr/>
        </p:nvSpPr>
        <p:spPr>
          <a:xfrm>
            <a:off x="1362327" y="365257"/>
            <a:ext cx="842493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s-BO" sz="1800">
                <a:solidFill>
                  <a:schemeClr val="dk1"/>
                </a:solidFill>
                <a:latin typeface="Calibri"/>
                <a:ea typeface="Calibri"/>
                <a:cs typeface="Calibri"/>
                <a:sym typeface="Calibri"/>
              </a:rPr>
              <a:t>EL SISTEMA DE NIVEL DE LIQUIDO - ELEMENTOS</a:t>
            </a:r>
            <a:endParaRPr/>
          </a:p>
        </p:txBody>
      </p:sp>
      <p:grpSp>
        <p:nvGrpSpPr>
          <p:cNvPr id="281" name="Google Shape;281;p15"/>
          <p:cNvGrpSpPr/>
          <p:nvPr/>
        </p:nvGrpSpPr>
        <p:grpSpPr>
          <a:xfrm>
            <a:off x="1631504" y="1131805"/>
            <a:ext cx="8799453" cy="5360938"/>
            <a:chOff x="3274143" y="919123"/>
            <a:chExt cx="8750351" cy="4958148"/>
          </a:xfrm>
        </p:grpSpPr>
        <p:pic>
          <p:nvPicPr>
            <p:cNvPr id="282" name="Google Shape;282;p15"/>
            <p:cNvPicPr preferRelativeResize="0"/>
            <p:nvPr/>
          </p:nvPicPr>
          <p:blipFill rotWithShape="1">
            <a:blip r:embed="rId3">
              <a:alphaModFix/>
            </a:blip>
            <a:srcRect b="0" l="15024" r="16033" t="0"/>
            <a:stretch/>
          </p:blipFill>
          <p:spPr>
            <a:xfrm rot="5400000">
              <a:off x="2896490" y="1296776"/>
              <a:ext cx="4958148" cy="4202843"/>
            </a:xfrm>
            <a:prstGeom prst="rect">
              <a:avLst/>
            </a:prstGeom>
            <a:noFill/>
            <a:ln>
              <a:noFill/>
            </a:ln>
          </p:spPr>
        </p:pic>
        <p:sp>
          <p:nvSpPr>
            <p:cNvPr id="283" name="Google Shape;283;p15"/>
            <p:cNvSpPr/>
            <p:nvPr/>
          </p:nvSpPr>
          <p:spPr>
            <a:xfrm>
              <a:off x="6151884" y="3050083"/>
              <a:ext cx="576064" cy="704379"/>
            </a:xfrm>
            <a:prstGeom prst="rect">
              <a:avLst/>
            </a:prstGeom>
            <a:noFill/>
            <a:ln cap="flat" cmpd="sng" w="25400">
              <a:solidFill>
                <a:srgbClr val="FFFF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284" name="Google Shape;284;p15"/>
            <p:cNvCxnSpPr>
              <a:stCxn id="283" idx="3"/>
              <a:endCxn id="285" idx="2"/>
            </p:cNvCxnSpPr>
            <p:nvPr/>
          </p:nvCxnSpPr>
          <p:spPr>
            <a:xfrm flipH="1" rot="10800000">
              <a:off x="6727948" y="3326673"/>
              <a:ext cx="2567100" cy="75600"/>
            </a:xfrm>
            <a:prstGeom prst="straightConnector1">
              <a:avLst/>
            </a:prstGeom>
            <a:noFill/>
            <a:ln cap="flat" cmpd="sng" w="28575">
              <a:solidFill>
                <a:srgbClr val="FFFF00"/>
              </a:solidFill>
              <a:prstDash val="dash"/>
              <a:round/>
              <a:headEnd len="sm" w="sm" type="none"/>
              <a:tailEnd len="med" w="med" type="triangle"/>
            </a:ln>
          </p:spPr>
        </p:cxnSp>
        <p:sp>
          <p:nvSpPr>
            <p:cNvPr id="286" name="Google Shape;286;p15"/>
            <p:cNvSpPr txBox="1"/>
            <p:nvPr/>
          </p:nvSpPr>
          <p:spPr>
            <a:xfrm>
              <a:off x="9756242" y="5135133"/>
              <a:ext cx="2268252" cy="400110"/>
            </a:xfrm>
            <a:prstGeom prst="rect">
              <a:avLst/>
            </a:prstGeom>
            <a:solidFill>
              <a:srgbClr val="FFFF0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s-BO" sz="2000">
                  <a:solidFill>
                    <a:schemeClr val="dk1"/>
                  </a:solidFill>
                  <a:latin typeface="Calibri"/>
                  <a:ea typeface="Calibri"/>
                  <a:cs typeface="Calibri"/>
                  <a:sym typeface="Calibri"/>
                </a:rPr>
                <a:t>Sensor de presión</a:t>
              </a:r>
              <a:endParaRPr/>
            </a:p>
          </p:txBody>
        </p:sp>
      </p:grpSp>
      <p:sp>
        <p:nvSpPr>
          <p:cNvPr id="287" name="Google Shape;287;p15"/>
          <p:cNvSpPr txBox="1"/>
          <p:nvPr/>
        </p:nvSpPr>
        <p:spPr>
          <a:xfrm>
            <a:off x="2274993" y="6474714"/>
            <a:ext cx="282969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chemeClr val="dk1"/>
                </a:solidFill>
                <a:latin typeface="Calibri"/>
                <a:ea typeface="Calibri"/>
                <a:cs typeface="Calibri"/>
                <a:sym typeface="Calibri"/>
              </a:rPr>
              <a:t>Vista posterior del sistema</a:t>
            </a:r>
            <a:endParaRPr/>
          </a:p>
        </p:txBody>
      </p:sp>
      <p:pic>
        <p:nvPicPr>
          <p:cNvPr id="285" name="Google Shape;285;p15"/>
          <p:cNvPicPr preferRelativeResize="0"/>
          <p:nvPr/>
        </p:nvPicPr>
        <p:blipFill rotWithShape="1">
          <a:blip r:embed="rId4">
            <a:alphaModFix/>
          </a:blip>
          <a:srcRect b="16399" l="29000" r="16400" t="-399"/>
          <a:stretch/>
        </p:blipFill>
        <p:spPr>
          <a:xfrm rot="5400000">
            <a:off x="7434066" y="2114654"/>
            <a:ext cx="3744416" cy="3240360"/>
          </a:xfrm>
          <a:prstGeom prst="rect">
            <a:avLst/>
          </a:prstGeom>
          <a:noFill/>
          <a:ln>
            <a:noFill/>
          </a:ln>
        </p:spPr>
      </p:pic>
    </p:spTree>
  </p:cSld>
  <p:clrMapOvr>
    <a:masterClrMapping/>
  </p:clrMapOvr>
  <p:transition spd="slow">
    <p:push/>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16"/>
          <p:cNvSpPr txBox="1"/>
          <p:nvPr/>
        </p:nvSpPr>
        <p:spPr>
          <a:xfrm>
            <a:off x="1343472" y="692696"/>
            <a:ext cx="907300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s-BO" sz="1800">
                <a:solidFill>
                  <a:schemeClr val="dk1"/>
                </a:solidFill>
                <a:latin typeface="Calibri"/>
                <a:ea typeface="Calibri"/>
                <a:cs typeface="Calibri"/>
                <a:sym typeface="Calibri"/>
              </a:rPr>
              <a:t>Sensores de temperatura TC (Termocupla) y RTD (Resistivo) </a:t>
            </a:r>
            <a:endParaRPr b="1" i="1" sz="1800">
              <a:solidFill>
                <a:schemeClr val="dk1"/>
              </a:solidFill>
              <a:latin typeface="Calibri"/>
              <a:ea typeface="Calibri"/>
              <a:cs typeface="Calibri"/>
              <a:sym typeface="Calibri"/>
            </a:endParaRPr>
          </a:p>
        </p:txBody>
      </p:sp>
      <p:sp>
        <p:nvSpPr>
          <p:cNvPr id="294" name="Google Shape;294;p16"/>
          <p:cNvSpPr txBox="1"/>
          <p:nvPr/>
        </p:nvSpPr>
        <p:spPr>
          <a:xfrm>
            <a:off x="1307123" y="235919"/>
            <a:ext cx="842493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BO" sz="1800">
                <a:solidFill>
                  <a:schemeClr val="dk1"/>
                </a:solidFill>
                <a:latin typeface="Calibri"/>
                <a:ea typeface="Calibri"/>
                <a:cs typeface="Calibri"/>
                <a:sym typeface="Calibri"/>
              </a:rPr>
              <a:t>EL SISTEMA DE NIVEL DE LIQUIDO - ELEMENTOS</a:t>
            </a:r>
            <a:endParaRPr/>
          </a:p>
        </p:txBody>
      </p:sp>
      <p:pic>
        <p:nvPicPr>
          <p:cNvPr id="295" name="Google Shape;295;p16"/>
          <p:cNvPicPr preferRelativeResize="0"/>
          <p:nvPr/>
        </p:nvPicPr>
        <p:blipFill rotWithShape="1">
          <a:blip r:embed="rId3">
            <a:alphaModFix/>
          </a:blip>
          <a:srcRect b="0" l="12923" r="13975" t="0"/>
          <a:stretch/>
        </p:blipFill>
        <p:spPr>
          <a:xfrm rot="5400000">
            <a:off x="3415054" y="1520598"/>
            <a:ext cx="5013176" cy="4403812"/>
          </a:xfrm>
          <a:prstGeom prst="rect">
            <a:avLst/>
          </a:prstGeom>
          <a:noFill/>
          <a:ln>
            <a:noFill/>
          </a:ln>
        </p:spPr>
      </p:pic>
      <p:sp>
        <p:nvSpPr>
          <p:cNvPr id="296" name="Google Shape;296;p16"/>
          <p:cNvSpPr/>
          <p:nvPr/>
        </p:nvSpPr>
        <p:spPr>
          <a:xfrm>
            <a:off x="7248128" y="3409950"/>
            <a:ext cx="576064" cy="576064"/>
          </a:xfrm>
          <a:prstGeom prst="rect">
            <a:avLst/>
          </a:prstGeom>
          <a:noFill/>
          <a:ln cap="flat" cmpd="sng" w="25400">
            <a:solidFill>
              <a:srgbClr val="FFFF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97" name="Google Shape;297;p16"/>
          <p:cNvSpPr/>
          <p:nvPr/>
        </p:nvSpPr>
        <p:spPr>
          <a:xfrm>
            <a:off x="6240016" y="3409950"/>
            <a:ext cx="708756" cy="576064"/>
          </a:xfrm>
          <a:prstGeom prst="rect">
            <a:avLst/>
          </a:prstGeom>
          <a:noFill/>
          <a:ln cap="flat" cmpd="sng" w="25400">
            <a:solidFill>
              <a:srgbClr val="00B0F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298" name="Google Shape;298;p16"/>
          <p:cNvCxnSpPr>
            <a:stCxn id="296" idx="3"/>
            <a:endCxn id="299" idx="1"/>
          </p:cNvCxnSpPr>
          <p:nvPr/>
        </p:nvCxnSpPr>
        <p:spPr>
          <a:xfrm flipH="1" rot="10800000">
            <a:off x="7824192" y="3107882"/>
            <a:ext cx="1296000" cy="590100"/>
          </a:xfrm>
          <a:prstGeom prst="straightConnector1">
            <a:avLst/>
          </a:prstGeom>
          <a:noFill/>
          <a:ln cap="flat" cmpd="sng" w="28575">
            <a:solidFill>
              <a:srgbClr val="FFFF00"/>
            </a:solidFill>
            <a:prstDash val="dash"/>
            <a:round/>
            <a:headEnd len="sm" w="sm" type="none"/>
            <a:tailEnd len="med" w="med" type="triangle"/>
          </a:ln>
        </p:spPr>
      </p:cxnSp>
      <p:sp>
        <p:nvSpPr>
          <p:cNvPr id="300" name="Google Shape;300;p16"/>
          <p:cNvSpPr txBox="1"/>
          <p:nvPr/>
        </p:nvSpPr>
        <p:spPr>
          <a:xfrm>
            <a:off x="8914190" y="4712192"/>
            <a:ext cx="2849240" cy="707886"/>
          </a:xfrm>
          <a:prstGeom prst="rect">
            <a:avLst/>
          </a:prstGeom>
          <a:solidFill>
            <a:srgbClr val="FFFF0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s-BO" sz="2000">
                <a:solidFill>
                  <a:schemeClr val="dk1"/>
                </a:solidFill>
                <a:latin typeface="Calibri"/>
                <a:ea typeface="Calibri"/>
                <a:cs typeface="Calibri"/>
                <a:sym typeface="Calibri"/>
              </a:rPr>
              <a:t>Sensor de temperatura RTD</a:t>
            </a:r>
            <a:endParaRPr/>
          </a:p>
        </p:txBody>
      </p:sp>
      <p:cxnSp>
        <p:nvCxnSpPr>
          <p:cNvPr id="301" name="Google Shape;301;p16"/>
          <p:cNvCxnSpPr>
            <a:stCxn id="297" idx="1"/>
            <a:endCxn id="302" idx="3"/>
          </p:cNvCxnSpPr>
          <p:nvPr/>
        </p:nvCxnSpPr>
        <p:spPr>
          <a:xfrm rot="10800000">
            <a:off x="3477016" y="3107882"/>
            <a:ext cx="2763000" cy="590100"/>
          </a:xfrm>
          <a:prstGeom prst="straightConnector1">
            <a:avLst/>
          </a:prstGeom>
          <a:noFill/>
          <a:ln cap="flat" cmpd="sng" w="28575">
            <a:solidFill>
              <a:srgbClr val="00B0F0"/>
            </a:solidFill>
            <a:prstDash val="dash"/>
            <a:round/>
            <a:headEnd len="sm" w="sm" type="none"/>
            <a:tailEnd len="med" w="med" type="triangle"/>
          </a:ln>
        </p:spPr>
      </p:cxnSp>
      <p:sp>
        <p:nvSpPr>
          <p:cNvPr id="303" name="Google Shape;303;p16"/>
          <p:cNvSpPr txBox="1"/>
          <p:nvPr/>
        </p:nvSpPr>
        <p:spPr>
          <a:xfrm>
            <a:off x="880398" y="4697413"/>
            <a:ext cx="2459596" cy="707886"/>
          </a:xfrm>
          <a:prstGeom prst="rect">
            <a:avLst/>
          </a:prstGeom>
          <a:solidFill>
            <a:srgbClr val="00B0F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s-BO" sz="2000">
                <a:solidFill>
                  <a:schemeClr val="dk1"/>
                </a:solidFill>
                <a:latin typeface="Calibri"/>
                <a:ea typeface="Calibri"/>
                <a:cs typeface="Calibri"/>
                <a:sym typeface="Calibri"/>
              </a:rPr>
              <a:t>Sensor de temperatura TC	</a:t>
            </a:r>
            <a:endParaRPr b="0" i="0" sz="2000">
              <a:solidFill>
                <a:schemeClr val="dk1"/>
              </a:solidFill>
              <a:latin typeface="Calibri"/>
              <a:ea typeface="Calibri"/>
              <a:cs typeface="Calibri"/>
              <a:sym typeface="Calibri"/>
            </a:endParaRPr>
          </a:p>
        </p:txBody>
      </p:sp>
      <p:sp>
        <p:nvSpPr>
          <p:cNvPr id="304" name="Google Shape;304;p16"/>
          <p:cNvSpPr txBox="1"/>
          <p:nvPr/>
        </p:nvSpPr>
        <p:spPr>
          <a:xfrm>
            <a:off x="4506793" y="6360477"/>
            <a:ext cx="282969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chemeClr val="dk1"/>
                </a:solidFill>
                <a:latin typeface="Calibri"/>
                <a:ea typeface="Calibri"/>
                <a:cs typeface="Calibri"/>
                <a:sym typeface="Calibri"/>
              </a:rPr>
              <a:t>Vista posterior del sistema</a:t>
            </a:r>
            <a:endParaRPr/>
          </a:p>
        </p:txBody>
      </p:sp>
      <p:pic>
        <p:nvPicPr>
          <p:cNvPr id="299" name="Google Shape;299;p16"/>
          <p:cNvPicPr preferRelativeResize="0"/>
          <p:nvPr/>
        </p:nvPicPr>
        <p:blipFill rotWithShape="1">
          <a:blip r:embed="rId4">
            <a:alphaModFix/>
          </a:blip>
          <a:srcRect b="38870" l="50458" r="36582" t="29554"/>
          <a:stretch/>
        </p:blipFill>
        <p:spPr>
          <a:xfrm>
            <a:off x="9120336" y="1739785"/>
            <a:ext cx="2436948" cy="2736305"/>
          </a:xfrm>
          <a:prstGeom prst="rect">
            <a:avLst/>
          </a:prstGeom>
          <a:noFill/>
          <a:ln>
            <a:noFill/>
          </a:ln>
        </p:spPr>
      </p:pic>
      <p:pic>
        <p:nvPicPr>
          <p:cNvPr id="302" name="Google Shape;302;p16"/>
          <p:cNvPicPr preferRelativeResize="0"/>
          <p:nvPr/>
        </p:nvPicPr>
        <p:blipFill rotWithShape="1">
          <a:blip r:embed="rId4">
            <a:alphaModFix/>
          </a:blip>
          <a:srcRect b="34414" l="27989" r="55135" t="31269"/>
          <a:stretch/>
        </p:blipFill>
        <p:spPr>
          <a:xfrm>
            <a:off x="743321" y="1827275"/>
            <a:ext cx="2733751" cy="2561325"/>
          </a:xfrm>
          <a:prstGeom prst="rect">
            <a:avLst/>
          </a:prstGeom>
          <a:noFill/>
          <a:ln>
            <a:noFill/>
          </a:ln>
        </p:spPr>
      </p:pic>
    </p:spTree>
  </p:cSld>
  <p:clrMapOvr>
    <a:masterClrMapping/>
  </p:clrMapOvr>
  <p:transition spd="slow">
    <p:push/>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17"/>
          <p:cNvSpPr txBox="1"/>
          <p:nvPr/>
        </p:nvSpPr>
        <p:spPr>
          <a:xfrm>
            <a:off x="1343472" y="751547"/>
            <a:ext cx="626469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s-BO" sz="1800">
                <a:solidFill>
                  <a:schemeClr val="dk1"/>
                </a:solidFill>
                <a:latin typeface="Calibri"/>
                <a:ea typeface="Calibri"/>
                <a:cs typeface="Calibri"/>
                <a:sym typeface="Calibri"/>
              </a:rPr>
              <a:t>Motor trifásico y Bomba centrífuga</a:t>
            </a:r>
            <a:endParaRPr b="1" i="1" sz="1800">
              <a:solidFill>
                <a:schemeClr val="dk1"/>
              </a:solidFill>
              <a:latin typeface="Times New Roman"/>
              <a:ea typeface="Times New Roman"/>
              <a:cs typeface="Times New Roman"/>
              <a:sym typeface="Times New Roman"/>
            </a:endParaRPr>
          </a:p>
        </p:txBody>
      </p:sp>
      <p:sp>
        <p:nvSpPr>
          <p:cNvPr id="311" name="Google Shape;311;p17"/>
          <p:cNvSpPr txBox="1"/>
          <p:nvPr/>
        </p:nvSpPr>
        <p:spPr>
          <a:xfrm>
            <a:off x="1343471" y="276583"/>
            <a:ext cx="842493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BO" sz="1800">
                <a:solidFill>
                  <a:schemeClr val="dk1"/>
                </a:solidFill>
                <a:latin typeface="Calibri"/>
                <a:ea typeface="Calibri"/>
                <a:cs typeface="Calibri"/>
                <a:sym typeface="Calibri"/>
              </a:rPr>
              <a:t>EL SISTEMA DE NIVEL DE LIQUIDO - ELEMENTOS</a:t>
            </a:r>
            <a:endParaRPr b="1" sz="1200">
              <a:solidFill>
                <a:schemeClr val="dk1"/>
              </a:solidFill>
              <a:latin typeface="Calibri"/>
              <a:ea typeface="Calibri"/>
              <a:cs typeface="Calibri"/>
              <a:sym typeface="Calibri"/>
            </a:endParaRPr>
          </a:p>
        </p:txBody>
      </p:sp>
      <p:pic>
        <p:nvPicPr>
          <p:cNvPr id="312" name="Google Shape;312;p17"/>
          <p:cNvPicPr preferRelativeResize="0"/>
          <p:nvPr/>
        </p:nvPicPr>
        <p:blipFill rotWithShape="1">
          <a:blip r:embed="rId3">
            <a:alphaModFix/>
          </a:blip>
          <a:srcRect b="0" l="0" r="18500" t="0"/>
          <a:stretch/>
        </p:blipFill>
        <p:spPr>
          <a:xfrm rot="5400000">
            <a:off x="563337" y="2028944"/>
            <a:ext cx="5088661" cy="3528392"/>
          </a:xfrm>
          <a:prstGeom prst="rect">
            <a:avLst/>
          </a:prstGeom>
          <a:noFill/>
          <a:ln>
            <a:noFill/>
          </a:ln>
        </p:spPr>
      </p:pic>
      <p:sp>
        <p:nvSpPr>
          <p:cNvPr id="313" name="Google Shape;313;p17"/>
          <p:cNvSpPr/>
          <p:nvPr/>
        </p:nvSpPr>
        <p:spPr>
          <a:xfrm>
            <a:off x="3359696" y="4869160"/>
            <a:ext cx="1080120" cy="864096"/>
          </a:xfrm>
          <a:prstGeom prst="rect">
            <a:avLst/>
          </a:prstGeom>
          <a:noFill/>
          <a:ln cap="flat" cmpd="sng" w="25400">
            <a:solidFill>
              <a:srgbClr val="00B0F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14" name="Google Shape;314;p17"/>
          <p:cNvSpPr/>
          <p:nvPr/>
        </p:nvSpPr>
        <p:spPr>
          <a:xfrm>
            <a:off x="6096000" y="869605"/>
            <a:ext cx="4392488" cy="3096344"/>
          </a:xfrm>
          <a:prstGeom prst="ellipse">
            <a:avLst/>
          </a:prstGeom>
          <a:blipFill rotWithShape="1">
            <a:blip r:embed="rId4">
              <a:alphaModFix/>
            </a:blip>
            <a:stretch>
              <a:fillRect b="0" l="0" r="0" t="0"/>
            </a:stretch>
          </a:blipFill>
          <a:ln cap="flat" cmpd="sng" w="25400">
            <a:solidFill>
              <a:srgbClr val="00B0F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315" name="Google Shape;315;p17"/>
          <p:cNvCxnSpPr>
            <a:endCxn id="314" idx="2"/>
          </p:cNvCxnSpPr>
          <p:nvPr/>
        </p:nvCxnSpPr>
        <p:spPr>
          <a:xfrm flipH="1" rot="10800000">
            <a:off x="4439700" y="2417777"/>
            <a:ext cx="1656300" cy="2451300"/>
          </a:xfrm>
          <a:prstGeom prst="straightConnector1">
            <a:avLst/>
          </a:prstGeom>
          <a:noFill/>
          <a:ln cap="flat" cmpd="sng" w="28575">
            <a:solidFill>
              <a:srgbClr val="00B0F0"/>
            </a:solidFill>
            <a:prstDash val="dash"/>
            <a:round/>
            <a:headEnd len="sm" w="sm" type="none"/>
            <a:tailEnd len="med" w="med" type="triangle"/>
          </a:ln>
        </p:spPr>
      </p:cxnSp>
      <p:sp>
        <p:nvSpPr>
          <p:cNvPr id="316" name="Google Shape;316;p17"/>
          <p:cNvSpPr/>
          <p:nvPr/>
        </p:nvSpPr>
        <p:spPr>
          <a:xfrm>
            <a:off x="6240016" y="1247140"/>
            <a:ext cx="1368152" cy="2543569"/>
          </a:xfrm>
          <a:prstGeom prst="rect">
            <a:avLst/>
          </a:prstGeom>
          <a:noFill/>
          <a:ln cap="flat" cmpd="sng" w="25400">
            <a:solidFill>
              <a:srgbClr val="7030A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17" name="Google Shape;317;p17"/>
          <p:cNvSpPr/>
          <p:nvPr/>
        </p:nvSpPr>
        <p:spPr>
          <a:xfrm>
            <a:off x="7896200" y="1239217"/>
            <a:ext cx="2448271" cy="2543569"/>
          </a:xfrm>
          <a:prstGeom prst="rect">
            <a:avLst/>
          </a:prstGeom>
          <a:noFill/>
          <a:ln cap="flat" cmpd="sng" w="25400">
            <a:solidFill>
              <a:srgbClr val="FFFF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18" name="Google Shape;318;p17"/>
          <p:cNvSpPr txBox="1"/>
          <p:nvPr/>
        </p:nvSpPr>
        <p:spPr>
          <a:xfrm>
            <a:off x="8162181" y="4469050"/>
            <a:ext cx="2144699" cy="400110"/>
          </a:xfrm>
          <a:prstGeom prst="rect">
            <a:avLst/>
          </a:prstGeom>
          <a:solidFill>
            <a:srgbClr val="FFFF0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s-BO" sz="2000">
                <a:solidFill>
                  <a:schemeClr val="dk1"/>
                </a:solidFill>
                <a:latin typeface="Calibri"/>
                <a:ea typeface="Calibri"/>
                <a:cs typeface="Calibri"/>
                <a:sym typeface="Calibri"/>
              </a:rPr>
              <a:t>Motor trifásico</a:t>
            </a:r>
            <a:endParaRPr/>
          </a:p>
        </p:txBody>
      </p:sp>
      <p:sp>
        <p:nvSpPr>
          <p:cNvPr id="319" name="Google Shape;319;p17"/>
          <p:cNvSpPr txBox="1"/>
          <p:nvPr/>
        </p:nvSpPr>
        <p:spPr>
          <a:xfrm>
            <a:off x="5876652" y="4469050"/>
            <a:ext cx="2144699" cy="400110"/>
          </a:xfrm>
          <a:prstGeom prst="rect">
            <a:avLst/>
          </a:prstGeom>
          <a:solidFill>
            <a:srgbClr val="CCC0D9"/>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s-BO" sz="2000">
                <a:solidFill>
                  <a:schemeClr val="dk1"/>
                </a:solidFill>
                <a:latin typeface="Calibri"/>
                <a:ea typeface="Calibri"/>
                <a:cs typeface="Calibri"/>
                <a:sym typeface="Calibri"/>
              </a:rPr>
              <a:t>Bomba centrífuga</a:t>
            </a:r>
            <a:endParaRPr b="0" i="0" sz="2000">
              <a:solidFill>
                <a:schemeClr val="dk1"/>
              </a:solidFill>
              <a:latin typeface="Calibri"/>
              <a:ea typeface="Calibri"/>
              <a:cs typeface="Calibri"/>
              <a:sym typeface="Calibri"/>
            </a:endParaRPr>
          </a:p>
        </p:txBody>
      </p:sp>
      <p:cxnSp>
        <p:nvCxnSpPr>
          <p:cNvPr id="320" name="Google Shape;320;p17"/>
          <p:cNvCxnSpPr>
            <a:stCxn id="316" idx="2"/>
            <a:endCxn id="319" idx="0"/>
          </p:cNvCxnSpPr>
          <p:nvPr/>
        </p:nvCxnSpPr>
        <p:spPr>
          <a:xfrm>
            <a:off x="6924092" y="3790709"/>
            <a:ext cx="24900" cy="678300"/>
          </a:xfrm>
          <a:prstGeom prst="straightConnector1">
            <a:avLst/>
          </a:prstGeom>
          <a:noFill/>
          <a:ln cap="flat" cmpd="sng" w="28575">
            <a:solidFill>
              <a:srgbClr val="7030A0"/>
            </a:solidFill>
            <a:prstDash val="dash"/>
            <a:round/>
            <a:headEnd len="sm" w="sm" type="none"/>
            <a:tailEnd len="med" w="med" type="triangle"/>
          </a:ln>
        </p:spPr>
      </p:cxnSp>
      <p:cxnSp>
        <p:nvCxnSpPr>
          <p:cNvPr id="321" name="Google Shape;321;p17"/>
          <p:cNvCxnSpPr>
            <a:endCxn id="318" idx="0"/>
          </p:cNvCxnSpPr>
          <p:nvPr/>
        </p:nvCxnSpPr>
        <p:spPr>
          <a:xfrm>
            <a:off x="9026031" y="3807550"/>
            <a:ext cx="208500" cy="661500"/>
          </a:xfrm>
          <a:prstGeom prst="straightConnector1">
            <a:avLst/>
          </a:prstGeom>
          <a:noFill/>
          <a:ln cap="flat" cmpd="sng" w="28575">
            <a:solidFill>
              <a:srgbClr val="FFFF00"/>
            </a:solidFill>
            <a:prstDash val="dash"/>
            <a:round/>
            <a:headEnd len="sm" w="sm" type="none"/>
            <a:tailEnd len="med" w="med" type="triangle"/>
          </a:ln>
        </p:spPr>
      </p:cxnSp>
      <p:sp>
        <p:nvSpPr>
          <p:cNvPr id="322" name="Google Shape;322;p17"/>
          <p:cNvSpPr txBox="1"/>
          <p:nvPr/>
        </p:nvSpPr>
        <p:spPr>
          <a:xfrm>
            <a:off x="1847528" y="6396751"/>
            <a:ext cx="282969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chemeClr val="dk1"/>
                </a:solidFill>
                <a:latin typeface="Calibri"/>
                <a:ea typeface="Calibri"/>
                <a:cs typeface="Calibri"/>
                <a:sym typeface="Calibri"/>
              </a:rPr>
              <a:t>Vista frontal del sistema</a:t>
            </a:r>
            <a:endParaRPr/>
          </a:p>
        </p:txBody>
      </p:sp>
    </p:spTree>
  </p:cSld>
  <p:clrMapOvr>
    <a:masterClrMapping/>
  </p:clrMapOvr>
  <p:transition spd="slow">
    <p:push/>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18"/>
          <p:cNvSpPr txBox="1"/>
          <p:nvPr/>
        </p:nvSpPr>
        <p:spPr>
          <a:xfrm>
            <a:off x="1205193" y="833686"/>
            <a:ext cx="60960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s-BO" sz="1800">
                <a:solidFill>
                  <a:schemeClr val="dk1"/>
                </a:solidFill>
                <a:latin typeface="Calibri"/>
                <a:ea typeface="Calibri"/>
                <a:cs typeface="Calibri"/>
                <a:sym typeface="Calibri"/>
              </a:rPr>
              <a:t>Variador de frecuencia</a:t>
            </a:r>
            <a:endParaRPr b="1" i="1" sz="1800">
              <a:solidFill>
                <a:schemeClr val="dk1"/>
              </a:solidFill>
              <a:latin typeface="Times New Roman"/>
              <a:ea typeface="Times New Roman"/>
              <a:cs typeface="Times New Roman"/>
              <a:sym typeface="Times New Roman"/>
            </a:endParaRPr>
          </a:p>
        </p:txBody>
      </p:sp>
      <p:sp>
        <p:nvSpPr>
          <p:cNvPr id="329" name="Google Shape;329;p18"/>
          <p:cNvSpPr txBox="1"/>
          <p:nvPr/>
        </p:nvSpPr>
        <p:spPr>
          <a:xfrm>
            <a:off x="1205193" y="395946"/>
            <a:ext cx="842493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BO" sz="1800">
                <a:solidFill>
                  <a:schemeClr val="dk1"/>
                </a:solidFill>
                <a:latin typeface="Calibri"/>
                <a:ea typeface="Calibri"/>
                <a:cs typeface="Calibri"/>
                <a:sym typeface="Calibri"/>
              </a:rPr>
              <a:t>EL SISTEMA DE NIVEL DE LIQUIDO - ELEMENTOS</a:t>
            </a:r>
            <a:endParaRPr/>
          </a:p>
        </p:txBody>
      </p:sp>
      <p:grpSp>
        <p:nvGrpSpPr>
          <p:cNvPr id="330" name="Google Shape;330;p18"/>
          <p:cNvGrpSpPr/>
          <p:nvPr/>
        </p:nvGrpSpPr>
        <p:grpSpPr>
          <a:xfrm>
            <a:off x="1859110" y="548680"/>
            <a:ext cx="8424937" cy="5622074"/>
            <a:chOff x="1415479" y="875039"/>
            <a:chExt cx="8473780" cy="5387674"/>
          </a:xfrm>
        </p:grpSpPr>
        <p:pic>
          <p:nvPicPr>
            <p:cNvPr id="331" name="Google Shape;331;p18"/>
            <p:cNvPicPr preferRelativeResize="0"/>
            <p:nvPr/>
          </p:nvPicPr>
          <p:blipFill rotWithShape="1">
            <a:blip r:embed="rId3">
              <a:alphaModFix/>
            </a:blip>
            <a:srcRect b="0" l="6086" r="18499" t="0"/>
            <a:stretch/>
          </p:blipFill>
          <p:spPr>
            <a:xfrm rot="5400000">
              <a:off x="825341" y="2144182"/>
              <a:ext cx="4708669" cy="3528392"/>
            </a:xfrm>
            <a:prstGeom prst="rect">
              <a:avLst/>
            </a:prstGeom>
            <a:noFill/>
            <a:ln>
              <a:noFill/>
            </a:ln>
          </p:spPr>
        </p:pic>
        <p:sp>
          <p:nvSpPr>
            <p:cNvPr id="332" name="Google Shape;332;p18"/>
            <p:cNvSpPr/>
            <p:nvPr/>
          </p:nvSpPr>
          <p:spPr>
            <a:xfrm>
              <a:off x="3575720" y="2996952"/>
              <a:ext cx="360040" cy="504056"/>
            </a:xfrm>
            <a:prstGeom prst="rect">
              <a:avLst/>
            </a:prstGeom>
            <a:noFill/>
            <a:ln cap="flat" cmpd="sng" w="25400">
              <a:solidFill>
                <a:srgbClr val="00B0F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33" name="Google Shape;333;p18"/>
            <p:cNvSpPr/>
            <p:nvPr/>
          </p:nvSpPr>
          <p:spPr>
            <a:xfrm>
              <a:off x="7124128" y="875039"/>
              <a:ext cx="2337305" cy="3365213"/>
            </a:xfrm>
            <a:prstGeom prst="ellipse">
              <a:avLst/>
            </a:prstGeom>
            <a:blipFill rotWithShape="1">
              <a:blip r:embed="rId4">
                <a:alphaModFix/>
              </a:blip>
              <a:stretch>
                <a:fillRect b="0" l="0" r="0" t="0"/>
              </a:stretch>
            </a:blipFill>
            <a:ln cap="flat" cmpd="sng" w="25400">
              <a:solidFill>
                <a:srgbClr val="00B0F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334" name="Google Shape;334;p18"/>
            <p:cNvCxnSpPr>
              <a:endCxn id="333" idx="2"/>
            </p:cNvCxnSpPr>
            <p:nvPr/>
          </p:nvCxnSpPr>
          <p:spPr>
            <a:xfrm flipH="1" rot="10800000">
              <a:off x="3935728" y="2557646"/>
              <a:ext cx="3188400" cy="655200"/>
            </a:xfrm>
            <a:prstGeom prst="straightConnector1">
              <a:avLst/>
            </a:prstGeom>
            <a:noFill/>
            <a:ln cap="flat" cmpd="sng" w="28575">
              <a:solidFill>
                <a:srgbClr val="00B0F0"/>
              </a:solidFill>
              <a:prstDash val="dash"/>
              <a:round/>
              <a:headEnd len="sm" w="sm" type="none"/>
              <a:tailEnd len="med" w="med" type="triangle"/>
            </a:ln>
          </p:spPr>
        </p:cxnSp>
        <p:sp>
          <p:nvSpPr>
            <p:cNvPr id="335" name="Google Shape;335;p18"/>
            <p:cNvSpPr txBox="1"/>
            <p:nvPr/>
          </p:nvSpPr>
          <p:spPr>
            <a:xfrm>
              <a:off x="6519238" y="4370166"/>
              <a:ext cx="3370021" cy="400110"/>
            </a:xfrm>
            <a:prstGeom prst="rect">
              <a:avLst/>
            </a:prstGeom>
            <a:solidFill>
              <a:srgbClr val="00B0F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s-BO" sz="2000">
                  <a:solidFill>
                    <a:schemeClr val="dk1"/>
                  </a:solidFill>
                  <a:latin typeface="Calibri"/>
                  <a:ea typeface="Calibri"/>
                  <a:cs typeface="Calibri"/>
                  <a:sym typeface="Calibri"/>
                </a:rPr>
                <a:t>Variador de frecuencia	</a:t>
              </a:r>
              <a:endParaRPr b="0" i="0" sz="2000">
                <a:solidFill>
                  <a:schemeClr val="dk1"/>
                </a:solidFill>
                <a:latin typeface="Calibri"/>
                <a:ea typeface="Calibri"/>
                <a:cs typeface="Calibri"/>
                <a:sym typeface="Calibri"/>
              </a:endParaRPr>
            </a:p>
          </p:txBody>
        </p:sp>
        <p:sp>
          <p:nvSpPr>
            <p:cNvPr id="336" name="Google Shape;336;p18"/>
            <p:cNvSpPr txBox="1"/>
            <p:nvPr/>
          </p:nvSpPr>
          <p:spPr>
            <a:xfrm>
              <a:off x="7824192" y="4880037"/>
              <a:ext cx="178895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chemeClr val="dk1"/>
                  </a:solidFill>
                  <a:latin typeface="Calibri"/>
                  <a:ea typeface="Calibri"/>
                  <a:cs typeface="Calibri"/>
                  <a:sym typeface="Calibri"/>
                </a:rPr>
                <a:t>(VFD)</a:t>
              </a:r>
              <a:endParaRPr sz="1800">
                <a:solidFill>
                  <a:schemeClr val="dk1"/>
                </a:solidFill>
                <a:latin typeface="Calibri"/>
                <a:ea typeface="Calibri"/>
                <a:cs typeface="Calibri"/>
                <a:sym typeface="Calibri"/>
              </a:endParaRPr>
            </a:p>
          </p:txBody>
        </p:sp>
      </p:grpSp>
      <p:sp>
        <p:nvSpPr>
          <p:cNvPr id="337" name="Google Shape;337;p18"/>
          <p:cNvSpPr txBox="1"/>
          <p:nvPr/>
        </p:nvSpPr>
        <p:spPr>
          <a:xfrm>
            <a:off x="2537468" y="6277388"/>
            <a:ext cx="282969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chemeClr val="dk1"/>
                </a:solidFill>
                <a:latin typeface="Calibri"/>
                <a:ea typeface="Calibri"/>
                <a:cs typeface="Calibri"/>
                <a:sym typeface="Calibri"/>
              </a:rPr>
              <a:t>Vista frontal del sistema</a:t>
            </a:r>
            <a:endParaRPr/>
          </a:p>
        </p:txBody>
      </p:sp>
    </p:spTree>
  </p:cSld>
  <p:clrMapOvr>
    <a:masterClrMapping/>
  </p:clrMapOvr>
  <p:transition spd="slow">
    <p:push/>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19"/>
          <p:cNvSpPr txBox="1"/>
          <p:nvPr/>
        </p:nvSpPr>
        <p:spPr>
          <a:xfrm>
            <a:off x="1338050" y="718982"/>
            <a:ext cx="60960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s-BO" sz="1800">
                <a:solidFill>
                  <a:schemeClr val="dk1"/>
                </a:solidFill>
                <a:latin typeface="Calibri"/>
                <a:ea typeface="Calibri"/>
                <a:cs typeface="Calibri"/>
                <a:sym typeface="Calibri"/>
              </a:rPr>
              <a:t>Sensor de Ultrasonido</a:t>
            </a:r>
            <a:endParaRPr b="1" i="1" sz="1800">
              <a:solidFill>
                <a:schemeClr val="dk1"/>
              </a:solidFill>
              <a:latin typeface="Times New Roman"/>
              <a:ea typeface="Times New Roman"/>
              <a:cs typeface="Times New Roman"/>
              <a:sym typeface="Times New Roman"/>
            </a:endParaRPr>
          </a:p>
        </p:txBody>
      </p:sp>
      <p:sp>
        <p:nvSpPr>
          <p:cNvPr id="344" name="Google Shape;344;p19"/>
          <p:cNvSpPr txBox="1"/>
          <p:nvPr/>
        </p:nvSpPr>
        <p:spPr>
          <a:xfrm>
            <a:off x="1318868" y="295555"/>
            <a:ext cx="842493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BO" sz="1800">
                <a:solidFill>
                  <a:schemeClr val="dk1"/>
                </a:solidFill>
                <a:latin typeface="Calibri"/>
                <a:ea typeface="Calibri"/>
                <a:cs typeface="Calibri"/>
                <a:sym typeface="Calibri"/>
              </a:rPr>
              <a:t>EL SISTEMA DE NIVEL DE LIQUIDO - ELEMENTOS</a:t>
            </a:r>
            <a:endParaRPr/>
          </a:p>
        </p:txBody>
      </p:sp>
      <p:pic>
        <p:nvPicPr>
          <p:cNvPr id="345" name="Google Shape;345;p19"/>
          <p:cNvPicPr preferRelativeResize="0"/>
          <p:nvPr/>
        </p:nvPicPr>
        <p:blipFill rotWithShape="1">
          <a:blip r:embed="rId3">
            <a:alphaModFix/>
          </a:blip>
          <a:srcRect b="0" l="6086" r="18499" t="0"/>
          <a:stretch/>
        </p:blipFill>
        <p:spPr>
          <a:xfrm rot="5400000">
            <a:off x="1120639" y="1750271"/>
            <a:ext cx="5111992" cy="3830618"/>
          </a:xfrm>
          <a:prstGeom prst="rect">
            <a:avLst/>
          </a:prstGeom>
          <a:noFill/>
          <a:ln>
            <a:noFill/>
          </a:ln>
        </p:spPr>
      </p:pic>
      <p:sp>
        <p:nvSpPr>
          <p:cNvPr id="346" name="Google Shape;346;p19"/>
          <p:cNvSpPr/>
          <p:nvPr/>
        </p:nvSpPr>
        <p:spPr>
          <a:xfrm>
            <a:off x="1969733" y="1148322"/>
            <a:ext cx="720080" cy="763965"/>
          </a:xfrm>
          <a:prstGeom prst="rect">
            <a:avLst/>
          </a:prstGeom>
          <a:noFill/>
          <a:ln cap="flat" cmpd="sng" w="25400">
            <a:solidFill>
              <a:srgbClr val="00B0F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47" name="Google Shape;347;p19"/>
          <p:cNvSpPr/>
          <p:nvPr/>
        </p:nvSpPr>
        <p:spPr>
          <a:xfrm>
            <a:off x="7413955" y="937485"/>
            <a:ext cx="2448272" cy="3509190"/>
          </a:xfrm>
          <a:prstGeom prst="ellipse">
            <a:avLst/>
          </a:prstGeom>
          <a:blipFill rotWithShape="1">
            <a:blip r:embed="rId4">
              <a:alphaModFix/>
            </a:blip>
            <a:stretch>
              <a:fillRect b="0" l="0" r="0" t="0"/>
            </a:stretch>
          </a:blipFill>
          <a:ln cap="flat" cmpd="sng" w="25400">
            <a:solidFill>
              <a:srgbClr val="00B0F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348" name="Google Shape;348;p19"/>
          <p:cNvCxnSpPr>
            <a:stCxn id="346" idx="3"/>
            <a:endCxn id="347" idx="2"/>
          </p:cNvCxnSpPr>
          <p:nvPr/>
        </p:nvCxnSpPr>
        <p:spPr>
          <a:xfrm>
            <a:off x="2689813" y="1530304"/>
            <a:ext cx="4724100" cy="1161900"/>
          </a:xfrm>
          <a:prstGeom prst="straightConnector1">
            <a:avLst/>
          </a:prstGeom>
          <a:noFill/>
          <a:ln cap="flat" cmpd="sng" w="28575">
            <a:solidFill>
              <a:srgbClr val="00B0F0"/>
            </a:solidFill>
            <a:prstDash val="dash"/>
            <a:round/>
            <a:headEnd len="sm" w="sm" type="none"/>
            <a:tailEnd len="med" w="med" type="triangle"/>
          </a:ln>
        </p:spPr>
      </p:cxnSp>
      <p:sp>
        <p:nvSpPr>
          <p:cNvPr id="349" name="Google Shape;349;p19"/>
          <p:cNvSpPr txBox="1"/>
          <p:nvPr/>
        </p:nvSpPr>
        <p:spPr>
          <a:xfrm>
            <a:off x="6816080" y="4669105"/>
            <a:ext cx="3528393" cy="400110"/>
          </a:xfrm>
          <a:prstGeom prst="rect">
            <a:avLst/>
          </a:prstGeom>
          <a:solidFill>
            <a:srgbClr val="00B0F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r">
              <a:spcBef>
                <a:spcPts val="0"/>
              </a:spcBef>
              <a:spcAft>
                <a:spcPts val="0"/>
              </a:spcAft>
              <a:buNone/>
            </a:pPr>
            <a:r>
              <a:rPr lang="es-BO" sz="2000">
                <a:solidFill>
                  <a:schemeClr val="dk1"/>
                </a:solidFill>
                <a:latin typeface="Calibri"/>
                <a:ea typeface="Calibri"/>
                <a:cs typeface="Calibri"/>
                <a:sym typeface="Calibri"/>
              </a:rPr>
              <a:t>Sensor ultrasónico	</a:t>
            </a:r>
            <a:endParaRPr b="0" i="0" sz="2000">
              <a:solidFill>
                <a:schemeClr val="dk1"/>
              </a:solidFill>
              <a:latin typeface="Calibri"/>
              <a:ea typeface="Calibri"/>
              <a:cs typeface="Calibri"/>
              <a:sym typeface="Calibri"/>
            </a:endParaRPr>
          </a:p>
        </p:txBody>
      </p:sp>
      <p:sp>
        <p:nvSpPr>
          <p:cNvPr id="350" name="Google Shape;350;p19"/>
          <p:cNvSpPr txBox="1"/>
          <p:nvPr/>
        </p:nvSpPr>
        <p:spPr>
          <a:xfrm>
            <a:off x="2207568" y="6274506"/>
            <a:ext cx="282969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chemeClr val="dk1"/>
                </a:solidFill>
                <a:latin typeface="Calibri"/>
                <a:ea typeface="Calibri"/>
                <a:cs typeface="Calibri"/>
                <a:sym typeface="Calibri"/>
              </a:rPr>
              <a:t>Vista frontal del sistema</a:t>
            </a:r>
            <a:endParaRPr/>
          </a:p>
        </p:txBody>
      </p:sp>
    </p:spTree>
  </p:cSld>
  <p:clrMapOvr>
    <a:masterClrMapping/>
  </p:clrMapOvr>
  <p:transition spd="slow">
    <p:push/>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grpSp>
        <p:nvGrpSpPr>
          <p:cNvPr id="356" name="Google Shape;356;p20"/>
          <p:cNvGrpSpPr/>
          <p:nvPr/>
        </p:nvGrpSpPr>
        <p:grpSpPr>
          <a:xfrm>
            <a:off x="1183060" y="992209"/>
            <a:ext cx="4346964" cy="5577116"/>
            <a:chOff x="6499932" y="5810"/>
            <a:chExt cx="4968552" cy="6069978"/>
          </a:xfrm>
        </p:grpSpPr>
        <p:pic>
          <p:nvPicPr>
            <p:cNvPr id="357" name="Google Shape;357;p20"/>
            <p:cNvPicPr preferRelativeResize="0"/>
            <p:nvPr/>
          </p:nvPicPr>
          <p:blipFill rotWithShape="1">
            <a:blip r:embed="rId3">
              <a:alphaModFix/>
            </a:blip>
            <a:srcRect b="3714" l="9207" r="13160" t="5637"/>
            <a:stretch/>
          </p:blipFill>
          <p:spPr>
            <a:xfrm rot="5400000">
              <a:off x="6209523" y="984045"/>
              <a:ext cx="5700648" cy="3744178"/>
            </a:xfrm>
            <a:prstGeom prst="rect">
              <a:avLst/>
            </a:prstGeom>
            <a:noFill/>
            <a:ln>
              <a:noFill/>
            </a:ln>
          </p:spPr>
        </p:pic>
        <p:sp>
          <p:nvSpPr>
            <p:cNvPr id="358" name="Google Shape;358;p20"/>
            <p:cNvSpPr txBox="1"/>
            <p:nvPr/>
          </p:nvSpPr>
          <p:spPr>
            <a:xfrm>
              <a:off x="6499932" y="5706456"/>
              <a:ext cx="496855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BO" sz="1800">
                  <a:solidFill>
                    <a:schemeClr val="dk1"/>
                  </a:solidFill>
                  <a:latin typeface="Calibri"/>
                  <a:ea typeface="Calibri"/>
                  <a:cs typeface="Calibri"/>
                  <a:sym typeface="Calibri"/>
                </a:rPr>
                <a:t>Vista frontal</a:t>
              </a:r>
              <a:endParaRPr sz="1800">
                <a:solidFill>
                  <a:schemeClr val="dk1"/>
                </a:solidFill>
                <a:latin typeface="Calibri"/>
                <a:ea typeface="Calibri"/>
                <a:cs typeface="Calibri"/>
                <a:sym typeface="Calibri"/>
              </a:endParaRPr>
            </a:p>
          </p:txBody>
        </p:sp>
      </p:grpSp>
      <p:sp>
        <p:nvSpPr>
          <p:cNvPr id="359" name="Google Shape;359;p20"/>
          <p:cNvSpPr txBox="1"/>
          <p:nvPr/>
        </p:nvSpPr>
        <p:spPr>
          <a:xfrm>
            <a:off x="1316256" y="639199"/>
            <a:ext cx="60960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s-BO" sz="1800">
                <a:solidFill>
                  <a:schemeClr val="dk1"/>
                </a:solidFill>
                <a:latin typeface="Calibri"/>
                <a:ea typeface="Calibri"/>
                <a:cs typeface="Calibri"/>
                <a:sym typeface="Calibri"/>
              </a:rPr>
              <a:t>HMI de 6 pulgadas touch Panelview C600</a:t>
            </a:r>
            <a:endParaRPr b="1" i="1" sz="1800">
              <a:solidFill>
                <a:schemeClr val="dk1"/>
              </a:solidFill>
              <a:latin typeface="Times New Roman"/>
              <a:ea typeface="Times New Roman"/>
              <a:cs typeface="Times New Roman"/>
              <a:sym typeface="Times New Roman"/>
            </a:endParaRPr>
          </a:p>
        </p:txBody>
      </p:sp>
      <p:sp>
        <p:nvSpPr>
          <p:cNvPr id="360" name="Google Shape;360;p20"/>
          <p:cNvSpPr txBox="1"/>
          <p:nvPr/>
        </p:nvSpPr>
        <p:spPr>
          <a:xfrm>
            <a:off x="1318868" y="295555"/>
            <a:ext cx="842493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BO" sz="1800">
                <a:solidFill>
                  <a:schemeClr val="dk1"/>
                </a:solidFill>
                <a:latin typeface="Calibri"/>
                <a:ea typeface="Calibri"/>
                <a:cs typeface="Calibri"/>
                <a:sym typeface="Calibri"/>
              </a:rPr>
              <a:t>EL SISTEMA DE NIVEL DE LIQUIDO - ELEMENTOS</a:t>
            </a:r>
            <a:endParaRPr/>
          </a:p>
        </p:txBody>
      </p:sp>
      <p:sp>
        <p:nvSpPr>
          <p:cNvPr id="361" name="Google Shape;361;p20"/>
          <p:cNvSpPr/>
          <p:nvPr/>
        </p:nvSpPr>
        <p:spPr>
          <a:xfrm>
            <a:off x="4007768" y="2009538"/>
            <a:ext cx="826141" cy="576064"/>
          </a:xfrm>
          <a:prstGeom prst="rect">
            <a:avLst/>
          </a:prstGeom>
          <a:noFill/>
          <a:ln cap="flat" cmpd="sng" w="25400">
            <a:solidFill>
              <a:srgbClr val="00B0F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362" name="Google Shape;362;p20"/>
          <p:cNvCxnSpPr>
            <a:stCxn id="361" idx="3"/>
            <a:endCxn id="363" idx="2"/>
          </p:cNvCxnSpPr>
          <p:nvPr/>
        </p:nvCxnSpPr>
        <p:spPr>
          <a:xfrm>
            <a:off x="4833909" y="2297570"/>
            <a:ext cx="1907100" cy="1011900"/>
          </a:xfrm>
          <a:prstGeom prst="straightConnector1">
            <a:avLst/>
          </a:prstGeom>
          <a:noFill/>
          <a:ln cap="flat" cmpd="sng" w="28575">
            <a:solidFill>
              <a:srgbClr val="00B0F0"/>
            </a:solidFill>
            <a:prstDash val="dash"/>
            <a:round/>
            <a:headEnd len="sm" w="sm" type="none"/>
            <a:tailEnd len="med" w="med" type="triangle"/>
          </a:ln>
        </p:spPr>
      </p:cxnSp>
      <p:sp>
        <p:nvSpPr>
          <p:cNvPr id="364" name="Google Shape;364;p20"/>
          <p:cNvSpPr txBox="1"/>
          <p:nvPr/>
        </p:nvSpPr>
        <p:spPr>
          <a:xfrm>
            <a:off x="8184232" y="4941168"/>
            <a:ext cx="1243912" cy="400110"/>
          </a:xfrm>
          <a:prstGeom prst="rect">
            <a:avLst/>
          </a:prstGeom>
          <a:solidFill>
            <a:srgbClr val="00B0F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s-BO" sz="2000">
                <a:solidFill>
                  <a:schemeClr val="dk1"/>
                </a:solidFill>
                <a:latin typeface="Calibri"/>
                <a:ea typeface="Calibri"/>
                <a:cs typeface="Calibri"/>
                <a:sym typeface="Calibri"/>
              </a:rPr>
              <a:t>H M I	</a:t>
            </a:r>
            <a:endParaRPr b="0" i="0" sz="2000">
              <a:solidFill>
                <a:schemeClr val="dk1"/>
              </a:solidFill>
              <a:latin typeface="Calibri"/>
              <a:ea typeface="Calibri"/>
              <a:cs typeface="Calibri"/>
              <a:sym typeface="Calibri"/>
            </a:endParaRPr>
          </a:p>
        </p:txBody>
      </p:sp>
      <p:pic>
        <p:nvPicPr>
          <p:cNvPr id="363" name="Google Shape;363;p20"/>
          <p:cNvPicPr preferRelativeResize="0"/>
          <p:nvPr/>
        </p:nvPicPr>
        <p:blipFill rotWithShape="1">
          <a:blip r:embed="rId4">
            <a:alphaModFix/>
          </a:blip>
          <a:srcRect b="26265" l="19550" r="67045" t="45324"/>
          <a:stretch/>
        </p:blipFill>
        <p:spPr>
          <a:xfrm rot="5400000">
            <a:off x="7035274" y="1483391"/>
            <a:ext cx="3063332" cy="3651894"/>
          </a:xfrm>
          <a:prstGeom prst="rect">
            <a:avLst/>
          </a:prstGeom>
          <a:noFill/>
          <a:ln>
            <a:noFill/>
          </a:ln>
        </p:spPr>
      </p:pic>
    </p:spTree>
  </p:cSld>
  <p:clrMapOvr>
    <a:masterClrMapping/>
  </p:clrMapOvr>
  <p:transition spd="slow">
    <p:push/>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pic>
        <p:nvPicPr>
          <p:cNvPr id="370" name="Google Shape;370;p21"/>
          <p:cNvPicPr preferRelativeResize="0"/>
          <p:nvPr/>
        </p:nvPicPr>
        <p:blipFill rotWithShape="1">
          <a:blip r:embed="rId3">
            <a:alphaModFix/>
          </a:blip>
          <a:srcRect b="0" l="11198" r="18701" t="1877"/>
          <a:stretch/>
        </p:blipFill>
        <p:spPr>
          <a:xfrm rot="5400000">
            <a:off x="616299" y="1738551"/>
            <a:ext cx="4807542" cy="3785245"/>
          </a:xfrm>
          <a:prstGeom prst="rect">
            <a:avLst/>
          </a:prstGeom>
          <a:noFill/>
          <a:ln>
            <a:noFill/>
          </a:ln>
        </p:spPr>
      </p:pic>
      <p:sp>
        <p:nvSpPr>
          <p:cNvPr id="371" name="Google Shape;371;p21"/>
          <p:cNvSpPr txBox="1"/>
          <p:nvPr/>
        </p:nvSpPr>
        <p:spPr>
          <a:xfrm>
            <a:off x="1338050" y="718982"/>
            <a:ext cx="60960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s-BO" sz="1800">
                <a:solidFill>
                  <a:schemeClr val="dk1"/>
                </a:solidFill>
                <a:latin typeface="Calibri"/>
                <a:ea typeface="Calibri"/>
                <a:cs typeface="Calibri"/>
                <a:sym typeface="Calibri"/>
              </a:rPr>
              <a:t>Fuente de alimentación DC  24V/5A</a:t>
            </a:r>
            <a:endParaRPr b="1" i="1" sz="1800">
              <a:solidFill>
                <a:schemeClr val="dk1"/>
              </a:solidFill>
              <a:latin typeface="Times New Roman"/>
              <a:ea typeface="Times New Roman"/>
              <a:cs typeface="Times New Roman"/>
              <a:sym typeface="Times New Roman"/>
            </a:endParaRPr>
          </a:p>
        </p:txBody>
      </p:sp>
      <p:sp>
        <p:nvSpPr>
          <p:cNvPr id="372" name="Google Shape;372;p21"/>
          <p:cNvSpPr txBox="1"/>
          <p:nvPr/>
        </p:nvSpPr>
        <p:spPr>
          <a:xfrm>
            <a:off x="1318868" y="295555"/>
            <a:ext cx="842493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BO" sz="1800">
                <a:solidFill>
                  <a:schemeClr val="dk1"/>
                </a:solidFill>
                <a:latin typeface="Calibri"/>
                <a:ea typeface="Calibri"/>
                <a:cs typeface="Calibri"/>
                <a:sym typeface="Calibri"/>
              </a:rPr>
              <a:t>EL SISTEMA DE NIVEL DE LIQUIDO - ELEMENTOS</a:t>
            </a:r>
            <a:endParaRPr/>
          </a:p>
        </p:txBody>
      </p:sp>
      <p:sp>
        <p:nvSpPr>
          <p:cNvPr id="373" name="Google Shape;373;p21"/>
          <p:cNvSpPr/>
          <p:nvPr/>
        </p:nvSpPr>
        <p:spPr>
          <a:xfrm>
            <a:off x="3969813" y="2177225"/>
            <a:ext cx="720080" cy="1225162"/>
          </a:xfrm>
          <a:prstGeom prst="rect">
            <a:avLst/>
          </a:prstGeom>
          <a:noFill/>
          <a:ln cap="flat" cmpd="sng" w="25400">
            <a:solidFill>
              <a:srgbClr val="00B0F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374" name="Google Shape;374;p21"/>
          <p:cNvCxnSpPr/>
          <p:nvPr/>
        </p:nvCxnSpPr>
        <p:spPr>
          <a:xfrm>
            <a:off x="4643017" y="2940902"/>
            <a:ext cx="2109185" cy="121235"/>
          </a:xfrm>
          <a:prstGeom prst="straightConnector1">
            <a:avLst/>
          </a:prstGeom>
          <a:noFill/>
          <a:ln cap="flat" cmpd="sng" w="28575">
            <a:solidFill>
              <a:srgbClr val="00B0F0"/>
            </a:solidFill>
            <a:prstDash val="dash"/>
            <a:round/>
            <a:headEnd len="sm" w="sm" type="none"/>
            <a:tailEnd len="med" w="med" type="triangle"/>
          </a:ln>
        </p:spPr>
      </p:cxnSp>
      <p:sp>
        <p:nvSpPr>
          <p:cNvPr id="375" name="Google Shape;375;p21"/>
          <p:cNvSpPr txBox="1"/>
          <p:nvPr/>
        </p:nvSpPr>
        <p:spPr>
          <a:xfrm>
            <a:off x="6482525" y="5338152"/>
            <a:ext cx="3528393" cy="400110"/>
          </a:xfrm>
          <a:prstGeom prst="rect">
            <a:avLst/>
          </a:prstGeom>
          <a:solidFill>
            <a:srgbClr val="00B0F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r">
              <a:spcBef>
                <a:spcPts val="0"/>
              </a:spcBef>
              <a:spcAft>
                <a:spcPts val="0"/>
              </a:spcAft>
              <a:buNone/>
            </a:pPr>
            <a:r>
              <a:rPr lang="es-BO" sz="2000">
                <a:solidFill>
                  <a:schemeClr val="dk1"/>
                </a:solidFill>
                <a:latin typeface="Calibri"/>
                <a:ea typeface="Calibri"/>
                <a:cs typeface="Calibri"/>
                <a:sym typeface="Calibri"/>
              </a:rPr>
              <a:t>Fuente de alimentación 	</a:t>
            </a:r>
            <a:endParaRPr b="0" i="0" sz="2000">
              <a:solidFill>
                <a:schemeClr val="dk1"/>
              </a:solidFill>
              <a:latin typeface="Calibri"/>
              <a:ea typeface="Calibri"/>
              <a:cs typeface="Calibri"/>
              <a:sym typeface="Calibri"/>
            </a:endParaRPr>
          </a:p>
        </p:txBody>
      </p:sp>
      <p:sp>
        <p:nvSpPr>
          <p:cNvPr id="376" name="Google Shape;376;p21"/>
          <p:cNvSpPr txBox="1"/>
          <p:nvPr/>
        </p:nvSpPr>
        <p:spPr>
          <a:xfrm>
            <a:off x="2128805" y="6095952"/>
            <a:ext cx="282969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chemeClr val="dk1"/>
                </a:solidFill>
                <a:latin typeface="Calibri"/>
                <a:ea typeface="Calibri"/>
                <a:cs typeface="Calibri"/>
                <a:sym typeface="Calibri"/>
              </a:rPr>
              <a:t>Panel de control </a:t>
            </a:r>
            <a:endParaRPr/>
          </a:p>
        </p:txBody>
      </p:sp>
      <p:pic>
        <p:nvPicPr>
          <p:cNvPr id="377" name="Google Shape;377;p21"/>
          <p:cNvPicPr preferRelativeResize="0"/>
          <p:nvPr/>
        </p:nvPicPr>
        <p:blipFill rotWithShape="1">
          <a:blip r:embed="rId4">
            <a:alphaModFix/>
          </a:blip>
          <a:srcRect b="25843" l="17949" r="27784" t="4438"/>
          <a:stretch/>
        </p:blipFill>
        <p:spPr>
          <a:xfrm rot="5400000">
            <a:off x="6216323" y="1790503"/>
            <a:ext cx="4060798" cy="2934596"/>
          </a:xfrm>
          <a:prstGeom prst="rect">
            <a:avLst/>
          </a:prstGeom>
          <a:noFill/>
          <a:ln>
            <a:noFill/>
          </a:ln>
        </p:spPr>
      </p:pic>
    </p:spTree>
  </p:cSld>
  <p:clrMapOvr>
    <a:masterClrMapping/>
  </p:clrMapOvr>
  <p:transition spd="slow">
    <p:push/>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pic>
        <p:nvPicPr>
          <p:cNvPr id="383" name="Google Shape;383;p22"/>
          <p:cNvPicPr preferRelativeResize="0"/>
          <p:nvPr/>
        </p:nvPicPr>
        <p:blipFill rotWithShape="1">
          <a:blip r:embed="rId3">
            <a:alphaModFix/>
          </a:blip>
          <a:srcRect b="0" l="5900" r="16399" t="0"/>
          <a:stretch/>
        </p:blipFill>
        <p:spPr>
          <a:xfrm rot="5400000">
            <a:off x="444766" y="1791413"/>
            <a:ext cx="5252466" cy="3802513"/>
          </a:xfrm>
          <a:prstGeom prst="rect">
            <a:avLst/>
          </a:prstGeom>
          <a:noFill/>
          <a:ln>
            <a:noFill/>
          </a:ln>
        </p:spPr>
      </p:pic>
      <p:sp>
        <p:nvSpPr>
          <p:cNvPr id="384" name="Google Shape;384;p22"/>
          <p:cNvSpPr txBox="1"/>
          <p:nvPr/>
        </p:nvSpPr>
        <p:spPr>
          <a:xfrm>
            <a:off x="551384" y="97468"/>
            <a:ext cx="842493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s-BO" sz="1800">
                <a:solidFill>
                  <a:schemeClr val="dk1"/>
                </a:solidFill>
                <a:latin typeface="Calibri"/>
                <a:ea typeface="Calibri"/>
                <a:cs typeface="Calibri"/>
                <a:sym typeface="Calibri"/>
              </a:rPr>
              <a:t>EL SISTEMA DE NIVEL DE LIQUIDO - ELEMENTOS</a:t>
            </a:r>
            <a:endParaRPr b="1" i="1" sz="1200">
              <a:solidFill>
                <a:schemeClr val="dk1"/>
              </a:solidFill>
              <a:latin typeface="Calibri"/>
              <a:ea typeface="Calibri"/>
              <a:cs typeface="Calibri"/>
              <a:sym typeface="Calibri"/>
            </a:endParaRPr>
          </a:p>
        </p:txBody>
      </p:sp>
      <p:sp>
        <p:nvSpPr>
          <p:cNvPr id="385" name="Google Shape;385;p22"/>
          <p:cNvSpPr txBox="1"/>
          <p:nvPr/>
        </p:nvSpPr>
        <p:spPr>
          <a:xfrm>
            <a:off x="551384" y="539098"/>
            <a:ext cx="1094521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BO" sz="1800">
                <a:solidFill>
                  <a:schemeClr val="dk1"/>
                </a:solidFill>
                <a:latin typeface="Calibri"/>
                <a:ea typeface="Calibri"/>
                <a:cs typeface="Calibri"/>
                <a:sym typeface="Calibri"/>
              </a:rPr>
              <a:t>Controlador Lógico Programable (PLC)  y Modulo de expansión  1762 E/S</a:t>
            </a:r>
            <a:endParaRPr b="1" sz="1800">
              <a:solidFill>
                <a:schemeClr val="dk1"/>
              </a:solidFill>
              <a:latin typeface="Times New Roman"/>
              <a:ea typeface="Times New Roman"/>
              <a:cs typeface="Times New Roman"/>
              <a:sym typeface="Times New Roman"/>
            </a:endParaRPr>
          </a:p>
        </p:txBody>
      </p:sp>
      <p:cxnSp>
        <p:nvCxnSpPr>
          <p:cNvPr id="386" name="Google Shape;386;p22"/>
          <p:cNvCxnSpPr>
            <a:stCxn id="387" idx="3"/>
            <a:endCxn id="388" idx="1"/>
          </p:cNvCxnSpPr>
          <p:nvPr/>
        </p:nvCxnSpPr>
        <p:spPr>
          <a:xfrm flipH="1" rot="10800000">
            <a:off x="4295800" y="2636917"/>
            <a:ext cx="2304600" cy="36000"/>
          </a:xfrm>
          <a:prstGeom prst="straightConnector1">
            <a:avLst/>
          </a:prstGeom>
          <a:noFill/>
          <a:ln cap="flat" cmpd="sng" w="28575">
            <a:solidFill>
              <a:srgbClr val="00B0F0"/>
            </a:solidFill>
            <a:prstDash val="dash"/>
            <a:round/>
            <a:headEnd len="sm" w="sm" type="none"/>
            <a:tailEnd len="med" w="med" type="triangle"/>
          </a:ln>
        </p:spPr>
      </p:cxnSp>
      <p:sp>
        <p:nvSpPr>
          <p:cNvPr id="387" name="Google Shape;387;p22"/>
          <p:cNvSpPr/>
          <p:nvPr/>
        </p:nvSpPr>
        <p:spPr>
          <a:xfrm>
            <a:off x="3575720" y="2420888"/>
            <a:ext cx="720080" cy="504057"/>
          </a:xfrm>
          <a:prstGeom prst="rect">
            <a:avLst/>
          </a:prstGeom>
          <a:noFill/>
          <a:ln cap="flat" cmpd="sng" w="25400">
            <a:solidFill>
              <a:srgbClr val="00B0F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88" name="Google Shape;388;p22"/>
          <p:cNvSpPr/>
          <p:nvPr/>
        </p:nvSpPr>
        <p:spPr>
          <a:xfrm>
            <a:off x="6600462" y="1196752"/>
            <a:ext cx="4248472" cy="2880320"/>
          </a:xfrm>
          <a:prstGeom prst="rect">
            <a:avLst/>
          </a:prstGeom>
          <a:blipFill rotWithShape="1">
            <a:blip r:embed="rId4">
              <a:alphaModFix/>
            </a:blip>
            <a:stretch>
              <a:fillRect b="0" l="0" r="0" t="0"/>
            </a:stretch>
          </a:blipFill>
          <a:ln cap="flat" cmpd="sng" w="25400">
            <a:solidFill>
              <a:srgbClr val="00B0F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9" name="Google Shape;389;p22"/>
          <p:cNvSpPr txBox="1"/>
          <p:nvPr/>
        </p:nvSpPr>
        <p:spPr>
          <a:xfrm>
            <a:off x="1840479" y="6318902"/>
            <a:ext cx="249408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s-BO" sz="1800">
                <a:solidFill>
                  <a:schemeClr val="dk1"/>
                </a:solidFill>
                <a:latin typeface="Calibri"/>
                <a:ea typeface="Calibri"/>
                <a:cs typeface="Calibri"/>
                <a:sym typeface="Calibri"/>
              </a:rPr>
              <a:t>Vista frontal del sistema</a:t>
            </a:r>
            <a:endParaRPr/>
          </a:p>
        </p:txBody>
      </p:sp>
      <p:sp>
        <p:nvSpPr>
          <p:cNvPr id="390" name="Google Shape;390;p22"/>
          <p:cNvSpPr/>
          <p:nvPr/>
        </p:nvSpPr>
        <p:spPr>
          <a:xfrm>
            <a:off x="6744072" y="1479188"/>
            <a:ext cx="2880320" cy="2525876"/>
          </a:xfrm>
          <a:prstGeom prst="rect">
            <a:avLst/>
          </a:prstGeom>
          <a:noFill/>
          <a:ln cap="flat" cmpd="sng" w="25400">
            <a:solidFill>
              <a:srgbClr val="FFFF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91" name="Google Shape;391;p22"/>
          <p:cNvSpPr/>
          <p:nvPr/>
        </p:nvSpPr>
        <p:spPr>
          <a:xfrm>
            <a:off x="9624392" y="1479188"/>
            <a:ext cx="1152128" cy="2525876"/>
          </a:xfrm>
          <a:prstGeom prst="rect">
            <a:avLst/>
          </a:prstGeom>
          <a:noFill/>
          <a:ln cap="flat" cmpd="sng" w="25400">
            <a:solidFill>
              <a:srgbClr val="FF00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392" name="Google Shape;392;p22"/>
          <p:cNvCxnSpPr>
            <a:stCxn id="388" idx="2"/>
          </p:cNvCxnSpPr>
          <p:nvPr/>
        </p:nvCxnSpPr>
        <p:spPr>
          <a:xfrm flipH="1">
            <a:off x="7710398" y="4077072"/>
            <a:ext cx="1014300" cy="792000"/>
          </a:xfrm>
          <a:prstGeom prst="straightConnector1">
            <a:avLst/>
          </a:prstGeom>
          <a:noFill/>
          <a:ln cap="flat" cmpd="sng" w="28575">
            <a:solidFill>
              <a:srgbClr val="FFFF00"/>
            </a:solidFill>
            <a:prstDash val="dash"/>
            <a:round/>
            <a:headEnd len="sm" w="sm" type="none"/>
            <a:tailEnd len="med" w="med" type="triangle"/>
          </a:ln>
        </p:spPr>
      </p:cxnSp>
      <p:cxnSp>
        <p:nvCxnSpPr>
          <p:cNvPr id="393" name="Google Shape;393;p22"/>
          <p:cNvCxnSpPr>
            <a:stCxn id="391" idx="2"/>
            <a:endCxn id="394" idx="0"/>
          </p:cNvCxnSpPr>
          <p:nvPr/>
        </p:nvCxnSpPr>
        <p:spPr>
          <a:xfrm>
            <a:off x="10200456" y="4005064"/>
            <a:ext cx="432000" cy="859200"/>
          </a:xfrm>
          <a:prstGeom prst="straightConnector1">
            <a:avLst/>
          </a:prstGeom>
          <a:noFill/>
          <a:ln cap="flat" cmpd="sng" w="28575">
            <a:solidFill>
              <a:srgbClr val="FF0000"/>
            </a:solidFill>
            <a:prstDash val="dash"/>
            <a:round/>
            <a:headEnd len="sm" w="sm" type="none"/>
            <a:tailEnd len="med" w="med" type="triangle"/>
          </a:ln>
        </p:spPr>
      </p:cxnSp>
      <p:sp>
        <p:nvSpPr>
          <p:cNvPr id="395" name="Google Shape;395;p22"/>
          <p:cNvSpPr txBox="1"/>
          <p:nvPr/>
        </p:nvSpPr>
        <p:spPr>
          <a:xfrm>
            <a:off x="6556231" y="4928200"/>
            <a:ext cx="2144699" cy="707886"/>
          </a:xfrm>
          <a:prstGeom prst="rect">
            <a:avLst/>
          </a:prstGeom>
          <a:solidFill>
            <a:srgbClr val="FFFF0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s-BO" sz="2000">
                <a:solidFill>
                  <a:schemeClr val="dk1"/>
                </a:solidFill>
                <a:latin typeface="Calibri"/>
                <a:ea typeface="Calibri"/>
                <a:cs typeface="Calibri"/>
                <a:sym typeface="Calibri"/>
              </a:rPr>
              <a:t>PLC Micrologix 1100</a:t>
            </a:r>
            <a:endParaRPr b="0" i="0" sz="2000">
              <a:solidFill>
                <a:schemeClr val="dk1"/>
              </a:solidFill>
              <a:latin typeface="Calibri"/>
              <a:ea typeface="Calibri"/>
              <a:cs typeface="Calibri"/>
              <a:sym typeface="Calibri"/>
            </a:endParaRPr>
          </a:p>
        </p:txBody>
      </p:sp>
      <p:sp>
        <p:nvSpPr>
          <p:cNvPr id="394" name="Google Shape;394;p22"/>
          <p:cNvSpPr txBox="1"/>
          <p:nvPr/>
        </p:nvSpPr>
        <p:spPr>
          <a:xfrm>
            <a:off x="9560154" y="4864184"/>
            <a:ext cx="2144699" cy="1015663"/>
          </a:xfrm>
          <a:prstGeom prst="rect">
            <a:avLst/>
          </a:prstGeom>
          <a:solidFill>
            <a:srgbClr val="FF000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s-BO" sz="2000">
                <a:solidFill>
                  <a:schemeClr val="dk1"/>
                </a:solidFill>
                <a:latin typeface="Calibri"/>
                <a:ea typeface="Calibri"/>
                <a:cs typeface="Calibri"/>
                <a:sym typeface="Calibri"/>
              </a:rPr>
              <a:t>Módulo de expansión 1762 E/S Analógica</a:t>
            </a:r>
            <a:endParaRPr b="0" i="0" sz="20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23"/>
          <p:cNvSpPr txBox="1"/>
          <p:nvPr/>
        </p:nvSpPr>
        <p:spPr>
          <a:xfrm>
            <a:off x="1004893" y="211830"/>
            <a:ext cx="842493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s-BO" sz="1800">
                <a:solidFill>
                  <a:schemeClr val="dk1"/>
                </a:solidFill>
                <a:latin typeface="Calibri"/>
                <a:ea typeface="Calibri"/>
                <a:cs typeface="Calibri"/>
                <a:sym typeface="Calibri"/>
              </a:rPr>
              <a:t>EL SISTEMA DE NIVEL DE LIQUIDO - ELEMENTOS</a:t>
            </a:r>
            <a:endParaRPr b="1" i="1" sz="1200">
              <a:solidFill>
                <a:schemeClr val="dk1"/>
              </a:solidFill>
              <a:latin typeface="Calibri"/>
              <a:ea typeface="Calibri"/>
              <a:cs typeface="Calibri"/>
              <a:sym typeface="Calibri"/>
            </a:endParaRPr>
          </a:p>
        </p:txBody>
      </p:sp>
      <p:sp>
        <p:nvSpPr>
          <p:cNvPr id="402" name="Google Shape;402;p23"/>
          <p:cNvSpPr txBox="1"/>
          <p:nvPr/>
        </p:nvSpPr>
        <p:spPr>
          <a:xfrm>
            <a:off x="1004893" y="653460"/>
            <a:ext cx="1094521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BO" sz="1800">
                <a:solidFill>
                  <a:schemeClr val="dk1"/>
                </a:solidFill>
                <a:latin typeface="Calibri"/>
                <a:ea typeface="Calibri"/>
                <a:cs typeface="Calibri"/>
                <a:sym typeface="Calibri"/>
              </a:rPr>
              <a:t>Controlador de temperatura </a:t>
            </a:r>
            <a:endParaRPr b="1" sz="1800">
              <a:solidFill>
                <a:schemeClr val="dk1"/>
              </a:solidFill>
              <a:latin typeface="Times New Roman"/>
              <a:ea typeface="Times New Roman"/>
              <a:cs typeface="Times New Roman"/>
              <a:sym typeface="Times New Roman"/>
            </a:endParaRPr>
          </a:p>
        </p:txBody>
      </p:sp>
      <p:pic>
        <p:nvPicPr>
          <p:cNvPr id="403" name="Google Shape;403;p23"/>
          <p:cNvPicPr preferRelativeResize="0"/>
          <p:nvPr/>
        </p:nvPicPr>
        <p:blipFill rotWithShape="1">
          <a:blip r:embed="rId3">
            <a:alphaModFix/>
          </a:blip>
          <a:srcRect b="0" l="1421" r="5900" t="0"/>
          <a:stretch/>
        </p:blipFill>
        <p:spPr>
          <a:xfrm rot="5400000">
            <a:off x="1232979" y="2251784"/>
            <a:ext cx="4958970" cy="3009793"/>
          </a:xfrm>
          <a:prstGeom prst="rect">
            <a:avLst/>
          </a:prstGeom>
          <a:noFill/>
          <a:ln>
            <a:noFill/>
          </a:ln>
        </p:spPr>
      </p:pic>
      <p:sp>
        <p:nvSpPr>
          <p:cNvPr id="404" name="Google Shape;404;p23"/>
          <p:cNvSpPr txBox="1"/>
          <p:nvPr/>
        </p:nvSpPr>
        <p:spPr>
          <a:xfrm>
            <a:off x="2063552" y="6276838"/>
            <a:ext cx="352839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s-BO" sz="1800">
                <a:solidFill>
                  <a:schemeClr val="dk1"/>
                </a:solidFill>
                <a:latin typeface="Calibri"/>
                <a:ea typeface="Calibri"/>
                <a:cs typeface="Calibri"/>
                <a:sym typeface="Calibri"/>
              </a:rPr>
              <a:t>Vista lateral derecha del sistema</a:t>
            </a:r>
            <a:endParaRPr/>
          </a:p>
        </p:txBody>
      </p:sp>
      <p:sp>
        <p:nvSpPr>
          <p:cNvPr id="405" name="Google Shape;405;p23"/>
          <p:cNvSpPr/>
          <p:nvPr/>
        </p:nvSpPr>
        <p:spPr>
          <a:xfrm>
            <a:off x="2495600" y="2213300"/>
            <a:ext cx="576064" cy="432048"/>
          </a:xfrm>
          <a:prstGeom prst="rect">
            <a:avLst/>
          </a:prstGeom>
          <a:noFill/>
          <a:ln cap="flat" cmpd="sng" w="25400">
            <a:solidFill>
              <a:srgbClr val="00B05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406" name="Google Shape;406;p23"/>
          <p:cNvCxnSpPr>
            <a:stCxn id="405" idx="3"/>
          </p:cNvCxnSpPr>
          <p:nvPr/>
        </p:nvCxnSpPr>
        <p:spPr>
          <a:xfrm flipH="1" rot="10800000">
            <a:off x="3071664" y="1925324"/>
            <a:ext cx="3816300" cy="504000"/>
          </a:xfrm>
          <a:prstGeom prst="straightConnector1">
            <a:avLst/>
          </a:prstGeom>
          <a:noFill/>
          <a:ln cap="flat" cmpd="sng" w="28575">
            <a:solidFill>
              <a:srgbClr val="00B050"/>
            </a:solidFill>
            <a:prstDash val="dash"/>
            <a:round/>
            <a:headEnd len="sm" w="sm" type="none"/>
            <a:tailEnd len="med" w="med" type="triangle"/>
          </a:ln>
        </p:spPr>
      </p:cxnSp>
      <p:sp>
        <p:nvSpPr>
          <p:cNvPr id="407" name="Google Shape;407;p23"/>
          <p:cNvSpPr/>
          <p:nvPr/>
        </p:nvSpPr>
        <p:spPr>
          <a:xfrm>
            <a:off x="6888088" y="1029959"/>
            <a:ext cx="2740040" cy="2366682"/>
          </a:xfrm>
          <a:prstGeom prst="rect">
            <a:avLst/>
          </a:prstGeom>
          <a:blipFill rotWithShape="1">
            <a:blip r:embed="rId4">
              <a:alphaModFix/>
            </a:blip>
            <a:stretch>
              <a:fillRect b="0" l="0" r="0" t="0"/>
            </a:stretch>
          </a:blipFill>
          <a:ln cap="flat" cmpd="sng" w="25400">
            <a:solidFill>
              <a:srgbClr val="00B05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8" name="Google Shape;408;p23"/>
          <p:cNvSpPr txBox="1"/>
          <p:nvPr/>
        </p:nvSpPr>
        <p:spPr>
          <a:xfrm>
            <a:off x="6744073" y="3622248"/>
            <a:ext cx="3312368"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s-BO" sz="1800">
                <a:solidFill>
                  <a:schemeClr val="dk1"/>
                </a:solidFill>
                <a:latin typeface="Calibri"/>
                <a:ea typeface="Calibri"/>
                <a:cs typeface="Calibri"/>
                <a:sym typeface="Calibri"/>
              </a:rPr>
              <a:t>Controlador de temperatura Allen Bradley</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24"/>
          <p:cNvSpPr txBox="1"/>
          <p:nvPr>
            <p:ph idx="1" type="body"/>
          </p:nvPr>
        </p:nvSpPr>
        <p:spPr>
          <a:xfrm>
            <a:off x="1127448" y="238493"/>
            <a:ext cx="9505056" cy="64807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b="1" lang="es-BO" sz="2400"/>
              <a:t>Simbología para la representación del sistema (Norma ISA)</a:t>
            </a:r>
            <a:endParaRPr b="1" sz="2400"/>
          </a:p>
        </p:txBody>
      </p:sp>
      <p:grpSp>
        <p:nvGrpSpPr>
          <p:cNvPr id="414" name="Google Shape;414;p24"/>
          <p:cNvGrpSpPr/>
          <p:nvPr/>
        </p:nvGrpSpPr>
        <p:grpSpPr>
          <a:xfrm>
            <a:off x="572779" y="692696"/>
            <a:ext cx="11073590" cy="6094092"/>
            <a:chOff x="572779" y="692696"/>
            <a:chExt cx="11073590" cy="6094092"/>
          </a:xfrm>
        </p:grpSpPr>
        <p:grpSp>
          <p:nvGrpSpPr>
            <p:cNvPr id="415" name="Google Shape;415;p24"/>
            <p:cNvGrpSpPr/>
            <p:nvPr/>
          </p:nvGrpSpPr>
          <p:grpSpPr>
            <a:xfrm>
              <a:off x="839416" y="692696"/>
              <a:ext cx="10706869" cy="6040658"/>
              <a:chOff x="839416" y="692696"/>
              <a:chExt cx="10706869" cy="6040658"/>
            </a:xfrm>
          </p:grpSpPr>
          <p:grpSp>
            <p:nvGrpSpPr>
              <p:cNvPr id="416" name="Google Shape;416;p24"/>
              <p:cNvGrpSpPr/>
              <p:nvPr/>
            </p:nvGrpSpPr>
            <p:grpSpPr>
              <a:xfrm>
                <a:off x="839416" y="692696"/>
                <a:ext cx="10642669" cy="6040658"/>
                <a:chOff x="1260062" y="1192437"/>
                <a:chExt cx="9239827" cy="5309293"/>
              </a:xfrm>
            </p:grpSpPr>
            <p:grpSp>
              <p:nvGrpSpPr>
                <p:cNvPr id="417" name="Google Shape;417;p24"/>
                <p:cNvGrpSpPr/>
                <p:nvPr/>
              </p:nvGrpSpPr>
              <p:grpSpPr>
                <a:xfrm>
                  <a:off x="1260062" y="1192437"/>
                  <a:ext cx="9239827" cy="5309293"/>
                  <a:chOff x="1300987" y="1248619"/>
                  <a:chExt cx="9239827" cy="5309293"/>
                </a:xfrm>
              </p:grpSpPr>
              <p:pic>
                <p:nvPicPr>
                  <p:cNvPr id="418" name="Google Shape;418;p24"/>
                  <p:cNvPicPr preferRelativeResize="0"/>
                  <p:nvPr/>
                </p:nvPicPr>
                <p:blipFill rotWithShape="1">
                  <a:blip r:embed="rId3">
                    <a:alphaModFix/>
                  </a:blip>
                  <a:srcRect b="0" l="0" r="0" t="0"/>
                  <a:stretch/>
                </p:blipFill>
                <p:spPr>
                  <a:xfrm>
                    <a:off x="1300987" y="1248619"/>
                    <a:ext cx="9239827" cy="5309293"/>
                  </a:xfrm>
                  <a:prstGeom prst="rect">
                    <a:avLst/>
                  </a:prstGeom>
                  <a:noFill/>
                  <a:ln>
                    <a:noFill/>
                  </a:ln>
                </p:spPr>
              </p:pic>
              <p:sp>
                <p:nvSpPr>
                  <p:cNvPr id="419" name="Google Shape;419;p24"/>
                  <p:cNvSpPr/>
                  <p:nvPr/>
                </p:nvSpPr>
                <p:spPr>
                  <a:xfrm>
                    <a:off x="1487488" y="1292364"/>
                    <a:ext cx="1944216" cy="144016"/>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0" name="Google Shape;420;p24"/>
                  <p:cNvSpPr/>
                  <p:nvPr/>
                </p:nvSpPr>
                <p:spPr>
                  <a:xfrm>
                    <a:off x="4655840" y="1364372"/>
                    <a:ext cx="2160240" cy="144016"/>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1" name="Google Shape;421;p24"/>
                  <p:cNvSpPr/>
                  <p:nvPr/>
                </p:nvSpPr>
                <p:spPr>
                  <a:xfrm>
                    <a:off x="8010693" y="1397428"/>
                    <a:ext cx="2160240" cy="144016"/>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2" name="Google Shape;422;p24"/>
                  <p:cNvSpPr/>
                  <p:nvPr/>
                </p:nvSpPr>
                <p:spPr>
                  <a:xfrm>
                    <a:off x="4428537" y="4366959"/>
                    <a:ext cx="2160240" cy="335614"/>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3" name="Google Shape;423;p24"/>
                  <p:cNvSpPr/>
                  <p:nvPr/>
                </p:nvSpPr>
                <p:spPr>
                  <a:xfrm>
                    <a:off x="1574347" y="4486586"/>
                    <a:ext cx="2160240" cy="335614"/>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4" name="Google Shape;424;p24"/>
                  <p:cNvSpPr/>
                  <p:nvPr/>
                </p:nvSpPr>
                <p:spPr>
                  <a:xfrm>
                    <a:off x="7902853" y="4426592"/>
                    <a:ext cx="1944216" cy="144016"/>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425" name="Google Shape;425;p24"/>
                <p:cNvSpPr/>
                <p:nvPr/>
              </p:nvSpPr>
              <p:spPr>
                <a:xfrm>
                  <a:off x="1421947" y="4262182"/>
                  <a:ext cx="2160240" cy="335614"/>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426" name="Google Shape;426;p24"/>
              <p:cNvSpPr/>
              <p:nvPr/>
            </p:nvSpPr>
            <p:spPr>
              <a:xfrm>
                <a:off x="6023992" y="692696"/>
                <a:ext cx="216024" cy="163854"/>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7" name="Google Shape;427;p24"/>
              <p:cNvSpPr/>
              <p:nvPr/>
            </p:nvSpPr>
            <p:spPr>
              <a:xfrm>
                <a:off x="11330261" y="4267661"/>
                <a:ext cx="216024" cy="163854"/>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428" name="Google Shape;428;p24"/>
            <p:cNvSpPr txBox="1"/>
            <p:nvPr/>
          </p:nvSpPr>
          <p:spPr>
            <a:xfrm>
              <a:off x="1175113" y="805431"/>
              <a:ext cx="2347531"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BO" sz="1200">
                  <a:solidFill>
                    <a:schemeClr val="dk1"/>
                  </a:solidFill>
                  <a:latin typeface="Calibri"/>
                  <a:ea typeface="Calibri"/>
                  <a:cs typeface="Calibri"/>
                  <a:sym typeface="Calibri"/>
                </a:rPr>
                <a:t>SEÑALES PARA INTRUMENTACIÓN </a:t>
              </a:r>
              <a:endParaRPr b="1" sz="1200">
                <a:solidFill>
                  <a:schemeClr val="dk1"/>
                </a:solidFill>
                <a:latin typeface="Calibri"/>
                <a:ea typeface="Calibri"/>
                <a:cs typeface="Calibri"/>
                <a:sym typeface="Calibri"/>
              </a:endParaRPr>
            </a:p>
          </p:txBody>
        </p:sp>
        <p:sp>
          <p:nvSpPr>
            <p:cNvPr id="429" name="Google Shape;429;p24"/>
            <p:cNvSpPr txBox="1"/>
            <p:nvPr/>
          </p:nvSpPr>
          <p:spPr>
            <a:xfrm>
              <a:off x="4282508" y="805431"/>
              <a:ext cx="330814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BO" sz="1200">
                  <a:solidFill>
                    <a:schemeClr val="dk1"/>
                  </a:solidFill>
                  <a:latin typeface="Calibri"/>
                  <a:ea typeface="Calibri"/>
                  <a:cs typeface="Calibri"/>
                  <a:sym typeface="Calibri"/>
                </a:rPr>
                <a:t>IDENTIFICACIÓN FUNCIONAL DEL INSTRUMENTO</a:t>
              </a:r>
              <a:endParaRPr b="1" sz="1200">
                <a:solidFill>
                  <a:schemeClr val="dk1"/>
                </a:solidFill>
                <a:latin typeface="Calibri"/>
                <a:ea typeface="Calibri"/>
                <a:cs typeface="Calibri"/>
                <a:sym typeface="Calibri"/>
              </a:endParaRPr>
            </a:p>
          </p:txBody>
        </p:sp>
        <p:sp>
          <p:nvSpPr>
            <p:cNvPr id="430" name="Google Shape;430;p24"/>
            <p:cNvSpPr txBox="1"/>
            <p:nvPr/>
          </p:nvSpPr>
          <p:spPr>
            <a:xfrm>
              <a:off x="8338220" y="794926"/>
              <a:ext cx="330814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BO" sz="1200">
                  <a:solidFill>
                    <a:schemeClr val="dk1"/>
                  </a:solidFill>
                  <a:latin typeface="Calibri"/>
                  <a:ea typeface="Calibri"/>
                  <a:cs typeface="Calibri"/>
                  <a:sym typeface="Calibri"/>
                </a:rPr>
                <a:t>LETRAS IDENTIFICADORAS DEL INSTRUMENTO</a:t>
              </a:r>
              <a:endParaRPr b="1" sz="1200">
                <a:solidFill>
                  <a:schemeClr val="dk1"/>
                </a:solidFill>
                <a:latin typeface="Calibri"/>
                <a:ea typeface="Calibri"/>
                <a:cs typeface="Calibri"/>
                <a:sym typeface="Calibri"/>
              </a:endParaRPr>
            </a:p>
          </p:txBody>
        </p:sp>
        <p:sp>
          <p:nvSpPr>
            <p:cNvPr id="431" name="Google Shape;431;p24"/>
            <p:cNvSpPr txBox="1"/>
            <p:nvPr/>
          </p:nvSpPr>
          <p:spPr>
            <a:xfrm>
              <a:off x="572779" y="6456466"/>
              <a:ext cx="3202306"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BO" sz="1200">
                  <a:solidFill>
                    <a:schemeClr val="dk1"/>
                  </a:solidFill>
                  <a:latin typeface="Calibri"/>
                  <a:ea typeface="Calibri"/>
                  <a:cs typeface="Calibri"/>
                  <a:sym typeface="Calibri"/>
                </a:rPr>
                <a:t>SIMBOLOGIA DE INSTRUMENTOS DE MEDICIÓN </a:t>
              </a:r>
              <a:endParaRPr b="1" sz="1200">
                <a:solidFill>
                  <a:schemeClr val="dk1"/>
                </a:solidFill>
                <a:latin typeface="Calibri"/>
                <a:ea typeface="Calibri"/>
                <a:cs typeface="Calibri"/>
                <a:sym typeface="Calibri"/>
              </a:endParaRPr>
            </a:p>
          </p:txBody>
        </p:sp>
        <p:sp>
          <p:nvSpPr>
            <p:cNvPr id="432" name="Google Shape;432;p24"/>
            <p:cNvSpPr txBox="1"/>
            <p:nvPr/>
          </p:nvSpPr>
          <p:spPr>
            <a:xfrm>
              <a:off x="4330895" y="6485228"/>
              <a:ext cx="3202306"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BO" sz="1200">
                  <a:solidFill>
                    <a:schemeClr val="dk1"/>
                  </a:solidFill>
                  <a:latin typeface="Calibri"/>
                  <a:ea typeface="Calibri"/>
                  <a:cs typeface="Calibri"/>
                  <a:sym typeface="Calibri"/>
                </a:rPr>
                <a:t>SIMBOLOGIA DE INSTRUMENTOS DE CONTROL </a:t>
              </a:r>
              <a:endParaRPr b="1" sz="1200">
                <a:solidFill>
                  <a:schemeClr val="dk1"/>
                </a:solidFill>
                <a:latin typeface="Calibri"/>
                <a:ea typeface="Calibri"/>
                <a:cs typeface="Calibri"/>
                <a:sym typeface="Calibri"/>
              </a:endParaRPr>
            </a:p>
          </p:txBody>
        </p:sp>
        <p:sp>
          <p:nvSpPr>
            <p:cNvPr id="433" name="Google Shape;433;p24"/>
            <p:cNvSpPr txBox="1"/>
            <p:nvPr/>
          </p:nvSpPr>
          <p:spPr>
            <a:xfrm>
              <a:off x="8184232" y="6509789"/>
              <a:ext cx="2646822"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BO" sz="1200">
                  <a:solidFill>
                    <a:schemeClr val="dk1"/>
                  </a:solidFill>
                  <a:latin typeface="Calibri"/>
                  <a:ea typeface="Calibri"/>
                  <a:cs typeface="Calibri"/>
                  <a:sym typeface="Calibri"/>
                </a:rPr>
                <a:t>SIMBOLOGIA DE OTROS DISPOSITIVOS</a:t>
              </a:r>
              <a:endParaRPr b="1" sz="1200">
                <a:solidFill>
                  <a:schemeClr val="dk1"/>
                </a:solidFill>
                <a:latin typeface="Calibri"/>
                <a:ea typeface="Calibri"/>
                <a:cs typeface="Calibri"/>
                <a:sym typeface="Calibri"/>
              </a:endParaRPr>
            </a:p>
          </p:txBody>
        </p:sp>
      </p:grpSp>
    </p:spTree>
  </p:cSld>
  <p:clrMapOvr>
    <a:masterClrMapping/>
  </p:clrMapOvr>
  <p:transition spd="slow">
    <p:push/>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25"/>
          <p:cNvSpPr txBox="1"/>
          <p:nvPr>
            <p:ph idx="1" type="body"/>
          </p:nvPr>
        </p:nvSpPr>
        <p:spPr>
          <a:xfrm>
            <a:off x="1127448" y="0"/>
            <a:ext cx="4114118" cy="64807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b="1" lang="es-BO" sz="2400"/>
              <a:t>Diagrama P&amp;ID </a:t>
            </a:r>
            <a:endParaRPr b="1" sz="2400"/>
          </a:p>
        </p:txBody>
      </p:sp>
      <p:sp>
        <p:nvSpPr>
          <p:cNvPr id="439" name="Google Shape;439;p25"/>
          <p:cNvSpPr txBox="1"/>
          <p:nvPr/>
        </p:nvSpPr>
        <p:spPr>
          <a:xfrm>
            <a:off x="1127448" y="513474"/>
            <a:ext cx="10801199" cy="58477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BO" sz="1600">
                <a:solidFill>
                  <a:schemeClr val="dk1"/>
                </a:solidFill>
                <a:latin typeface="Calibri"/>
                <a:ea typeface="Calibri"/>
                <a:cs typeface="Calibri"/>
                <a:sym typeface="Calibri"/>
              </a:rPr>
              <a:t>El diagrama o esquema de tuberías P&amp;ID que especifica el sistema de nivel de líquido donde la simbología, numeración, especificación de líneas, conexiones y lazos de control se realizó en base a la norma ISA.</a:t>
            </a:r>
            <a:endParaRPr sz="1100">
              <a:solidFill>
                <a:schemeClr val="dk1"/>
              </a:solidFill>
              <a:latin typeface="Times New Roman"/>
              <a:ea typeface="Times New Roman"/>
              <a:cs typeface="Times New Roman"/>
              <a:sym typeface="Times New Roman"/>
            </a:endParaRPr>
          </a:p>
        </p:txBody>
      </p:sp>
      <p:grpSp>
        <p:nvGrpSpPr>
          <p:cNvPr id="440" name="Google Shape;440;p25"/>
          <p:cNvGrpSpPr/>
          <p:nvPr/>
        </p:nvGrpSpPr>
        <p:grpSpPr>
          <a:xfrm>
            <a:off x="1559496" y="904879"/>
            <a:ext cx="9505056" cy="5932282"/>
            <a:chOff x="1559496" y="1016322"/>
            <a:chExt cx="9505056" cy="5932282"/>
          </a:xfrm>
        </p:grpSpPr>
        <p:pic>
          <p:nvPicPr>
            <p:cNvPr id="441" name="Google Shape;441;p25"/>
            <p:cNvPicPr preferRelativeResize="0"/>
            <p:nvPr/>
          </p:nvPicPr>
          <p:blipFill rotWithShape="1">
            <a:blip r:embed="rId3">
              <a:alphaModFix/>
            </a:blip>
            <a:srcRect b="0" l="0" r="0" t="0"/>
            <a:stretch/>
          </p:blipFill>
          <p:spPr>
            <a:xfrm>
              <a:off x="1559496" y="1098249"/>
              <a:ext cx="9505056" cy="5850355"/>
            </a:xfrm>
            <a:prstGeom prst="rect">
              <a:avLst/>
            </a:prstGeom>
            <a:noFill/>
            <a:ln>
              <a:noFill/>
            </a:ln>
          </p:spPr>
        </p:pic>
        <p:sp>
          <p:nvSpPr>
            <p:cNvPr id="442" name="Google Shape;442;p25"/>
            <p:cNvSpPr/>
            <p:nvPr/>
          </p:nvSpPr>
          <p:spPr>
            <a:xfrm>
              <a:off x="5987988" y="1016322"/>
              <a:ext cx="216024" cy="163854"/>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transition spd="slow">
    <p:push/>
  </p:transition>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26"/>
          <p:cNvSpPr txBox="1"/>
          <p:nvPr>
            <p:ph idx="1" type="body"/>
          </p:nvPr>
        </p:nvSpPr>
        <p:spPr>
          <a:xfrm>
            <a:off x="4079776" y="2920592"/>
            <a:ext cx="4032448" cy="99514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600"/>
              <a:buNone/>
            </a:pPr>
            <a:r>
              <a:rPr b="1" lang="es-BO" sz="3600"/>
              <a:t>Esquema eléctrico </a:t>
            </a:r>
            <a:r>
              <a:rPr lang="es-BO" sz="3600"/>
              <a:t> </a:t>
            </a:r>
            <a:endParaRPr/>
          </a:p>
        </p:txBody>
      </p:sp>
    </p:spTree>
  </p:cSld>
  <p:clrMapOvr>
    <a:masterClrMapping/>
  </p:clrMapOvr>
  <p:transition spd="slow">
    <p:push/>
  </p:transition>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27"/>
          <p:cNvSpPr txBox="1"/>
          <p:nvPr>
            <p:ph idx="1" type="body"/>
          </p:nvPr>
        </p:nvSpPr>
        <p:spPr>
          <a:xfrm>
            <a:off x="1127448" y="44624"/>
            <a:ext cx="4114118" cy="64807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b="1" lang="es-BO" sz="2400"/>
              <a:t>Esquema eléctrico</a:t>
            </a:r>
            <a:endParaRPr b="1" sz="2400"/>
          </a:p>
        </p:txBody>
      </p:sp>
      <p:pic>
        <p:nvPicPr>
          <p:cNvPr id="454" name="Google Shape;454;p27"/>
          <p:cNvPicPr preferRelativeResize="0"/>
          <p:nvPr/>
        </p:nvPicPr>
        <p:blipFill rotWithShape="1">
          <a:blip r:embed="rId3">
            <a:alphaModFix/>
          </a:blip>
          <a:srcRect b="0" l="0" r="0" t="0"/>
          <a:stretch/>
        </p:blipFill>
        <p:spPr>
          <a:xfrm>
            <a:off x="407368" y="94320"/>
            <a:ext cx="11706219" cy="6669360"/>
          </a:xfrm>
          <a:prstGeom prst="rect">
            <a:avLst/>
          </a:prstGeom>
          <a:noFill/>
          <a:ln>
            <a:noFill/>
          </a:ln>
        </p:spPr>
      </p:pic>
    </p:spTree>
  </p:cSld>
  <p:clrMapOvr>
    <a:masterClrMapping/>
  </p:clrMapOvr>
  <p:transition spd="slow">
    <p:push/>
  </p:transition>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28"/>
          <p:cNvSpPr txBox="1"/>
          <p:nvPr>
            <p:ph idx="1" type="body"/>
          </p:nvPr>
        </p:nvSpPr>
        <p:spPr>
          <a:xfrm>
            <a:off x="1127448" y="0"/>
            <a:ext cx="4114118" cy="64807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b="1" lang="es-BO" sz="2400"/>
              <a:t>Esquema eléctrico</a:t>
            </a:r>
            <a:endParaRPr b="1" sz="2400"/>
          </a:p>
        </p:txBody>
      </p:sp>
      <p:pic>
        <p:nvPicPr>
          <p:cNvPr id="461" name="Google Shape;461;p28"/>
          <p:cNvPicPr preferRelativeResize="0"/>
          <p:nvPr/>
        </p:nvPicPr>
        <p:blipFill rotWithShape="1">
          <a:blip r:embed="rId3">
            <a:alphaModFix/>
          </a:blip>
          <a:srcRect b="0" l="0" r="0" t="0"/>
          <a:stretch/>
        </p:blipFill>
        <p:spPr>
          <a:xfrm>
            <a:off x="407368" y="35578"/>
            <a:ext cx="11737304" cy="6728065"/>
          </a:xfrm>
          <a:prstGeom prst="rect">
            <a:avLst/>
          </a:prstGeom>
          <a:noFill/>
          <a:ln>
            <a:noFill/>
          </a:ln>
        </p:spPr>
      </p:pic>
      <p:sp>
        <p:nvSpPr>
          <p:cNvPr id="462" name="Google Shape;462;p28"/>
          <p:cNvSpPr txBox="1"/>
          <p:nvPr/>
        </p:nvSpPr>
        <p:spPr>
          <a:xfrm>
            <a:off x="695400" y="6309321"/>
            <a:ext cx="72008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400">
                <a:solidFill>
                  <a:schemeClr val="dk1"/>
                </a:solidFill>
                <a:latin typeface="Calibri"/>
                <a:ea typeface="Calibri"/>
                <a:cs typeface="Calibri"/>
                <a:sym typeface="Calibri"/>
              </a:rPr>
              <a:t>Bomba </a:t>
            </a:r>
            <a:endParaRPr sz="1400">
              <a:solidFill>
                <a:schemeClr val="dk1"/>
              </a:solidFill>
              <a:latin typeface="Calibri"/>
              <a:ea typeface="Calibri"/>
              <a:cs typeface="Calibri"/>
              <a:sym typeface="Calibri"/>
            </a:endParaRPr>
          </a:p>
        </p:txBody>
      </p:sp>
    </p:spTree>
  </p:cSld>
  <p:clrMapOvr>
    <a:masterClrMapping/>
  </p:clrMapOvr>
  <p:transition spd="slow">
    <p:push/>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29"/>
          <p:cNvSpPr txBox="1"/>
          <p:nvPr>
            <p:ph type="title"/>
          </p:nvPr>
        </p:nvSpPr>
        <p:spPr>
          <a:xfrm>
            <a:off x="609600" y="2857500"/>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s-BO"/>
              <a:t>Puesta en marcha del sistema</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30"/>
          <p:cNvSpPr txBox="1"/>
          <p:nvPr/>
        </p:nvSpPr>
        <p:spPr>
          <a:xfrm>
            <a:off x="623392" y="1628800"/>
            <a:ext cx="6864424" cy="4708981"/>
          </a:xfrm>
          <a:prstGeom prst="rect">
            <a:avLst/>
          </a:prstGeom>
          <a:noFill/>
          <a:ln>
            <a:noFill/>
          </a:ln>
        </p:spPr>
        <p:txBody>
          <a:bodyPr anchorCtr="0" anchor="t" bIns="45700" lIns="91425" spcFirstLastPara="1" rIns="91425" wrap="square" tIns="45700">
            <a:spAutoFit/>
          </a:bodyPr>
          <a:lstStyle/>
          <a:p>
            <a:pPr indent="0" lvl="0" marL="228600" marR="0" rtl="0" algn="just">
              <a:spcBef>
                <a:spcPts val="0"/>
              </a:spcBef>
              <a:spcAft>
                <a:spcPts val="0"/>
              </a:spcAft>
              <a:buNone/>
            </a:pPr>
            <a:r>
              <a:rPr lang="es-BO" sz="1800">
                <a:solidFill>
                  <a:schemeClr val="dk1"/>
                </a:solidFill>
                <a:latin typeface="Calibri"/>
                <a:ea typeface="Calibri"/>
                <a:cs typeface="Calibri"/>
                <a:sym typeface="Calibri"/>
              </a:rPr>
              <a:t>Para la puesta en funcionamiento y energización del sistema se deben seguir los siguientes pasos:</a:t>
            </a:r>
            <a:endParaRPr sz="1200">
              <a:solidFill>
                <a:schemeClr val="dk1"/>
              </a:solidFill>
              <a:latin typeface="Times New Roman"/>
              <a:ea typeface="Times New Roman"/>
              <a:cs typeface="Times New Roman"/>
              <a:sym typeface="Times New Roman"/>
            </a:endParaRPr>
          </a:p>
          <a:p>
            <a:pPr indent="-342900" lvl="0" marL="342900" marR="0" rtl="0" algn="just">
              <a:spcBef>
                <a:spcPts val="1200"/>
              </a:spcBef>
              <a:spcAft>
                <a:spcPts val="0"/>
              </a:spcAft>
              <a:buClr>
                <a:schemeClr val="dk1"/>
              </a:buClr>
              <a:buSzPts val="1800"/>
              <a:buFont typeface="Calibri"/>
              <a:buChar char="-"/>
            </a:pPr>
            <a:r>
              <a:rPr lang="es-BO" sz="1800">
                <a:solidFill>
                  <a:schemeClr val="dk1"/>
                </a:solidFill>
                <a:latin typeface="Calibri"/>
                <a:ea typeface="Calibri"/>
                <a:cs typeface="Calibri"/>
                <a:sym typeface="Calibri"/>
              </a:rPr>
              <a:t>Energizar al sistema mediante su cable conector a 230 VAC.</a:t>
            </a:r>
            <a:endParaRPr sz="1200">
              <a:solidFill>
                <a:schemeClr val="dk1"/>
              </a:solidFill>
              <a:latin typeface="Times New Roman"/>
              <a:ea typeface="Times New Roman"/>
              <a:cs typeface="Times New Roman"/>
              <a:sym typeface="Times New Roman"/>
            </a:endParaRPr>
          </a:p>
          <a:p>
            <a:pPr indent="-342900" lvl="0" marL="342900" marR="0" rtl="0" algn="just">
              <a:spcBef>
                <a:spcPts val="1200"/>
              </a:spcBef>
              <a:spcAft>
                <a:spcPts val="0"/>
              </a:spcAft>
              <a:buClr>
                <a:schemeClr val="dk1"/>
              </a:buClr>
              <a:buSzPts val="1800"/>
              <a:buFont typeface="Calibri"/>
              <a:buChar char="-"/>
            </a:pPr>
            <a:r>
              <a:rPr lang="es-BO" sz="1800">
                <a:solidFill>
                  <a:schemeClr val="dk1"/>
                </a:solidFill>
                <a:latin typeface="Calibri"/>
                <a:ea typeface="Calibri"/>
                <a:cs typeface="Calibri"/>
                <a:sym typeface="Calibri"/>
              </a:rPr>
              <a:t>Activar el interruptor principal, ubicado en la parte lateral  derecha del sistema</a:t>
            </a:r>
            <a:endParaRPr sz="1200">
              <a:solidFill>
                <a:schemeClr val="dk1"/>
              </a:solidFill>
              <a:latin typeface="Times New Roman"/>
              <a:ea typeface="Times New Roman"/>
              <a:cs typeface="Times New Roman"/>
              <a:sym typeface="Times New Roman"/>
            </a:endParaRPr>
          </a:p>
          <a:p>
            <a:pPr indent="-342900" lvl="0" marL="342900" marR="0" rtl="0" algn="just">
              <a:spcBef>
                <a:spcPts val="1200"/>
              </a:spcBef>
              <a:spcAft>
                <a:spcPts val="0"/>
              </a:spcAft>
              <a:buClr>
                <a:schemeClr val="dk1"/>
              </a:buClr>
              <a:buSzPts val="1800"/>
              <a:buFont typeface="Calibri"/>
              <a:buChar char="-"/>
            </a:pPr>
            <a:r>
              <a:rPr lang="es-BO" sz="1800">
                <a:solidFill>
                  <a:schemeClr val="dk1"/>
                </a:solidFill>
                <a:latin typeface="Calibri"/>
                <a:ea typeface="Calibri"/>
                <a:cs typeface="Calibri"/>
                <a:sym typeface="Calibri"/>
              </a:rPr>
              <a:t>Una vez energizado la planta se observa que tanto el dosificador como el controlador de temperatura están ya activos. Sin embargo, para completar con la puesta en funcionamiento y energización de la planta se debe activar los tres térmicos ubicados dentro del panel de control donde:</a:t>
            </a:r>
            <a:endParaRPr sz="1200">
              <a:solidFill>
                <a:schemeClr val="dk1"/>
              </a:solidFill>
              <a:latin typeface="Times New Roman"/>
              <a:ea typeface="Times New Roman"/>
              <a:cs typeface="Times New Roman"/>
              <a:sym typeface="Times New Roman"/>
            </a:endParaRPr>
          </a:p>
          <a:p>
            <a:pPr indent="-342900" lvl="0" marL="342900" marR="0" rtl="0" algn="just">
              <a:spcBef>
                <a:spcPts val="0"/>
              </a:spcBef>
              <a:spcAft>
                <a:spcPts val="0"/>
              </a:spcAft>
              <a:buClr>
                <a:schemeClr val="dk1"/>
              </a:buClr>
              <a:buSzPts val="1800"/>
              <a:buFont typeface="Calibri"/>
              <a:buAutoNum type="arabicParenR"/>
            </a:pPr>
            <a:r>
              <a:rPr lang="es-BO" sz="1800" u="sng">
                <a:solidFill>
                  <a:schemeClr val="dk1"/>
                </a:solidFill>
                <a:latin typeface="Calibri"/>
                <a:ea typeface="Calibri"/>
                <a:cs typeface="Calibri"/>
                <a:sym typeface="Calibri"/>
              </a:rPr>
              <a:t>BR1</a:t>
            </a:r>
            <a:r>
              <a:rPr lang="es-BO" sz="1800">
                <a:solidFill>
                  <a:schemeClr val="dk1"/>
                </a:solidFill>
                <a:latin typeface="Calibri"/>
                <a:ea typeface="Calibri"/>
                <a:cs typeface="Calibri"/>
                <a:sym typeface="Calibri"/>
              </a:rPr>
              <a:t>: Térmico encargado de la energización y activación del PLC</a:t>
            </a:r>
            <a:endParaRPr sz="1200">
              <a:solidFill>
                <a:schemeClr val="dk1"/>
              </a:solidFill>
              <a:latin typeface="Times New Roman"/>
              <a:ea typeface="Times New Roman"/>
              <a:cs typeface="Times New Roman"/>
              <a:sym typeface="Times New Roman"/>
            </a:endParaRPr>
          </a:p>
          <a:p>
            <a:pPr indent="-342900" lvl="0" marL="342900" marR="0" rtl="0" algn="just">
              <a:spcBef>
                <a:spcPts val="0"/>
              </a:spcBef>
              <a:spcAft>
                <a:spcPts val="0"/>
              </a:spcAft>
              <a:buClr>
                <a:schemeClr val="dk1"/>
              </a:buClr>
              <a:buSzPts val="1800"/>
              <a:buFont typeface="Calibri"/>
              <a:buAutoNum type="arabicParenR"/>
            </a:pPr>
            <a:r>
              <a:rPr lang="es-BO" sz="1800" u="sng">
                <a:solidFill>
                  <a:schemeClr val="dk1"/>
                </a:solidFill>
                <a:latin typeface="Calibri"/>
                <a:ea typeface="Calibri"/>
                <a:cs typeface="Calibri"/>
                <a:sym typeface="Calibri"/>
              </a:rPr>
              <a:t>BR2</a:t>
            </a:r>
            <a:r>
              <a:rPr lang="es-BO" sz="1800">
                <a:solidFill>
                  <a:schemeClr val="dk1"/>
                </a:solidFill>
                <a:latin typeface="Calibri"/>
                <a:ea typeface="Calibri"/>
                <a:cs typeface="Calibri"/>
                <a:sym typeface="Calibri"/>
              </a:rPr>
              <a:t>: Térmico encargado de la energización de la fuente de alimentación y de los sensores que dependan de esta.</a:t>
            </a:r>
            <a:endParaRPr sz="1200">
              <a:solidFill>
                <a:schemeClr val="dk1"/>
              </a:solidFill>
              <a:latin typeface="Times New Roman"/>
              <a:ea typeface="Times New Roman"/>
              <a:cs typeface="Times New Roman"/>
              <a:sym typeface="Times New Roman"/>
            </a:endParaRPr>
          </a:p>
          <a:p>
            <a:pPr indent="-342900" lvl="0" marL="342900" marR="0" rtl="0" algn="just">
              <a:spcBef>
                <a:spcPts val="0"/>
              </a:spcBef>
              <a:spcAft>
                <a:spcPts val="0"/>
              </a:spcAft>
              <a:buClr>
                <a:schemeClr val="dk1"/>
              </a:buClr>
              <a:buSzPts val="1800"/>
              <a:buFont typeface="Calibri"/>
              <a:buAutoNum type="arabicParenR"/>
            </a:pPr>
            <a:r>
              <a:rPr lang="es-BO" sz="1800" u="sng">
                <a:solidFill>
                  <a:schemeClr val="dk1"/>
                </a:solidFill>
                <a:latin typeface="Calibri"/>
                <a:ea typeface="Calibri"/>
                <a:cs typeface="Calibri"/>
                <a:sym typeface="Calibri"/>
              </a:rPr>
              <a:t>BR3</a:t>
            </a:r>
            <a:r>
              <a:rPr lang="es-BO" sz="1800">
                <a:solidFill>
                  <a:schemeClr val="dk1"/>
                </a:solidFill>
                <a:latin typeface="Calibri"/>
                <a:ea typeface="Calibri"/>
                <a:cs typeface="Calibri"/>
                <a:sym typeface="Calibri"/>
              </a:rPr>
              <a:t>: Térmico encargado de la energización del variador de frecuencia. </a:t>
            </a:r>
            <a:endParaRPr sz="1800">
              <a:solidFill>
                <a:schemeClr val="dk1"/>
              </a:solidFill>
              <a:latin typeface="Calibri"/>
              <a:ea typeface="Calibri"/>
              <a:cs typeface="Calibri"/>
              <a:sym typeface="Calibri"/>
            </a:endParaRPr>
          </a:p>
        </p:txBody>
      </p:sp>
      <p:sp>
        <p:nvSpPr>
          <p:cNvPr id="474" name="Google Shape;474;p30"/>
          <p:cNvSpPr txBox="1"/>
          <p:nvPr>
            <p:ph idx="1" type="body"/>
          </p:nvPr>
        </p:nvSpPr>
        <p:spPr>
          <a:xfrm>
            <a:off x="983432" y="620688"/>
            <a:ext cx="4114118" cy="64807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b="1" lang="es-BO" sz="2400"/>
              <a:t>Puesta en marcha del sistema</a:t>
            </a:r>
            <a:endParaRPr b="1" sz="2400"/>
          </a:p>
        </p:txBody>
      </p:sp>
      <p:pic>
        <p:nvPicPr>
          <p:cNvPr id="475" name="Google Shape;475;p30"/>
          <p:cNvPicPr preferRelativeResize="0"/>
          <p:nvPr/>
        </p:nvPicPr>
        <p:blipFill rotWithShape="1">
          <a:blip r:embed="rId3">
            <a:alphaModFix/>
          </a:blip>
          <a:srcRect b="0" l="0" r="0" t="0"/>
          <a:stretch/>
        </p:blipFill>
        <p:spPr>
          <a:xfrm>
            <a:off x="9158500" y="171076"/>
            <a:ext cx="1834044" cy="2273876"/>
          </a:xfrm>
          <a:prstGeom prst="rect">
            <a:avLst/>
          </a:prstGeom>
          <a:noFill/>
          <a:ln>
            <a:noFill/>
          </a:ln>
        </p:spPr>
      </p:pic>
      <p:sp>
        <p:nvSpPr>
          <p:cNvPr id="476" name="Google Shape;476;p30"/>
          <p:cNvSpPr/>
          <p:nvPr/>
        </p:nvSpPr>
        <p:spPr>
          <a:xfrm>
            <a:off x="8213146" y="2625193"/>
            <a:ext cx="3456384"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1" lang="es-BO" sz="1800">
                <a:solidFill>
                  <a:schemeClr val="dk1"/>
                </a:solidFill>
                <a:latin typeface="Calibri"/>
                <a:ea typeface="Calibri"/>
                <a:cs typeface="Calibri"/>
                <a:sym typeface="Calibri"/>
              </a:rPr>
              <a:t>Interruptor principal de la planta</a:t>
            </a:r>
            <a:endParaRPr sz="1400">
              <a:solidFill>
                <a:schemeClr val="dk1"/>
              </a:solidFill>
              <a:latin typeface="Times New Roman"/>
              <a:ea typeface="Times New Roman"/>
              <a:cs typeface="Times New Roman"/>
              <a:sym typeface="Times New Roman"/>
            </a:endParaRPr>
          </a:p>
          <a:p>
            <a:pPr indent="0" lvl="0" marL="0" marR="0" rtl="0" algn="ctr">
              <a:spcBef>
                <a:spcPts val="0"/>
              </a:spcBef>
              <a:spcAft>
                <a:spcPts val="0"/>
              </a:spcAft>
              <a:buNone/>
            </a:pPr>
            <a:r>
              <a:rPr b="1" i="1" lang="es-BO" sz="1800">
                <a:solidFill>
                  <a:schemeClr val="dk1"/>
                </a:solidFill>
                <a:latin typeface="Calibri"/>
                <a:ea typeface="Calibri"/>
                <a:cs typeface="Calibri"/>
                <a:sym typeface="Calibri"/>
              </a:rPr>
              <a:t>(ubicado en la parte lateral  derecha del sistema)</a:t>
            </a:r>
            <a:endParaRPr sz="1400">
              <a:solidFill>
                <a:schemeClr val="dk1"/>
              </a:solidFill>
              <a:latin typeface="Times New Roman"/>
              <a:ea typeface="Times New Roman"/>
              <a:cs typeface="Times New Roman"/>
              <a:sym typeface="Times New Roman"/>
            </a:endParaRPr>
          </a:p>
        </p:txBody>
      </p:sp>
      <p:grpSp>
        <p:nvGrpSpPr>
          <p:cNvPr id="477" name="Google Shape;477;p30"/>
          <p:cNvGrpSpPr/>
          <p:nvPr/>
        </p:nvGrpSpPr>
        <p:grpSpPr>
          <a:xfrm>
            <a:off x="8925140" y="3561026"/>
            <a:ext cx="2808312" cy="2418999"/>
            <a:chOff x="0" y="0"/>
            <a:chExt cx="2332065" cy="2090677"/>
          </a:xfrm>
        </p:grpSpPr>
        <p:pic>
          <p:nvPicPr>
            <p:cNvPr id="478" name="Google Shape;478;p30"/>
            <p:cNvPicPr preferRelativeResize="0"/>
            <p:nvPr/>
          </p:nvPicPr>
          <p:blipFill rotWithShape="1">
            <a:blip r:embed="rId4">
              <a:alphaModFix/>
            </a:blip>
            <a:srcRect b="8801" l="9322" r="18220" t="7944"/>
            <a:stretch/>
          </p:blipFill>
          <p:spPr>
            <a:xfrm>
              <a:off x="0" y="0"/>
              <a:ext cx="1565910" cy="2058670"/>
            </a:xfrm>
            <a:prstGeom prst="rect">
              <a:avLst/>
            </a:prstGeom>
            <a:noFill/>
            <a:ln>
              <a:noFill/>
            </a:ln>
          </p:spPr>
        </p:pic>
        <p:grpSp>
          <p:nvGrpSpPr>
            <p:cNvPr id="479" name="Google Shape;479;p30"/>
            <p:cNvGrpSpPr/>
            <p:nvPr/>
          </p:nvGrpSpPr>
          <p:grpSpPr>
            <a:xfrm>
              <a:off x="433415" y="1553951"/>
              <a:ext cx="1898650" cy="536726"/>
              <a:chOff x="0" y="0"/>
              <a:chExt cx="1898650" cy="536726"/>
            </a:xfrm>
          </p:grpSpPr>
          <p:cxnSp>
            <p:nvCxnSpPr>
              <p:cNvPr id="480" name="Google Shape;480;p30"/>
              <p:cNvCxnSpPr/>
              <p:nvPr/>
            </p:nvCxnSpPr>
            <p:spPr>
              <a:xfrm>
                <a:off x="0" y="0"/>
                <a:ext cx="0" cy="180000"/>
              </a:xfrm>
              <a:prstGeom prst="straightConnector1">
                <a:avLst/>
              </a:prstGeom>
              <a:noFill/>
              <a:ln cap="flat" cmpd="sng" w="38100">
                <a:solidFill>
                  <a:srgbClr val="FFFF00"/>
                </a:solidFill>
                <a:prstDash val="solid"/>
                <a:round/>
                <a:headEnd len="sm" w="sm" type="none"/>
                <a:tailEnd len="sm" w="sm" type="none"/>
              </a:ln>
              <a:effectLst>
                <a:outerShdw blurRad="40000" rotWithShape="0" dir="5400000" dist="23000">
                  <a:srgbClr val="000000">
                    <a:alpha val="34901"/>
                  </a:srgbClr>
                </a:outerShdw>
              </a:effectLst>
            </p:spPr>
          </p:cxnSp>
          <p:cxnSp>
            <p:nvCxnSpPr>
              <p:cNvPr id="481" name="Google Shape;481;p30"/>
              <p:cNvCxnSpPr/>
              <p:nvPr/>
            </p:nvCxnSpPr>
            <p:spPr>
              <a:xfrm>
                <a:off x="597267" y="26428"/>
                <a:ext cx="0" cy="406400"/>
              </a:xfrm>
              <a:prstGeom prst="straightConnector1">
                <a:avLst/>
              </a:prstGeom>
              <a:noFill/>
              <a:ln cap="flat" cmpd="sng" w="38100">
                <a:solidFill>
                  <a:srgbClr val="FFFF00"/>
                </a:solidFill>
                <a:prstDash val="solid"/>
                <a:round/>
                <a:headEnd len="sm" w="sm" type="none"/>
                <a:tailEnd len="sm" w="sm" type="none"/>
              </a:ln>
              <a:effectLst>
                <a:outerShdw blurRad="40000" rotWithShape="0" dir="5400000" dist="23000">
                  <a:srgbClr val="000000">
                    <a:alpha val="34901"/>
                  </a:srgbClr>
                </a:outerShdw>
              </a:effectLst>
            </p:spPr>
          </p:cxnSp>
          <p:grpSp>
            <p:nvGrpSpPr>
              <p:cNvPr id="482" name="Google Shape;482;p30"/>
              <p:cNvGrpSpPr/>
              <p:nvPr/>
            </p:nvGrpSpPr>
            <p:grpSpPr>
              <a:xfrm>
                <a:off x="0" y="21142"/>
                <a:ext cx="1898650" cy="515584"/>
                <a:chOff x="0" y="0"/>
                <a:chExt cx="1898650" cy="515584"/>
              </a:xfrm>
            </p:grpSpPr>
            <p:cxnSp>
              <p:nvCxnSpPr>
                <p:cNvPr id="483" name="Google Shape;483;p30"/>
                <p:cNvCxnSpPr/>
                <p:nvPr/>
              </p:nvCxnSpPr>
              <p:spPr>
                <a:xfrm>
                  <a:off x="306562" y="0"/>
                  <a:ext cx="0" cy="278295"/>
                </a:xfrm>
                <a:prstGeom prst="straightConnector1">
                  <a:avLst/>
                </a:prstGeom>
                <a:noFill/>
                <a:ln cap="flat" cmpd="sng" w="38100">
                  <a:solidFill>
                    <a:srgbClr val="FFFF00"/>
                  </a:solidFill>
                  <a:prstDash val="solid"/>
                  <a:round/>
                  <a:headEnd len="sm" w="sm" type="none"/>
                  <a:tailEnd len="sm" w="sm" type="none"/>
                </a:ln>
                <a:effectLst>
                  <a:outerShdw blurRad="40000" rotWithShape="0" dir="5400000" dist="23000">
                    <a:srgbClr val="000000">
                      <a:alpha val="34901"/>
                    </a:srgbClr>
                  </a:outerShdw>
                </a:effectLst>
              </p:spPr>
            </p:cxnSp>
            <p:grpSp>
              <p:nvGrpSpPr>
                <p:cNvPr id="484" name="Google Shape;484;p30"/>
                <p:cNvGrpSpPr/>
                <p:nvPr/>
              </p:nvGrpSpPr>
              <p:grpSpPr>
                <a:xfrm>
                  <a:off x="0" y="31714"/>
                  <a:ext cx="1898650" cy="483870"/>
                  <a:chOff x="0" y="0"/>
                  <a:chExt cx="1898650" cy="483870"/>
                </a:xfrm>
              </p:grpSpPr>
              <p:sp>
                <p:nvSpPr>
                  <p:cNvPr id="485" name="Google Shape;485;p30"/>
                  <p:cNvSpPr txBox="1"/>
                  <p:nvPr/>
                </p:nvSpPr>
                <p:spPr>
                  <a:xfrm>
                    <a:off x="1454150" y="0"/>
                    <a:ext cx="444500" cy="483870"/>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s-BO" sz="900">
                        <a:solidFill>
                          <a:schemeClr val="dk1"/>
                        </a:solidFill>
                        <a:latin typeface="Times New Roman"/>
                        <a:ea typeface="Times New Roman"/>
                        <a:cs typeface="Times New Roman"/>
                        <a:sym typeface="Times New Roman"/>
                      </a:rPr>
                      <a:t>BR1</a:t>
                    </a:r>
                    <a:endParaRPr sz="1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s-BO" sz="900">
                        <a:solidFill>
                          <a:schemeClr val="dk1"/>
                        </a:solidFill>
                        <a:latin typeface="Times New Roman"/>
                        <a:ea typeface="Times New Roman"/>
                        <a:cs typeface="Times New Roman"/>
                        <a:sym typeface="Times New Roman"/>
                      </a:rPr>
                      <a:t>BR2</a:t>
                    </a:r>
                    <a:endParaRPr sz="1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s-BO" sz="900">
                        <a:solidFill>
                          <a:schemeClr val="dk1"/>
                        </a:solidFill>
                        <a:latin typeface="Times New Roman"/>
                        <a:ea typeface="Times New Roman"/>
                        <a:cs typeface="Times New Roman"/>
                        <a:sym typeface="Times New Roman"/>
                      </a:rPr>
                      <a:t>BR3</a:t>
                    </a:r>
                    <a:endParaRPr sz="1000">
                      <a:solidFill>
                        <a:schemeClr val="dk1"/>
                      </a:solidFill>
                      <a:latin typeface="Times New Roman"/>
                      <a:ea typeface="Times New Roman"/>
                      <a:cs typeface="Times New Roman"/>
                      <a:sym typeface="Times New Roman"/>
                    </a:endParaRPr>
                  </a:p>
                </p:txBody>
              </p:sp>
              <p:cxnSp>
                <p:nvCxnSpPr>
                  <p:cNvPr id="486" name="Google Shape;486;p30"/>
                  <p:cNvCxnSpPr/>
                  <p:nvPr/>
                </p:nvCxnSpPr>
                <p:spPr>
                  <a:xfrm>
                    <a:off x="609600" y="374650"/>
                    <a:ext cx="898525" cy="0"/>
                  </a:xfrm>
                  <a:prstGeom prst="straightConnector1">
                    <a:avLst/>
                  </a:prstGeom>
                  <a:noFill/>
                  <a:ln cap="flat" cmpd="sng" w="38100">
                    <a:solidFill>
                      <a:srgbClr val="FFFF00"/>
                    </a:solidFill>
                    <a:prstDash val="solid"/>
                    <a:round/>
                    <a:headEnd len="sm" w="sm" type="none"/>
                    <a:tailEnd len="sm" w="sm" type="none"/>
                  </a:ln>
                  <a:effectLst>
                    <a:outerShdw blurRad="40000" rotWithShape="0" dir="5400000" dist="23000">
                      <a:srgbClr val="000000">
                        <a:alpha val="34901"/>
                      </a:srgbClr>
                    </a:outerShdw>
                  </a:effectLst>
                </p:spPr>
              </p:cxnSp>
              <p:cxnSp>
                <p:nvCxnSpPr>
                  <p:cNvPr id="487" name="Google Shape;487;p30"/>
                  <p:cNvCxnSpPr/>
                  <p:nvPr/>
                </p:nvCxnSpPr>
                <p:spPr>
                  <a:xfrm>
                    <a:off x="298450" y="254000"/>
                    <a:ext cx="1200150" cy="0"/>
                  </a:xfrm>
                  <a:prstGeom prst="straightConnector1">
                    <a:avLst/>
                  </a:prstGeom>
                  <a:noFill/>
                  <a:ln cap="flat" cmpd="sng" w="38100">
                    <a:solidFill>
                      <a:srgbClr val="FFFF00"/>
                    </a:solidFill>
                    <a:prstDash val="solid"/>
                    <a:round/>
                    <a:headEnd len="sm" w="sm" type="none"/>
                    <a:tailEnd len="sm" w="sm" type="none"/>
                  </a:ln>
                  <a:effectLst>
                    <a:outerShdw blurRad="40000" rotWithShape="0" dir="5400000" dist="23000">
                      <a:srgbClr val="000000">
                        <a:alpha val="34901"/>
                      </a:srgbClr>
                    </a:outerShdw>
                  </a:effectLst>
                </p:spPr>
              </p:cxnSp>
              <p:cxnSp>
                <p:nvCxnSpPr>
                  <p:cNvPr id="488" name="Google Shape;488;p30"/>
                  <p:cNvCxnSpPr/>
                  <p:nvPr/>
                </p:nvCxnSpPr>
                <p:spPr>
                  <a:xfrm>
                    <a:off x="0" y="127000"/>
                    <a:ext cx="1485900" cy="0"/>
                  </a:xfrm>
                  <a:prstGeom prst="straightConnector1">
                    <a:avLst/>
                  </a:prstGeom>
                  <a:noFill/>
                  <a:ln cap="flat" cmpd="sng" w="38100">
                    <a:solidFill>
                      <a:srgbClr val="FFFF00"/>
                    </a:solidFill>
                    <a:prstDash val="solid"/>
                    <a:round/>
                    <a:headEnd len="sm" w="sm" type="none"/>
                    <a:tailEnd len="sm" w="sm" type="none"/>
                  </a:ln>
                  <a:effectLst>
                    <a:outerShdw blurRad="40000" rotWithShape="0" dir="5400000" dist="23000">
                      <a:srgbClr val="000000">
                        <a:alpha val="34901"/>
                      </a:srgbClr>
                    </a:outerShdw>
                  </a:effectLst>
                </p:spPr>
              </p:cxnSp>
            </p:grpSp>
          </p:grpSp>
        </p:grpSp>
      </p:grpSp>
      <p:sp>
        <p:nvSpPr>
          <p:cNvPr id="489" name="Google Shape;489;p30"/>
          <p:cNvSpPr/>
          <p:nvPr/>
        </p:nvSpPr>
        <p:spPr>
          <a:xfrm>
            <a:off x="8141631" y="5965080"/>
            <a:ext cx="3599415"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1" lang="es-BO" sz="1800">
                <a:solidFill>
                  <a:schemeClr val="dk1"/>
                </a:solidFill>
                <a:latin typeface="Calibri"/>
                <a:ea typeface="Calibri"/>
                <a:cs typeface="Calibri"/>
                <a:sym typeface="Calibri"/>
              </a:rPr>
              <a:t>Térmicos de activación del sistema</a:t>
            </a:r>
            <a:endParaRPr sz="1400">
              <a:solidFill>
                <a:schemeClr val="dk1"/>
              </a:solidFill>
              <a:latin typeface="Times New Roman"/>
              <a:ea typeface="Times New Roman"/>
              <a:cs typeface="Times New Roman"/>
              <a:sym typeface="Times New Roman"/>
            </a:endParaRPr>
          </a:p>
          <a:p>
            <a:pPr indent="0" lvl="0" marL="0" marR="0" rtl="0" algn="ctr">
              <a:spcBef>
                <a:spcPts val="0"/>
              </a:spcBef>
              <a:spcAft>
                <a:spcPts val="0"/>
              </a:spcAft>
              <a:buNone/>
            </a:pPr>
            <a:r>
              <a:rPr b="1" i="1" lang="es-BO" sz="1800">
                <a:solidFill>
                  <a:schemeClr val="dk1"/>
                </a:solidFill>
                <a:latin typeface="Calibri"/>
                <a:ea typeface="Calibri"/>
                <a:cs typeface="Calibri"/>
                <a:sym typeface="Calibri"/>
              </a:rPr>
              <a:t>(ubicados dentro del panel de control)</a:t>
            </a:r>
            <a:endParaRPr sz="1000">
              <a:solidFill>
                <a:schemeClr val="dk1"/>
              </a:solidFill>
              <a:latin typeface="Times New Roman"/>
              <a:ea typeface="Times New Roman"/>
              <a:cs typeface="Times New Roman"/>
              <a:sym typeface="Times New Roman"/>
            </a:endParaRPr>
          </a:p>
        </p:txBody>
      </p:sp>
    </p:spTree>
  </p:cSld>
  <p:clrMapOvr>
    <a:masterClrMapping/>
  </p:clrMapOvr>
  <p:transition spd="slow">
    <p:push/>
  </p:transition>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31"/>
          <p:cNvSpPr txBox="1"/>
          <p:nvPr>
            <p:ph idx="1" type="body"/>
          </p:nvPr>
        </p:nvSpPr>
        <p:spPr>
          <a:xfrm>
            <a:off x="4079776" y="2920592"/>
            <a:ext cx="4032448" cy="99514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600"/>
              <a:buNone/>
            </a:pPr>
            <a:r>
              <a:rPr b="1" lang="es-BO" sz="3600"/>
              <a:t>INSTRUMENTACIÓN</a:t>
            </a:r>
            <a:r>
              <a:rPr lang="es-BO" sz="3600"/>
              <a:t> </a:t>
            </a:r>
            <a:endParaRPr/>
          </a:p>
        </p:txBody>
      </p:sp>
    </p:spTree>
  </p:cSld>
  <p:clrMapOvr>
    <a:masterClrMapping/>
  </p:clrMapOvr>
  <p:transition spd="slow">
    <p:push/>
  </p:transition>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32"/>
          <p:cNvSpPr txBox="1"/>
          <p:nvPr>
            <p:ph type="title"/>
          </p:nvPr>
        </p:nvSpPr>
        <p:spPr>
          <a:xfrm>
            <a:off x="609600" y="274638"/>
            <a:ext cx="10972800" cy="34605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chemeClr val="dk1"/>
              </a:buClr>
              <a:buSzPct val="100000"/>
              <a:buFont typeface="Calibri"/>
              <a:buNone/>
            </a:pPr>
            <a:r>
              <a:rPr b="1" lang="es-BO" sz="1800">
                <a:latin typeface="Calibri"/>
                <a:ea typeface="Calibri"/>
                <a:cs typeface="Calibri"/>
                <a:sym typeface="Calibri"/>
              </a:rPr>
              <a:t>Multímetro Digital</a:t>
            </a:r>
            <a:endParaRPr/>
          </a:p>
        </p:txBody>
      </p:sp>
      <p:pic>
        <p:nvPicPr>
          <p:cNvPr descr="Multímetro digital AM-530 - Mercantil Leon" id="500" name="Google Shape;500;p32"/>
          <p:cNvPicPr preferRelativeResize="0"/>
          <p:nvPr>
            <p:ph idx="1" type="body"/>
          </p:nvPr>
        </p:nvPicPr>
        <p:blipFill rotWithShape="1">
          <a:blip r:embed="rId3">
            <a:alphaModFix/>
          </a:blip>
          <a:srcRect b="0" l="0" r="0" t="0"/>
          <a:stretch/>
        </p:blipFill>
        <p:spPr>
          <a:xfrm>
            <a:off x="8616280" y="1177235"/>
            <a:ext cx="3744416" cy="3744416"/>
          </a:xfrm>
          <a:prstGeom prst="rect">
            <a:avLst/>
          </a:prstGeom>
          <a:noFill/>
          <a:ln>
            <a:noFill/>
          </a:ln>
        </p:spPr>
      </p:pic>
      <p:sp>
        <p:nvSpPr>
          <p:cNvPr id="501" name="Google Shape;501;p32"/>
          <p:cNvSpPr txBox="1"/>
          <p:nvPr/>
        </p:nvSpPr>
        <p:spPr>
          <a:xfrm>
            <a:off x="609600" y="1196752"/>
            <a:ext cx="8150696" cy="5112568"/>
          </a:xfrm>
          <a:prstGeom prst="rect">
            <a:avLst/>
          </a:prstGeom>
          <a:noFill/>
          <a:ln>
            <a:noFill/>
          </a:ln>
        </p:spPr>
        <p:txBody>
          <a:bodyPr anchorCtr="0" anchor="t" bIns="45700" lIns="91425" spcFirstLastPara="1" rIns="91425" wrap="square" tIns="45700">
            <a:normAutofit/>
          </a:bodyPr>
          <a:lstStyle/>
          <a:p>
            <a:pPr indent="0" lvl="0" marL="0" marR="0" rtl="0" algn="l">
              <a:lnSpc>
                <a:spcPct val="150000"/>
              </a:lnSpc>
              <a:spcBef>
                <a:spcPts val="0"/>
              </a:spcBef>
              <a:spcAft>
                <a:spcPts val="0"/>
              </a:spcAft>
              <a:buClr>
                <a:schemeClr val="dk1"/>
              </a:buClr>
              <a:buSzPts val="1800"/>
              <a:buFont typeface="Arial"/>
              <a:buNone/>
            </a:pPr>
            <a:r>
              <a:rPr lang="es-BO" sz="1800">
                <a:solidFill>
                  <a:schemeClr val="dk1"/>
                </a:solidFill>
                <a:latin typeface="Calibri"/>
                <a:ea typeface="Calibri"/>
                <a:cs typeface="Calibri"/>
                <a:sym typeface="Calibri"/>
              </a:rPr>
              <a:t>En escencia un multímetro digital nos permite medir variables de índole eléctrico como ser, diferencia de potencial, amperaje, resistencia, continuidad eléctrica entre dos contactos, entre otras medidas adicionales.</a:t>
            </a:r>
            <a:endParaRPr/>
          </a:p>
          <a:p>
            <a:pPr indent="0" lvl="0" marL="0" marR="0" rtl="0" algn="l">
              <a:lnSpc>
                <a:spcPct val="150000"/>
              </a:lnSpc>
              <a:spcBef>
                <a:spcPts val="360"/>
              </a:spcBef>
              <a:spcAft>
                <a:spcPts val="0"/>
              </a:spcAft>
              <a:buClr>
                <a:schemeClr val="dk1"/>
              </a:buClr>
              <a:buSzPts val="1800"/>
              <a:buFont typeface="Arial"/>
              <a:buNone/>
            </a:pPr>
            <a:r>
              <a:rPr lang="es-BO" sz="1800">
                <a:solidFill>
                  <a:schemeClr val="dk1"/>
                </a:solidFill>
                <a:latin typeface="Calibri"/>
                <a:ea typeface="Calibri"/>
                <a:cs typeface="Calibri"/>
                <a:sym typeface="Calibri"/>
              </a:rPr>
              <a:t>Se suelen encontrar en distintas categorías, yendo desde la CAT-I a la CAT-IV en orden ascendente según su voltaje de trabajo y voltaje pico soportado.</a:t>
            </a:r>
            <a:br>
              <a:rPr lang="es-BO" sz="1800">
                <a:solidFill>
                  <a:schemeClr val="dk1"/>
                </a:solidFill>
                <a:latin typeface="Calibri"/>
                <a:ea typeface="Calibri"/>
                <a:cs typeface="Calibri"/>
                <a:sym typeface="Calibri"/>
              </a:rPr>
            </a:br>
            <a:r>
              <a:rPr lang="es-BO" sz="1800">
                <a:solidFill>
                  <a:schemeClr val="dk1"/>
                </a:solidFill>
                <a:latin typeface="Calibri"/>
                <a:ea typeface="Calibri"/>
                <a:cs typeface="Calibri"/>
                <a:sym typeface="Calibri"/>
              </a:rPr>
              <a:t>Para el uso específico que se detallará a continuación, un multímetro de cualquier categoría cuyo </a:t>
            </a:r>
            <a:r>
              <a:rPr i="1" lang="es-BO" sz="1800" u="sng">
                <a:solidFill>
                  <a:schemeClr val="dk1"/>
                </a:solidFill>
                <a:latin typeface="Calibri"/>
                <a:ea typeface="Calibri"/>
                <a:cs typeface="Calibri"/>
                <a:sym typeface="Calibri"/>
              </a:rPr>
              <a:t>rango superior</a:t>
            </a:r>
            <a:r>
              <a:rPr lang="es-BO" sz="1800">
                <a:solidFill>
                  <a:schemeClr val="dk1"/>
                </a:solidFill>
                <a:latin typeface="Calibri"/>
                <a:ea typeface="Calibri"/>
                <a:cs typeface="Calibri"/>
                <a:sym typeface="Calibri"/>
              </a:rPr>
              <a:t> de trabajo sea mayor a los 230 V y su </a:t>
            </a:r>
            <a:r>
              <a:rPr i="1" lang="es-BO" sz="1800" u="sng">
                <a:solidFill>
                  <a:schemeClr val="dk1"/>
                </a:solidFill>
                <a:latin typeface="Calibri"/>
                <a:ea typeface="Calibri"/>
                <a:cs typeface="Calibri"/>
                <a:sym typeface="Calibri"/>
              </a:rPr>
              <a:t>rango inferior </a:t>
            </a:r>
            <a:r>
              <a:rPr lang="es-BO" sz="1800">
                <a:solidFill>
                  <a:schemeClr val="dk1"/>
                </a:solidFill>
                <a:latin typeface="Calibri"/>
                <a:ea typeface="Calibri"/>
                <a:cs typeface="Calibri"/>
                <a:sym typeface="Calibri"/>
              </a:rPr>
              <a:t>de trabajo sea de 0 V.</a:t>
            </a:r>
            <a:endParaRPr/>
          </a:p>
          <a:p>
            <a:pPr indent="0" lvl="0" marL="0" marR="0" rtl="0" algn="l">
              <a:lnSpc>
                <a:spcPct val="150000"/>
              </a:lnSpc>
              <a:spcBef>
                <a:spcPts val="320"/>
              </a:spcBef>
              <a:spcAft>
                <a:spcPts val="0"/>
              </a:spcAft>
              <a:buClr>
                <a:schemeClr val="dk1"/>
              </a:buClr>
              <a:buSzPts val="1600"/>
              <a:buFont typeface="Arial"/>
              <a:buNone/>
            </a:pPr>
            <a:r>
              <a:t/>
            </a:r>
            <a:endParaRPr sz="1600">
              <a:solidFill>
                <a:schemeClr val="dk1"/>
              </a:solidFill>
              <a:latin typeface="Calibri"/>
              <a:ea typeface="Calibri"/>
              <a:cs typeface="Calibri"/>
              <a:sym typeface="Calibri"/>
            </a:endParaRPr>
          </a:p>
          <a:p>
            <a:pPr indent="0" lvl="0" marL="0" marR="0" rtl="0" algn="l">
              <a:spcBef>
                <a:spcPts val="320"/>
              </a:spcBef>
              <a:spcAft>
                <a:spcPts val="0"/>
              </a:spcAft>
              <a:buClr>
                <a:schemeClr val="dk1"/>
              </a:buClr>
              <a:buSzPts val="1600"/>
              <a:buFont typeface="Arial"/>
              <a:buNone/>
            </a:pPr>
            <a:r>
              <a:t/>
            </a:r>
            <a:endParaRPr sz="1600">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33"/>
          <p:cNvSpPr txBox="1"/>
          <p:nvPr>
            <p:ph type="title"/>
          </p:nvPr>
        </p:nvSpPr>
        <p:spPr>
          <a:xfrm>
            <a:off x="609600" y="274638"/>
            <a:ext cx="10972800" cy="41805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1800"/>
              <a:buFont typeface="Calibri"/>
              <a:buNone/>
            </a:pPr>
            <a:r>
              <a:rPr b="1" lang="es-BO" sz="1800">
                <a:latin typeface="Calibri"/>
                <a:ea typeface="Calibri"/>
                <a:cs typeface="Calibri"/>
                <a:sym typeface="Calibri"/>
              </a:rPr>
              <a:t>Pinza Amperimétrica</a:t>
            </a:r>
            <a:endParaRPr/>
          </a:p>
        </p:txBody>
      </p:sp>
      <p:sp>
        <p:nvSpPr>
          <p:cNvPr id="507" name="Google Shape;507;p33"/>
          <p:cNvSpPr txBox="1"/>
          <p:nvPr/>
        </p:nvSpPr>
        <p:spPr>
          <a:xfrm>
            <a:off x="630342" y="1124744"/>
            <a:ext cx="8150696" cy="5184576"/>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dk1"/>
              </a:buClr>
              <a:buSzPts val="1800"/>
              <a:buFont typeface="Arial"/>
              <a:buNone/>
            </a:pPr>
            <a:r>
              <a:rPr lang="es-BO" sz="1800">
                <a:solidFill>
                  <a:schemeClr val="dk1"/>
                </a:solidFill>
                <a:latin typeface="Calibri"/>
                <a:ea typeface="Calibri"/>
                <a:cs typeface="Calibri"/>
                <a:sym typeface="Calibri"/>
              </a:rPr>
              <a:t>Es un tipo especial de amperímetro que nos permite evitar la conexión en serie en un circuito con un amperímetro tradicional.</a:t>
            </a:r>
            <a:endParaRPr/>
          </a:p>
          <a:p>
            <a:pPr indent="0" lvl="0" marL="0" marR="0" rtl="0" algn="l">
              <a:spcBef>
                <a:spcPts val="360"/>
              </a:spcBef>
              <a:spcAft>
                <a:spcPts val="0"/>
              </a:spcAft>
              <a:buClr>
                <a:schemeClr val="dk1"/>
              </a:buClr>
              <a:buSzPts val="1800"/>
              <a:buFont typeface="Arial"/>
              <a:buNone/>
            </a:pPr>
            <a:r>
              <a:rPr lang="es-BO" sz="1800">
                <a:solidFill>
                  <a:schemeClr val="dk1"/>
                </a:solidFill>
                <a:latin typeface="Calibri"/>
                <a:ea typeface="Calibri"/>
                <a:cs typeface="Calibri"/>
                <a:sym typeface="Calibri"/>
              </a:rPr>
              <a:t>Su principio de funcionamiento se basa en la generación de campo magnético a través de la corriente en un conductor; la Cuarta Ley de Maxwell o Ley de Ampere-Maxwell, que establece:</a:t>
            </a:r>
            <a:endParaRPr/>
          </a:p>
          <a:p>
            <a:pPr indent="0" lvl="0" marL="0" marR="0" rtl="0" algn="l">
              <a:spcBef>
                <a:spcPts val="36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a:p>
            <a:pPr indent="0" lvl="0" marL="0" marR="0" rtl="0" algn="l">
              <a:spcBef>
                <a:spcPts val="36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a:p>
            <a:pPr indent="0" lvl="0" marL="0" marR="0" rtl="0" algn="l">
              <a:spcBef>
                <a:spcPts val="36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a:p>
            <a:pPr indent="0" lvl="0" marL="0" marR="0" rtl="0" algn="l">
              <a:spcBef>
                <a:spcPts val="36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a:p>
            <a:pPr indent="0" lvl="0" marL="0" marR="0" rtl="0" algn="l">
              <a:spcBef>
                <a:spcPts val="36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a:p>
            <a:pPr indent="0" lvl="0" marL="0" marR="0" rtl="0" algn="l">
              <a:spcBef>
                <a:spcPts val="36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a:p>
            <a:pPr indent="0" lvl="0" marL="0" marR="0" rtl="0" algn="l">
              <a:spcBef>
                <a:spcPts val="36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a:p>
            <a:pPr indent="0" lvl="0" marL="0" marR="0" rtl="0" algn="l">
              <a:spcBef>
                <a:spcPts val="36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a:p>
            <a:pPr indent="0" lvl="0" marL="0" marR="0" rtl="0" algn="l">
              <a:spcBef>
                <a:spcPts val="360"/>
              </a:spcBef>
              <a:spcAft>
                <a:spcPts val="0"/>
              </a:spcAft>
              <a:buClr>
                <a:schemeClr val="dk1"/>
              </a:buClr>
              <a:buSzPts val="1800"/>
              <a:buFont typeface="Arial"/>
              <a:buNone/>
            </a:pPr>
            <a:r>
              <a:rPr lang="es-BO" sz="1800">
                <a:solidFill>
                  <a:schemeClr val="dk1"/>
                </a:solidFill>
                <a:latin typeface="Calibri"/>
                <a:ea typeface="Calibri"/>
                <a:cs typeface="Calibri"/>
                <a:sym typeface="Calibri"/>
              </a:rPr>
              <a:t>Su uso es idóneo para circuitos donde se requiera medir una corriente alta, la manera de medir la corriente con este instrumento es rodeando el conductor en el cual se quiera medir la corriente por la pinza amperimétrica.</a:t>
            </a:r>
            <a:endParaRPr/>
          </a:p>
          <a:p>
            <a:pPr indent="0" lvl="0" marL="0" marR="0" rtl="0" algn="l">
              <a:spcBef>
                <a:spcPts val="320"/>
              </a:spcBef>
              <a:spcAft>
                <a:spcPts val="0"/>
              </a:spcAft>
              <a:buClr>
                <a:schemeClr val="dk1"/>
              </a:buClr>
              <a:buSzPts val="1600"/>
              <a:buFont typeface="Arial"/>
              <a:buNone/>
            </a:pPr>
            <a:r>
              <a:t/>
            </a:r>
            <a:endParaRPr sz="1600">
              <a:solidFill>
                <a:schemeClr val="dk1"/>
              </a:solidFill>
              <a:latin typeface="Calibri"/>
              <a:ea typeface="Calibri"/>
              <a:cs typeface="Calibri"/>
              <a:sym typeface="Calibri"/>
            </a:endParaRPr>
          </a:p>
        </p:txBody>
      </p:sp>
      <p:pic>
        <p:nvPicPr>
          <p:cNvPr id="508" name="Google Shape;508;p33"/>
          <p:cNvPicPr preferRelativeResize="0"/>
          <p:nvPr/>
        </p:nvPicPr>
        <p:blipFill rotWithShape="1">
          <a:blip r:embed="rId3">
            <a:alphaModFix/>
          </a:blip>
          <a:srcRect b="0" l="19152" r="15677" t="0"/>
          <a:stretch/>
        </p:blipFill>
        <p:spPr>
          <a:xfrm>
            <a:off x="9335443" y="1484784"/>
            <a:ext cx="2534072" cy="3888432"/>
          </a:xfrm>
          <a:prstGeom prst="rect">
            <a:avLst/>
          </a:prstGeom>
          <a:noFill/>
          <a:ln>
            <a:noFill/>
          </a:ln>
        </p:spPr>
      </p:pic>
      <p:sp>
        <p:nvSpPr>
          <p:cNvPr id="509" name="Google Shape;509;p33"/>
          <p:cNvSpPr txBox="1"/>
          <p:nvPr/>
        </p:nvSpPr>
        <p:spPr>
          <a:xfrm>
            <a:off x="1271464" y="2947772"/>
            <a:ext cx="3168352"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dk1"/>
              </a:buClr>
              <a:buSzPts val="1800"/>
              <a:buFont typeface="Arial"/>
              <a:buNone/>
            </a:pPr>
            <a:r>
              <a:rPr i="1" lang="es-BO" sz="1800">
                <a:solidFill>
                  <a:schemeClr val="dk1"/>
                </a:solidFill>
                <a:latin typeface="Calibri"/>
                <a:ea typeface="Calibri"/>
                <a:cs typeface="Calibri"/>
                <a:sym typeface="Calibri"/>
              </a:rPr>
              <a:t>“Una corriente eléctrica y un campo eléctrico variable son fuentes de un campo magnético.”</a:t>
            </a:r>
            <a:endParaRPr i="1" sz="1800">
              <a:solidFill>
                <a:schemeClr val="dk1"/>
              </a:solidFill>
              <a:latin typeface="Calibri"/>
              <a:ea typeface="Calibri"/>
              <a:cs typeface="Calibri"/>
              <a:sym typeface="Calibri"/>
            </a:endParaRPr>
          </a:p>
        </p:txBody>
      </p:sp>
      <p:pic>
        <p:nvPicPr>
          <p:cNvPr id="510" name="Google Shape;510;p33"/>
          <p:cNvPicPr preferRelativeResize="0"/>
          <p:nvPr/>
        </p:nvPicPr>
        <p:blipFill rotWithShape="1">
          <a:blip r:embed="rId4">
            <a:alphaModFix/>
          </a:blip>
          <a:srcRect b="0" l="0" r="0" t="0"/>
          <a:stretch/>
        </p:blipFill>
        <p:spPr>
          <a:xfrm>
            <a:off x="5015880" y="2276872"/>
            <a:ext cx="1937197" cy="2110082"/>
          </a:xfrm>
          <a:prstGeom prst="rect">
            <a:avLst/>
          </a:prstGeom>
          <a:noFill/>
          <a:ln>
            <a:noFill/>
          </a:ln>
        </p:spPr>
      </p:pic>
      <p:sp>
        <p:nvSpPr>
          <p:cNvPr id="511" name="Google Shape;511;p33"/>
          <p:cNvSpPr txBox="1"/>
          <p:nvPr/>
        </p:nvSpPr>
        <p:spPr>
          <a:xfrm>
            <a:off x="6920409" y="2982596"/>
            <a:ext cx="1846576" cy="7386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400">
                <a:solidFill>
                  <a:schemeClr val="dk1"/>
                </a:solidFill>
                <a:latin typeface="Calibri"/>
                <a:ea typeface="Calibri"/>
                <a:cs typeface="Calibri"/>
                <a:sym typeface="Calibri"/>
              </a:rPr>
              <a:t>Donde:</a:t>
            </a:r>
            <a:endParaRPr/>
          </a:p>
          <a:p>
            <a:pPr indent="0" lvl="0" marL="0" marR="0" rtl="0" algn="l">
              <a:spcBef>
                <a:spcPts val="0"/>
              </a:spcBef>
              <a:spcAft>
                <a:spcPts val="0"/>
              </a:spcAft>
              <a:buNone/>
            </a:pPr>
            <a:r>
              <a:rPr lang="es-BO" sz="1400">
                <a:solidFill>
                  <a:schemeClr val="dk1"/>
                </a:solidFill>
                <a:latin typeface="Calibri"/>
                <a:ea typeface="Calibri"/>
                <a:cs typeface="Calibri"/>
                <a:sym typeface="Calibri"/>
              </a:rPr>
              <a:t>I = Corriente</a:t>
            </a:r>
            <a:endParaRPr/>
          </a:p>
          <a:p>
            <a:pPr indent="0" lvl="0" marL="0" marR="0" rtl="0" algn="l">
              <a:spcBef>
                <a:spcPts val="0"/>
              </a:spcBef>
              <a:spcAft>
                <a:spcPts val="0"/>
              </a:spcAft>
              <a:buNone/>
            </a:pPr>
            <a:r>
              <a:rPr lang="es-BO" sz="1400">
                <a:solidFill>
                  <a:schemeClr val="dk1"/>
                </a:solidFill>
                <a:latin typeface="Calibri"/>
                <a:ea typeface="Calibri"/>
                <a:cs typeface="Calibri"/>
                <a:sym typeface="Calibri"/>
              </a:rPr>
              <a:t>B = Campo magnético</a:t>
            </a:r>
            <a:endParaRPr/>
          </a:p>
        </p:txBody>
      </p:sp>
      <p:sp>
        <p:nvSpPr>
          <p:cNvPr id="512" name="Google Shape;512;p33"/>
          <p:cNvSpPr txBox="1"/>
          <p:nvPr/>
        </p:nvSpPr>
        <p:spPr>
          <a:xfrm>
            <a:off x="9408368" y="5373216"/>
            <a:ext cx="2009274"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BO" sz="1600">
                <a:solidFill>
                  <a:schemeClr val="dk1"/>
                </a:solidFill>
                <a:latin typeface="Calibri"/>
                <a:ea typeface="Calibri"/>
                <a:cs typeface="Calibri"/>
                <a:sym typeface="Calibri"/>
              </a:rPr>
              <a:t>Pinza Amperimétrica</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34"/>
          <p:cNvSpPr txBox="1"/>
          <p:nvPr>
            <p:ph type="title"/>
          </p:nvPr>
        </p:nvSpPr>
        <p:spPr>
          <a:xfrm>
            <a:off x="635754" y="168155"/>
            <a:ext cx="10972800" cy="634082"/>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2000"/>
              <a:buFont typeface="Calibri"/>
              <a:buNone/>
            </a:pPr>
            <a:r>
              <a:rPr b="1" lang="es-BO" sz="2000">
                <a:latin typeface="Calibri"/>
                <a:ea typeface="Calibri"/>
                <a:cs typeface="Calibri"/>
                <a:sym typeface="Calibri"/>
              </a:rPr>
              <a:t>Dosificador Burkert 8035</a:t>
            </a:r>
            <a:endParaRPr b="1" sz="2000">
              <a:latin typeface="Calibri"/>
              <a:ea typeface="Calibri"/>
              <a:cs typeface="Calibri"/>
              <a:sym typeface="Calibri"/>
            </a:endParaRPr>
          </a:p>
        </p:txBody>
      </p:sp>
      <p:sp>
        <p:nvSpPr>
          <p:cNvPr id="518" name="Google Shape;518;p34"/>
          <p:cNvSpPr txBox="1"/>
          <p:nvPr>
            <p:ph idx="1" type="body"/>
          </p:nvPr>
        </p:nvSpPr>
        <p:spPr>
          <a:xfrm>
            <a:off x="609600" y="764704"/>
            <a:ext cx="8064896" cy="1656184"/>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150000"/>
              </a:lnSpc>
              <a:spcBef>
                <a:spcPts val="0"/>
              </a:spcBef>
              <a:spcAft>
                <a:spcPts val="0"/>
              </a:spcAft>
              <a:buClr>
                <a:schemeClr val="dk1"/>
              </a:buClr>
              <a:buSzPts val="1800"/>
              <a:buNone/>
            </a:pPr>
            <a:r>
              <a:rPr lang="es-BO" sz="1800"/>
              <a:t>Para la obtención de la función de transferencia se usó la función de visualización del dosificador, que nos permite ver la medición del caudal y volumen de líquido.</a:t>
            </a:r>
            <a:endParaRPr/>
          </a:p>
          <a:p>
            <a:pPr indent="0" lvl="0" marL="0" rtl="0" algn="l">
              <a:lnSpc>
                <a:spcPct val="150000"/>
              </a:lnSpc>
              <a:spcBef>
                <a:spcPts val="360"/>
              </a:spcBef>
              <a:spcAft>
                <a:spcPts val="0"/>
              </a:spcAft>
              <a:buClr>
                <a:schemeClr val="dk1"/>
              </a:buClr>
              <a:buSzPts val="1800"/>
              <a:buNone/>
            </a:pPr>
            <a:r>
              <a:rPr lang="es-BO" sz="1800"/>
              <a:t>Posteriormente se caracteriza de manera mas completa dicho componente del sistema, donde se ahondará en detalles como su funcionamiento y sus modos.</a:t>
            </a:r>
            <a:endParaRPr/>
          </a:p>
        </p:txBody>
      </p:sp>
      <p:grpSp>
        <p:nvGrpSpPr>
          <p:cNvPr id="519" name="Google Shape;519;p34"/>
          <p:cNvGrpSpPr/>
          <p:nvPr/>
        </p:nvGrpSpPr>
        <p:grpSpPr>
          <a:xfrm>
            <a:off x="8832304" y="465817"/>
            <a:ext cx="2376264" cy="2234579"/>
            <a:chOff x="6785894" y="2887541"/>
            <a:chExt cx="3703916" cy="3711819"/>
          </a:xfrm>
        </p:grpSpPr>
        <p:pic>
          <p:nvPicPr>
            <p:cNvPr descr="Tipo 8035 - Caudalimetro de turbina inline / Función dosificador" id="520" name="Google Shape;520;p34"/>
            <p:cNvPicPr preferRelativeResize="0"/>
            <p:nvPr/>
          </p:nvPicPr>
          <p:blipFill rotWithShape="1">
            <a:blip r:embed="rId3">
              <a:alphaModFix/>
            </a:blip>
            <a:srcRect b="0" l="0" r="0" t="0"/>
            <a:stretch/>
          </p:blipFill>
          <p:spPr>
            <a:xfrm>
              <a:off x="7932837" y="2887541"/>
              <a:ext cx="2556973" cy="3373315"/>
            </a:xfrm>
            <a:prstGeom prst="rect">
              <a:avLst/>
            </a:prstGeom>
            <a:noFill/>
            <a:ln>
              <a:noFill/>
            </a:ln>
          </p:spPr>
        </p:pic>
        <p:pic>
          <p:nvPicPr>
            <p:cNvPr descr="Typ 8035 Datenblatt | Inline Durchflussmessgerät oder Dosiergerät mit  Flügelrad" id="521" name="Google Shape;521;p34"/>
            <p:cNvPicPr preferRelativeResize="0"/>
            <p:nvPr/>
          </p:nvPicPr>
          <p:blipFill rotWithShape="1">
            <a:blip r:embed="rId4">
              <a:alphaModFix/>
            </a:blip>
            <a:srcRect b="0" l="0" r="0" t="0"/>
            <a:stretch/>
          </p:blipFill>
          <p:spPr>
            <a:xfrm>
              <a:off x="6785894" y="4408610"/>
              <a:ext cx="2085975" cy="2190750"/>
            </a:xfrm>
            <a:prstGeom prst="rect">
              <a:avLst/>
            </a:prstGeom>
            <a:noFill/>
            <a:ln>
              <a:noFill/>
            </a:ln>
          </p:spPr>
        </p:pic>
      </p:grpSp>
      <p:sp>
        <p:nvSpPr>
          <p:cNvPr id="522" name="Google Shape;522;p34"/>
          <p:cNvSpPr txBox="1"/>
          <p:nvPr/>
        </p:nvSpPr>
        <p:spPr>
          <a:xfrm>
            <a:off x="669047" y="3028890"/>
            <a:ext cx="6048672"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BO" sz="2000">
                <a:solidFill>
                  <a:schemeClr val="dk1"/>
                </a:solidFill>
                <a:latin typeface="Calibri"/>
                <a:ea typeface="Calibri"/>
                <a:cs typeface="Calibri"/>
                <a:sym typeface="Calibri"/>
              </a:rPr>
              <a:t>Usos de cada instrumento de medida</a:t>
            </a:r>
            <a:endParaRPr/>
          </a:p>
        </p:txBody>
      </p:sp>
      <p:sp>
        <p:nvSpPr>
          <p:cNvPr id="523" name="Google Shape;523;p34"/>
          <p:cNvSpPr txBox="1"/>
          <p:nvPr/>
        </p:nvSpPr>
        <p:spPr>
          <a:xfrm>
            <a:off x="8615503" y="2738614"/>
            <a:ext cx="3110136"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BO" sz="1400">
                <a:solidFill>
                  <a:schemeClr val="dk1"/>
                </a:solidFill>
                <a:latin typeface="Calibri"/>
                <a:ea typeface="Calibri"/>
                <a:cs typeface="Calibri"/>
                <a:sym typeface="Calibri"/>
              </a:rPr>
              <a:t>Vista frontal del panel del Dosificador</a:t>
            </a:r>
            <a:endParaRPr/>
          </a:p>
          <a:p>
            <a:pPr indent="0" lvl="0" marL="0" marR="0" rtl="0" algn="ctr">
              <a:spcBef>
                <a:spcPts val="0"/>
              </a:spcBef>
              <a:spcAft>
                <a:spcPts val="0"/>
              </a:spcAft>
              <a:buNone/>
            </a:pPr>
            <a:r>
              <a:rPr lang="es-BO" sz="1400">
                <a:solidFill>
                  <a:schemeClr val="dk1"/>
                </a:solidFill>
                <a:latin typeface="Calibri"/>
                <a:ea typeface="Calibri"/>
                <a:cs typeface="Calibri"/>
                <a:sym typeface="Calibri"/>
              </a:rPr>
              <a:t>Vista lateral derecha de 45°</a:t>
            </a:r>
            <a:endParaRPr/>
          </a:p>
        </p:txBody>
      </p:sp>
      <p:sp>
        <p:nvSpPr>
          <p:cNvPr id="524" name="Google Shape;524;p34"/>
          <p:cNvSpPr txBox="1"/>
          <p:nvPr/>
        </p:nvSpPr>
        <p:spPr>
          <a:xfrm>
            <a:off x="671004" y="3541342"/>
            <a:ext cx="10969611" cy="2215991"/>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Clr>
                <a:schemeClr val="dk1"/>
              </a:buClr>
              <a:buSzPts val="1800"/>
              <a:buFont typeface="Calibri"/>
              <a:buNone/>
            </a:pPr>
            <a:r>
              <a:rPr lang="es-BO" sz="1800">
                <a:solidFill>
                  <a:schemeClr val="dk1"/>
                </a:solidFill>
                <a:latin typeface="Calibri"/>
                <a:ea typeface="Calibri"/>
                <a:cs typeface="Calibri"/>
                <a:sym typeface="Calibri"/>
              </a:rPr>
              <a:t>Para los sensores de Presión y Ultrasonido se midió la corriente, mientras que para el dosificador,  TC y RTD se midió la tensión y para finalizar se midió la resistencia del motor.</a:t>
            </a:r>
            <a:endParaRPr/>
          </a:p>
          <a:p>
            <a:pPr indent="0" lvl="0" marL="0" marR="0" rtl="0" algn="just">
              <a:spcBef>
                <a:spcPts val="1200"/>
              </a:spcBef>
              <a:spcAft>
                <a:spcPts val="0"/>
              </a:spcAft>
              <a:buClr>
                <a:schemeClr val="dk1"/>
              </a:buClr>
              <a:buSzPts val="1800"/>
              <a:buFont typeface="Calibri"/>
              <a:buNone/>
            </a:pPr>
            <a:r>
              <a:rPr lang="es-BO" sz="1800">
                <a:solidFill>
                  <a:schemeClr val="dk1"/>
                </a:solidFill>
                <a:latin typeface="Calibri"/>
                <a:ea typeface="Calibri"/>
                <a:cs typeface="Calibri"/>
                <a:sym typeface="Calibri"/>
              </a:rPr>
              <a:t>También, gracias a una pinza amperimétrica se midió la corriente suministrada al motor y se la comparo con la medida dada por el variador de frecuencia.</a:t>
            </a:r>
            <a:endParaRPr/>
          </a:p>
          <a:p>
            <a:pPr indent="0" lvl="0" marL="0" marR="0" rtl="0" algn="just">
              <a:spcBef>
                <a:spcPts val="2400"/>
              </a:spcBef>
              <a:spcAft>
                <a:spcPts val="0"/>
              </a:spcAft>
              <a:buClr>
                <a:schemeClr val="dk1"/>
              </a:buClr>
              <a:buSzPts val="1800"/>
              <a:buFont typeface="Calibri"/>
              <a:buNone/>
            </a:pPr>
            <a:r>
              <a:rPr lang="es-BO" sz="1800">
                <a:solidFill>
                  <a:schemeClr val="dk1"/>
                </a:solidFill>
                <a:latin typeface="Calibri"/>
                <a:ea typeface="Calibri"/>
                <a:cs typeface="Calibri"/>
                <a:sym typeface="Calibri"/>
              </a:rPr>
              <a:t>El dosificador fue utilizado únicamente como instrumento de medición de caudal y volumen de liquido, como se señaló anteriormente.</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35"/>
          <p:cNvSpPr txBox="1"/>
          <p:nvPr>
            <p:ph type="ctrTitle"/>
          </p:nvPr>
        </p:nvSpPr>
        <p:spPr>
          <a:xfrm>
            <a:off x="1694328" y="2539316"/>
            <a:ext cx="9144000" cy="1129834"/>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Calibri"/>
              <a:buNone/>
            </a:pPr>
            <a:r>
              <a:rPr b="1" lang="es-BO" sz="3600"/>
              <a:t>TRANSDUCTORES</a:t>
            </a:r>
            <a:endParaRPr/>
          </a:p>
        </p:txBody>
      </p:sp>
    </p:spTree>
  </p:cSld>
  <p:clrMapOvr>
    <a:masterClrMapping/>
  </p:clrMapOvr>
  <p:transition spd="slow">
    <p:push/>
  </p:transition>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36"/>
          <p:cNvSpPr txBox="1"/>
          <p:nvPr>
            <p:ph type="title"/>
          </p:nvPr>
        </p:nvSpPr>
        <p:spPr>
          <a:xfrm>
            <a:off x="1626044" y="615266"/>
            <a:ext cx="9385200" cy="694813"/>
          </a:xfrm>
          <a:prstGeom prst="rect">
            <a:avLst/>
          </a:prstGeom>
          <a:noFill/>
          <a:ln>
            <a:noFill/>
          </a:ln>
        </p:spPr>
        <p:txBody>
          <a:bodyPr anchorCtr="0" anchor="t" bIns="121900" lIns="121900" spcFirstLastPara="1" rIns="121900" wrap="square" tIns="121900">
            <a:normAutofit/>
          </a:bodyPr>
          <a:lstStyle/>
          <a:p>
            <a:pPr indent="0" lvl="0" marL="0" rtl="0" algn="l">
              <a:spcBef>
                <a:spcPts val="0"/>
              </a:spcBef>
              <a:spcAft>
                <a:spcPts val="0"/>
              </a:spcAft>
              <a:buClr>
                <a:schemeClr val="dk1"/>
              </a:buClr>
              <a:buSzPts val="2400"/>
              <a:buFont typeface="Calibri"/>
              <a:buNone/>
            </a:pPr>
            <a:r>
              <a:rPr b="1" lang="es-BO" sz="1800"/>
              <a:t>SENSOR DE TEMPERATURA TC</a:t>
            </a:r>
            <a:endParaRPr b="1" sz="1800"/>
          </a:p>
        </p:txBody>
      </p:sp>
      <p:sp>
        <p:nvSpPr>
          <p:cNvPr id="535" name="Google Shape;535;p36"/>
          <p:cNvSpPr txBox="1"/>
          <p:nvPr>
            <p:ph idx="1" type="body"/>
          </p:nvPr>
        </p:nvSpPr>
        <p:spPr>
          <a:xfrm>
            <a:off x="1703512" y="1029777"/>
            <a:ext cx="4962965" cy="1751151"/>
          </a:xfrm>
          <a:prstGeom prst="rect">
            <a:avLst/>
          </a:prstGeom>
          <a:noFill/>
          <a:ln>
            <a:noFill/>
          </a:ln>
        </p:spPr>
        <p:txBody>
          <a:bodyPr anchorCtr="0" anchor="t" bIns="121900" lIns="121900" spcFirstLastPara="1" rIns="121900" wrap="square" tIns="121900">
            <a:noAutofit/>
          </a:bodyPr>
          <a:lstStyle/>
          <a:p>
            <a:pPr indent="0" lvl="0" marL="0" rtl="0" algn="just">
              <a:lnSpc>
                <a:spcPct val="100000"/>
              </a:lnSpc>
              <a:spcBef>
                <a:spcPts val="0"/>
              </a:spcBef>
              <a:spcAft>
                <a:spcPts val="0"/>
              </a:spcAft>
              <a:buClr>
                <a:schemeClr val="dk1"/>
              </a:buClr>
              <a:buSzPts val="1300"/>
              <a:buNone/>
            </a:pPr>
            <a:r>
              <a:rPr b="1" i="1" lang="es-BO" sz="1600" u="sng">
                <a:latin typeface="Calibri"/>
                <a:ea typeface="Calibri"/>
                <a:cs typeface="Calibri"/>
                <a:sym typeface="Calibri"/>
              </a:rPr>
              <a:t>Principio de funcionamiento</a:t>
            </a:r>
            <a:endParaRPr/>
          </a:p>
          <a:p>
            <a:pPr indent="0" lvl="0" marL="0" rtl="0" algn="just">
              <a:lnSpc>
                <a:spcPct val="100000"/>
              </a:lnSpc>
              <a:spcBef>
                <a:spcPts val="1600"/>
              </a:spcBef>
              <a:spcAft>
                <a:spcPts val="1600"/>
              </a:spcAft>
              <a:buClr>
                <a:srgbClr val="000000"/>
              </a:buClr>
              <a:buSzPts val="1300"/>
              <a:buNone/>
            </a:pPr>
            <a:r>
              <a:rPr b="0" i="0" lang="es-BO" sz="1600">
                <a:solidFill>
                  <a:srgbClr val="000000"/>
                </a:solidFill>
              </a:rPr>
              <a:t>Una termocupla se fabrica con dos alambres de distintos materiales unidos en un extremo</a:t>
            </a:r>
            <a:r>
              <a:rPr lang="es-BO" sz="1600"/>
              <a:t>. Al aplicar temperatura en la unión de los metales se genera un voltaje muy pequeño del orden de los milivolts.</a:t>
            </a:r>
            <a:endParaRPr sz="1600"/>
          </a:p>
        </p:txBody>
      </p:sp>
      <p:sp>
        <p:nvSpPr>
          <p:cNvPr id="536" name="Google Shape;536;p36"/>
          <p:cNvSpPr txBox="1"/>
          <p:nvPr/>
        </p:nvSpPr>
        <p:spPr>
          <a:xfrm>
            <a:off x="7104113" y="962672"/>
            <a:ext cx="4742880" cy="1965626"/>
          </a:xfrm>
          <a:prstGeom prst="rect">
            <a:avLst/>
          </a:prstGeom>
          <a:noFill/>
          <a:ln>
            <a:noFill/>
          </a:ln>
        </p:spPr>
        <p:txBody>
          <a:bodyPr anchorCtr="0" anchor="t" bIns="121900" lIns="121900" spcFirstLastPara="1" rIns="121900" wrap="square" tIns="121900">
            <a:spAutoFit/>
          </a:bodyPr>
          <a:lstStyle/>
          <a:p>
            <a:pPr indent="0" lvl="0" marL="0" marR="0" rtl="0" algn="just">
              <a:lnSpc>
                <a:spcPct val="115000"/>
              </a:lnSpc>
              <a:spcBef>
                <a:spcPts val="800"/>
              </a:spcBef>
              <a:spcAft>
                <a:spcPts val="0"/>
              </a:spcAft>
              <a:buNone/>
            </a:pPr>
            <a:r>
              <a:rPr b="1" i="1" lang="es-BO" sz="1600" u="sng">
                <a:solidFill>
                  <a:schemeClr val="dk1"/>
                </a:solidFill>
                <a:latin typeface="Calibri"/>
                <a:ea typeface="Calibri"/>
                <a:cs typeface="Calibri"/>
                <a:sym typeface="Calibri"/>
              </a:rPr>
              <a:t>Características TC12</a:t>
            </a:r>
            <a:endParaRPr b="1" i="1" sz="1600" u="sng">
              <a:solidFill>
                <a:schemeClr val="dk1"/>
              </a:solidFill>
              <a:latin typeface="Calibri"/>
              <a:ea typeface="Calibri"/>
              <a:cs typeface="Calibri"/>
              <a:sym typeface="Calibri"/>
            </a:endParaRPr>
          </a:p>
          <a:p>
            <a:pPr indent="-285750" lvl="0" marL="446613" marR="0" rtl="0" algn="just">
              <a:spcBef>
                <a:spcPts val="800"/>
              </a:spcBef>
              <a:spcAft>
                <a:spcPts val="0"/>
              </a:spcAft>
              <a:buClr>
                <a:schemeClr val="dk1"/>
              </a:buClr>
              <a:buSzPts val="1700"/>
              <a:buFont typeface="Noto Sans Symbols"/>
              <a:buChar char="⮚"/>
            </a:pPr>
            <a:r>
              <a:rPr lang="es-BO" sz="1600">
                <a:solidFill>
                  <a:schemeClr val="dk1"/>
                </a:solidFill>
                <a:latin typeface="Calibri"/>
                <a:ea typeface="Calibri"/>
                <a:cs typeface="Calibri"/>
                <a:sym typeface="Calibri"/>
              </a:rPr>
              <a:t>Rango de aplicación universal</a:t>
            </a:r>
            <a:endParaRPr sz="1600">
              <a:solidFill>
                <a:schemeClr val="dk1"/>
              </a:solidFill>
              <a:latin typeface="Calibri"/>
              <a:ea typeface="Calibri"/>
              <a:cs typeface="Calibri"/>
              <a:sym typeface="Calibri"/>
            </a:endParaRPr>
          </a:p>
          <a:p>
            <a:pPr indent="-285750" lvl="0" marL="446613" marR="0" rtl="0" algn="just">
              <a:spcBef>
                <a:spcPts val="0"/>
              </a:spcBef>
              <a:spcAft>
                <a:spcPts val="0"/>
              </a:spcAft>
              <a:buClr>
                <a:schemeClr val="dk1"/>
              </a:buClr>
              <a:buSzPts val="1700"/>
              <a:buFont typeface="Noto Sans Symbols"/>
              <a:buChar char="⮚"/>
            </a:pPr>
            <a:r>
              <a:rPr lang="es-BO" sz="1600">
                <a:solidFill>
                  <a:schemeClr val="dk1"/>
                </a:solidFill>
                <a:latin typeface="Calibri"/>
                <a:ea typeface="Calibri"/>
                <a:cs typeface="Calibri"/>
                <a:sym typeface="Calibri"/>
              </a:rPr>
              <a:t>Tipo: Hierro Constantán J</a:t>
            </a:r>
            <a:endParaRPr sz="1600">
              <a:solidFill>
                <a:schemeClr val="dk1"/>
              </a:solidFill>
              <a:latin typeface="Calibri"/>
              <a:ea typeface="Calibri"/>
              <a:cs typeface="Calibri"/>
              <a:sym typeface="Calibri"/>
            </a:endParaRPr>
          </a:p>
          <a:p>
            <a:pPr indent="-285750" lvl="0" marL="446613" marR="0" rtl="0" algn="just">
              <a:spcBef>
                <a:spcPts val="0"/>
              </a:spcBef>
              <a:spcAft>
                <a:spcPts val="0"/>
              </a:spcAft>
              <a:buClr>
                <a:schemeClr val="dk1"/>
              </a:buClr>
              <a:buSzPts val="1700"/>
              <a:buFont typeface="Noto Sans Symbols"/>
              <a:buChar char="⮚"/>
            </a:pPr>
            <a:r>
              <a:rPr lang="es-BO" sz="1600">
                <a:solidFill>
                  <a:schemeClr val="dk1"/>
                </a:solidFill>
                <a:latin typeface="Calibri"/>
                <a:ea typeface="Calibri"/>
                <a:cs typeface="Calibri"/>
                <a:sym typeface="Calibri"/>
              </a:rPr>
              <a:t>Rango de temperatura: -40°C a 750°C</a:t>
            </a:r>
            <a:endParaRPr sz="1600">
              <a:solidFill>
                <a:schemeClr val="dk1"/>
              </a:solidFill>
              <a:latin typeface="Calibri"/>
              <a:ea typeface="Calibri"/>
              <a:cs typeface="Calibri"/>
              <a:sym typeface="Calibri"/>
            </a:endParaRPr>
          </a:p>
          <a:p>
            <a:pPr indent="-285750" lvl="0" marL="446613" marR="0" rtl="0" algn="just">
              <a:spcBef>
                <a:spcPts val="0"/>
              </a:spcBef>
              <a:spcAft>
                <a:spcPts val="0"/>
              </a:spcAft>
              <a:buClr>
                <a:schemeClr val="dk1"/>
              </a:buClr>
              <a:buSzPts val="1700"/>
              <a:buFont typeface="Noto Sans Symbols"/>
              <a:buChar char="⮚"/>
            </a:pPr>
            <a:r>
              <a:rPr lang="es-BO" sz="1600">
                <a:solidFill>
                  <a:schemeClr val="dk1"/>
                </a:solidFill>
                <a:latin typeface="Calibri"/>
                <a:ea typeface="Calibri"/>
                <a:cs typeface="Calibri"/>
                <a:sym typeface="Calibri"/>
              </a:rPr>
              <a:t>Integración del transmisor de cabezal: si (4…20 mA)</a:t>
            </a:r>
            <a:endParaRPr sz="1600">
              <a:solidFill>
                <a:schemeClr val="dk1"/>
              </a:solidFill>
              <a:latin typeface="Calibri"/>
              <a:ea typeface="Calibri"/>
              <a:cs typeface="Calibri"/>
              <a:sym typeface="Calibri"/>
            </a:endParaRPr>
          </a:p>
        </p:txBody>
      </p:sp>
      <p:grpSp>
        <p:nvGrpSpPr>
          <p:cNvPr id="537" name="Google Shape;537;p36"/>
          <p:cNvGrpSpPr/>
          <p:nvPr/>
        </p:nvGrpSpPr>
        <p:grpSpPr>
          <a:xfrm>
            <a:off x="7104111" y="3342809"/>
            <a:ext cx="4742881" cy="1856733"/>
            <a:chOff x="7104111" y="3342809"/>
            <a:chExt cx="4742881" cy="1856733"/>
          </a:xfrm>
        </p:grpSpPr>
        <p:grpSp>
          <p:nvGrpSpPr>
            <p:cNvPr id="538" name="Google Shape;538;p36"/>
            <p:cNvGrpSpPr/>
            <p:nvPr/>
          </p:nvGrpSpPr>
          <p:grpSpPr>
            <a:xfrm>
              <a:off x="7104111" y="3342809"/>
              <a:ext cx="4742881" cy="1856733"/>
              <a:chOff x="7104111" y="3342809"/>
              <a:chExt cx="4742881" cy="1856733"/>
            </a:xfrm>
          </p:grpSpPr>
          <p:pic>
            <p:nvPicPr>
              <p:cNvPr id="539" name="Google Shape;539;p36"/>
              <p:cNvPicPr preferRelativeResize="0"/>
              <p:nvPr/>
            </p:nvPicPr>
            <p:blipFill rotWithShape="1">
              <a:blip r:embed="rId3">
                <a:alphaModFix/>
              </a:blip>
              <a:srcRect b="0" l="0" r="0" t="0"/>
              <a:stretch/>
            </p:blipFill>
            <p:spPr>
              <a:xfrm>
                <a:off x="7104111" y="3342809"/>
                <a:ext cx="4742881" cy="1856733"/>
              </a:xfrm>
              <a:prstGeom prst="rect">
                <a:avLst/>
              </a:prstGeom>
              <a:noFill/>
              <a:ln>
                <a:noFill/>
              </a:ln>
            </p:spPr>
          </p:pic>
          <p:sp>
            <p:nvSpPr>
              <p:cNvPr id="540" name="Google Shape;540;p36"/>
              <p:cNvSpPr txBox="1"/>
              <p:nvPr/>
            </p:nvSpPr>
            <p:spPr>
              <a:xfrm>
                <a:off x="8112224" y="4776362"/>
                <a:ext cx="3146523" cy="36933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chemeClr val="dk1"/>
                    </a:solidFill>
                    <a:latin typeface="Calibri"/>
                    <a:ea typeface="Calibri"/>
                    <a:cs typeface="Calibri"/>
                    <a:sym typeface="Calibri"/>
                  </a:rPr>
                  <a:t>Constantán (Cobre y Níquel)</a:t>
                </a:r>
                <a:endParaRPr/>
              </a:p>
            </p:txBody>
          </p:sp>
        </p:grpSp>
        <p:sp>
          <p:nvSpPr>
            <p:cNvPr id="541" name="Google Shape;541;p36"/>
            <p:cNvSpPr txBox="1"/>
            <p:nvPr/>
          </p:nvSpPr>
          <p:spPr>
            <a:xfrm>
              <a:off x="8575451" y="3429000"/>
              <a:ext cx="1800200" cy="36933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chemeClr val="dk1"/>
                  </a:solidFill>
                  <a:latin typeface="Calibri"/>
                  <a:ea typeface="Calibri"/>
                  <a:cs typeface="Calibri"/>
                  <a:sym typeface="Calibri"/>
                </a:rPr>
                <a:t>Hierro (Fe)</a:t>
              </a:r>
              <a:endParaRPr/>
            </a:p>
          </p:txBody>
        </p:sp>
      </p:grpSp>
      <p:sp>
        <p:nvSpPr>
          <p:cNvPr id="542" name="Google Shape;542;p36"/>
          <p:cNvSpPr txBox="1"/>
          <p:nvPr/>
        </p:nvSpPr>
        <p:spPr>
          <a:xfrm>
            <a:off x="8409817" y="5285733"/>
            <a:ext cx="2273077"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s-BO" sz="1800">
                <a:solidFill>
                  <a:schemeClr val="dk1"/>
                </a:solidFill>
                <a:latin typeface="Calibri"/>
                <a:ea typeface="Calibri"/>
                <a:cs typeface="Calibri"/>
                <a:sym typeface="Calibri"/>
              </a:rPr>
              <a:t>Termocupla tipo J</a:t>
            </a:r>
            <a:endParaRPr/>
          </a:p>
        </p:txBody>
      </p:sp>
      <p:grpSp>
        <p:nvGrpSpPr>
          <p:cNvPr id="543" name="Google Shape;543;p36"/>
          <p:cNvGrpSpPr/>
          <p:nvPr/>
        </p:nvGrpSpPr>
        <p:grpSpPr>
          <a:xfrm>
            <a:off x="2369906" y="2634335"/>
            <a:ext cx="3715341" cy="4143890"/>
            <a:chOff x="2369906" y="2634335"/>
            <a:chExt cx="3715341" cy="4143890"/>
          </a:xfrm>
        </p:grpSpPr>
        <p:pic>
          <p:nvPicPr>
            <p:cNvPr descr="Ilustración del termómetro con termopar TC12" id="544" name="Google Shape;544;p36"/>
            <p:cNvPicPr preferRelativeResize="0"/>
            <p:nvPr/>
          </p:nvPicPr>
          <p:blipFill rotWithShape="1">
            <a:blip r:embed="rId4">
              <a:alphaModFix/>
            </a:blip>
            <a:srcRect b="0" l="0" r="0" t="0"/>
            <a:stretch/>
          </p:blipFill>
          <p:spPr>
            <a:xfrm>
              <a:off x="2369906" y="2634335"/>
              <a:ext cx="3630176" cy="3774558"/>
            </a:xfrm>
            <a:prstGeom prst="rect">
              <a:avLst/>
            </a:prstGeom>
            <a:noFill/>
            <a:ln>
              <a:noFill/>
            </a:ln>
          </p:spPr>
        </p:pic>
        <p:sp>
          <p:nvSpPr>
            <p:cNvPr id="545" name="Google Shape;545;p36"/>
            <p:cNvSpPr txBox="1"/>
            <p:nvPr/>
          </p:nvSpPr>
          <p:spPr>
            <a:xfrm>
              <a:off x="2556856" y="6408893"/>
              <a:ext cx="3528391"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s-BO" sz="1800">
                  <a:solidFill>
                    <a:schemeClr val="dk1"/>
                  </a:solidFill>
                  <a:latin typeface="Calibri"/>
                  <a:ea typeface="Calibri"/>
                  <a:cs typeface="Calibri"/>
                  <a:sym typeface="Calibri"/>
                </a:rPr>
                <a:t>Sensor de temperatura TC12</a:t>
              </a:r>
              <a:endParaRPr/>
            </a:p>
          </p:txBody>
        </p:sp>
      </p:grpSp>
      <p:grpSp>
        <p:nvGrpSpPr>
          <p:cNvPr id="546" name="Google Shape;546;p36"/>
          <p:cNvGrpSpPr/>
          <p:nvPr/>
        </p:nvGrpSpPr>
        <p:grpSpPr>
          <a:xfrm>
            <a:off x="1435821" y="2780928"/>
            <a:ext cx="5190036" cy="3588896"/>
            <a:chOff x="1509106" y="2901858"/>
            <a:chExt cx="5190036" cy="3588896"/>
          </a:xfrm>
        </p:grpSpPr>
        <p:pic>
          <p:nvPicPr>
            <p:cNvPr descr="Termocuplas" id="547" name="Google Shape;547;p36"/>
            <p:cNvPicPr preferRelativeResize="0"/>
            <p:nvPr/>
          </p:nvPicPr>
          <p:blipFill rotWithShape="1">
            <a:blip r:embed="rId5">
              <a:alphaModFix/>
            </a:blip>
            <a:srcRect b="12937" l="0" r="0" t="0"/>
            <a:stretch/>
          </p:blipFill>
          <p:spPr>
            <a:xfrm>
              <a:off x="1509106" y="2901858"/>
              <a:ext cx="5190036" cy="3125528"/>
            </a:xfrm>
            <a:prstGeom prst="rect">
              <a:avLst/>
            </a:prstGeom>
            <a:noFill/>
            <a:ln>
              <a:noFill/>
            </a:ln>
          </p:spPr>
        </p:pic>
        <p:sp>
          <p:nvSpPr>
            <p:cNvPr id="548" name="Google Shape;548;p36"/>
            <p:cNvSpPr txBox="1"/>
            <p:nvPr/>
          </p:nvSpPr>
          <p:spPr>
            <a:xfrm>
              <a:off x="1847528" y="6121422"/>
              <a:ext cx="460851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s-BO" sz="1800">
                  <a:solidFill>
                    <a:schemeClr val="dk1"/>
                  </a:solidFill>
                  <a:latin typeface="Calibri"/>
                  <a:ea typeface="Calibri"/>
                  <a:cs typeface="Calibri"/>
                  <a:sym typeface="Calibri"/>
                </a:rPr>
                <a:t>Funcionamiento del sensor de temperatura TC</a:t>
              </a:r>
              <a:endParaRPr/>
            </a:p>
          </p:txBody>
        </p:sp>
      </p:gr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543"/>
                                        </p:tgtEl>
                                      </p:cBhvr>
                                    </p:animEffect>
                                    <p:set>
                                      <p:cBhvr>
                                        <p:cTn dur="1" fill="hold">
                                          <p:stCondLst>
                                            <p:cond delay="500"/>
                                          </p:stCondLst>
                                        </p:cTn>
                                        <p:tgtEl>
                                          <p:spTgt spid="543"/>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5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grpSp>
        <p:nvGrpSpPr>
          <p:cNvPr id="554" name="Google Shape;554;p37"/>
          <p:cNvGrpSpPr/>
          <p:nvPr/>
        </p:nvGrpSpPr>
        <p:grpSpPr>
          <a:xfrm>
            <a:off x="6566463" y="789497"/>
            <a:ext cx="5482771" cy="5658757"/>
            <a:chOff x="6282915" y="1225515"/>
            <a:chExt cx="5482771" cy="5658757"/>
          </a:xfrm>
        </p:grpSpPr>
        <p:grpSp>
          <p:nvGrpSpPr>
            <p:cNvPr id="555" name="Google Shape;555;p37"/>
            <p:cNvGrpSpPr/>
            <p:nvPr/>
          </p:nvGrpSpPr>
          <p:grpSpPr>
            <a:xfrm>
              <a:off x="6282915" y="1225515"/>
              <a:ext cx="5482771" cy="5279006"/>
              <a:chOff x="6282915" y="1225515"/>
              <a:chExt cx="5482771" cy="5279006"/>
            </a:xfrm>
          </p:grpSpPr>
          <p:grpSp>
            <p:nvGrpSpPr>
              <p:cNvPr id="556" name="Google Shape;556;p37"/>
              <p:cNvGrpSpPr/>
              <p:nvPr/>
            </p:nvGrpSpPr>
            <p:grpSpPr>
              <a:xfrm>
                <a:off x="6282915" y="1225515"/>
                <a:ext cx="4155975" cy="5279006"/>
                <a:chOff x="6282915" y="1225515"/>
                <a:chExt cx="4155975" cy="5279006"/>
              </a:xfrm>
            </p:grpSpPr>
            <p:pic>
              <p:nvPicPr>
                <p:cNvPr id="557" name="Google Shape;557;p37"/>
                <p:cNvPicPr preferRelativeResize="0"/>
                <p:nvPr/>
              </p:nvPicPr>
              <p:blipFill rotWithShape="1">
                <a:blip r:embed="rId3">
                  <a:alphaModFix/>
                </a:blip>
                <a:srcRect b="56828" l="18501" r="55249" t="0"/>
                <a:stretch/>
              </p:blipFill>
              <p:spPr>
                <a:xfrm rot="5400000">
                  <a:off x="5645995" y="1862435"/>
                  <a:ext cx="5279006" cy="4005166"/>
                </a:xfrm>
                <a:prstGeom prst="rect">
                  <a:avLst/>
                </a:prstGeom>
                <a:noFill/>
                <a:ln>
                  <a:noFill/>
                </a:ln>
              </p:spPr>
            </p:pic>
            <p:grpSp>
              <p:nvGrpSpPr>
                <p:cNvPr id="558" name="Google Shape;558;p37"/>
                <p:cNvGrpSpPr/>
                <p:nvPr/>
              </p:nvGrpSpPr>
              <p:grpSpPr>
                <a:xfrm>
                  <a:off x="8713185" y="3621697"/>
                  <a:ext cx="1725705" cy="1597455"/>
                  <a:chOff x="8713185" y="3621697"/>
                  <a:chExt cx="1725705" cy="1597455"/>
                </a:xfrm>
              </p:grpSpPr>
              <p:cxnSp>
                <p:nvCxnSpPr>
                  <p:cNvPr id="559" name="Google Shape;559;p37"/>
                  <p:cNvCxnSpPr>
                    <a:stCxn id="560" idx="1"/>
                    <a:endCxn id="561" idx="6"/>
                  </p:cNvCxnSpPr>
                  <p:nvPr/>
                </p:nvCxnSpPr>
                <p:spPr>
                  <a:xfrm flipH="1">
                    <a:off x="9412477" y="3860924"/>
                    <a:ext cx="1007400" cy="52800"/>
                  </a:xfrm>
                  <a:prstGeom prst="straightConnector1">
                    <a:avLst/>
                  </a:prstGeom>
                  <a:noFill/>
                  <a:ln cap="flat" cmpd="sng" w="38100">
                    <a:solidFill>
                      <a:srgbClr val="FFFF00"/>
                    </a:solidFill>
                    <a:prstDash val="solid"/>
                    <a:round/>
                    <a:headEnd len="sm" w="sm" type="none"/>
                    <a:tailEnd len="med" w="med" type="triangle"/>
                  </a:ln>
                  <a:effectLst>
                    <a:outerShdw blurRad="40000" rotWithShape="0" dir="5400000" dist="23000">
                      <a:srgbClr val="000000">
                        <a:alpha val="34901"/>
                      </a:srgbClr>
                    </a:outerShdw>
                  </a:effectLst>
                </p:spPr>
              </p:cxnSp>
              <p:cxnSp>
                <p:nvCxnSpPr>
                  <p:cNvPr id="562" name="Google Shape;562;p37"/>
                  <p:cNvCxnSpPr>
                    <a:stCxn id="563" idx="1"/>
                    <a:endCxn id="564" idx="6"/>
                  </p:cNvCxnSpPr>
                  <p:nvPr/>
                </p:nvCxnSpPr>
                <p:spPr>
                  <a:xfrm rot="10800000">
                    <a:off x="9372090" y="4901920"/>
                    <a:ext cx="1066800" cy="19500"/>
                  </a:xfrm>
                  <a:prstGeom prst="straightConnector1">
                    <a:avLst/>
                  </a:prstGeom>
                  <a:noFill/>
                  <a:ln cap="flat" cmpd="sng" w="38100">
                    <a:solidFill>
                      <a:schemeClr val="dk1"/>
                    </a:solidFill>
                    <a:prstDash val="solid"/>
                    <a:round/>
                    <a:headEnd len="sm" w="sm" type="none"/>
                    <a:tailEnd len="med" w="med" type="triangle"/>
                  </a:ln>
                  <a:effectLst>
                    <a:outerShdw blurRad="40000" rotWithShape="0" dir="5400000" dist="23000">
                      <a:srgbClr val="000000">
                        <a:alpha val="34901"/>
                      </a:srgbClr>
                    </a:outerShdw>
                  </a:effectLst>
                </p:spPr>
              </p:cxnSp>
              <p:sp>
                <p:nvSpPr>
                  <p:cNvPr id="561" name="Google Shape;561;p37"/>
                  <p:cNvSpPr/>
                  <p:nvPr/>
                </p:nvSpPr>
                <p:spPr>
                  <a:xfrm>
                    <a:off x="8753657" y="3621697"/>
                    <a:ext cx="658815" cy="583840"/>
                  </a:xfrm>
                  <a:prstGeom prst="ellipse">
                    <a:avLst/>
                  </a:prstGeom>
                  <a:noFill/>
                  <a:ln cap="flat" cmpd="sng" w="28575">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3"/>
                      </a:solidFill>
                      <a:latin typeface="Calibri"/>
                      <a:ea typeface="Calibri"/>
                      <a:cs typeface="Calibri"/>
                      <a:sym typeface="Calibri"/>
                    </a:endParaRPr>
                  </a:p>
                </p:txBody>
              </p:sp>
              <p:sp>
                <p:nvSpPr>
                  <p:cNvPr id="564" name="Google Shape;564;p37"/>
                  <p:cNvSpPr/>
                  <p:nvPr/>
                </p:nvSpPr>
                <p:spPr>
                  <a:xfrm>
                    <a:off x="8713185" y="4584800"/>
                    <a:ext cx="658815" cy="634352"/>
                  </a:xfrm>
                  <a:prstGeom prst="ellipse">
                    <a:avLst/>
                  </a:prstGeom>
                  <a:no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3"/>
                      </a:solidFill>
                      <a:latin typeface="Calibri"/>
                      <a:ea typeface="Calibri"/>
                      <a:cs typeface="Calibri"/>
                      <a:sym typeface="Calibri"/>
                    </a:endParaRPr>
                  </a:p>
                </p:txBody>
              </p:sp>
            </p:grpSp>
          </p:grpSp>
          <p:sp>
            <p:nvSpPr>
              <p:cNvPr id="560" name="Google Shape;560;p37"/>
              <p:cNvSpPr txBox="1"/>
              <p:nvPr/>
            </p:nvSpPr>
            <p:spPr>
              <a:xfrm>
                <a:off x="10419877" y="3568536"/>
                <a:ext cx="1326796"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BO" sz="1600">
                    <a:solidFill>
                      <a:schemeClr val="dk1"/>
                    </a:solidFill>
                    <a:latin typeface="Calibri"/>
                    <a:ea typeface="Calibri"/>
                    <a:cs typeface="Calibri"/>
                    <a:sym typeface="Calibri"/>
                  </a:rPr>
                  <a:t>Nodo blanco</a:t>
                </a:r>
                <a:endParaRPr/>
              </a:p>
              <a:p>
                <a:pPr indent="0" lvl="0" marL="0" marR="0" rtl="0" algn="ctr">
                  <a:spcBef>
                    <a:spcPts val="0"/>
                  </a:spcBef>
                  <a:spcAft>
                    <a:spcPts val="0"/>
                  </a:spcAft>
                  <a:buNone/>
                </a:pPr>
                <a:r>
                  <a:rPr lang="es-BO" sz="1600">
                    <a:solidFill>
                      <a:schemeClr val="dk1"/>
                    </a:solidFill>
                    <a:latin typeface="Calibri"/>
                    <a:ea typeface="Calibri"/>
                    <a:cs typeface="Calibri"/>
                    <a:sym typeface="Calibri"/>
                  </a:rPr>
                  <a:t>400</a:t>
                </a:r>
                <a:endParaRPr/>
              </a:p>
            </p:txBody>
          </p:sp>
          <p:sp>
            <p:nvSpPr>
              <p:cNvPr id="563" name="Google Shape;563;p37"/>
              <p:cNvSpPr txBox="1"/>
              <p:nvPr/>
            </p:nvSpPr>
            <p:spPr>
              <a:xfrm>
                <a:off x="10438890" y="4629032"/>
                <a:ext cx="1326796"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BO" sz="1600">
                    <a:solidFill>
                      <a:schemeClr val="dk1"/>
                    </a:solidFill>
                    <a:latin typeface="Calibri"/>
                    <a:ea typeface="Calibri"/>
                    <a:cs typeface="Calibri"/>
                    <a:sym typeface="Calibri"/>
                  </a:rPr>
                  <a:t>Nodo negro</a:t>
                </a:r>
                <a:endParaRPr/>
              </a:p>
              <a:p>
                <a:pPr indent="0" lvl="0" marL="0" marR="0" rtl="0" algn="ctr">
                  <a:spcBef>
                    <a:spcPts val="0"/>
                  </a:spcBef>
                  <a:spcAft>
                    <a:spcPts val="0"/>
                  </a:spcAft>
                  <a:buNone/>
                </a:pPr>
                <a:r>
                  <a:rPr lang="es-BO" sz="1600">
                    <a:solidFill>
                      <a:schemeClr val="dk1"/>
                    </a:solidFill>
                    <a:latin typeface="Calibri"/>
                    <a:ea typeface="Calibri"/>
                    <a:cs typeface="Calibri"/>
                    <a:sym typeface="Calibri"/>
                  </a:rPr>
                  <a:t>401</a:t>
                </a:r>
                <a:endParaRPr/>
              </a:p>
            </p:txBody>
          </p:sp>
        </p:grpSp>
        <p:sp>
          <p:nvSpPr>
            <p:cNvPr id="565" name="Google Shape;565;p37"/>
            <p:cNvSpPr txBox="1"/>
            <p:nvPr/>
          </p:nvSpPr>
          <p:spPr>
            <a:xfrm>
              <a:off x="6282915" y="6514940"/>
              <a:ext cx="406205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s-BO" sz="1800">
                  <a:solidFill>
                    <a:schemeClr val="dk1"/>
                  </a:solidFill>
                  <a:latin typeface="Calibri"/>
                  <a:ea typeface="Calibri"/>
                  <a:cs typeface="Calibri"/>
                  <a:sym typeface="Calibri"/>
                </a:rPr>
                <a:t>Parte posterior del panel frontal </a:t>
              </a:r>
              <a:endParaRPr/>
            </a:p>
          </p:txBody>
        </p:sp>
      </p:grpSp>
      <p:sp>
        <p:nvSpPr>
          <p:cNvPr id="566" name="Google Shape;566;p37"/>
          <p:cNvSpPr txBox="1"/>
          <p:nvPr/>
        </p:nvSpPr>
        <p:spPr>
          <a:xfrm>
            <a:off x="1243315" y="102479"/>
            <a:ext cx="9385200" cy="694813"/>
          </a:xfrm>
          <a:prstGeom prst="rect">
            <a:avLst/>
          </a:prstGeom>
          <a:noFill/>
          <a:ln>
            <a:noFill/>
          </a:ln>
        </p:spPr>
        <p:txBody>
          <a:bodyPr anchorCtr="0" anchor="t" bIns="121900" lIns="121900" spcFirstLastPara="1" rIns="121900" wrap="square" tIns="121900">
            <a:normAutofit/>
          </a:bodyPr>
          <a:lstStyle/>
          <a:p>
            <a:pPr indent="0" lvl="0" marL="0" marR="0" rtl="0" algn="l">
              <a:spcBef>
                <a:spcPts val="0"/>
              </a:spcBef>
              <a:spcAft>
                <a:spcPts val="0"/>
              </a:spcAft>
              <a:buClr>
                <a:schemeClr val="dk1"/>
              </a:buClr>
              <a:buSzPts val="2400"/>
              <a:buFont typeface="Calibri"/>
              <a:buNone/>
            </a:pPr>
            <a:r>
              <a:rPr b="1" i="1" lang="es-BO" sz="1600" u="sng">
                <a:solidFill>
                  <a:schemeClr val="dk1"/>
                </a:solidFill>
                <a:latin typeface="Calibri"/>
                <a:ea typeface="Calibri"/>
                <a:cs typeface="Calibri"/>
                <a:sym typeface="Calibri"/>
              </a:rPr>
              <a:t>Conexiones del sensor de temperatura TC al Controlador de Temperatura</a:t>
            </a:r>
            <a:endParaRPr/>
          </a:p>
        </p:txBody>
      </p:sp>
      <p:grpSp>
        <p:nvGrpSpPr>
          <p:cNvPr id="567" name="Google Shape;567;p37"/>
          <p:cNvGrpSpPr/>
          <p:nvPr/>
        </p:nvGrpSpPr>
        <p:grpSpPr>
          <a:xfrm>
            <a:off x="6607067" y="1113090"/>
            <a:ext cx="4224130" cy="5312857"/>
            <a:chOff x="373078" y="1990478"/>
            <a:chExt cx="4224130" cy="5312857"/>
          </a:xfrm>
        </p:grpSpPr>
        <p:sp>
          <p:nvSpPr>
            <p:cNvPr id="568" name="Google Shape;568;p37"/>
            <p:cNvSpPr txBox="1"/>
            <p:nvPr/>
          </p:nvSpPr>
          <p:spPr>
            <a:xfrm>
              <a:off x="1937370" y="6934003"/>
              <a:ext cx="2659838"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s-BO" sz="1800">
                  <a:solidFill>
                    <a:schemeClr val="dk1"/>
                  </a:solidFill>
                  <a:latin typeface="Calibri"/>
                  <a:ea typeface="Calibri"/>
                  <a:cs typeface="Calibri"/>
                  <a:sym typeface="Calibri"/>
                </a:rPr>
                <a:t>Sensor TC12</a:t>
              </a:r>
              <a:endParaRPr/>
            </a:p>
          </p:txBody>
        </p:sp>
        <p:grpSp>
          <p:nvGrpSpPr>
            <p:cNvPr id="569" name="Google Shape;569;p37"/>
            <p:cNvGrpSpPr/>
            <p:nvPr/>
          </p:nvGrpSpPr>
          <p:grpSpPr>
            <a:xfrm>
              <a:off x="373078" y="1990478"/>
              <a:ext cx="3940135" cy="4894128"/>
              <a:chOff x="373078" y="1990478"/>
              <a:chExt cx="3940135" cy="4894128"/>
            </a:xfrm>
          </p:grpSpPr>
          <p:pic>
            <p:nvPicPr>
              <p:cNvPr id="570" name="Google Shape;570;p37"/>
              <p:cNvPicPr preferRelativeResize="0"/>
              <p:nvPr/>
            </p:nvPicPr>
            <p:blipFill rotWithShape="1">
              <a:blip r:embed="rId4">
                <a:alphaModFix/>
              </a:blip>
              <a:srcRect b="2742" l="0" r="0" t="10101"/>
              <a:stretch/>
            </p:blipFill>
            <p:spPr>
              <a:xfrm>
                <a:off x="1770972" y="1990478"/>
                <a:ext cx="2542241" cy="4894128"/>
              </a:xfrm>
              <a:prstGeom prst="rect">
                <a:avLst/>
              </a:prstGeom>
              <a:noFill/>
              <a:ln>
                <a:noFill/>
              </a:ln>
            </p:spPr>
          </p:pic>
          <p:sp>
            <p:nvSpPr>
              <p:cNvPr id="571" name="Google Shape;571;p37"/>
              <p:cNvSpPr txBox="1"/>
              <p:nvPr/>
            </p:nvSpPr>
            <p:spPr>
              <a:xfrm>
                <a:off x="392130" y="2564904"/>
                <a:ext cx="1397893"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BO" sz="1600">
                    <a:solidFill>
                      <a:schemeClr val="dk1"/>
                    </a:solidFill>
                    <a:latin typeface="Calibri"/>
                    <a:ea typeface="Calibri"/>
                    <a:cs typeface="Calibri"/>
                    <a:sym typeface="Calibri"/>
                  </a:rPr>
                  <a:t>Nodo blanco</a:t>
                </a:r>
                <a:endParaRPr/>
              </a:p>
              <a:p>
                <a:pPr indent="0" lvl="0" marL="0" marR="0" rtl="0" algn="ctr">
                  <a:spcBef>
                    <a:spcPts val="0"/>
                  </a:spcBef>
                  <a:spcAft>
                    <a:spcPts val="0"/>
                  </a:spcAft>
                  <a:buNone/>
                </a:pPr>
                <a:r>
                  <a:rPr lang="es-BO" sz="1600">
                    <a:solidFill>
                      <a:schemeClr val="dk1"/>
                    </a:solidFill>
                    <a:latin typeface="Calibri"/>
                    <a:ea typeface="Calibri"/>
                    <a:cs typeface="Calibri"/>
                    <a:sym typeface="Calibri"/>
                  </a:rPr>
                  <a:t>400</a:t>
                </a:r>
                <a:endParaRPr/>
              </a:p>
            </p:txBody>
          </p:sp>
          <p:sp>
            <p:nvSpPr>
              <p:cNvPr id="572" name="Google Shape;572;p37"/>
              <p:cNvSpPr txBox="1"/>
              <p:nvPr/>
            </p:nvSpPr>
            <p:spPr>
              <a:xfrm>
                <a:off x="373078" y="3596532"/>
                <a:ext cx="1397893"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BO" sz="1600">
                    <a:solidFill>
                      <a:schemeClr val="dk1"/>
                    </a:solidFill>
                    <a:latin typeface="Calibri"/>
                    <a:ea typeface="Calibri"/>
                    <a:cs typeface="Calibri"/>
                    <a:sym typeface="Calibri"/>
                  </a:rPr>
                  <a:t>Nodo negro</a:t>
                </a:r>
                <a:endParaRPr/>
              </a:p>
              <a:p>
                <a:pPr indent="0" lvl="0" marL="0" marR="0" rtl="0" algn="ctr">
                  <a:spcBef>
                    <a:spcPts val="0"/>
                  </a:spcBef>
                  <a:spcAft>
                    <a:spcPts val="0"/>
                  </a:spcAft>
                  <a:buNone/>
                </a:pPr>
                <a:r>
                  <a:rPr lang="es-BO" sz="1600">
                    <a:solidFill>
                      <a:schemeClr val="dk1"/>
                    </a:solidFill>
                    <a:latin typeface="Calibri"/>
                    <a:ea typeface="Calibri"/>
                    <a:cs typeface="Calibri"/>
                    <a:sym typeface="Calibri"/>
                  </a:rPr>
                  <a:t>401</a:t>
                </a:r>
                <a:endParaRPr/>
              </a:p>
            </p:txBody>
          </p:sp>
          <p:cxnSp>
            <p:nvCxnSpPr>
              <p:cNvPr id="573" name="Google Shape;573;p37"/>
              <p:cNvCxnSpPr>
                <a:endCxn id="574" idx="1"/>
              </p:cNvCxnSpPr>
              <p:nvPr/>
            </p:nvCxnSpPr>
            <p:spPr>
              <a:xfrm>
                <a:off x="1794721" y="2728048"/>
                <a:ext cx="983100" cy="220200"/>
              </a:xfrm>
              <a:prstGeom prst="straightConnector1">
                <a:avLst/>
              </a:prstGeom>
              <a:noFill/>
              <a:ln cap="flat" cmpd="sng" w="38100">
                <a:solidFill>
                  <a:srgbClr val="FFFF00"/>
                </a:solidFill>
                <a:prstDash val="solid"/>
                <a:round/>
                <a:headEnd len="sm" w="sm" type="none"/>
                <a:tailEnd len="med" w="med" type="triangle"/>
              </a:ln>
              <a:effectLst>
                <a:outerShdw blurRad="40000" rotWithShape="0" dir="5400000" dist="23000">
                  <a:srgbClr val="000000">
                    <a:alpha val="34901"/>
                  </a:srgbClr>
                </a:outerShdw>
              </a:effectLst>
            </p:spPr>
          </p:cxnSp>
          <p:sp>
            <p:nvSpPr>
              <p:cNvPr id="574" name="Google Shape;574;p37"/>
              <p:cNvSpPr/>
              <p:nvPr/>
            </p:nvSpPr>
            <p:spPr>
              <a:xfrm>
                <a:off x="2706674" y="2882875"/>
                <a:ext cx="485825" cy="446395"/>
              </a:xfrm>
              <a:prstGeom prst="ellipse">
                <a:avLst/>
              </a:prstGeom>
              <a:noFill/>
              <a:ln cap="flat" cmpd="sng" w="28575">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3"/>
                  </a:solidFill>
                  <a:latin typeface="Calibri"/>
                  <a:ea typeface="Calibri"/>
                  <a:cs typeface="Calibri"/>
                  <a:sym typeface="Calibri"/>
                </a:endParaRPr>
              </a:p>
            </p:txBody>
          </p:sp>
          <p:cxnSp>
            <p:nvCxnSpPr>
              <p:cNvPr id="575" name="Google Shape;575;p37"/>
              <p:cNvCxnSpPr>
                <a:endCxn id="576" idx="2"/>
              </p:cNvCxnSpPr>
              <p:nvPr/>
            </p:nvCxnSpPr>
            <p:spPr>
              <a:xfrm flipH="1" rot="10800000">
                <a:off x="1566096" y="3609137"/>
                <a:ext cx="991800" cy="292200"/>
              </a:xfrm>
              <a:prstGeom prst="straightConnector1">
                <a:avLst/>
              </a:prstGeom>
              <a:noFill/>
              <a:ln cap="flat" cmpd="sng" w="38100">
                <a:solidFill>
                  <a:schemeClr val="dk1"/>
                </a:solidFill>
                <a:prstDash val="solid"/>
                <a:round/>
                <a:headEnd len="sm" w="sm" type="none"/>
                <a:tailEnd len="med" w="med" type="triangle"/>
              </a:ln>
              <a:effectLst>
                <a:outerShdw blurRad="40000" rotWithShape="0" dir="5400000" dist="23000">
                  <a:srgbClr val="000000">
                    <a:alpha val="34901"/>
                  </a:srgbClr>
                </a:outerShdw>
              </a:effectLst>
            </p:spPr>
          </p:cxnSp>
          <p:sp>
            <p:nvSpPr>
              <p:cNvPr id="576" name="Google Shape;576;p37"/>
              <p:cNvSpPr/>
              <p:nvPr/>
            </p:nvSpPr>
            <p:spPr>
              <a:xfrm>
                <a:off x="2557896" y="3377628"/>
                <a:ext cx="485824" cy="463017"/>
              </a:xfrm>
              <a:prstGeom prst="ellipse">
                <a:avLst/>
              </a:prstGeom>
              <a:no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3"/>
                  </a:solidFill>
                  <a:latin typeface="Calibri"/>
                  <a:ea typeface="Calibri"/>
                  <a:cs typeface="Calibri"/>
                  <a:sym typeface="Calibri"/>
                </a:endParaRPr>
              </a:p>
            </p:txBody>
          </p:sp>
        </p:grpSp>
      </p:grpSp>
      <p:grpSp>
        <p:nvGrpSpPr>
          <p:cNvPr id="577" name="Google Shape;577;p37"/>
          <p:cNvGrpSpPr/>
          <p:nvPr/>
        </p:nvGrpSpPr>
        <p:grpSpPr>
          <a:xfrm>
            <a:off x="990541" y="800386"/>
            <a:ext cx="5234389" cy="5670748"/>
            <a:chOff x="3068413" y="2211495"/>
            <a:chExt cx="5234389" cy="5670748"/>
          </a:xfrm>
        </p:grpSpPr>
        <p:pic>
          <p:nvPicPr>
            <p:cNvPr id="578" name="Google Shape;578;p37"/>
            <p:cNvPicPr preferRelativeResize="0"/>
            <p:nvPr/>
          </p:nvPicPr>
          <p:blipFill rotWithShape="1">
            <a:blip r:embed="rId5">
              <a:alphaModFix/>
            </a:blip>
            <a:srcRect b="44164" l="8660" r="31698" t="15937"/>
            <a:stretch/>
          </p:blipFill>
          <p:spPr>
            <a:xfrm>
              <a:off x="4647417" y="2211495"/>
              <a:ext cx="3655385" cy="5304565"/>
            </a:xfrm>
            <a:prstGeom prst="rect">
              <a:avLst/>
            </a:prstGeom>
            <a:noFill/>
            <a:ln>
              <a:noFill/>
            </a:ln>
          </p:spPr>
        </p:pic>
        <p:sp>
          <p:nvSpPr>
            <p:cNvPr id="579" name="Google Shape;579;p37"/>
            <p:cNvSpPr txBox="1"/>
            <p:nvPr/>
          </p:nvSpPr>
          <p:spPr>
            <a:xfrm>
              <a:off x="4647418" y="7512911"/>
              <a:ext cx="3655384"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s-BO" sz="1800">
                  <a:solidFill>
                    <a:schemeClr val="dk1"/>
                  </a:solidFill>
                  <a:latin typeface="Calibri"/>
                  <a:ea typeface="Calibri"/>
                  <a:cs typeface="Calibri"/>
                  <a:sym typeface="Calibri"/>
                </a:rPr>
                <a:t>Panel frontal </a:t>
              </a:r>
              <a:endParaRPr/>
            </a:p>
          </p:txBody>
        </p:sp>
        <p:sp>
          <p:nvSpPr>
            <p:cNvPr id="580" name="Google Shape;580;p37"/>
            <p:cNvSpPr txBox="1"/>
            <p:nvPr/>
          </p:nvSpPr>
          <p:spPr>
            <a:xfrm>
              <a:off x="3068413" y="4235480"/>
              <a:ext cx="1326796"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BO" sz="1600">
                  <a:solidFill>
                    <a:schemeClr val="dk1"/>
                  </a:solidFill>
                  <a:latin typeface="Calibri"/>
                  <a:ea typeface="Calibri"/>
                  <a:cs typeface="Calibri"/>
                  <a:sym typeface="Calibri"/>
                </a:rPr>
                <a:t>Nodo blanco</a:t>
              </a:r>
              <a:endParaRPr/>
            </a:p>
            <a:p>
              <a:pPr indent="0" lvl="0" marL="0" marR="0" rtl="0" algn="ctr">
                <a:spcBef>
                  <a:spcPts val="0"/>
                </a:spcBef>
                <a:spcAft>
                  <a:spcPts val="0"/>
                </a:spcAft>
                <a:buNone/>
              </a:pPr>
              <a:r>
                <a:rPr lang="es-BO" sz="1600">
                  <a:solidFill>
                    <a:schemeClr val="dk1"/>
                  </a:solidFill>
                  <a:latin typeface="Calibri"/>
                  <a:ea typeface="Calibri"/>
                  <a:cs typeface="Calibri"/>
                  <a:sym typeface="Calibri"/>
                </a:rPr>
                <a:t>400</a:t>
              </a:r>
              <a:endParaRPr/>
            </a:p>
          </p:txBody>
        </p:sp>
        <p:sp>
          <p:nvSpPr>
            <p:cNvPr id="581" name="Google Shape;581;p37"/>
            <p:cNvSpPr txBox="1"/>
            <p:nvPr/>
          </p:nvSpPr>
          <p:spPr>
            <a:xfrm>
              <a:off x="3098773" y="5423645"/>
              <a:ext cx="1300037"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BO" sz="1600">
                  <a:solidFill>
                    <a:schemeClr val="dk1"/>
                  </a:solidFill>
                  <a:latin typeface="Calibri"/>
                  <a:ea typeface="Calibri"/>
                  <a:cs typeface="Calibri"/>
                  <a:sym typeface="Calibri"/>
                </a:rPr>
                <a:t>Nodo negro</a:t>
              </a:r>
              <a:endParaRPr/>
            </a:p>
            <a:p>
              <a:pPr indent="0" lvl="0" marL="0" marR="0" rtl="0" algn="ctr">
                <a:spcBef>
                  <a:spcPts val="0"/>
                </a:spcBef>
                <a:spcAft>
                  <a:spcPts val="0"/>
                </a:spcAft>
                <a:buNone/>
              </a:pPr>
              <a:r>
                <a:rPr lang="es-BO" sz="1600">
                  <a:solidFill>
                    <a:schemeClr val="dk1"/>
                  </a:solidFill>
                  <a:latin typeface="Calibri"/>
                  <a:ea typeface="Calibri"/>
                  <a:cs typeface="Calibri"/>
                  <a:sym typeface="Calibri"/>
                </a:rPr>
                <a:t>401</a:t>
              </a:r>
              <a:endParaRPr/>
            </a:p>
          </p:txBody>
        </p:sp>
        <p:cxnSp>
          <p:nvCxnSpPr>
            <p:cNvPr id="582" name="Google Shape;582;p37"/>
            <p:cNvCxnSpPr>
              <a:stCxn id="580" idx="3"/>
              <a:endCxn id="583" idx="2"/>
            </p:cNvCxnSpPr>
            <p:nvPr/>
          </p:nvCxnSpPr>
          <p:spPr>
            <a:xfrm flipH="1" rot="10800000">
              <a:off x="4395209" y="4461568"/>
              <a:ext cx="631200" cy="66300"/>
            </a:xfrm>
            <a:prstGeom prst="straightConnector1">
              <a:avLst/>
            </a:prstGeom>
            <a:noFill/>
            <a:ln cap="flat" cmpd="sng" w="38100">
              <a:solidFill>
                <a:srgbClr val="FFFF00"/>
              </a:solidFill>
              <a:prstDash val="solid"/>
              <a:round/>
              <a:headEnd len="sm" w="sm" type="none"/>
              <a:tailEnd len="med" w="med" type="triangle"/>
            </a:ln>
            <a:effectLst>
              <a:outerShdw blurRad="40000" rotWithShape="0" dir="5400000" dist="23000">
                <a:srgbClr val="000000">
                  <a:alpha val="34901"/>
                </a:srgbClr>
              </a:outerShdw>
            </a:effectLst>
          </p:spPr>
        </p:cxnSp>
        <p:sp>
          <p:nvSpPr>
            <p:cNvPr id="583" name="Google Shape;583;p37"/>
            <p:cNvSpPr/>
            <p:nvPr/>
          </p:nvSpPr>
          <p:spPr>
            <a:xfrm>
              <a:off x="5026417" y="4176301"/>
              <a:ext cx="587044" cy="570743"/>
            </a:xfrm>
            <a:prstGeom prst="ellipse">
              <a:avLst/>
            </a:prstGeom>
            <a:noFill/>
            <a:ln cap="flat" cmpd="sng" w="28575">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3"/>
                </a:solidFill>
                <a:latin typeface="Calibri"/>
                <a:ea typeface="Calibri"/>
                <a:cs typeface="Calibri"/>
                <a:sym typeface="Calibri"/>
              </a:endParaRPr>
            </a:p>
          </p:txBody>
        </p:sp>
        <p:cxnSp>
          <p:nvCxnSpPr>
            <p:cNvPr id="584" name="Google Shape;584;p37"/>
            <p:cNvCxnSpPr>
              <a:stCxn id="581" idx="3"/>
              <a:endCxn id="585" idx="2"/>
            </p:cNvCxnSpPr>
            <p:nvPr/>
          </p:nvCxnSpPr>
          <p:spPr>
            <a:xfrm flipH="1" rot="10800000">
              <a:off x="4398810" y="5704333"/>
              <a:ext cx="656400" cy="11700"/>
            </a:xfrm>
            <a:prstGeom prst="straightConnector1">
              <a:avLst/>
            </a:prstGeom>
            <a:noFill/>
            <a:ln cap="flat" cmpd="sng" w="38100">
              <a:solidFill>
                <a:schemeClr val="dk1"/>
              </a:solidFill>
              <a:prstDash val="solid"/>
              <a:round/>
              <a:headEnd len="sm" w="sm" type="none"/>
              <a:tailEnd len="med" w="med" type="triangle"/>
            </a:ln>
            <a:effectLst>
              <a:outerShdw blurRad="40000" rotWithShape="0" dir="5400000" dist="23000">
                <a:srgbClr val="000000">
                  <a:alpha val="34901"/>
                </a:srgbClr>
              </a:outerShdw>
            </a:effectLst>
          </p:spPr>
        </p:cxnSp>
        <p:sp>
          <p:nvSpPr>
            <p:cNvPr id="585" name="Google Shape;585;p37"/>
            <p:cNvSpPr/>
            <p:nvPr/>
          </p:nvSpPr>
          <p:spPr>
            <a:xfrm>
              <a:off x="5055196" y="5423645"/>
              <a:ext cx="670404" cy="561228"/>
            </a:xfrm>
            <a:prstGeom prst="ellipse">
              <a:avLst/>
            </a:prstGeom>
            <a:no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3"/>
                </a:solidFill>
                <a:latin typeface="Calibri"/>
                <a:ea typeface="Calibri"/>
                <a:cs typeface="Calibri"/>
                <a:sym typeface="Calibri"/>
              </a:endParaRPr>
            </a:p>
          </p:txBody>
        </p:sp>
      </p:grpSp>
      <p:grpSp>
        <p:nvGrpSpPr>
          <p:cNvPr id="586" name="Google Shape;586;p37"/>
          <p:cNvGrpSpPr/>
          <p:nvPr/>
        </p:nvGrpSpPr>
        <p:grpSpPr>
          <a:xfrm>
            <a:off x="898489" y="2084059"/>
            <a:ext cx="5552770" cy="2508066"/>
            <a:chOff x="898489" y="2084059"/>
            <a:chExt cx="5552770" cy="2508066"/>
          </a:xfrm>
        </p:grpSpPr>
        <p:grpSp>
          <p:nvGrpSpPr>
            <p:cNvPr id="587" name="Google Shape;587;p37"/>
            <p:cNvGrpSpPr/>
            <p:nvPr/>
          </p:nvGrpSpPr>
          <p:grpSpPr>
            <a:xfrm>
              <a:off x="898489" y="2084059"/>
              <a:ext cx="5552770" cy="2228995"/>
              <a:chOff x="3997799" y="206114"/>
              <a:chExt cx="5552770" cy="1722549"/>
            </a:xfrm>
          </p:grpSpPr>
          <p:grpSp>
            <p:nvGrpSpPr>
              <p:cNvPr id="588" name="Google Shape;588;p37"/>
              <p:cNvGrpSpPr/>
              <p:nvPr/>
            </p:nvGrpSpPr>
            <p:grpSpPr>
              <a:xfrm>
                <a:off x="3997799" y="370998"/>
                <a:ext cx="4506123" cy="1473450"/>
                <a:chOff x="7104111" y="3342809"/>
                <a:chExt cx="4742881" cy="1856733"/>
              </a:xfrm>
            </p:grpSpPr>
            <p:grpSp>
              <p:nvGrpSpPr>
                <p:cNvPr id="589" name="Google Shape;589;p37"/>
                <p:cNvGrpSpPr/>
                <p:nvPr/>
              </p:nvGrpSpPr>
              <p:grpSpPr>
                <a:xfrm>
                  <a:off x="7104111" y="3342809"/>
                  <a:ext cx="4742881" cy="1856733"/>
                  <a:chOff x="7104111" y="3342809"/>
                  <a:chExt cx="4742881" cy="1856733"/>
                </a:xfrm>
              </p:grpSpPr>
              <p:pic>
                <p:nvPicPr>
                  <p:cNvPr id="590" name="Google Shape;590;p37"/>
                  <p:cNvPicPr preferRelativeResize="0"/>
                  <p:nvPr/>
                </p:nvPicPr>
                <p:blipFill rotWithShape="1">
                  <a:blip r:embed="rId6">
                    <a:alphaModFix/>
                  </a:blip>
                  <a:srcRect b="0" l="0" r="0" t="0"/>
                  <a:stretch/>
                </p:blipFill>
                <p:spPr>
                  <a:xfrm>
                    <a:off x="7104111" y="3342809"/>
                    <a:ext cx="4742881" cy="1856733"/>
                  </a:xfrm>
                  <a:prstGeom prst="rect">
                    <a:avLst/>
                  </a:prstGeom>
                  <a:noFill/>
                  <a:ln>
                    <a:noFill/>
                  </a:ln>
                </p:spPr>
              </p:pic>
              <p:sp>
                <p:nvSpPr>
                  <p:cNvPr id="591" name="Google Shape;591;p37"/>
                  <p:cNvSpPr txBox="1"/>
                  <p:nvPr/>
                </p:nvSpPr>
                <p:spPr>
                  <a:xfrm>
                    <a:off x="8112224" y="4776362"/>
                    <a:ext cx="3146523" cy="36933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chemeClr val="dk1"/>
                        </a:solidFill>
                        <a:latin typeface="Calibri"/>
                        <a:ea typeface="Calibri"/>
                        <a:cs typeface="Calibri"/>
                        <a:sym typeface="Calibri"/>
                      </a:rPr>
                      <a:t>Constantán (Cobre y Níquel)</a:t>
                    </a:r>
                    <a:endParaRPr/>
                  </a:p>
                </p:txBody>
              </p:sp>
            </p:grpSp>
            <p:sp>
              <p:nvSpPr>
                <p:cNvPr id="592" name="Google Shape;592;p37"/>
                <p:cNvSpPr txBox="1"/>
                <p:nvPr/>
              </p:nvSpPr>
              <p:spPr>
                <a:xfrm>
                  <a:off x="8575451" y="3429000"/>
                  <a:ext cx="1800200" cy="36933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chemeClr val="dk1"/>
                      </a:solidFill>
                      <a:latin typeface="Calibri"/>
                      <a:ea typeface="Calibri"/>
                      <a:cs typeface="Calibri"/>
                      <a:sym typeface="Calibri"/>
                    </a:rPr>
                    <a:t>Hierro (Fe)</a:t>
                  </a:r>
                  <a:endParaRPr/>
                </a:p>
              </p:txBody>
            </p:sp>
          </p:grpSp>
          <p:cxnSp>
            <p:nvCxnSpPr>
              <p:cNvPr id="593" name="Google Shape;593;p37"/>
              <p:cNvCxnSpPr>
                <a:stCxn id="594" idx="1"/>
              </p:cNvCxnSpPr>
              <p:nvPr/>
            </p:nvCxnSpPr>
            <p:spPr>
              <a:xfrm flipH="1">
                <a:off x="7719679" y="390780"/>
                <a:ext cx="392100" cy="288300"/>
              </a:xfrm>
              <a:prstGeom prst="straightConnector1">
                <a:avLst/>
              </a:prstGeom>
              <a:noFill/>
              <a:ln cap="flat" cmpd="sng" w="38100">
                <a:solidFill>
                  <a:schemeClr val="dk1"/>
                </a:solidFill>
                <a:prstDash val="solid"/>
                <a:round/>
                <a:headEnd len="sm" w="sm" type="none"/>
                <a:tailEnd len="med" w="med" type="triangle"/>
              </a:ln>
              <a:effectLst>
                <a:outerShdw blurRad="40000" rotWithShape="0" dir="5400000" dist="23000">
                  <a:srgbClr val="000000">
                    <a:alpha val="34901"/>
                  </a:srgbClr>
                </a:outerShdw>
              </a:effectLst>
            </p:spPr>
          </p:cxnSp>
          <p:sp>
            <p:nvSpPr>
              <p:cNvPr id="594" name="Google Shape;594;p37"/>
              <p:cNvSpPr txBox="1"/>
              <p:nvPr/>
            </p:nvSpPr>
            <p:spPr>
              <a:xfrm>
                <a:off x="8111779" y="206114"/>
                <a:ext cx="139789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chemeClr val="dk1"/>
                    </a:solidFill>
                    <a:latin typeface="Calibri"/>
                    <a:ea typeface="Calibri"/>
                    <a:cs typeface="Calibri"/>
                    <a:sym typeface="Calibri"/>
                  </a:rPr>
                  <a:t>Nodo negro</a:t>
                </a:r>
                <a:endParaRPr/>
              </a:p>
            </p:txBody>
          </p:sp>
          <p:cxnSp>
            <p:nvCxnSpPr>
              <p:cNvPr id="595" name="Google Shape;595;p37"/>
              <p:cNvCxnSpPr/>
              <p:nvPr/>
            </p:nvCxnSpPr>
            <p:spPr>
              <a:xfrm rot="10800000">
                <a:off x="7719636" y="1559331"/>
                <a:ext cx="420208" cy="232431"/>
              </a:xfrm>
              <a:prstGeom prst="straightConnector1">
                <a:avLst/>
              </a:prstGeom>
              <a:noFill/>
              <a:ln cap="flat" cmpd="sng" w="38100">
                <a:solidFill>
                  <a:srgbClr val="FFFF00"/>
                </a:solidFill>
                <a:prstDash val="solid"/>
                <a:round/>
                <a:headEnd len="sm" w="sm" type="none"/>
                <a:tailEnd len="med" w="med" type="triangle"/>
              </a:ln>
              <a:effectLst>
                <a:outerShdw blurRad="40000" rotWithShape="0" dir="5400000" dist="23000">
                  <a:srgbClr val="000000">
                    <a:alpha val="34901"/>
                  </a:srgbClr>
                </a:outerShdw>
              </a:effectLst>
            </p:spPr>
          </p:cxnSp>
          <p:sp>
            <p:nvSpPr>
              <p:cNvPr id="596" name="Google Shape;596;p37"/>
              <p:cNvSpPr txBox="1"/>
              <p:nvPr/>
            </p:nvSpPr>
            <p:spPr>
              <a:xfrm>
                <a:off x="8152676" y="1559331"/>
                <a:ext cx="139789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chemeClr val="dk1"/>
                    </a:solidFill>
                    <a:latin typeface="Calibri"/>
                    <a:ea typeface="Calibri"/>
                    <a:cs typeface="Calibri"/>
                    <a:sym typeface="Calibri"/>
                  </a:rPr>
                  <a:t>Nodo blanco</a:t>
                </a:r>
                <a:endParaRPr/>
              </a:p>
            </p:txBody>
          </p:sp>
        </p:grpSp>
        <p:sp>
          <p:nvSpPr>
            <p:cNvPr id="597" name="Google Shape;597;p37"/>
            <p:cNvSpPr txBox="1"/>
            <p:nvPr/>
          </p:nvSpPr>
          <p:spPr>
            <a:xfrm>
              <a:off x="1917051" y="4222793"/>
              <a:ext cx="2273077"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s-BO" sz="1800">
                  <a:solidFill>
                    <a:schemeClr val="dk1"/>
                  </a:solidFill>
                  <a:latin typeface="Calibri"/>
                  <a:ea typeface="Calibri"/>
                  <a:cs typeface="Calibri"/>
                  <a:sym typeface="Calibri"/>
                </a:rPr>
                <a:t>Termocupla tipo J</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586"/>
                                        </p:tgtEl>
                                      </p:cBhvr>
                                    </p:animEffect>
                                    <p:set>
                                      <p:cBhvr>
                                        <p:cTn dur="1" fill="hold">
                                          <p:stCondLst>
                                            <p:cond delay="500"/>
                                          </p:stCondLst>
                                        </p:cTn>
                                        <p:tgtEl>
                                          <p:spTgt spid="586"/>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567"/>
                                        </p:tgtEl>
                                      </p:cBhvr>
                                    </p:animEffect>
                                    <p:set>
                                      <p:cBhvr>
                                        <p:cTn dur="1" fill="hold">
                                          <p:stCondLst>
                                            <p:cond delay="500"/>
                                          </p:stCondLst>
                                        </p:cTn>
                                        <p:tgtEl>
                                          <p:spTgt spid="56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38"/>
          <p:cNvSpPr txBox="1"/>
          <p:nvPr>
            <p:ph idx="1" type="body"/>
          </p:nvPr>
        </p:nvSpPr>
        <p:spPr>
          <a:xfrm>
            <a:off x="5028497" y="5436959"/>
            <a:ext cx="6669701" cy="825600"/>
          </a:xfrm>
          <a:prstGeom prst="rect">
            <a:avLst/>
          </a:prstGeom>
          <a:noFill/>
          <a:ln>
            <a:noFill/>
          </a:ln>
        </p:spPr>
        <p:txBody>
          <a:bodyPr anchorCtr="0" anchor="t" bIns="121900" lIns="121900" spcFirstLastPara="1" rIns="121900" wrap="square" tIns="121900">
            <a:noAutofit/>
          </a:bodyPr>
          <a:lstStyle/>
          <a:p>
            <a:pPr indent="0" lvl="0" marL="0" rtl="0" algn="ctr">
              <a:lnSpc>
                <a:spcPct val="95000"/>
              </a:lnSpc>
              <a:spcBef>
                <a:spcPts val="1600"/>
              </a:spcBef>
              <a:spcAft>
                <a:spcPts val="0"/>
              </a:spcAft>
              <a:buClr>
                <a:schemeClr val="dk1"/>
              </a:buClr>
              <a:buSzPts val="852"/>
              <a:buNone/>
            </a:pPr>
            <a:r>
              <a:rPr i="1" lang="es-BO" sz="1600">
                <a:latin typeface="Calibri"/>
                <a:ea typeface="Calibri"/>
                <a:cs typeface="Calibri"/>
                <a:sym typeface="Calibri"/>
              </a:rPr>
              <a:t>En la grafica podemos observar la relación existente entre la temperatura medida y el voltaje que envía el sensor.</a:t>
            </a:r>
            <a:endParaRPr b="1" i="1" sz="1600">
              <a:latin typeface="Calibri"/>
              <a:ea typeface="Calibri"/>
              <a:cs typeface="Calibri"/>
              <a:sym typeface="Calibri"/>
            </a:endParaRPr>
          </a:p>
          <a:p>
            <a:pPr indent="0" lvl="0" marL="0" rtl="0" algn="l">
              <a:lnSpc>
                <a:spcPct val="95000"/>
              </a:lnSpc>
              <a:spcBef>
                <a:spcPts val="1600"/>
              </a:spcBef>
              <a:spcAft>
                <a:spcPts val="1600"/>
              </a:spcAft>
              <a:buClr>
                <a:schemeClr val="dk1"/>
              </a:buClr>
              <a:buSzPts val="852"/>
              <a:buNone/>
            </a:pPr>
            <a:r>
              <a:t/>
            </a:r>
            <a:endParaRPr sz="1343"/>
          </a:p>
        </p:txBody>
      </p:sp>
      <p:pic>
        <p:nvPicPr>
          <p:cNvPr id="603" name="Google Shape;603;p38"/>
          <p:cNvPicPr preferRelativeResize="0"/>
          <p:nvPr/>
        </p:nvPicPr>
        <p:blipFill rotWithShape="1">
          <a:blip r:embed="rId3">
            <a:alphaModFix/>
          </a:blip>
          <a:srcRect b="0" l="0" r="0" t="0"/>
          <a:stretch/>
        </p:blipFill>
        <p:spPr>
          <a:xfrm>
            <a:off x="5028498" y="957893"/>
            <a:ext cx="6669701" cy="4373767"/>
          </a:xfrm>
          <a:prstGeom prst="rect">
            <a:avLst/>
          </a:prstGeom>
          <a:noFill/>
          <a:ln>
            <a:noFill/>
          </a:ln>
        </p:spPr>
      </p:pic>
      <p:sp>
        <p:nvSpPr>
          <p:cNvPr id="604" name="Google Shape;604;p38"/>
          <p:cNvSpPr txBox="1"/>
          <p:nvPr/>
        </p:nvSpPr>
        <p:spPr>
          <a:xfrm>
            <a:off x="1403400" y="365126"/>
            <a:ext cx="9950400" cy="455146"/>
          </a:xfrm>
          <a:prstGeom prst="rect">
            <a:avLst/>
          </a:prstGeom>
          <a:noFill/>
          <a:ln>
            <a:noFill/>
          </a:ln>
        </p:spPr>
        <p:txBody>
          <a:bodyPr anchorCtr="0" anchor="t" bIns="91425" lIns="91425" spcFirstLastPara="1" rIns="91425" wrap="square" tIns="91425">
            <a:normAutofit/>
          </a:bodyPr>
          <a:lstStyle/>
          <a:p>
            <a:pPr indent="0" lvl="0" marL="0" marR="0" rtl="0" algn="l">
              <a:lnSpc>
                <a:spcPct val="90000"/>
              </a:lnSpc>
              <a:spcBef>
                <a:spcPts val="0"/>
              </a:spcBef>
              <a:spcAft>
                <a:spcPts val="0"/>
              </a:spcAft>
              <a:buClr>
                <a:schemeClr val="dk1"/>
              </a:buClr>
              <a:buSzPts val="2400"/>
              <a:buFont typeface="Calibri"/>
              <a:buNone/>
            </a:pPr>
            <a:r>
              <a:rPr b="1" i="1" lang="es-BO" sz="1600" u="sng">
                <a:solidFill>
                  <a:schemeClr val="dk1"/>
                </a:solidFill>
                <a:latin typeface="Calibri"/>
                <a:ea typeface="Calibri"/>
                <a:cs typeface="Calibri"/>
                <a:sym typeface="Calibri"/>
              </a:rPr>
              <a:t>Pruebas de laboratorio para el sensor TC12</a:t>
            </a:r>
            <a:endParaRPr/>
          </a:p>
        </p:txBody>
      </p:sp>
      <p:grpSp>
        <p:nvGrpSpPr>
          <p:cNvPr id="605" name="Google Shape;605;p38"/>
          <p:cNvGrpSpPr/>
          <p:nvPr/>
        </p:nvGrpSpPr>
        <p:grpSpPr>
          <a:xfrm>
            <a:off x="6240018" y="957893"/>
            <a:ext cx="5061735" cy="5606651"/>
            <a:chOff x="4295800" y="760375"/>
            <a:chExt cx="5061735" cy="5606651"/>
          </a:xfrm>
        </p:grpSpPr>
        <p:pic>
          <p:nvPicPr>
            <p:cNvPr id="606" name="Google Shape;606;p38"/>
            <p:cNvPicPr preferRelativeResize="0"/>
            <p:nvPr/>
          </p:nvPicPr>
          <p:blipFill rotWithShape="1">
            <a:blip r:embed="rId4">
              <a:alphaModFix/>
            </a:blip>
            <a:srcRect b="0" l="0" r="0" t="0"/>
            <a:stretch/>
          </p:blipFill>
          <p:spPr>
            <a:xfrm>
              <a:off x="4295800" y="760375"/>
              <a:ext cx="3150938" cy="5606651"/>
            </a:xfrm>
            <a:prstGeom prst="rect">
              <a:avLst/>
            </a:prstGeom>
            <a:noFill/>
            <a:ln>
              <a:noFill/>
            </a:ln>
          </p:spPr>
        </p:pic>
        <p:grpSp>
          <p:nvGrpSpPr>
            <p:cNvPr id="607" name="Google Shape;607;p38"/>
            <p:cNvGrpSpPr/>
            <p:nvPr/>
          </p:nvGrpSpPr>
          <p:grpSpPr>
            <a:xfrm>
              <a:off x="6804320" y="1611599"/>
              <a:ext cx="2553215" cy="1084086"/>
              <a:chOff x="6804320" y="1611599"/>
              <a:chExt cx="2553215" cy="1084086"/>
            </a:xfrm>
          </p:grpSpPr>
          <p:sp>
            <p:nvSpPr>
              <p:cNvPr id="608" name="Google Shape;608;p38"/>
              <p:cNvSpPr txBox="1"/>
              <p:nvPr/>
            </p:nvSpPr>
            <p:spPr>
              <a:xfrm>
                <a:off x="7748127" y="1611599"/>
                <a:ext cx="1542543"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BO" sz="1600">
                    <a:solidFill>
                      <a:schemeClr val="dk1"/>
                    </a:solidFill>
                    <a:latin typeface="Calibri"/>
                    <a:ea typeface="Calibri"/>
                    <a:cs typeface="Calibri"/>
                    <a:sym typeface="Calibri"/>
                  </a:rPr>
                  <a:t>Nodo blanco (-)</a:t>
                </a:r>
                <a:endParaRPr/>
              </a:p>
              <a:p>
                <a:pPr indent="0" lvl="0" marL="0" marR="0" rtl="0" algn="ctr">
                  <a:spcBef>
                    <a:spcPts val="0"/>
                  </a:spcBef>
                  <a:spcAft>
                    <a:spcPts val="0"/>
                  </a:spcAft>
                  <a:buNone/>
                </a:pPr>
                <a:r>
                  <a:rPr lang="es-BO" sz="1600">
                    <a:solidFill>
                      <a:schemeClr val="dk1"/>
                    </a:solidFill>
                    <a:latin typeface="Calibri"/>
                    <a:ea typeface="Calibri"/>
                    <a:cs typeface="Calibri"/>
                    <a:sym typeface="Calibri"/>
                  </a:rPr>
                  <a:t>400</a:t>
                </a:r>
                <a:endParaRPr/>
              </a:p>
            </p:txBody>
          </p:sp>
          <p:grpSp>
            <p:nvGrpSpPr>
              <p:cNvPr id="609" name="Google Shape;609;p38"/>
              <p:cNvGrpSpPr/>
              <p:nvPr/>
            </p:nvGrpSpPr>
            <p:grpSpPr>
              <a:xfrm>
                <a:off x="6804320" y="1676880"/>
                <a:ext cx="2553215" cy="1018805"/>
                <a:chOff x="6804320" y="1676880"/>
                <a:chExt cx="2553215" cy="1018805"/>
              </a:xfrm>
            </p:grpSpPr>
            <p:cxnSp>
              <p:nvCxnSpPr>
                <p:cNvPr id="610" name="Google Shape;610;p38"/>
                <p:cNvCxnSpPr>
                  <a:endCxn id="611" idx="6"/>
                </p:cNvCxnSpPr>
                <p:nvPr/>
              </p:nvCxnSpPr>
              <p:spPr>
                <a:xfrm rot="10800000">
                  <a:off x="7192517" y="1861254"/>
                  <a:ext cx="682800" cy="0"/>
                </a:xfrm>
                <a:prstGeom prst="straightConnector1">
                  <a:avLst/>
                </a:prstGeom>
                <a:noFill/>
                <a:ln cap="flat" cmpd="sng" w="38100">
                  <a:solidFill>
                    <a:srgbClr val="FFFF00"/>
                  </a:solidFill>
                  <a:prstDash val="solid"/>
                  <a:round/>
                  <a:headEnd len="sm" w="sm" type="none"/>
                  <a:tailEnd len="med" w="med" type="triangle"/>
                </a:ln>
                <a:effectLst>
                  <a:outerShdw blurRad="40000" rotWithShape="0" dir="5400000" dist="23000">
                    <a:srgbClr val="000000">
                      <a:alpha val="34901"/>
                    </a:srgbClr>
                  </a:outerShdw>
                </a:effectLst>
              </p:spPr>
            </p:cxnSp>
            <p:sp>
              <p:nvSpPr>
                <p:cNvPr id="611" name="Google Shape;611;p38"/>
                <p:cNvSpPr/>
                <p:nvPr/>
              </p:nvSpPr>
              <p:spPr>
                <a:xfrm>
                  <a:off x="6804320" y="1676880"/>
                  <a:ext cx="388197" cy="368748"/>
                </a:xfrm>
                <a:prstGeom prst="ellipse">
                  <a:avLst/>
                </a:prstGeom>
                <a:noFill/>
                <a:ln cap="flat" cmpd="sng" w="28575">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3"/>
                    </a:solidFill>
                    <a:latin typeface="Calibri"/>
                    <a:ea typeface="Calibri"/>
                    <a:cs typeface="Calibri"/>
                    <a:sym typeface="Calibri"/>
                  </a:endParaRPr>
                </a:p>
              </p:txBody>
            </p:sp>
            <p:cxnSp>
              <p:nvCxnSpPr>
                <p:cNvPr id="612" name="Google Shape;612;p38"/>
                <p:cNvCxnSpPr/>
                <p:nvPr/>
              </p:nvCxnSpPr>
              <p:spPr>
                <a:xfrm rot="10800000">
                  <a:off x="7192517" y="2362465"/>
                  <a:ext cx="682728" cy="0"/>
                </a:xfrm>
                <a:prstGeom prst="straightConnector1">
                  <a:avLst/>
                </a:prstGeom>
                <a:noFill/>
                <a:ln cap="flat" cmpd="sng" w="38100">
                  <a:solidFill>
                    <a:schemeClr val="dk1"/>
                  </a:solidFill>
                  <a:prstDash val="solid"/>
                  <a:round/>
                  <a:headEnd len="sm" w="sm" type="none"/>
                  <a:tailEnd len="med" w="med" type="triangle"/>
                </a:ln>
                <a:effectLst>
                  <a:outerShdw blurRad="40000" rotWithShape="0" dir="5400000" dist="23000">
                    <a:srgbClr val="000000">
                      <a:alpha val="34901"/>
                    </a:srgbClr>
                  </a:outerShdw>
                </a:effectLst>
              </p:spPr>
            </p:cxnSp>
            <p:sp>
              <p:nvSpPr>
                <p:cNvPr id="613" name="Google Shape;613;p38"/>
                <p:cNvSpPr txBox="1"/>
                <p:nvPr/>
              </p:nvSpPr>
              <p:spPr>
                <a:xfrm>
                  <a:off x="7814992" y="2110910"/>
                  <a:ext cx="1542543"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BO" sz="1600">
                      <a:solidFill>
                        <a:schemeClr val="dk1"/>
                      </a:solidFill>
                      <a:latin typeface="Calibri"/>
                      <a:ea typeface="Calibri"/>
                      <a:cs typeface="Calibri"/>
                      <a:sym typeface="Calibri"/>
                    </a:rPr>
                    <a:t>Nodo negro (+)</a:t>
                  </a:r>
                  <a:endParaRPr/>
                </a:p>
                <a:p>
                  <a:pPr indent="0" lvl="0" marL="0" marR="0" rtl="0" algn="ctr">
                    <a:spcBef>
                      <a:spcPts val="0"/>
                    </a:spcBef>
                    <a:spcAft>
                      <a:spcPts val="0"/>
                    </a:spcAft>
                    <a:buNone/>
                  </a:pPr>
                  <a:r>
                    <a:rPr lang="es-BO" sz="1600">
                      <a:solidFill>
                        <a:schemeClr val="dk1"/>
                      </a:solidFill>
                      <a:latin typeface="Calibri"/>
                      <a:ea typeface="Calibri"/>
                      <a:cs typeface="Calibri"/>
                      <a:sym typeface="Calibri"/>
                    </a:rPr>
                    <a:t>401</a:t>
                  </a:r>
                  <a:endParaRPr/>
                </a:p>
              </p:txBody>
            </p:sp>
            <p:sp>
              <p:nvSpPr>
                <p:cNvPr id="614" name="Google Shape;614;p38"/>
                <p:cNvSpPr/>
                <p:nvPr/>
              </p:nvSpPr>
              <p:spPr>
                <a:xfrm>
                  <a:off x="6810855" y="2178091"/>
                  <a:ext cx="388197" cy="368748"/>
                </a:xfrm>
                <a:prstGeom prst="ellipse">
                  <a:avLst/>
                </a:prstGeom>
                <a:no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3"/>
                    </a:solidFill>
                    <a:latin typeface="Calibri"/>
                    <a:ea typeface="Calibri"/>
                    <a:cs typeface="Calibri"/>
                    <a:sym typeface="Calibri"/>
                  </a:endParaRPr>
                </a:p>
              </p:txBody>
            </p:sp>
          </p:grpSp>
        </p:grpSp>
      </p:grpSp>
      <p:sp>
        <p:nvSpPr>
          <p:cNvPr id="615" name="Google Shape;615;p38"/>
          <p:cNvSpPr txBox="1"/>
          <p:nvPr/>
        </p:nvSpPr>
        <p:spPr>
          <a:xfrm>
            <a:off x="1631504" y="2601512"/>
            <a:ext cx="4320480" cy="120032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BO" sz="1800">
                <a:solidFill>
                  <a:schemeClr val="dk1"/>
                </a:solidFill>
                <a:latin typeface="Calibri"/>
                <a:ea typeface="Calibri"/>
                <a:cs typeface="Calibri"/>
                <a:sym typeface="Calibri"/>
              </a:rPr>
              <a:t>Se midió con la ayuda de un multímetro la variación de la tensión en las salidas del sensor y con la ayuda de un encendedor para llegar a más altas temperaturas</a:t>
            </a:r>
            <a:endParaRPr sz="1800">
              <a:solidFill>
                <a:schemeClr val="dk1"/>
              </a:solidFill>
              <a:latin typeface="Calibri"/>
              <a:ea typeface="Calibri"/>
              <a:cs typeface="Calibri"/>
              <a:sym typeface="Calibri"/>
            </a:endParaRPr>
          </a:p>
        </p:txBody>
      </p:sp>
      <p:graphicFrame>
        <p:nvGraphicFramePr>
          <p:cNvPr id="616" name="Google Shape;616;p38"/>
          <p:cNvGraphicFramePr/>
          <p:nvPr/>
        </p:nvGraphicFramePr>
        <p:xfrm>
          <a:off x="1834638" y="1109061"/>
          <a:ext cx="3000000" cy="3000000"/>
        </p:xfrm>
        <a:graphic>
          <a:graphicData uri="http://schemas.openxmlformats.org/drawingml/2006/table">
            <a:tbl>
              <a:tblPr bandRow="1" firstCol="1" firstRow="1">
                <a:noFill/>
                <a:tableStyleId>{222A7E54-5182-43F9-A65E-7F61A87368E1}</a:tableStyleId>
              </a:tblPr>
              <a:tblGrid>
                <a:gridCol w="1394575"/>
                <a:gridCol w="1394575"/>
              </a:tblGrid>
              <a:tr h="200025">
                <a:tc gridSpan="2">
                  <a:txBody>
                    <a:bodyPr/>
                    <a:lstStyle/>
                    <a:p>
                      <a:pPr indent="0" lvl="0" marL="0" marR="0" rtl="0" algn="ctr">
                        <a:lnSpc>
                          <a:spcPct val="106000"/>
                        </a:lnSpc>
                        <a:spcBef>
                          <a:spcPts val="0"/>
                        </a:spcBef>
                        <a:spcAft>
                          <a:spcPts val="0"/>
                        </a:spcAft>
                        <a:buNone/>
                      </a:pPr>
                      <a:r>
                        <a:rPr b="1" lang="es-BO" sz="1600">
                          <a:solidFill>
                            <a:schemeClr val="dk1"/>
                          </a:solidFill>
                        </a:rPr>
                        <a:t>SENSOR DE TEMPERATURA TC</a:t>
                      </a:r>
                      <a:endParaRPr b="1" sz="16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AE5F1"/>
                    </a:solidFill>
                  </a:tcPr>
                </a:tc>
                <a:tc hMerge="1"/>
              </a:tr>
              <a:tr h="200025">
                <a:tc>
                  <a:txBody>
                    <a:bodyPr/>
                    <a:lstStyle/>
                    <a:p>
                      <a:pPr indent="0" lvl="0" marL="0" marR="0" rtl="0" algn="ctr">
                        <a:lnSpc>
                          <a:spcPct val="106000"/>
                        </a:lnSpc>
                        <a:spcBef>
                          <a:spcPts val="0"/>
                        </a:spcBef>
                        <a:spcAft>
                          <a:spcPts val="0"/>
                        </a:spcAft>
                        <a:buNone/>
                      </a:pPr>
                      <a:r>
                        <a:rPr b="1" lang="es-BO" sz="1600">
                          <a:solidFill>
                            <a:schemeClr val="dk1"/>
                          </a:solidFill>
                        </a:rPr>
                        <a:t>T [°C]</a:t>
                      </a:r>
                      <a:endParaRPr b="1" sz="16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AE5F1"/>
                    </a:solidFill>
                  </a:tcPr>
                </a:tc>
                <a:tc>
                  <a:txBody>
                    <a:bodyPr/>
                    <a:lstStyle/>
                    <a:p>
                      <a:pPr indent="0" lvl="0" marL="0" marR="0" rtl="0" algn="ctr">
                        <a:lnSpc>
                          <a:spcPct val="106000"/>
                        </a:lnSpc>
                        <a:spcBef>
                          <a:spcPts val="0"/>
                        </a:spcBef>
                        <a:spcAft>
                          <a:spcPts val="0"/>
                        </a:spcAft>
                        <a:buNone/>
                      </a:pPr>
                      <a:r>
                        <a:rPr b="1" lang="es-BO" sz="1600">
                          <a:solidFill>
                            <a:schemeClr val="dk1"/>
                          </a:solidFill>
                        </a:rPr>
                        <a:t>V [mV]</a:t>
                      </a:r>
                      <a:endParaRPr b="1" sz="16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AE5F1"/>
                    </a:solidFill>
                  </a:tcPr>
                </a:tc>
              </a:tr>
              <a:tr h="200025">
                <a:tc>
                  <a:txBody>
                    <a:bodyPr/>
                    <a:lstStyle/>
                    <a:p>
                      <a:pPr indent="0" lvl="0" marL="0" marR="0" rtl="0" algn="ctr">
                        <a:lnSpc>
                          <a:spcPct val="106000"/>
                        </a:lnSpc>
                        <a:spcBef>
                          <a:spcPts val="0"/>
                        </a:spcBef>
                        <a:spcAft>
                          <a:spcPts val="0"/>
                        </a:spcAft>
                        <a:buNone/>
                      </a:pPr>
                      <a:r>
                        <a:rPr b="0" lang="es-BO" sz="1600">
                          <a:solidFill>
                            <a:schemeClr val="dk1"/>
                          </a:solidFill>
                        </a:rPr>
                        <a:t>26</a:t>
                      </a:r>
                      <a:endParaRPr b="0" sz="16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6000"/>
                        </a:lnSpc>
                        <a:spcBef>
                          <a:spcPts val="0"/>
                        </a:spcBef>
                        <a:spcAft>
                          <a:spcPts val="0"/>
                        </a:spcAft>
                        <a:buNone/>
                      </a:pPr>
                      <a:r>
                        <a:rPr b="0" lang="es-BO" sz="1600">
                          <a:solidFill>
                            <a:schemeClr val="dk1"/>
                          </a:solidFill>
                        </a:rPr>
                        <a:t>0</a:t>
                      </a:r>
                      <a:endParaRPr b="0" sz="16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200025">
                <a:tc>
                  <a:txBody>
                    <a:bodyPr/>
                    <a:lstStyle/>
                    <a:p>
                      <a:pPr indent="0" lvl="0" marL="0" marR="0" rtl="0" algn="ctr">
                        <a:lnSpc>
                          <a:spcPct val="106000"/>
                        </a:lnSpc>
                        <a:spcBef>
                          <a:spcPts val="0"/>
                        </a:spcBef>
                        <a:spcAft>
                          <a:spcPts val="0"/>
                        </a:spcAft>
                        <a:buNone/>
                      </a:pPr>
                      <a:r>
                        <a:rPr b="0" lang="es-BO" sz="1600">
                          <a:solidFill>
                            <a:schemeClr val="dk1"/>
                          </a:solidFill>
                        </a:rPr>
                        <a:t>30</a:t>
                      </a:r>
                      <a:endParaRPr b="0" sz="16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6000"/>
                        </a:lnSpc>
                        <a:spcBef>
                          <a:spcPts val="0"/>
                        </a:spcBef>
                        <a:spcAft>
                          <a:spcPts val="0"/>
                        </a:spcAft>
                        <a:buNone/>
                      </a:pPr>
                      <a:r>
                        <a:rPr b="0" lang="es-BO" sz="1600">
                          <a:solidFill>
                            <a:schemeClr val="dk1"/>
                          </a:solidFill>
                        </a:rPr>
                        <a:t>0,1</a:t>
                      </a:r>
                      <a:endParaRPr b="0" sz="16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200025">
                <a:tc>
                  <a:txBody>
                    <a:bodyPr/>
                    <a:lstStyle/>
                    <a:p>
                      <a:pPr indent="0" lvl="0" marL="0" marR="0" rtl="0" algn="ctr">
                        <a:lnSpc>
                          <a:spcPct val="106000"/>
                        </a:lnSpc>
                        <a:spcBef>
                          <a:spcPts val="0"/>
                        </a:spcBef>
                        <a:spcAft>
                          <a:spcPts val="0"/>
                        </a:spcAft>
                        <a:buNone/>
                      </a:pPr>
                      <a:r>
                        <a:rPr b="0" lang="es-BO" sz="1600">
                          <a:solidFill>
                            <a:schemeClr val="dk1"/>
                          </a:solidFill>
                        </a:rPr>
                        <a:t>32</a:t>
                      </a:r>
                      <a:endParaRPr b="0" sz="16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6000"/>
                        </a:lnSpc>
                        <a:spcBef>
                          <a:spcPts val="0"/>
                        </a:spcBef>
                        <a:spcAft>
                          <a:spcPts val="0"/>
                        </a:spcAft>
                        <a:buNone/>
                      </a:pPr>
                      <a:r>
                        <a:rPr b="0" lang="es-BO" sz="1600">
                          <a:solidFill>
                            <a:schemeClr val="dk1"/>
                          </a:solidFill>
                        </a:rPr>
                        <a:t>0,2</a:t>
                      </a:r>
                      <a:endParaRPr b="0" sz="16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200025">
                <a:tc>
                  <a:txBody>
                    <a:bodyPr/>
                    <a:lstStyle/>
                    <a:p>
                      <a:pPr indent="0" lvl="0" marL="0" marR="0" rtl="0" algn="ctr">
                        <a:lnSpc>
                          <a:spcPct val="106000"/>
                        </a:lnSpc>
                        <a:spcBef>
                          <a:spcPts val="0"/>
                        </a:spcBef>
                        <a:spcAft>
                          <a:spcPts val="0"/>
                        </a:spcAft>
                        <a:buNone/>
                      </a:pPr>
                      <a:r>
                        <a:rPr b="0" lang="es-BO" sz="1600">
                          <a:solidFill>
                            <a:schemeClr val="dk1"/>
                          </a:solidFill>
                        </a:rPr>
                        <a:t>33</a:t>
                      </a:r>
                      <a:endParaRPr b="0" sz="16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6000"/>
                        </a:lnSpc>
                        <a:spcBef>
                          <a:spcPts val="0"/>
                        </a:spcBef>
                        <a:spcAft>
                          <a:spcPts val="0"/>
                        </a:spcAft>
                        <a:buNone/>
                      </a:pPr>
                      <a:r>
                        <a:rPr b="0" lang="es-BO" sz="1600">
                          <a:solidFill>
                            <a:schemeClr val="dk1"/>
                          </a:solidFill>
                        </a:rPr>
                        <a:t>0,4</a:t>
                      </a:r>
                      <a:endParaRPr b="0" sz="16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200025">
                <a:tc>
                  <a:txBody>
                    <a:bodyPr/>
                    <a:lstStyle/>
                    <a:p>
                      <a:pPr indent="0" lvl="0" marL="0" marR="0" rtl="0" algn="ctr">
                        <a:lnSpc>
                          <a:spcPct val="106000"/>
                        </a:lnSpc>
                        <a:spcBef>
                          <a:spcPts val="0"/>
                        </a:spcBef>
                        <a:spcAft>
                          <a:spcPts val="0"/>
                        </a:spcAft>
                        <a:buNone/>
                      </a:pPr>
                      <a:r>
                        <a:rPr b="0" lang="es-BO" sz="1600">
                          <a:solidFill>
                            <a:schemeClr val="dk1"/>
                          </a:solidFill>
                        </a:rPr>
                        <a:t>35</a:t>
                      </a:r>
                      <a:endParaRPr b="0" sz="16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6000"/>
                        </a:lnSpc>
                        <a:spcBef>
                          <a:spcPts val="0"/>
                        </a:spcBef>
                        <a:spcAft>
                          <a:spcPts val="0"/>
                        </a:spcAft>
                        <a:buNone/>
                      </a:pPr>
                      <a:r>
                        <a:rPr b="0" lang="es-BO" sz="1600">
                          <a:solidFill>
                            <a:schemeClr val="dk1"/>
                          </a:solidFill>
                        </a:rPr>
                        <a:t>0,5</a:t>
                      </a:r>
                      <a:endParaRPr b="0" sz="16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200025">
                <a:tc>
                  <a:txBody>
                    <a:bodyPr/>
                    <a:lstStyle/>
                    <a:p>
                      <a:pPr indent="0" lvl="0" marL="0" marR="0" rtl="0" algn="ctr">
                        <a:lnSpc>
                          <a:spcPct val="106000"/>
                        </a:lnSpc>
                        <a:spcBef>
                          <a:spcPts val="0"/>
                        </a:spcBef>
                        <a:spcAft>
                          <a:spcPts val="0"/>
                        </a:spcAft>
                        <a:buNone/>
                      </a:pPr>
                      <a:r>
                        <a:rPr b="0" lang="es-BO" sz="1600">
                          <a:solidFill>
                            <a:schemeClr val="dk1"/>
                          </a:solidFill>
                        </a:rPr>
                        <a:t>36</a:t>
                      </a:r>
                      <a:endParaRPr b="0" sz="16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6000"/>
                        </a:lnSpc>
                        <a:spcBef>
                          <a:spcPts val="0"/>
                        </a:spcBef>
                        <a:spcAft>
                          <a:spcPts val="0"/>
                        </a:spcAft>
                        <a:buNone/>
                      </a:pPr>
                      <a:r>
                        <a:rPr b="0" lang="es-BO" sz="1600">
                          <a:solidFill>
                            <a:schemeClr val="dk1"/>
                          </a:solidFill>
                        </a:rPr>
                        <a:t>0,6</a:t>
                      </a:r>
                      <a:endParaRPr b="0" sz="16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200025">
                <a:tc>
                  <a:txBody>
                    <a:bodyPr/>
                    <a:lstStyle/>
                    <a:p>
                      <a:pPr indent="0" lvl="0" marL="0" marR="0" rtl="0" algn="ctr">
                        <a:lnSpc>
                          <a:spcPct val="106000"/>
                        </a:lnSpc>
                        <a:spcBef>
                          <a:spcPts val="0"/>
                        </a:spcBef>
                        <a:spcAft>
                          <a:spcPts val="0"/>
                        </a:spcAft>
                        <a:buNone/>
                      </a:pPr>
                      <a:r>
                        <a:rPr b="0" lang="es-BO" sz="1600">
                          <a:solidFill>
                            <a:schemeClr val="dk1"/>
                          </a:solidFill>
                        </a:rPr>
                        <a:t>39</a:t>
                      </a:r>
                      <a:endParaRPr b="0" sz="16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6000"/>
                        </a:lnSpc>
                        <a:spcBef>
                          <a:spcPts val="0"/>
                        </a:spcBef>
                        <a:spcAft>
                          <a:spcPts val="0"/>
                        </a:spcAft>
                        <a:buNone/>
                      </a:pPr>
                      <a:r>
                        <a:rPr b="0" lang="es-BO" sz="1600">
                          <a:solidFill>
                            <a:schemeClr val="dk1"/>
                          </a:solidFill>
                        </a:rPr>
                        <a:t>0,7</a:t>
                      </a:r>
                      <a:endParaRPr b="0" sz="16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200025">
                <a:tc>
                  <a:txBody>
                    <a:bodyPr/>
                    <a:lstStyle/>
                    <a:p>
                      <a:pPr indent="0" lvl="0" marL="0" marR="0" rtl="0" algn="ctr">
                        <a:lnSpc>
                          <a:spcPct val="106000"/>
                        </a:lnSpc>
                        <a:spcBef>
                          <a:spcPts val="0"/>
                        </a:spcBef>
                        <a:spcAft>
                          <a:spcPts val="0"/>
                        </a:spcAft>
                        <a:buNone/>
                      </a:pPr>
                      <a:r>
                        <a:rPr b="0" lang="es-BO" sz="1600">
                          <a:solidFill>
                            <a:schemeClr val="dk1"/>
                          </a:solidFill>
                        </a:rPr>
                        <a:t>42</a:t>
                      </a:r>
                      <a:endParaRPr b="0" sz="16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6000"/>
                        </a:lnSpc>
                        <a:spcBef>
                          <a:spcPts val="0"/>
                        </a:spcBef>
                        <a:spcAft>
                          <a:spcPts val="0"/>
                        </a:spcAft>
                        <a:buNone/>
                      </a:pPr>
                      <a:r>
                        <a:rPr b="0" lang="es-BO" sz="1600">
                          <a:solidFill>
                            <a:schemeClr val="dk1"/>
                          </a:solidFill>
                        </a:rPr>
                        <a:t>0,8</a:t>
                      </a:r>
                      <a:endParaRPr b="0" sz="16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200025">
                <a:tc>
                  <a:txBody>
                    <a:bodyPr/>
                    <a:lstStyle/>
                    <a:p>
                      <a:pPr indent="0" lvl="0" marL="0" marR="0" rtl="0" algn="ctr">
                        <a:lnSpc>
                          <a:spcPct val="106000"/>
                        </a:lnSpc>
                        <a:spcBef>
                          <a:spcPts val="0"/>
                        </a:spcBef>
                        <a:spcAft>
                          <a:spcPts val="0"/>
                        </a:spcAft>
                        <a:buNone/>
                      </a:pPr>
                      <a:r>
                        <a:rPr b="0" lang="es-BO" sz="1600">
                          <a:solidFill>
                            <a:schemeClr val="dk1"/>
                          </a:solidFill>
                        </a:rPr>
                        <a:t>46</a:t>
                      </a:r>
                      <a:endParaRPr b="0" sz="16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6000"/>
                        </a:lnSpc>
                        <a:spcBef>
                          <a:spcPts val="0"/>
                        </a:spcBef>
                        <a:spcAft>
                          <a:spcPts val="0"/>
                        </a:spcAft>
                        <a:buNone/>
                      </a:pPr>
                      <a:r>
                        <a:rPr b="0" lang="es-BO" sz="1600">
                          <a:solidFill>
                            <a:schemeClr val="dk1"/>
                          </a:solidFill>
                        </a:rPr>
                        <a:t>1</a:t>
                      </a:r>
                      <a:endParaRPr b="0" sz="16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200025">
                <a:tc>
                  <a:txBody>
                    <a:bodyPr/>
                    <a:lstStyle/>
                    <a:p>
                      <a:pPr indent="0" lvl="0" marL="0" marR="0" rtl="0" algn="ctr">
                        <a:lnSpc>
                          <a:spcPct val="106000"/>
                        </a:lnSpc>
                        <a:spcBef>
                          <a:spcPts val="0"/>
                        </a:spcBef>
                        <a:spcAft>
                          <a:spcPts val="0"/>
                        </a:spcAft>
                        <a:buNone/>
                      </a:pPr>
                      <a:r>
                        <a:rPr b="0" lang="es-BO" sz="1600">
                          <a:solidFill>
                            <a:schemeClr val="dk1"/>
                          </a:solidFill>
                        </a:rPr>
                        <a:t>50</a:t>
                      </a:r>
                      <a:endParaRPr b="0" sz="16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6000"/>
                        </a:lnSpc>
                        <a:spcBef>
                          <a:spcPts val="0"/>
                        </a:spcBef>
                        <a:spcAft>
                          <a:spcPts val="0"/>
                        </a:spcAft>
                        <a:buNone/>
                      </a:pPr>
                      <a:r>
                        <a:rPr b="0" lang="es-BO" sz="1600">
                          <a:solidFill>
                            <a:schemeClr val="dk1"/>
                          </a:solidFill>
                        </a:rPr>
                        <a:t>1,3</a:t>
                      </a:r>
                      <a:endParaRPr b="0" sz="16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200025">
                <a:tc>
                  <a:txBody>
                    <a:bodyPr/>
                    <a:lstStyle/>
                    <a:p>
                      <a:pPr indent="0" lvl="0" marL="0" marR="0" rtl="0" algn="ctr">
                        <a:lnSpc>
                          <a:spcPct val="106000"/>
                        </a:lnSpc>
                        <a:spcBef>
                          <a:spcPts val="0"/>
                        </a:spcBef>
                        <a:spcAft>
                          <a:spcPts val="0"/>
                        </a:spcAft>
                        <a:buNone/>
                      </a:pPr>
                      <a:r>
                        <a:rPr b="0" lang="es-BO" sz="1600">
                          <a:solidFill>
                            <a:schemeClr val="dk1"/>
                          </a:solidFill>
                        </a:rPr>
                        <a:t>55</a:t>
                      </a:r>
                      <a:endParaRPr b="0" sz="16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6000"/>
                        </a:lnSpc>
                        <a:spcBef>
                          <a:spcPts val="0"/>
                        </a:spcBef>
                        <a:spcAft>
                          <a:spcPts val="0"/>
                        </a:spcAft>
                        <a:buNone/>
                      </a:pPr>
                      <a:r>
                        <a:rPr b="0" lang="es-BO" sz="1600">
                          <a:solidFill>
                            <a:schemeClr val="dk1"/>
                          </a:solidFill>
                        </a:rPr>
                        <a:t>1,5</a:t>
                      </a:r>
                      <a:endParaRPr b="0" sz="16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200025">
                <a:tc>
                  <a:txBody>
                    <a:bodyPr/>
                    <a:lstStyle/>
                    <a:p>
                      <a:pPr indent="0" lvl="0" marL="0" marR="0" rtl="0" algn="ctr">
                        <a:lnSpc>
                          <a:spcPct val="106000"/>
                        </a:lnSpc>
                        <a:spcBef>
                          <a:spcPts val="0"/>
                        </a:spcBef>
                        <a:spcAft>
                          <a:spcPts val="0"/>
                        </a:spcAft>
                        <a:buNone/>
                      </a:pPr>
                      <a:r>
                        <a:rPr b="0" lang="es-BO" sz="1600">
                          <a:solidFill>
                            <a:schemeClr val="dk1"/>
                          </a:solidFill>
                        </a:rPr>
                        <a:t>58</a:t>
                      </a:r>
                      <a:endParaRPr b="0" sz="16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6000"/>
                        </a:lnSpc>
                        <a:spcBef>
                          <a:spcPts val="0"/>
                        </a:spcBef>
                        <a:spcAft>
                          <a:spcPts val="0"/>
                        </a:spcAft>
                        <a:buNone/>
                      </a:pPr>
                      <a:r>
                        <a:rPr b="0" lang="es-BO" sz="1600">
                          <a:solidFill>
                            <a:schemeClr val="dk1"/>
                          </a:solidFill>
                        </a:rPr>
                        <a:t>1,7</a:t>
                      </a:r>
                      <a:endParaRPr b="0" sz="16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200025">
                <a:tc>
                  <a:txBody>
                    <a:bodyPr/>
                    <a:lstStyle/>
                    <a:p>
                      <a:pPr indent="0" lvl="0" marL="0" marR="0" rtl="0" algn="ctr">
                        <a:lnSpc>
                          <a:spcPct val="106000"/>
                        </a:lnSpc>
                        <a:spcBef>
                          <a:spcPts val="0"/>
                        </a:spcBef>
                        <a:spcAft>
                          <a:spcPts val="0"/>
                        </a:spcAft>
                        <a:buNone/>
                      </a:pPr>
                      <a:r>
                        <a:rPr b="0" lang="es-BO" sz="1600">
                          <a:solidFill>
                            <a:schemeClr val="dk1"/>
                          </a:solidFill>
                        </a:rPr>
                        <a:t>60</a:t>
                      </a:r>
                      <a:endParaRPr b="0" sz="16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6000"/>
                        </a:lnSpc>
                        <a:spcBef>
                          <a:spcPts val="0"/>
                        </a:spcBef>
                        <a:spcAft>
                          <a:spcPts val="0"/>
                        </a:spcAft>
                        <a:buNone/>
                      </a:pPr>
                      <a:r>
                        <a:rPr b="0" lang="es-BO" sz="1600">
                          <a:solidFill>
                            <a:schemeClr val="dk1"/>
                          </a:solidFill>
                        </a:rPr>
                        <a:t>1,8</a:t>
                      </a:r>
                      <a:endParaRPr b="0" sz="16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200025">
                <a:tc>
                  <a:txBody>
                    <a:bodyPr/>
                    <a:lstStyle/>
                    <a:p>
                      <a:pPr indent="0" lvl="0" marL="0" marR="0" rtl="0" algn="ctr">
                        <a:lnSpc>
                          <a:spcPct val="106000"/>
                        </a:lnSpc>
                        <a:spcBef>
                          <a:spcPts val="0"/>
                        </a:spcBef>
                        <a:spcAft>
                          <a:spcPts val="0"/>
                        </a:spcAft>
                        <a:buNone/>
                      </a:pPr>
                      <a:r>
                        <a:rPr b="0" lang="es-BO" sz="1600">
                          <a:solidFill>
                            <a:schemeClr val="dk1"/>
                          </a:solidFill>
                        </a:rPr>
                        <a:t>65</a:t>
                      </a:r>
                      <a:endParaRPr b="0" sz="16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6000"/>
                        </a:lnSpc>
                        <a:spcBef>
                          <a:spcPts val="0"/>
                        </a:spcBef>
                        <a:spcAft>
                          <a:spcPts val="0"/>
                        </a:spcAft>
                        <a:buNone/>
                      </a:pPr>
                      <a:r>
                        <a:rPr b="0" lang="es-BO" sz="1600">
                          <a:solidFill>
                            <a:schemeClr val="dk1"/>
                          </a:solidFill>
                        </a:rPr>
                        <a:t>2,1</a:t>
                      </a:r>
                      <a:endParaRPr b="0" sz="16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200025">
                <a:tc>
                  <a:txBody>
                    <a:bodyPr/>
                    <a:lstStyle/>
                    <a:p>
                      <a:pPr indent="0" lvl="0" marL="0" marR="0" rtl="0" algn="ctr">
                        <a:lnSpc>
                          <a:spcPct val="106000"/>
                        </a:lnSpc>
                        <a:spcBef>
                          <a:spcPts val="0"/>
                        </a:spcBef>
                        <a:spcAft>
                          <a:spcPts val="0"/>
                        </a:spcAft>
                        <a:buNone/>
                      </a:pPr>
                      <a:r>
                        <a:rPr b="0" lang="es-BO" sz="1600">
                          <a:solidFill>
                            <a:schemeClr val="dk1"/>
                          </a:solidFill>
                        </a:rPr>
                        <a:t>67</a:t>
                      </a:r>
                      <a:endParaRPr b="0" sz="16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6000"/>
                        </a:lnSpc>
                        <a:spcBef>
                          <a:spcPts val="0"/>
                        </a:spcBef>
                        <a:spcAft>
                          <a:spcPts val="0"/>
                        </a:spcAft>
                        <a:buNone/>
                      </a:pPr>
                      <a:r>
                        <a:rPr b="0" lang="es-BO" sz="1600">
                          <a:solidFill>
                            <a:schemeClr val="dk1"/>
                          </a:solidFill>
                        </a:rPr>
                        <a:t>2,2</a:t>
                      </a:r>
                      <a:endParaRPr b="0" sz="16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615"/>
                                        </p:tgtEl>
                                      </p:cBhvr>
                                    </p:animEffect>
                                    <p:set>
                                      <p:cBhvr>
                                        <p:cTn dur="1" fill="hold">
                                          <p:stCondLst>
                                            <p:cond delay="500"/>
                                          </p:stCondLst>
                                        </p:cTn>
                                        <p:tgtEl>
                                          <p:spTgt spid="615"/>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605"/>
                                        </p:tgtEl>
                                      </p:cBhvr>
                                    </p:animEffect>
                                    <p:set>
                                      <p:cBhvr>
                                        <p:cTn dur="1" fill="hold">
                                          <p:stCondLst>
                                            <p:cond delay="500"/>
                                          </p:stCondLst>
                                        </p:cTn>
                                        <p:tgtEl>
                                          <p:spTgt spid="60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02">
                                            <p:txEl>
                                              <p:pRg end="0" st="0"/>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02">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39"/>
          <p:cNvSpPr txBox="1"/>
          <p:nvPr>
            <p:ph type="title"/>
          </p:nvPr>
        </p:nvSpPr>
        <p:spPr>
          <a:xfrm>
            <a:off x="1498600" y="593130"/>
            <a:ext cx="9385200" cy="939954"/>
          </a:xfrm>
          <a:prstGeom prst="rect">
            <a:avLst/>
          </a:prstGeom>
          <a:noFill/>
          <a:ln>
            <a:noFill/>
          </a:ln>
        </p:spPr>
        <p:txBody>
          <a:bodyPr anchorCtr="0" anchor="t" bIns="121900" lIns="121900" spcFirstLastPara="1" rIns="121900" wrap="square" tIns="121900">
            <a:normAutofit/>
          </a:bodyPr>
          <a:lstStyle/>
          <a:p>
            <a:pPr indent="0" lvl="0" marL="0" rtl="0" algn="l">
              <a:spcBef>
                <a:spcPts val="0"/>
              </a:spcBef>
              <a:spcAft>
                <a:spcPts val="0"/>
              </a:spcAft>
              <a:buClr>
                <a:schemeClr val="dk1"/>
              </a:buClr>
              <a:buSzPts val="2400"/>
              <a:buFont typeface="Calibri"/>
              <a:buNone/>
            </a:pPr>
            <a:r>
              <a:rPr b="1" lang="es-BO" sz="1800"/>
              <a:t>SENSOR DE TEMPERATURA RTD</a:t>
            </a:r>
            <a:endParaRPr b="1" sz="1800"/>
          </a:p>
        </p:txBody>
      </p:sp>
      <p:sp>
        <p:nvSpPr>
          <p:cNvPr id="622" name="Google Shape;622;p39"/>
          <p:cNvSpPr txBox="1"/>
          <p:nvPr>
            <p:ph idx="1" type="body"/>
          </p:nvPr>
        </p:nvSpPr>
        <p:spPr>
          <a:xfrm>
            <a:off x="1498600" y="1049404"/>
            <a:ext cx="5245472" cy="2294743"/>
          </a:xfrm>
          <a:prstGeom prst="rect">
            <a:avLst/>
          </a:prstGeom>
          <a:noFill/>
          <a:ln>
            <a:noFill/>
          </a:ln>
        </p:spPr>
        <p:txBody>
          <a:bodyPr anchorCtr="0" anchor="t" bIns="121900" lIns="121900" spcFirstLastPara="1" rIns="121900" wrap="square" tIns="121900">
            <a:noAutofit/>
          </a:bodyPr>
          <a:lstStyle/>
          <a:p>
            <a:pPr indent="0" lvl="0" marL="0" rtl="0" algn="just">
              <a:lnSpc>
                <a:spcPct val="106000"/>
              </a:lnSpc>
              <a:spcBef>
                <a:spcPts val="800"/>
              </a:spcBef>
              <a:spcAft>
                <a:spcPts val="0"/>
              </a:spcAft>
              <a:buClr>
                <a:schemeClr val="dk1"/>
              </a:buClr>
              <a:buSzPts val="1300"/>
              <a:buNone/>
            </a:pPr>
            <a:r>
              <a:rPr b="1" i="1" lang="es-BO" sz="1600" u="sng">
                <a:latin typeface="Calibri"/>
                <a:ea typeface="Calibri"/>
                <a:cs typeface="Calibri"/>
                <a:sym typeface="Calibri"/>
              </a:rPr>
              <a:t>Principio de funcionamiento</a:t>
            </a:r>
            <a:endParaRPr/>
          </a:p>
          <a:p>
            <a:pPr indent="0" lvl="0" marL="0" rtl="0" algn="just">
              <a:lnSpc>
                <a:spcPct val="106000"/>
              </a:lnSpc>
              <a:spcBef>
                <a:spcPts val="1600"/>
              </a:spcBef>
              <a:spcAft>
                <a:spcPts val="800"/>
              </a:spcAft>
              <a:buClr>
                <a:schemeClr val="dk1"/>
              </a:buClr>
              <a:buSzPts val="1300"/>
              <a:buNone/>
            </a:pPr>
            <a:r>
              <a:rPr lang="es-BO" sz="1600">
                <a:latin typeface="Calibri"/>
                <a:ea typeface="Calibri"/>
                <a:cs typeface="Calibri"/>
                <a:sym typeface="Calibri"/>
              </a:rPr>
              <a:t>Los RTD</a:t>
            </a:r>
            <a:r>
              <a:rPr b="1" lang="es-BO" sz="1600">
                <a:latin typeface="Calibri"/>
                <a:ea typeface="Calibri"/>
                <a:cs typeface="Calibri"/>
                <a:sym typeface="Calibri"/>
              </a:rPr>
              <a:t> </a:t>
            </a:r>
            <a:r>
              <a:rPr lang="es-BO" sz="1600">
                <a:latin typeface="Calibri"/>
                <a:ea typeface="Calibri"/>
                <a:cs typeface="Calibri"/>
                <a:sym typeface="Calibri"/>
              </a:rPr>
              <a:t>son sensores de temperatura resistivos. En ellos se aprovecha el efecto que tiene la temperatura en la conducción de los electrones para que, ante un aumento de temperatura, haya un aumento de la resistencia eléctrica.</a:t>
            </a:r>
            <a:endParaRPr sz="1600"/>
          </a:p>
        </p:txBody>
      </p:sp>
      <p:sp>
        <p:nvSpPr>
          <p:cNvPr id="623" name="Google Shape;623;p39"/>
          <p:cNvSpPr txBox="1"/>
          <p:nvPr>
            <p:ph idx="4294967295" type="body"/>
          </p:nvPr>
        </p:nvSpPr>
        <p:spPr>
          <a:xfrm>
            <a:off x="7055218" y="1063107"/>
            <a:ext cx="4681525" cy="2871788"/>
          </a:xfrm>
          <a:prstGeom prst="rect">
            <a:avLst/>
          </a:prstGeom>
          <a:noFill/>
          <a:ln>
            <a:noFill/>
          </a:ln>
        </p:spPr>
        <p:txBody>
          <a:bodyPr anchorCtr="0" anchor="t" bIns="121900" lIns="121900" spcFirstLastPara="1" rIns="121900" wrap="square" tIns="121900">
            <a:noAutofit/>
          </a:bodyPr>
          <a:lstStyle/>
          <a:p>
            <a:pPr indent="0" lvl="0" marL="0" rtl="0" algn="just">
              <a:lnSpc>
                <a:spcPct val="80000"/>
              </a:lnSpc>
              <a:spcBef>
                <a:spcPts val="800"/>
              </a:spcBef>
              <a:spcAft>
                <a:spcPts val="0"/>
              </a:spcAft>
              <a:buClr>
                <a:schemeClr val="dk1"/>
              </a:buClr>
              <a:buSzPts val="935"/>
              <a:buNone/>
            </a:pPr>
            <a:r>
              <a:rPr b="1" i="1" lang="es-BO" sz="1600" u="sng">
                <a:latin typeface="Calibri"/>
                <a:ea typeface="Calibri"/>
                <a:cs typeface="Calibri"/>
                <a:sym typeface="Calibri"/>
              </a:rPr>
              <a:t>Características OMNIGRAD T TST487:</a:t>
            </a:r>
            <a:endParaRPr b="1" i="1" sz="1600" u="sng">
              <a:latin typeface="Calibri"/>
              <a:ea typeface="Calibri"/>
              <a:cs typeface="Calibri"/>
              <a:sym typeface="Calibri"/>
            </a:endParaRPr>
          </a:p>
          <a:p>
            <a:pPr indent="-342900" lvl="0" marL="342900" rtl="0" algn="just">
              <a:lnSpc>
                <a:spcPct val="80000"/>
              </a:lnSpc>
              <a:spcBef>
                <a:spcPts val="800"/>
              </a:spcBef>
              <a:spcAft>
                <a:spcPts val="0"/>
              </a:spcAft>
              <a:buClr>
                <a:schemeClr val="dk1"/>
              </a:buClr>
              <a:buSzPts val="1545"/>
              <a:buFont typeface="Arial"/>
              <a:buChar char="➢"/>
            </a:pPr>
            <a:r>
              <a:rPr lang="es-BO" sz="1600">
                <a:latin typeface="Calibri"/>
                <a:ea typeface="Calibri"/>
                <a:cs typeface="Calibri"/>
                <a:sym typeface="Calibri"/>
              </a:rPr>
              <a:t>Resistencia de platino, 1 x Pt100 (100 Ω°C)</a:t>
            </a:r>
            <a:endParaRPr sz="1600">
              <a:latin typeface="Calibri"/>
              <a:ea typeface="Calibri"/>
              <a:cs typeface="Calibri"/>
              <a:sym typeface="Calibri"/>
            </a:endParaRPr>
          </a:p>
          <a:p>
            <a:pPr indent="-342900" lvl="0" marL="342900" rtl="0" algn="just">
              <a:lnSpc>
                <a:spcPct val="80000"/>
              </a:lnSpc>
              <a:spcBef>
                <a:spcPts val="320"/>
              </a:spcBef>
              <a:spcAft>
                <a:spcPts val="0"/>
              </a:spcAft>
              <a:buClr>
                <a:schemeClr val="dk1"/>
              </a:buClr>
              <a:buSzPts val="1545"/>
              <a:buFont typeface="Arial"/>
              <a:buChar char="➢"/>
            </a:pPr>
            <a:r>
              <a:rPr lang="es-BO" sz="1600">
                <a:latin typeface="Calibri"/>
                <a:ea typeface="Calibri"/>
                <a:cs typeface="Calibri"/>
                <a:sym typeface="Calibri"/>
              </a:rPr>
              <a:t>Conexión a cuatro hilos</a:t>
            </a:r>
            <a:endParaRPr sz="1600">
              <a:latin typeface="Calibri"/>
              <a:ea typeface="Calibri"/>
              <a:cs typeface="Calibri"/>
              <a:sym typeface="Calibri"/>
            </a:endParaRPr>
          </a:p>
          <a:p>
            <a:pPr indent="-342900" lvl="0" marL="342900" rtl="0" algn="just">
              <a:lnSpc>
                <a:spcPct val="80000"/>
              </a:lnSpc>
              <a:spcBef>
                <a:spcPts val="320"/>
              </a:spcBef>
              <a:spcAft>
                <a:spcPts val="0"/>
              </a:spcAft>
              <a:buClr>
                <a:schemeClr val="dk1"/>
              </a:buClr>
              <a:buSzPts val="1545"/>
              <a:buFont typeface="Arial"/>
              <a:buChar char="➢"/>
            </a:pPr>
            <a:r>
              <a:rPr lang="es-BO" sz="1600">
                <a:latin typeface="Calibri"/>
                <a:ea typeface="Calibri"/>
                <a:cs typeface="Calibri"/>
                <a:sym typeface="Calibri"/>
              </a:rPr>
              <a:t>Temperatura de trabajo: -50°C a +300°C</a:t>
            </a:r>
            <a:endParaRPr sz="1600">
              <a:latin typeface="Calibri"/>
              <a:ea typeface="Calibri"/>
              <a:cs typeface="Calibri"/>
              <a:sym typeface="Calibri"/>
            </a:endParaRPr>
          </a:p>
          <a:p>
            <a:pPr indent="0" lvl="0" marL="0" rtl="0" algn="just">
              <a:lnSpc>
                <a:spcPct val="86000"/>
              </a:lnSpc>
              <a:spcBef>
                <a:spcPts val="800"/>
              </a:spcBef>
              <a:spcAft>
                <a:spcPts val="800"/>
              </a:spcAft>
              <a:buClr>
                <a:schemeClr val="dk1"/>
              </a:buClr>
              <a:buSzPts val="935"/>
              <a:buNone/>
            </a:pPr>
            <a:r>
              <a:rPr lang="es-BO" sz="1600">
                <a:latin typeface="Calibri"/>
                <a:ea typeface="Calibri"/>
                <a:cs typeface="Calibri"/>
                <a:sym typeface="Calibri"/>
              </a:rPr>
              <a:t>Por este sensor se debe hacer pasar una cierta corriente I por el elemento sensor de modo de poder medir su resistencia. Esta corriente I la suministra el controlador de temperatura.</a:t>
            </a:r>
            <a:endParaRPr sz="1600">
              <a:latin typeface="Calibri"/>
              <a:ea typeface="Calibri"/>
              <a:cs typeface="Calibri"/>
              <a:sym typeface="Calibri"/>
            </a:endParaRPr>
          </a:p>
        </p:txBody>
      </p:sp>
      <p:pic>
        <p:nvPicPr>
          <p:cNvPr descr="RTD Thermometer TST487 | Endress+Hauser" id="624" name="Google Shape;624;p39"/>
          <p:cNvPicPr preferRelativeResize="0"/>
          <p:nvPr/>
        </p:nvPicPr>
        <p:blipFill rotWithShape="1">
          <a:blip r:embed="rId3">
            <a:alphaModFix/>
          </a:blip>
          <a:srcRect b="0" l="0" r="0" t="0"/>
          <a:stretch/>
        </p:blipFill>
        <p:spPr>
          <a:xfrm rot="5400000">
            <a:off x="2295787" y="2404677"/>
            <a:ext cx="3081121" cy="4121656"/>
          </a:xfrm>
          <a:prstGeom prst="rect">
            <a:avLst/>
          </a:prstGeom>
          <a:noFill/>
          <a:ln>
            <a:noFill/>
          </a:ln>
        </p:spPr>
      </p:pic>
      <p:grpSp>
        <p:nvGrpSpPr>
          <p:cNvPr id="625" name="Google Shape;625;p39"/>
          <p:cNvGrpSpPr/>
          <p:nvPr/>
        </p:nvGrpSpPr>
        <p:grpSpPr>
          <a:xfrm>
            <a:off x="6984972" y="3437736"/>
            <a:ext cx="4992672" cy="2568330"/>
            <a:chOff x="7055217" y="3437736"/>
            <a:chExt cx="4681525" cy="2151504"/>
          </a:xfrm>
        </p:grpSpPr>
        <p:pic>
          <p:nvPicPr>
            <p:cNvPr id="626" name="Google Shape;626;p39"/>
            <p:cNvPicPr preferRelativeResize="0"/>
            <p:nvPr/>
          </p:nvPicPr>
          <p:blipFill rotWithShape="1">
            <a:blip r:embed="rId4">
              <a:alphaModFix/>
            </a:blip>
            <a:srcRect b="-309" l="25927" r="26591" t="61517"/>
            <a:stretch/>
          </p:blipFill>
          <p:spPr>
            <a:xfrm>
              <a:off x="7055217" y="3437736"/>
              <a:ext cx="4681525" cy="2149869"/>
            </a:xfrm>
            <a:prstGeom prst="rect">
              <a:avLst/>
            </a:prstGeom>
            <a:noFill/>
            <a:ln>
              <a:noFill/>
            </a:ln>
          </p:spPr>
        </p:pic>
        <p:sp>
          <p:nvSpPr>
            <p:cNvPr id="627" name="Google Shape;627;p39"/>
            <p:cNvSpPr/>
            <p:nvPr/>
          </p:nvSpPr>
          <p:spPr>
            <a:xfrm>
              <a:off x="9912424" y="5424857"/>
              <a:ext cx="576064" cy="164383"/>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BO" sz="1100">
                  <a:solidFill>
                    <a:schemeClr val="dk1"/>
                  </a:solidFill>
                  <a:latin typeface="Calibri"/>
                  <a:ea typeface="Calibri"/>
                  <a:cs typeface="Calibri"/>
                  <a:sym typeface="Calibri"/>
                </a:rPr>
                <a:t>blanco</a:t>
              </a:r>
              <a:endParaRPr/>
            </a:p>
          </p:txBody>
        </p:sp>
        <p:sp>
          <p:nvSpPr>
            <p:cNvPr id="628" name="Google Shape;628;p39"/>
            <p:cNvSpPr/>
            <p:nvPr/>
          </p:nvSpPr>
          <p:spPr>
            <a:xfrm>
              <a:off x="9955162" y="4797152"/>
              <a:ext cx="576064" cy="164383"/>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BO" sz="1100">
                  <a:solidFill>
                    <a:schemeClr val="dk1"/>
                  </a:solidFill>
                  <a:latin typeface="Calibri"/>
                  <a:ea typeface="Calibri"/>
                  <a:cs typeface="Calibri"/>
                  <a:sym typeface="Calibri"/>
                </a:rPr>
                <a:t>blanco</a:t>
              </a:r>
              <a:endParaRPr/>
            </a:p>
          </p:txBody>
        </p:sp>
      </p:grpSp>
      <p:sp>
        <p:nvSpPr>
          <p:cNvPr id="629" name="Google Shape;629;p39"/>
          <p:cNvSpPr txBox="1"/>
          <p:nvPr/>
        </p:nvSpPr>
        <p:spPr>
          <a:xfrm>
            <a:off x="2357140" y="5888425"/>
            <a:ext cx="3528391"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s-BO" sz="1800">
                <a:solidFill>
                  <a:schemeClr val="dk1"/>
                </a:solidFill>
                <a:latin typeface="Calibri"/>
                <a:ea typeface="Calibri"/>
                <a:cs typeface="Calibri"/>
                <a:sym typeface="Calibri"/>
              </a:rPr>
              <a:t>Sensor de temperatura RTD</a:t>
            </a:r>
            <a:endParaRPr/>
          </a:p>
        </p:txBody>
      </p:sp>
      <p:sp>
        <p:nvSpPr>
          <p:cNvPr id="630" name="Google Shape;630;p39"/>
          <p:cNvSpPr txBox="1"/>
          <p:nvPr/>
        </p:nvSpPr>
        <p:spPr>
          <a:xfrm>
            <a:off x="7717112" y="6095990"/>
            <a:ext cx="3923504"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s-BO" sz="1800">
                <a:solidFill>
                  <a:schemeClr val="dk1"/>
                </a:solidFill>
                <a:latin typeface="Calibri"/>
                <a:ea typeface="Calibri"/>
                <a:cs typeface="Calibri"/>
                <a:sym typeface="Calibri"/>
              </a:rPr>
              <a:t>Conexión a cuatro hilos</a:t>
            </a:r>
            <a:endParaRPr/>
          </a:p>
        </p:txBody>
      </p:sp>
    </p:spTree>
  </p:cSld>
  <p:clrMapOvr>
    <a:masterClrMapping/>
  </p:clrMapOvr>
  <p:transition spd="slow">
    <p:push/>
  </p:transition>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grpSp>
        <p:nvGrpSpPr>
          <p:cNvPr id="636" name="Google Shape;636;p40"/>
          <p:cNvGrpSpPr/>
          <p:nvPr/>
        </p:nvGrpSpPr>
        <p:grpSpPr>
          <a:xfrm>
            <a:off x="820561" y="2093126"/>
            <a:ext cx="5472608" cy="3168352"/>
            <a:chOff x="7055217" y="3437736"/>
            <a:chExt cx="4681525" cy="2151504"/>
          </a:xfrm>
        </p:grpSpPr>
        <p:pic>
          <p:nvPicPr>
            <p:cNvPr id="637" name="Google Shape;637;p40"/>
            <p:cNvPicPr preferRelativeResize="0"/>
            <p:nvPr/>
          </p:nvPicPr>
          <p:blipFill rotWithShape="1">
            <a:blip r:embed="rId3">
              <a:alphaModFix/>
            </a:blip>
            <a:srcRect b="-309" l="25927" r="26591" t="61517"/>
            <a:stretch/>
          </p:blipFill>
          <p:spPr>
            <a:xfrm>
              <a:off x="7055217" y="3437736"/>
              <a:ext cx="4681525" cy="2149869"/>
            </a:xfrm>
            <a:prstGeom prst="rect">
              <a:avLst/>
            </a:prstGeom>
            <a:noFill/>
            <a:ln>
              <a:noFill/>
            </a:ln>
          </p:spPr>
        </p:pic>
        <p:sp>
          <p:nvSpPr>
            <p:cNvPr id="638" name="Google Shape;638;p40"/>
            <p:cNvSpPr/>
            <p:nvPr/>
          </p:nvSpPr>
          <p:spPr>
            <a:xfrm>
              <a:off x="9912424" y="5424857"/>
              <a:ext cx="576064" cy="164383"/>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BO" sz="1100">
                  <a:solidFill>
                    <a:schemeClr val="dk1"/>
                  </a:solidFill>
                  <a:latin typeface="Calibri"/>
                  <a:ea typeface="Calibri"/>
                  <a:cs typeface="Calibri"/>
                  <a:sym typeface="Calibri"/>
                </a:rPr>
                <a:t>blanco</a:t>
              </a:r>
              <a:endParaRPr/>
            </a:p>
          </p:txBody>
        </p:sp>
        <p:sp>
          <p:nvSpPr>
            <p:cNvPr id="639" name="Google Shape;639;p40"/>
            <p:cNvSpPr/>
            <p:nvPr/>
          </p:nvSpPr>
          <p:spPr>
            <a:xfrm>
              <a:off x="9955162" y="4797152"/>
              <a:ext cx="576064" cy="164383"/>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BO" sz="1100">
                  <a:solidFill>
                    <a:schemeClr val="dk1"/>
                  </a:solidFill>
                  <a:latin typeface="Calibri"/>
                  <a:ea typeface="Calibri"/>
                  <a:cs typeface="Calibri"/>
                  <a:sym typeface="Calibri"/>
                </a:rPr>
                <a:t>blanco</a:t>
              </a:r>
              <a:endParaRPr/>
            </a:p>
          </p:txBody>
        </p:sp>
      </p:grpSp>
      <p:sp>
        <p:nvSpPr>
          <p:cNvPr id="640" name="Google Shape;640;p40"/>
          <p:cNvSpPr txBox="1"/>
          <p:nvPr/>
        </p:nvSpPr>
        <p:spPr>
          <a:xfrm>
            <a:off x="1127448" y="370393"/>
            <a:ext cx="9385200" cy="694813"/>
          </a:xfrm>
          <a:prstGeom prst="rect">
            <a:avLst/>
          </a:prstGeom>
          <a:noFill/>
          <a:ln>
            <a:noFill/>
          </a:ln>
        </p:spPr>
        <p:txBody>
          <a:bodyPr anchorCtr="0" anchor="t" bIns="121900" lIns="121900" spcFirstLastPara="1" rIns="121900" wrap="square" tIns="121900">
            <a:normAutofit/>
          </a:bodyPr>
          <a:lstStyle/>
          <a:p>
            <a:pPr indent="0" lvl="0" marL="0" marR="0" rtl="0" algn="l">
              <a:spcBef>
                <a:spcPts val="0"/>
              </a:spcBef>
              <a:spcAft>
                <a:spcPts val="0"/>
              </a:spcAft>
              <a:buClr>
                <a:schemeClr val="dk1"/>
              </a:buClr>
              <a:buSzPts val="2400"/>
              <a:buFont typeface="Calibri"/>
              <a:buNone/>
            </a:pPr>
            <a:r>
              <a:rPr b="1" i="1" lang="es-BO" sz="1800" u="sng">
                <a:solidFill>
                  <a:schemeClr val="dk1"/>
                </a:solidFill>
                <a:latin typeface="Calibri"/>
                <a:ea typeface="Calibri"/>
                <a:cs typeface="Calibri"/>
                <a:sym typeface="Calibri"/>
              </a:rPr>
              <a:t>Conexiones del sensor de temperatura RTD al Controlador de Temperatura</a:t>
            </a:r>
            <a:endParaRPr b="1" i="1" sz="1800" u="sng">
              <a:solidFill>
                <a:schemeClr val="dk1"/>
              </a:solidFill>
              <a:latin typeface="Calibri"/>
              <a:ea typeface="Calibri"/>
              <a:cs typeface="Calibri"/>
              <a:sym typeface="Calibri"/>
            </a:endParaRPr>
          </a:p>
        </p:txBody>
      </p:sp>
      <p:grpSp>
        <p:nvGrpSpPr>
          <p:cNvPr id="641" name="Google Shape;641;p40"/>
          <p:cNvGrpSpPr/>
          <p:nvPr/>
        </p:nvGrpSpPr>
        <p:grpSpPr>
          <a:xfrm>
            <a:off x="6558502" y="947529"/>
            <a:ext cx="5524325" cy="5658757"/>
            <a:chOff x="6558502" y="748526"/>
            <a:chExt cx="5524325" cy="5658757"/>
          </a:xfrm>
        </p:grpSpPr>
        <p:grpSp>
          <p:nvGrpSpPr>
            <p:cNvPr id="642" name="Google Shape;642;p40"/>
            <p:cNvGrpSpPr/>
            <p:nvPr/>
          </p:nvGrpSpPr>
          <p:grpSpPr>
            <a:xfrm>
              <a:off x="6558502" y="748526"/>
              <a:ext cx="5524325" cy="5658757"/>
              <a:chOff x="6241361" y="1225515"/>
              <a:chExt cx="5524325" cy="5658757"/>
            </a:xfrm>
          </p:grpSpPr>
          <p:grpSp>
            <p:nvGrpSpPr>
              <p:cNvPr id="643" name="Google Shape;643;p40"/>
              <p:cNvGrpSpPr/>
              <p:nvPr/>
            </p:nvGrpSpPr>
            <p:grpSpPr>
              <a:xfrm>
                <a:off x="6282915" y="1225515"/>
                <a:ext cx="5482771" cy="5279006"/>
                <a:chOff x="6282915" y="1225515"/>
                <a:chExt cx="5482771" cy="5279006"/>
              </a:xfrm>
            </p:grpSpPr>
            <p:grpSp>
              <p:nvGrpSpPr>
                <p:cNvPr id="644" name="Google Shape;644;p40"/>
                <p:cNvGrpSpPr/>
                <p:nvPr/>
              </p:nvGrpSpPr>
              <p:grpSpPr>
                <a:xfrm>
                  <a:off x="6282915" y="1225515"/>
                  <a:ext cx="4155975" cy="5279006"/>
                  <a:chOff x="6282915" y="1225515"/>
                  <a:chExt cx="4155975" cy="5279006"/>
                </a:xfrm>
              </p:grpSpPr>
              <p:pic>
                <p:nvPicPr>
                  <p:cNvPr id="645" name="Google Shape;645;p40"/>
                  <p:cNvPicPr preferRelativeResize="0"/>
                  <p:nvPr/>
                </p:nvPicPr>
                <p:blipFill rotWithShape="1">
                  <a:blip r:embed="rId4">
                    <a:alphaModFix/>
                  </a:blip>
                  <a:srcRect b="56828" l="18501" r="55249" t="0"/>
                  <a:stretch/>
                </p:blipFill>
                <p:spPr>
                  <a:xfrm rot="5400000">
                    <a:off x="5645995" y="1862435"/>
                    <a:ext cx="5279006" cy="4005166"/>
                  </a:xfrm>
                  <a:prstGeom prst="rect">
                    <a:avLst/>
                  </a:prstGeom>
                  <a:noFill/>
                  <a:ln>
                    <a:noFill/>
                  </a:ln>
                </p:spPr>
              </p:pic>
              <p:grpSp>
                <p:nvGrpSpPr>
                  <p:cNvPr id="646" name="Google Shape;646;p40"/>
                  <p:cNvGrpSpPr/>
                  <p:nvPr/>
                </p:nvGrpSpPr>
                <p:grpSpPr>
                  <a:xfrm>
                    <a:off x="7842360" y="3635744"/>
                    <a:ext cx="2596530" cy="1579552"/>
                    <a:chOff x="7842360" y="3635744"/>
                    <a:chExt cx="2596530" cy="1579552"/>
                  </a:xfrm>
                </p:grpSpPr>
                <p:cxnSp>
                  <p:nvCxnSpPr>
                    <p:cNvPr id="647" name="Google Shape;647;p40"/>
                    <p:cNvCxnSpPr>
                      <a:stCxn id="648" idx="1"/>
                      <a:endCxn id="649" idx="6"/>
                    </p:cNvCxnSpPr>
                    <p:nvPr/>
                  </p:nvCxnSpPr>
                  <p:spPr>
                    <a:xfrm flipH="1">
                      <a:off x="8552977" y="3860924"/>
                      <a:ext cx="1866900" cy="66600"/>
                    </a:xfrm>
                    <a:prstGeom prst="straightConnector1">
                      <a:avLst/>
                    </a:prstGeom>
                    <a:noFill/>
                    <a:ln cap="flat" cmpd="sng" w="38100">
                      <a:solidFill>
                        <a:srgbClr val="FFFF00"/>
                      </a:solidFill>
                      <a:prstDash val="solid"/>
                      <a:round/>
                      <a:headEnd len="sm" w="sm" type="none"/>
                      <a:tailEnd len="med" w="med" type="triangle"/>
                    </a:ln>
                    <a:effectLst>
                      <a:outerShdw blurRad="40000" rotWithShape="0" dir="5400000" dist="23000">
                        <a:srgbClr val="000000">
                          <a:alpha val="34901"/>
                        </a:srgbClr>
                      </a:outerShdw>
                    </a:effectLst>
                  </p:spPr>
                </p:cxnSp>
                <p:cxnSp>
                  <p:nvCxnSpPr>
                    <p:cNvPr id="650" name="Google Shape;650;p40"/>
                    <p:cNvCxnSpPr>
                      <a:stCxn id="651" idx="1"/>
                      <a:endCxn id="652" idx="6"/>
                    </p:cNvCxnSpPr>
                    <p:nvPr/>
                  </p:nvCxnSpPr>
                  <p:spPr>
                    <a:xfrm rot="10800000">
                      <a:off x="8501190" y="4898020"/>
                      <a:ext cx="1937700" cy="23400"/>
                    </a:xfrm>
                    <a:prstGeom prst="straightConnector1">
                      <a:avLst/>
                    </a:prstGeom>
                    <a:noFill/>
                    <a:ln cap="flat" cmpd="sng" w="38100">
                      <a:solidFill>
                        <a:schemeClr val="dk1"/>
                      </a:solidFill>
                      <a:prstDash val="solid"/>
                      <a:round/>
                      <a:headEnd len="sm" w="sm" type="none"/>
                      <a:tailEnd len="med" w="med" type="triangle"/>
                    </a:ln>
                    <a:effectLst>
                      <a:outerShdw blurRad="40000" rotWithShape="0" dir="5400000" dist="23000">
                        <a:srgbClr val="000000">
                          <a:alpha val="34901"/>
                        </a:srgbClr>
                      </a:outerShdw>
                    </a:effectLst>
                  </p:spPr>
                </p:cxnSp>
                <p:sp>
                  <p:nvSpPr>
                    <p:cNvPr id="649" name="Google Shape;649;p40"/>
                    <p:cNvSpPr/>
                    <p:nvPr/>
                  </p:nvSpPr>
                  <p:spPr>
                    <a:xfrm>
                      <a:off x="7894059" y="3635744"/>
                      <a:ext cx="658815" cy="583840"/>
                    </a:xfrm>
                    <a:prstGeom prst="ellipse">
                      <a:avLst/>
                    </a:prstGeom>
                    <a:noFill/>
                    <a:ln cap="flat" cmpd="sng" w="28575">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3"/>
                        </a:solidFill>
                        <a:latin typeface="Calibri"/>
                        <a:ea typeface="Calibri"/>
                        <a:cs typeface="Calibri"/>
                        <a:sym typeface="Calibri"/>
                      </a:endParaRPr>
                    </a:p>
                  </p:txBody>
                </p:sp>
                <p:sp>
                  <p:nvSpPr>
                    <p:cNvPr id="652" name="Google Shape;652;p40"/>
                    <p:cNvSpPr/>
                    <p:nvPr/>
                  </p:nvSpPr>
                  <p:spPr>
                    <a:xfrm>
                      <a:off x="7842360" y="4580944"/>
                      <a:ext cx="658815" cy="634352"/>
                    </a:xfrm>
                    <a:prstGeom prst="ellipse">
                      <a:avLst/>
                    </a:prstGeom>
                    <a:no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3"/>
                        </a:solidFill>
                        <a:latin typeface="Calibri"/>
                        <a:ea typeface="Calibri"/>
                        <a:cs typeface="Calibri"/>
                        <a:sym typeface="Calibri"/>
                      </a:endParaRPr>
                    </a:p>
                  </p:txBody>
                </p:sp>
              </p:grpSp>
            </p:grpSp>
            <p:sp>
              <p:nvSpPr>
                <p:cNvPr id="648" name="Google Shape;648;p40"/>
                <p:cNvSpPr txBox="1"/>
                <p:nvPr/>
              </p:nvSpPr>
              <p:spPr>
                <a:xfrm>
                  <a:off x="10419877" y="3568536"/>
                  <a:ext cx="1326796"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BO" sz="1600">
                      <a:solidFill>
                        <a:schemeClr val="dk1"/>
                      </a:solidFill>
                      <a:latin typeface="Calibri"/>
                      <a:ea typeface="Calibri"/>
                      <a:cs typeface="Calibri"/>
                      <a:sym typeface="Calibri"/>
                    </a:rPr>
                    <a:t>Cable rojo</a:t>
                  </a:r>
                  <a:endParaRPr/>
                </a:p>
                <a:p>
                  <a:pPr indent="0" lvl="0" marL="0" marR="0" rtl="0" algn="ctr">
                    <a:spcBef>
                      <a:spcPts val="0"/>
                    </a:spcBef>
                    <a:spcAft>
                      <a:spcPts val="0"/>
                    </a:spcAft>
                    <a:buNone/>
                  </a:pPr>
                  <a:r>
                    <a:rPr lang="es-BO" sz="1600">
                      <a:solidFill>
                        <a:schemeClr val="dk1"/>
                      </a:solidFill>
                      <a:latin typeface="Calibri"/>
                      <a:ea typeface="Calibri"/>
                      <a:cs typeface="Calibri"/>
                      <a:sym typeface="Calibri"/>
                    </a:rPr>
                    <a:t>302</a:t>
                  </a:r>
                  <a:endParaRPr/>
                </a:p>
              </p:txBody>
            </p:sp>
            <p:sp>
              <p:nvSpPr>
                <p:cNvPr id="651" name="Google Shape;651;p40"/>
                <p:cNvSpPr txBox="1"/>
                <p:nvPr/>
              </p:nvSpPr>
              <p:spPr>
                <a:xfrm>
                  <a:off x="10438890" y="4629032"/>
                  <a:ext cx="1326796"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BO" sz="1600">
                      <a:solidFill>
                        <a:schemeClr val="dk1"/>
                      </a:solidFill>
                      <a:latin typeface="Calibri"/>
                      <a:ea typeface="Calibri"/>
                      <a:cs typeface="Calibri"/>
                      <a:sym typeface="Calibri"/>
                    </a:rPr>
                    <a:t>Nodo blanco</a:t>
                  </a:r>
                  <a:endParaRPr/>
                </a:p>
                <a:p>
                  <a:pPr indent="0" lvl="0" marL="0" marR="0" rtl="0" algn="ctr">
                    <a:spcBef>
                      <a:spcPts val="0"/>
                    </a:spcBef>
                    <a:spcAft>
                      <a:spcPts val="0"/>
                    </a:spcAft>
                    <a:buNone/>
                  </a:pPr>
                  <a:r>
                    <a:rPr lang="es-BO" sz="1600">
                      <a:solidFill>
                        <a:schemeClr val="dk1"/>
                      </a:solidFill>
                      <a:latin typeface="Calibri"/>
                      <a:ea typeface="Calibri"/>
                      <a:cs typeface="Calibri"/>
                      <a:sym typeface="Calibri"/>
                    </a:rPr>
                    <a:t>301</a:t>
                  </a:r>
                  <a:endParaRPr/>
                </a:p>
              </p:txBody>
            </p:sp>
          </p:grpSp>
          <p:sp>
            <p:nvSpPr>
              <p:cNvPr id="653" name="Google Shape;653;p40"/>
              <p:cNvSpPr txBox="1"/>
              <p:nvPr/>
            </p:nvSpPr>
            <p:spPr>
              <a:xfrm>
                <a:off x="6241361" y="6514940"/>
                <a:ext cx="383824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s-BO" sz="1800">
                    <a:solidFill>
                      <a:schemeClr val="dk1"/>
                    </a:solidFill>
                    <a:latin typeface="Calibri"/>
                    <a:ea typeface="Calibri"/>
                    <a:cs typeface="Calibri"/>
                    <a:sym typeface="Calibri"/>
                  </a:rPr>
                  <a:t>Parte posterior del panel frontal</a:t>
                </a:r>
                <a:endParaRPr/>
              </a:p>
            </p:txBody>
          </p:sp>
        </p:grpSp>
        <p:cxnSp>
          <p:nvCxnSpPr>
            <p:cNvPr id="654" name="Google Shape;654;p40"/>
            <p:cNvCxnSpPr>
              <a:stCxn id="655" idx="1"/>
              <a:endCxn id="656" idx="6"/>
            </p:cNvCxnSpPr>
            <p:nvPr/>
          </p:nvCxnSpPr>
          <p:spPr>
            <a:xfrm rot="10800000">
              <a:off x="8818331" y="5458227"/>
              <a:ext cx="1937700" cy="23400"/>
            </a:xfrm>
            <a:prstGeom prst="straightConnector1">
              <a:avLst/>
            </a:prstGeom>
            <a:noFill/>
            <a:ln cap="flat" cmpd="sng" w="38100">
              <a:solidFill>
                <a:srgbClr val="DDD9C3"/>
              </a:solidFill>
              <a:prstDash val="solid"/>
              <a:round/>
              <a:headEnd len="sm" w="sm" type="none"/>
              <a:tailEnd len="med" w="med" type="triangle"/>
            </a:ln>
            <a:effectLst>
              <a:outerShdw blurRad="40000" rotWithShape="0" dir="5400000" dist="23000">
                <a:srgbClr val="000000">
                  <a:alpha val="34901"/>
                </a:srgbClr>
              </a:outerShdw>
            </a:effectLst>
          </p:spPr>
        </p:cxnSp>
        <p:sp>
          <p:nvSpPr>
            <p:cNvPr id="656" name="Google Shape;656;p40"/>
            <p:cNvSpPr/>
            <p:nvPr/>
          </p:nvSpPr>
          <p:spPr>
            <a:xfrm>
              <a:off x="8159501" y="5141151"/>
              <a:ext cx="658815" cy="634352"/>
            </a:xfrm>
            <a:prstGeom prst="ellipse">
              <a:avLst/>
            </a:prstGeom>
            <a:noFill/>
            <a:ln cap="flat" cmpd="sng" w="28575">
              <a:solidFill>
                <a:srgbClr val="DDD9C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3"/>
                </a:solidFill>
                <a:latin typeface="Calibri"/>
                <a:ea typeface="Calibri"/>
                <a:cs typeface="Calibri"/>
                <a:sym typeface="Calibri"/>
              </a:endParaRPr>
            </a:p>
          </p:txBody>
        </p:sp>
        <p:sp>
          <p:nvSpPr>
            <p:cNvPr id="655" name="Google Shape;655;p40"/>
            <p:cNvSpPr txBox="1"/>
            <p:nvPr/>
          </p:nvSpPr>
          <p:spPr>
            <a:xfrm>
              <a:off x="10756031" y="5189239"/>
              <a:ext cx="1326796"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BO" sz="1600">
                  <a:solidFill>
                    <a:schemeClr val="dk1"/>
                  </a:solidFill>
                  <a:latin typeface="Calibri"/>
                  <a:ea typeface="Calibri"/>
                  <a:cs typeface="Calibri"/>
                  <a:sym typeface="Calibri"/>
                </a:rPr>
                <a:t>Nodo blanco</a:t>
              </a:r>
              <a:endParaRPr/>
            </a:p>
            <a:p>
              <a:pPr indent="0" lvl="0" marL="0" marR="0" rtl="0" algn="ctr">
                <a:spcBef>
                  <a:spcPts val="0"/>
                </a:spcBef>
                <a:spcAft>
                  <a:spcPts val="0"/>
                </a:spcAft>
                <a:buNone/>
              </a:pPr>
              <a:r>
                <a:rPr lang="es-BO" sz="1600">
                  <a:solidFill>
                    <a:schemeClr val="dk1"/>
                  </a:solidFill>
                  <a:latin typeface="Calibri"/>
                  <a:ea typeface="Calibri"/>
                  <a:cs typeface="Calibri"/>
                  <a:sym typeface="Calibri"/>
                </a:rPr>
                <a:t>300</a:t>
              </a:r>
              <a:endParaRPr/>
            </a:p>
          </p:txBody>
        </p:sp>
      </p:grpSp>
      <p:grpSp>
        <p:nvGrpSpPr>
          <p:cNvPr id="657" name="Google Shape;657;p40"/>
          <p:cNvGrpSpPr/>
          <p:nvPr/>
        </p:nvGrpSpPr>
        <p:grpSpPr>
          <a:xfrm>
            <a:off x="938172" y="947528"/>
            <a:ext cx="5523590" cy="5685421"/>
            <a:chOff x="938172" y="947528"/>
            <a:chExt cx="5523590" cy="5685421"/>
          </a:xfrm>
        </p:grpSpPr>
        <p:grpSp>
          <p:nvGrpSpPr>
            <p:cNvPr id="658" name="Google Shape;658;p40"/>
            <p:cNvGrpSpPr/>
            <p:nvPr/>
          </p:nvGrpSpPr>
          <p:grpSpPr>
            <a:xfrm>
              <a:off x="938172" y="947528"/>
              <a:ext cx="5523590" cy="5289425"/>
              <a:chOff x="938172" y="947528"/>
              <a:chExt cx="5523590" cy="5289425"/>
            </a:xfrm>
          </p:grpSpPr>
          <p:pic>
            <p:nvPicPr>
              <p:cNvPr id="659" name="Google Shape;659;p40"/>
              <p:cNvPicPr preferRelativeResize="0"/>
              <p:nvPr/>
            </p:nvPicPr>
            <p:blipFill rotWithShape="1">
              <a:blip r:embed="rId5">
                <a:alphaModFix/>
              </a:blip>
              <a:srcRect b="34663" l="0" r="0" t="8273"/>
              <a:stretch/>
            </p:blipFill>
            <p:spPr>
              <a:xfrm>
                <a:off x="2280424" y="947528"/>
                <a:ext cx="4181338" cy="5289425"/>
              </a:xfrm>
              <a:prstGeom prst="rect">
                <a:avLst/>
              </a:prstGeom>
              <a:noFill/>
              <a:ln>
                <a:noFill/>
              </a:ln>
            </p:spPr>
          </p:pic>
          <p:sp>
            <p:nvSpPr>
              <p:cNvPr id="660" name="Google Shape;660;p40"/>
              <p:cNvSpPr/>
              <p:nvPr/>
            </p:nvSpPr>
            <p:spPr>
              <a:xfrm>
                <a:off x="4929241" y="2923217"/>
                <a:ext cx="673407" cy="726461"/>
              </a:xfrm>
              <a:prstGeom prst="ellipse">
                <a:avLst/>
              </a:prstGeom>
              <a:noFill/>
              <a:ln cap="flat" cmpd="sng" w="28575">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3"/>
                  </a:solidFill>
                  <a:latin typeface="Calibri"/>
                  <a:ea typeface="Calibri"/>
                  <a:cs typeface="Calibri"/>
                  <a:sym typeface="Calibri"/>
                </a:endParaRPr>
              </a:p>
            </p:txBody>
          </p:sp>
          <p:sp>
            <p:nvSpPr>
              <p:cNvPr id="661" name="Google Shape;661;p40"/>
              <p:cNvSpPr/>
              <p:nvPr/>
            </p:nvSpPr>
            <p:spPr>
              <a:xfrm>
                <a:off x="4960563" y="4110191"/>
                <a:ext cx="673407" cy="726461"/>
              </a:xfrm>
              <a:prstGeom prst="ellipse">
                <a:avLst/>
              </a:prstGeom>
              <a:no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3"/>
                  </a:solidFill>
                  <a:latin typeface="Calibri"/>
                  <a:ea typeface="Calibri"/>
                  <a:cs typeface="Calibri"/>
                  <a:sym typeface="Calibri"/>
                </a:endParaRPr>
              </a:p>
            </p:txBody>
          </p:sp>
          <p:sp>
            <p:nvSpPr>
              <p:cNvPr id="662" name="Google Shape;662;p40"/>
              <p:cNvSpPr/>
              <p:nvPr/>
            </p:nvSpPr>
            <p:spPr>
              <a:xfrm>
                <a:off x="4960563" y="5195320"/>
                <a:ext cx="673407" cy="726461"/>
              </a:xfrm>
              <a:prstGeom prst="ellipse">
                <a:avLst/>
              </a:prstGeom>
              <a:noFill/>
              <a:ln cap="flat" cmpd="sng" w="28575">
                <a:solidFill>
                  <a:srgbClr val="C4BD9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3"/>
                  </a:solidFill>
                  <a:latin typeface="Calibri"/>
                  <a:ea typeface="Calibri"/>
                  <a:cs typeface="Calibri"/>
                  <a:sym typeface="Calibri"/>
                </a:endParaRPr>
              </a:p>
            </p:txBody>
          </p:sp>
          <p:cxnSp>
            <p:nvCxnSpPr>
              <p:cNvPr id="663" name="Google Shape;663;p40"/>
              <p:cNvCxnSpPr/>
              <p:nvPr/>
            </p:nvCxnSpPr>
            <p:spPr>
              <a:xfrm>
                <a:off x="2077916" y="3242761"/>
                <a:ext cx="2851325" cy="23053"/>
              </a:xfrm>
              <a:prstGeom prst="straightConnector1">
                <a:avLst/>
              </a:prstGeom>
              <a:noFill/>
              <a:ln cap="flat" cmpd="sng" w="38100">
                <a:solidFill>
                  <a:srgbClr val="FFFF00"/>
                </a:solidFill>
                <a:prstDash val="solid"/>
                <a:round/>
                <a:headEnd len="sm" w="sm" type="none"/>
                <a:tailEnd len="med" w="med" type="triangle"/>
              </a:ln>
              <a:effectLst>
                <a:outerShdw blurRad="40000" rotWithShape="0" dir="5400000" dist="23000">
                  <a:srgbClr val="000000">
                    <a:alpha val="34901"/>
                  </a:srgbClr>
                </a:outerShdw>
              </a:effectLst>
            </p:spPr>
          </p:cxnSp>
          <p:cxnSp>
            <p:nvCxnSpPr>
              <p:cNvPr id="664" name="Google Shape;664;p40"/>
              <p:cNvCxnSpPr/>
              <p:nvPr/>
            </p:nvCxnSpPr>
            <p:spPr>
              <a:xfrm>
                <a:off x="2107814" y="4390938"/>
                <a:ext cx="2851325" cy="23053"/>
              </a:xfrm>
              <a:prstGeom prst="straightConnector1">
                <a:avLst/>
              </a:prstGeom>
              <a:noFill/>
              <a:ln cap="flat" cmpd="sng" w="38100">
                <a:solidFill>
                  <a:schemeClr val="dk1"/>
                </a:solidFill>
                <a:prstDash val="solid"/>
                <a:round/>
                <a:headEnd len="sm" w="sm" type="none"/>
                <a:tailEnd len="med" w="med" type="triangle"/>
              </a:ln>
              <a:effectLst>
                <a:outerShdw blurRad="40000" rotWithShape="0" dir="5400000" dist="23000">
                  <a:srgbClr val="000000">
                    <a:alpha val="34901"/>
                  </a:srgbClr>
                </a:outerShdw>
              </a:effectLst>
            </p:spPr>
          </p:cxnSp>
          <p:cxnSp>
            <p:nvCxnSpPr>
              <p:cNvPr id="665" name="Google Shape;665;p40"/>
              <p:cNvCxnSpPr/>
              <p:nvPr/>
            </p:nvCxnSpPr>
            <p:spPr>
              <a:xfrm>
                <a:off x="2123389" y="5527588"/>
                <a:ext cx="2851325" cy="23053"/>
              </a:xfrm>
              <a:prstGeom prst="straightConnector1">
                <a:avLst/>
              </a:prstGeom>
              <a:noFill/>
              <a:ln cap="flat" cmpd="sng" w="38100">
                <a:solidFill>
                  <a:srgbClr val="C4BD97"/>
                </a:solidFill>
                <a:prstDash val="solid"/>
                <a:round/>
                <a:headEnd len="sm" w="sm" type="none"/>
                <a:tailEnd len="med" w="med" type="triangle"/>
              </a:ln>
              <a:effectLst>
                <a:outerShdw blurRad="40000" rotWithShape="0" dir="5400000" dist="23000">
                  <a:srgbClr val="000000">
                    <a:alpha val="34901"/>
                  </a:srgbClr>
                </a:outerShdw>
              </a:effectLst>
            </p:spPr>
          </p:cxnSp>
          <p:sp>
            <p:nvSpPr>
              <p:cNvPr id="666" name="Google Shape;666;p40"/>
              <p:cNvSpPr txBox="1"/>
              <p:nvPr/>
            </p:nvSpPr>
            <p:spPr>
              <a:xfrm>
                <a:off x="938172" y="2923217"/>
                <a:ext cx="1326796"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BO" sz="1600">
                    <a:solidFill>
                      <a:schemeClr val="dk1"/>
                    </a:solidFill>
                    <a:latin typeface="Calibri"/>
                    <a:ea typeface="Calibri"/>
                    <a:cs typeface="Calibri"/>
                    <a:sym typeface="Calibri"/>
                  </a:rPr>
                  <a:t>Cable rojo</a:t>
                </a:r>
                <a:endParaRPr/>
              </a:p>
              <a:p>
                <a:pPr indent="0" lvl="0" marL="0" marR="0" rtl="0" algn="ctr">
                  <a:spcBef>
                    <a:spcPts val="0"/>
                  </a:spcBef>
                  <a:spcAft>
                    <a:spcPts val="0"/>
                  </a:spcAft>
                  <a:buNone/>
                </a:pPr>
                <a:r>
                  <a:rPr lang="es-BO" sz="1600">
                    <a:solidFill>
                      <a:schemeClr val="dk1"/>
                    </a:solidFill>
                    <a:latin typeface="Calibri"/>
                    <a:ea typeface="Calibri"/>
                    <a:cs typeface="Calibri"/>
                    <a:sym typeface="Calibri"/>
                  </a:rPr>
                  <a:t>302</a:t>
                </a:r>
                <a:endParaRPr/>
              </a:p>
            </p:txBody>
          </p:sp>
          <p:sp>
            <p:nvSpPr>
              <p:cNvPr id="667" name="Google Shape;667;p40"/>
              <p:cNvSpPr txBox="1"/>
              <p:nvPr/>
            </p:nvSpPr>
            <p:spPr>
              <a:xfrm>
                <a:off x="968954" y="4010570"/>
                <a:ext cx="1326796"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BO" sz="1600">
                    <a:solidFill>
                      <a:schemeClr val="dk1"/>
                    </a:solidFill>
                    <a:latin typeface="Calibri"/>
                    <a:ea typeface="Calibri"/>
                    <a:cs typeface="Calibri"/>
                    <a:sym typeface="Calibri"/>
                  </a:rPr>
                  <a:t>Cable blanco</a:t>
                </a:r>
                <a:endParaRPr/>
              </a:p>
              <a:p>
                <a:pPr indent="0" lvl="0" marL="0" marR="0" rtl="0" algn="ctr">
                  <a:spcBef>
                    <a:spcPts val="0"/>
                  </a:spcBef>
                  <a:spcAft>
                    <a:spcPts val="0"/>
                  </a:spcAft>
                  <a:buNone/>
                </a:pPr>
                <a:r>
                  <a:rPr lang="es-BO" sz="1600">
                    <a:solidFill>
                      <a:schemeClr val="dk1"/>
                    </a:solidFill>
                    <a:latin typeface="Calibri"/>
                    <a:ea typeface="Calibri"/>
                    <a:cs typeface="Calibri"/>
                    <a:sym typeface="Calibri"/>
                  </a:rPr>
                  <a:t>301</a:t>
                </a:r>
                <a:endParaRPr/>
              </a:p>
            </p:txBody>
          </p:sp>
          <p:sp>
            <p:nvSpPr>
              <p:cNvPr id="668" name="Google Shape;668;p40"/>
              <p:cNvSpPr txBox="1"/>
              <p:nvPr/>
            </p:nvSpPr>
            <p:spPr>
              <a:xfrm>
                <a:off x="1020413" y="5172480"/>
                <a:ext cx="1326796"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BO" sz="1600">
                    <a:solidFill>
                      <a:schemeClr val="dk1"/>
                    </a:solidFill>
                    <a:latin typeface="Calibri"/>
                    <a:ea typeface="Calibri"/>
                    <a:cs typeface="Calibri"/>
                    <a:sym typeface="Calibri"/>
                  </a:rPr>
                  <a:t>Cable blanco</a:t>
                </a:r>
                <a:endParaRPr/>
              </a:p>
              <a:p>
                <a:pPr indent="0" lvl="0" marL="0" marR="0" rtl="0" algn="ctr">
                  <a:spcBef>
                    <a:spcPts val="0"/>
                  </a:spcBef>
                  <a:spcAft>
                    <a:spcPts val="0"/>
                  </a:spcAft>
                  <a:buNone/>
                </a:pPr>
                <a:r>
                  <a:rPr lang="es-BO" sz="1600">
                    <a:solidFill>
                      <a:schemeClr val="dk1"/>
                    </a:solidFill>
                    <a:latin typeface="Calibri"/>
                    <a:ea typeface="Calibri"/>
                    <a:cs typeface="Calibri"/>
                    <a:sym typeface="Calibri"/>
                  </a:rPr>
                  <a:t>300</a:t>
                </a:r>
                <a:endParaRPr/>
              </a:p>
            </p:txBody>
          </p:sp>
        </p:grpSp>
        <p:sp>
          <p:nvSpPr>
            <p:cNvPr id="669" name="Google Shape;669;p40"/>
            <p:cNvSpPr txBox="1"/>
            <p:nvPr/>
          </p:nvSpPr>
          <p:spPr>
            <a:xfrm>
              <a:off x="2955091" y="6263617"/>
              <a:ext cx="2832003"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s-BO" sz="1800">
                  <a:solidFill>
                    <a:schemeClr val="dk1"/>
                  </a:solidFill>
                  <a:latin typeface="Calibri"/>
                  <a:ea typeface="Calibri"/>
                  <a:cs typeface="Calibri"/>
                  <a:sym typeface="Calibri"/>
                </a:rPr>
                <a:t>Parte frontal </a:t>
              </a:r>
              <a:endParaRPr/>
            </a:p>
          </p:txBody>
        </p:sp>
      </p:grpSp>
      <p:grpSp>
        <p:nvGrpSpPr>
          <p:cNvPr id="670" name="Google Shape;670;p40"/>
          <p:cNvGrpSpPr/>
          <p:nvPr/>
        </p:nvGrpSpPr>
        <p:grpSpPr>
          <a:xfrm>
            <a:off x="6600056" y="1065206"/>
            <a:ext cx="4929372" cy="5632651"/>
            <a:chOff x="6600056" y="1065206"/>
            <a:chExt cx="4929372" cy="5632651"/>
          </a:xfrm>
        </p:grpSpPr>
        <p:grpSp>
          <p:nvGrpSpPr>
            <p:cNvPr id="671" name="Google Shape;671;p40"/>
            <p:cNvGrpSpPr/>
            <p:nvPr/>
          </p:nvGrpSpPr>
          <p:grpSpPr>
            <a:xfrm>
              <a:off x="6600056" y="1065206"/>
              <a:ext cx="4817722" cy="5244114"/>
              <a:chOff x="6600056" y="1065206"/>
              <a:chExt cx="4817722" cy="5244114"/>
            </a:xfrm>
          </p:grpSpPr>
          <p:grpSp>
            <p:nvGrpSpPr>
              <p:cNvPr id="672" name="Google Shape;672;p40"/>
              <p:cNvGrpSpPr/>
              <p:nvPr/>
            </p:nvGrpSpPr>
            <p:grpSpPr>
              <a:xfrm>
                <a:off x="6852084" y="1065206"/>
                <a:ext cx="4565694" cy="5244114"/>
                <a:chOff x="6852084" y="1065206"/>
                <a:chExt cx="4565694" cy="5244114"/>
              </a:xfrm>
            </p:grpSpPr>
            <p:pic>
              <p:nvPicPr>
                <p:cNvPr id="673" name="Google Shape;673;p40"/>
                <p:cNvPicPr preferRelativeResize="0"/>
                <p:nvPr/>
              </p:nvPicPr>
              <p:blipFill rotWithShape="1">
                <a:blip r:embed="rId6">
                  <a:alphaModFix/>
                </a:blip>
                <a:srcRect b="7999" l="0" r="0" t="15531"/>
                <a:stretch/>
              </p:blipFill>
              <p:spPr>
                <a:xfrm>
                  <a:off x="8256240" y="1065206"/>
                  <a:ext cx="3161538" cy="5244114"/>
                </a:xfrm>
                <a:prstGeom prst="rect">
                  <a:avLst/>
                </a:prstGeom>
                <a:noFill/>
                <a:ln>
                  <a:noFill/>
                </a:ln>
              </p:spPr>
            </p:pic>
            <p:cxnSp>
              <p:nvCxnSpPr>
                <p:cNvPr id="674" name="Google Shape;674;p40"/>
                <p:cNvCxnSpPr/>
                <p:nvPr/>
              </p:nvCxnSpPr>
              <p:spPr>
                <a:xfrm rot="10800000">
                  <a:off x="7896200" y="2060848"/>
                  <a:ext cx="1368152" cy="792088"/>
                </a:xfrm>
                <a:prstGeom prst="straightConnector1">
                  <a:avLst/>
                </a:prstGeom>
                <a:noFill/>
                <a:ln cap="flat" cmpd="sng" w="38100">
                  <a:solidFill>
                    <a:schemeClr val="accent6"/>
                  </a:solidFill>
                  <a:prstDash val="solid"/>
                  <a:round/>
                  <a:headEnd len="sm" w="sm" type="none"/>
                  <a:tailEnd len="med" w="med" type="triangle"/>
                </a:ln>
                <a:effectLst>
                  <a:outerShdw blurRad="40000" rotWithShape="0" dir="5400000" dist="23000">
                    <a:srgbClr val="000000">
                      <a:alpha val="34901"/>
                    </a:srgbClr>
                  </a:outerShdw>
                </a:effectLst>
              </p:spPr>
            </p:cxnSp>
            <p:sp>
              <p:nvSpPr>
                <p:cNvPr id="675" name="Google Shape;675;p40"/>
                <p:cNvSpPr txBox="1"/>
                <p:nvPr/>
              </p:nvSpPr>
              <p:spPr>
                <a:xfrm>
                  <a:off x="6852084" y="1768460"/>
                  <a:ext cx="1044116"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600">
                      <a:solidFill>
                        <a:schemeClr val="dk1"/>
                      </a:solidFill>
                      <a:latin typeface="Calibri"/>
                      <a:ea typeface="Calibri"/>
                      <a:cs typeface="Calibri"/>
                      <a:sym typeface="Calibri"/>
                    </a:rPr>
                    <a:t>Cable rojo</a:t>
                  </a:r>
                  <a:endParaRPr/>
                </a:p>
                <a:p>
                  <a:pPr indent="0" lvl="0" marL="0" marR="0" rtl="0" algn="ctr">
                    <a:spcBef>
                      <a:spcPts val="0"/>
                    </a:spcBef>
                    <a:spcAft>
                      <a:spcPts val="0"/>
                    </a:spcAft>
                    <a:buNone/>
                  </a:pPr>
                  <a:r>
                    <a:rPr lang="es-BO" sz="1600">
                      <a:solidFill>
                        <a:schemeClr val="dk1"/>
                      </a:solidFill>
                      <a:latin typeface="Calibri"/>
                      <a:ea typeface="Calibri"/>
                      <a:cs typeface="Calibri"/>
                      <a:sym typeface="Calibri"/>
                    </a:rPr>
                    <a:t>302</a:t>
                  </a:r>
                  <a:endParaRPr/>
                </a:p>
              </p:txBody>
            </p:sp>
          </p:grpSp>
          <p:sp>
            <p:nvSpPr>
              <p:cNvPr id="676" name="Google Shape;676;p40"/>
              <p:cNvSpPr txBox="1"/>
              <p:nvPr/>
            </p:nvSpPr>
            <p:spPr>
              <a:xfrm>
                <a:off x="6664448" y="3092527"/>
                <a:ext cx="1344244"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600">
                    <a:solidFill>
                      <a:schemeClr val="dk1"/>
                    </a:solidFill>
                    <a:latin typeface="Calibri"/>
                    <a:ea typeface="Calibri"/>
                    <a:cs typeface="Calibri"/>
                    <a:sym typeface="Calibri"/>
                  </a:rPr>
                  <a:t>Cable blanco</a:t>
                </a:r>
                <a:endParaRPr/>
              </a:p>
              <a:p>
                <a:pPr indent="0" lvl="0" marL="0" marR="0" rtl="0" algn="ctr">
                  <a:spcBef>
                    <a:spcPts val="0"/>
                  </a:spcBef>
                  <a:spcAft>
                    <a:spcPts val="0"/>
                  </a:spcAft>
                  <a:buNone/>
                </a:pPr>
                <a:r>
                  <a:rPr lang="es-BO" sz="1600">
                    <a:solidFill>
                      <a:schemeClr val="dk1"/>
                    </a:solidFill>
                    <a:latin typeface="Calibri"/>
                    <a:ea typeface="Calibri"/>
                    <a:cs typeface="Calibri"/>
                    <a:sym typeface="Calibri"/>
                  </a:rPr>
                  <a:t>301</a:t>
                </a:r>
                <a:endParaRPr/>
              </a:p>
            </p:txBody>
          </p:sp>
          <p:cxnSp>
            <p:nvCxnSpPr>
              <p:cNvPr id="677" name="Google Shape;677;p40"/>
              <p:cNvCxnSpPr/>
              <p:nvPr/>
            </p:nvCxnSpPr>
            <p:spPr>
              <a:xfrm flipH="1">
                <a:off x="7896200" y="3092527"/>
                <a:ext cx="2616448" cy="300469"/>
              </a:xfrm>
              <a:prstGeom prst="straightConnector1">
                <a:avLst/>
              </a:prstGeom>
              <a:noFill/>
              <a:ln cap="flat" cmpd="sng" w="38100">
                <a:solidFill>
                  <a:srgbClr val="DDD9C3"/>
                </a:solidFill>
                <a:prstDash val="solid"/>
                <a:round/>
                <a:headEnd len="sm" w="sm" type="none"/>
                <a:tailEnd len="med" w="med" type="triangle"/>
              </a:ln>
              <a:effectLst>
                <a:outerShdw blurRad="40000" rotWithShape="0" dir="5400000" dist="23000">
                  <a:srgbClr val="000000">
                    <a:alpha val="34901"/>
                  </a:srgbClr>
                </a:outerShdw>
              </a:effectLst>
            </p:spPr>
          </p:cxnSp>
          <p:sp>
            <p:nvSpPr>
              <p:cNvPr id="678" name="Google Shape;678;p40"/>
              <p:cNvSpPr txBox="1"/>
              <p:nvPr/>
            </p:nvSpPr>
            <p:spPr>
              <a:xfrm>
                <a:off x="6600056" y="3836356"/>
                <a:ext cx="1408636"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600">
                    <a:solidFill>
                      <a:schemeClr val="dk1"/>
                    </a:solidFill>
                    <a:latin typeface="Calibri"/>
                    <a:ea typeface="Calibri"/>
                    <a:cs typeface="Calibri"/>
                    <a:sym typeface="Calibri"/>
                  </a:rPr>
                  <a:t>Cable blanco</a:t>
                </a:r>
                <a:endParaRPr/>
              </a:p>
              <a:p>
                <a:pPr indent="0" lvl="0" marL="0" marR="0" rtl="0" algn="ctr">
                  <a:spcBef>
                    <a:spcPts val="0"/>
                  </a:spcBef>
                  <a:spcAft>
                    <a:spcPts val="0"/>
                  </a:spcAft>
                  <a:buNone/>
                </a:pPr>
                <a:r>
                  <a:rPr lang="es-BO" sz="1600">
                    <a:solidFill>
                      <a:schemeClr val="dk1"/>
                    </a:solidFill>
                    <a:latin typeface="Calibri"/>
                    <a:ea typeface="Calibri"/>
                    <a:cs typeface="Calibri"/>
                    <a:sym typeface="Calibri"/>
                  </a:rPr>
                  <a:t>300</a:t>
                </a:r>
                <a:endParaRPr/>
              </a:p>
            </p:txBody>
          </p:sp>
          <p:cxnSp>
            <p:nvCxnSpPr>
              <p:cNvPr id="679" name="Google Shape;679;p40"/>
              <p:cNvCxnSpPr/>
              <p:nvPr/>
            </p:nvCxnSpPr>
            <p:spPr>
              <a:xfrm flipH="1">
                <a:off x="7896200" y="3592228"/>
                <a:ext cx="2616448" cy="544597"/>
              </a:xfrm>
              <a:prstGeom prst="straightConnector1">
                <a:avLst/>
              </a:prstGeom>
              <a:noFill/>
              <a:ln cap="flat" cmpd="sng" w="38100">
                <a:solidFill>
                  <a:srgbClr val="938953"/>
                </a:solidFill>
                <a:prstDash val="solid"/>
                <a:round/>
                <a:headEnd len="sm" w="sm" type="none"/>
                <a:tailEnd len="med" w="med" type="triangle"/>
              </a:ln>
              <a:effectLst>
                <a:outerShdw blurRad="40000" rotWithShape="0" dir="5400000" dist="23000">
                  <a:srgbClr val="000000">
                    <a:alpha val="34901"/>
                  </a:srgbClr>
                </a:outerShdw>
              </a:effectLst>
            </p:spPr>
          </p:cxnSp>
        </p:grpSp>
        <p:sp>
          <p:nvSpPr>
            <p:cNvPr id="680" name="Google Shape;680;p40"/>
            <p:cNvSpPr txBox="1"/>
            <p:nvPr/>
          </p:nvSpPr>
          <p:spPr>
            <a:xfrm>
              <a:off x="8271151" y="6328525"/>
              <a:ext cx="3258277"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s-BO" sz="1800">
                  <a:solidFill>
                    <a:schemeClr val="dk1"/>
                  </a:solidFill>
                  <a:latin typeface="Calibri"/>
                  <a:ea typeface="Calibri"/>
                  <a:cs typeface="Calibri"/>
                  <a:sym typeface="Calibri"/>
                </a:rPr>
                <a:t>Sensor de temperatura RTD</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670"/>
                                        </p:tgtEl>
                                      </p:cBhvr>
                                    </p:animEffect>
                                    <p:set>
                                      <p:cBhvr>
                                        <p:cTn dur="1" fill="hold">
                                          <p:stCondLst>
                                            <p:cond delay="500"/>
                                          </p:stCondLst>
                                        </p:cTn>
                                        <p:tgtEl>
                                          <p:spTgt spid="670"/>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636"/>
                                        </p:tgtEl>
                                      </p:cBhvr>
                                    </p:animEffect>
                                    <p:set>
                                      <p:cBhvr>
                                        <p:cTn dur="1" fill="hold">
                                          <p:stCondLst>
                                            <p:cond delay="500"/>
                                          </p:stCondLst>
                                        </p:cTn>
                                        <p:tgtEl>
                                          <p:spTgt spid="63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4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41"/>
          <p:cNvSpPr txBox="1"/>
          <p:nvPr>
            <p:ph type="title"/>
          </p:nvPr>
        </p:nvSpPr>
        <p:spPr>
          <a:xfrm>
            <a:off x="1569920" y="183182"/>
            <a:ext cx="9502300" cy="618094"/>
          </a:xfrm>
          <a:prstGeom prst="rect">
            <a:avLst/>
          </a:prstGeom>
          <a:noFill/>
          <a:ln>
            <a:noFill/>
          </a:ln>
        </p:spPr>
        <p:txBody>
          <a:bodyPr anchorCtr="0" anchor="t" bIns="121900" lIns="121900" spcFirstLastPara="1" rIns="121900" wrap="square" tIns="121900">
            <a:normAutofit/>
          </a:bodyPr>
          <a:lstStyle/>
          <a:p>
            <a:pPr indent="0" lvl="0" marL="0" rtl="0" algn="l">
              <a:spcBef>
                <a:spcPts val="0"/>
              </a:spcBef>
              <a:spcAft>
                <a:spcPts val="0"/>
              </a:spcAft>
              <a:buClr>
                <a:schemeClr val="dk1"/>
              </a:buClr>
              <a:buSzPts val="2400"/>
              <a:buFont typeface="Calibri"/>
              <a:buNone/>
            </a:pPr>
            <a:r>
              <a:rPr b="1" i="1" lang="es-BO" sz="1800" u="sng"/>
              <a:t>Pruebas de laboratorio del sensor de temperatura RTD</a:t>
            </a:r>
            <a:endParaRPr b="1" i="1" sz="1800" u="sng"/>
          </a:p>
        </p:txBody>
      </p:sp>
      <p:sp>
        <p:nvSpPr>
          <p:cNvPr id="686" name="Google Shape;686;p41"/>
          <p:cNvSpPr txBox="1"/>
          <p:nvPr>
            <p:ph idx="1" type="body"/>
          </p:nvPr>
        </p:nvSpPr>
        <p:spPr>
          <a:xfrm>
            <a:off x="4933443" y="5433573"/>
            <a:ext cx="6977780" cy="1190726"/>
          </a:xfrm>
          <a:prstGeom prst="rect">
            <a:avLst/>
          </a:prstGeom>
          <a:noFill/>
          <a:ln>
            <a:noFill/>
          </a:ln>
        </p:spPr>
        <p:txBody>
          <a:bodyPr anchorCtr="0" anchor="t" bIns="121900" lIns="121900" spcFirstLastPara="1" rIns="121900" wrap="square" tIns="121900">
            <a:noAutofit/>
          </a:bodyPr>
          <a:lstStyle/>
          <a:p>
            <a:pPr indent="0" lvl="0" marL="0" rtl="0" algn="ctr">
              <a:lnSpc>
                <a:spcPct val="95000"/>
              </a:lnSpc>
              <a:spcBef>
                <a:spcPts val="1600"/>
              </a:spcBef>
              <a:spcAft>
                <a:spcPts val="0"/>
              </a:spcAft>
              <a:buClr>
                <a:schemeClr val="dk1"/>
              </a:buClr>
              <a:buSzPts val="852"/>
              <a:buNone/>
            </a:pPr>
            <a:r>
              <a:rPr i="1" lang="es-BO" sz="1600">
                <a:latin typeface="Calibri"/>
                <a:ea typeface="Calibri"/>
                <a:cs typeface="Calibri"/>
                <a:sym typeface="Calibri"/>
              </a:rPr>
              <a:t>En la grafica podemos observar la relación existente entre la temperatura medida y la resistencia la cual fue hallado por la ley de ohm teniendo ya las medidas de voltaje y corriente.</a:t>
            </a:r>
            <a:endParaRPr b="1" i="1" sz="1600">
              <a:latin typeface="Calibri"/>
              <a:ea typeface="Calibri"/>
              <a:cs typeface="Calibri"/>
              <a:sym typeface="Calibri"/>
            </a:endParaRPr>
          </a:p>
          <a:p>
            <a:pPr indent="0" lvl="0" marL="0" rtl="0" algn="l">
              <a:lnSpc>
                <a:spcPct val="95000"/>
              </a:lnSpc>
              <a:spcBef>
                <a:spcPts val="1600"/>
              </a:spcBef>
              <a:spcAft>
                <a:spcPts val="1600"/>
              </a:spcAft>
              <a:buClr>
                <a:schemeClr val="dk1"/>
              </a:buClr>
              <a:buSzPts val="852"/>
              <a:buNone/>
            </a:pPr>
            <a:r>
              <a:t/>
            </a:r>
            <a:endParaRPr sz="1343"/>
          </a:p>
        </p:txBody>
      </p:sp>
      <p:sp>
        <p:nvSpPr>
          <p:cNvPr id="687" name="Google Shape;687;p41"/>
          <p:cNvSpPr txBox="1"/>
          <p:nvPr/>
        </p:nvSpPr>
        <p:spPr>
          <a:xfrm>
            <a:off x="1395117" y="759028"/>
            <a:ext cx="4520380" cy="2585323"/>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BO" sz="1800">
                <a:solidFill>
                  <a:schemeClr val="dk1"/>
                </a:solidFill>
                <a:latin typeface="Calibri"/>
                <a:ea typeface="Calibri"/>
                <a:cs typeface="Calibri"/>
                <a:sym typeface="Calibri"/>
              </a:rPr>
              <a:t>Se midió con la ayuda de dos multímetros una para la variación de la tensión en las salidas del sensor y la otra para medir la corriente que proporciona el controlador de temperatura. Una vez obtenido el valor del voltaje y la corriente por la ley de Ohm se pudo hallar la variación de la resistencia. También se utilizó un encendedor para llegar a más altas temperaturas.</a:t>
            </a:r>
            <a:endParaRPr sz="1400">
              <a:solidFill>
                <a:schemeClr val="dk1"/>
              </a:solidFill>
              <a:latin typeface="Times New Roman"/>
              <a:ea typeface="Times New Roman"/>
              <a:cs typeface="Times New Roman"/>
              <a:sym typeface="Times New Roman"/>
            </a:endParaRPr>
          </a:p>
        </p:txBody>
      </p:sp>
      <p:grpSp>
        <p:nvGrpSpPr>
          <p:cNvPr id="688" name="Google Shape;688;p41"/>
          <p:cNvGrpSpPr/>
          <p:nvPr/>
        </p:nvGrpSpPr>
        <p:grpSpPr>
          <a:xfrm>
            <a:off x="6140645" y="759028"/>
            <a:ext cx="6191917" cy="5685421"/>
            <a:chOff x="6140645" y="759028"/>
            <a:chExt cx="6191917" cy="5685421"/>
          </a:xfrm>
        </p:grpSpPr>
        <p:grpSp>
          <p:nvGrpSpPr>
            <p:cNvPr id="689" name="Google Shape;689;p41"/>
            <p:cNvGrpSpPr/>
            <p:nvPr/>
          </p:nvGrpSpPr>
          <p:grpSpPr>
            <a:xfrm>
              <a:off x="6140645" y="759028"/>
              <a:ext cx="6191917" cy="5685421"/>
              <a:chOff x="938172" y="947528"/>
              <a:chExt cx="6191917" cy="5685421"/>
            </a:xfrm>
          </p:grpSpPr>
          <p:grpSp>
            <p:nvGrpSpPr>
              <p:cNvPr id="690" name="Google Shape;690;p41"/>
              <p:cNvGrpSpPr/>
              <p:nvPr/>
            </p:nvGrpSpPr>
            <p:grpSpPr>
              <a:xfrm>
                <a:off x="938172" y="947528"/>
                <a:ext cx="6191917" cy="5289425"/>
                <a:chOff x="938172" y="947528"/>
                <a:chExt cx="6191917" cy="5289425"/>
              </a:xfrm>
            </p:grpSpPr>
            <p:pic>
              <p:nvPicPr>
                <p:cNvPr id="691" name="Google Shape;691;p41"/>
                <p:cNvPicPr preferRelativeResize="0"/>
                <p:nvPr/>
              </p:nvPicPr>
              <p:blipFill rotWithShape="1">
                <a:blip r:embed="rId3">
                  <a:alphaModFix/>
                </a:blip>
                <a:srcRect b="34663" l="0" r="13204" t="8273"/>
                <a:stretch/>
              </p:blipFill>
              <p:spPr>
                <a:xfrm>
                  <a:off x="2280424" y="947528"/>
                  <a:ext cx="3629199" cy="5289425"/>
                </a:xfrm>
                <a:prstGeom prst="rect">
                  <a:avLst/>
                </a:prstGeom>
                <a:noFill/>
                <a:ln>
                  <a:noFill/>
                </a:ln>
              </p:spPr>
            </p:pic>
            <p:sp>
              <p:nvSpPr>
                <p:cNvPr id="692" name="Google Shape;692;p41"/>
                <p:cNvSpPr/>
                <p:nvPr/>
              </p:nvSpPr>
              <p:spPr>
                <a:xfrm>
                  <a:off x="4929241" y="2923217"/>
                  <a:ext cx="673407" cy="726461"/>
                </a:xfrm>
                <a:prstGeom prst="ellipse">
                  <a:avLst/>
                </a:prstGeom>
                <a:noFill/>
                <a:ln cap="flat" cmpd="sng" w="28575">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3"/>
                    </a:solidFill>
                    <a:latin typeface="Calibri"/>
                    <a:ea typeface="Calibri"/>
                    <a:cs typeface="Calibri"/>
                    <a:sym typeface="Calibri"/>
                  </a:endParaRPr>
                </a:p>
              </p:txBody>
            </p:sp>
            <p:sp>
              <p:nvSpPr>
                <p:cNvPr id="693" name="Google Shape;693;p41"/>
                <p:cNvSpPr/>
                <p:nvPr/>
              </p:nvSpPr>
              <p:spPr>
                <a:xfrm>
                  <a:off x="4960563" y="4110191"/>
                  <a:ext cx="673407" cy="726461"/>
                </a:xfrm>
                <a:prstGeom prst="ellipse">
                  <a:avLst/>
                </a:prstGeom>
                <a:no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3"/>
                    </a:solidFill>
                    <a:latin typeface="Calibri"/>
                    <a:ea typeface="Calibri"/>
                    <a:cs typeface="Calibri"/>
                    <a:sym typeface="Calibri"/>
                  </a:endParaRPr>
                </a:p>
              </p:txBody>
            </p:sp>
            <p:cxnSp>
              <p:nvCxnSpPr>
                <p:cNvPr id="694" name="Google Shape;694;p41"/>
                <p:cNvCxnSpPr/>
                <p:nvPr/>
              </p:nvCxnSpPr>
              <p:spPr>
                <a:xfrm>
                  <a:off x="2077916" y="3242761"/>
                  <a:ext cx="2851325" cy="23053"/>
                </a:xfrm>
                <a:prstGeom prst="straightConnector1">
                  <a:avLst/>
                </a:prstGeom>
                <a:noFill/>
                <a:ln cap="flat" cmpd="sng" w="38100">
                  <a:solidFill>
                    <a:srgbClr val="FFFF00"/>
                  </a:solidFill>
                  <a:prstDash val="solid"/>
                  <a:round/>
                  <a:headEnd len="sm" w="sm" type="none"/>
                  <a:tailEnd len="med" w="med" type="triangle"/>
                </a:ln>
                <a:effectLst>
                  <a:outerShdw blurRad="40000" rotWithShape="0" dir="5400000" dist="23000">
                    <a:srgbClr val="000000">
                      <a:alpha val="34901"/>
                    </a:srgbClr>
                  </a:outerShdw>
                </a:effectLst>
              </p:spPr>
            </p:cxnSp>
            <p:cxnSp>
              <p:nvCxnSpPr>
                <p:cNvPr id="695" name="Google Shape;695;p41"/>
                <p:cNvCxnSpPr/>
                <p:nvPr/>
              </p:nvCxnSpPr>
              <p:spPr>
                <a:xfrm>
                  <a:off x="2107814" y="4390938"/>
                  <a:ext cx="2851325" cy="23053"/>
                </a:xfrm>
                <a:prstGeom prst="straightConnector1">
                  <a:avLst/>
                </a:prstGeom>
                <a:noFill/>
                <a:ln cap="flat" cmpd="sng" w="38100">
                  <a:solidFill>
                    <a:schemeClr val="dk1"/>
                  </a:solidFill>
                  <a:prstDash val="solid"/>
                  <a:round/>
                  <a:headEnd len="sm" w="sm" type="none"/>
                  <a:tailEnd len="med" w="med" type="triangle"/>
                </a:ln>
                <a:effectLst>
                  <a:outerShdw blurRad="40000" rotWithShape="0" dir="5400000" dist="23000">
                    <a:srgbClr val="000000">
                      <a:alpha val="34901"/>
                    </a:srgbClr>
                  </a:outerShdw>
                </a:effectLst>
              </p:spPr>
            </p:cxnSp>
            <p:sp>
              <p:nvSpPr>
                <p:cNvPr id="696" name="Google Shape;696;p41"/>
                <p:cNvSpPr txBox="1"/>
                <p:nvPr/>
              </p:nvSpPr>
              <p:spPr>
                <a:xfrm>
                  <a:off x="938172" y="2923217"/>
                  <a:ext cx="1326796"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BO" sz="1600">
                      <a:solidFill>
                        <a:schemeClr val="dk1"/>
                      </a:solidFill>
                      <a:latin typeface="Calibri"/>
                      <a:ea typeface="Calibri"/>
                      <a:cs typeface="Calibri"/>
                      <a:sym typeface="Calibri"/>
                    </a:rPr>
                    <a:t>Cable rojo</a:t>
                  </a:r>
                  <a:endParaRPr/>
                </a:p>
                <a:p>
                  <a:pPr indent="0" lvl="0" marL="0" marR="0" rtl="0" algn="ctr">
                    <a:spcBef>
                      <a:spcPts val="0"/>
                    </a:spcBef>
                    <a:spcAft>
                      <a:spcPts val="0"/>
                    </a:spcAft>
                    <a:buNone/>
                  </a:pPr>
                  <a:r>
                    <a:rPr lang="es-BO" sz="1600">
                      <a:solidFill>
                        <a:schemeClr val="dk1"/>
                      </a:solidFill>
                      <a:latin typeface="Calibri"/>
                      <a:ea typeface="Calibri"/>
                      <a:cs typeface="Calibri"/>
                      <a:sym typeface="Calibri"/>
                    </a:rPr>
                    <a:t>302</a:t>
                  </a:r>
                  <a:endParaRPr/>
                </a:p>
              </p:txBody>
            </p:sp>
            <p:sp>
              <p:nvSpPr>
                <p:cNvPr id="697" name="Google Shape;697;p41"/>
                <p:cNvSpPr txBox="1"/>
                <p:nvPr/>
              </p:nvSpPr>
              <p:spPr>
                <a:xfrm>
                  <a:off x="968954" y="4010570"/>
                  <a:ext cx="1326796"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BO" sz="1600">
                      <a:solidFill>
                        <a:schemeClr val="dk1"/>
                      </a:solidFill>
                      <a:latin typeface="Calibri"/>
                      <a:ea typeface="Calibri"/>
                      <a:cs typeface="Calibri"/>
                      <a:sym typeface="Calibri"/>
                    </a:rPr>
                    <a:t>Cable blanco</a:t>
                  </a:r>
                  <a:endParaRPr/>
                </a:p>
                <a:p>
                  <a:pPr indent="0" lvl="0" marL="0" marR="0" rtl="0" algn="ctr">
                    <a:spcBef>
                      <a:spcPts val="0"/>
                    </a:spcBef>
                    <a:spcAft>
                      <a:spcPts val="0"/>
                    </a:spcAft>
                    <a:buNone/>
                  </a:pPr>
                  <a:r>
                    <a:rPr lang="es-BO" sz="1600">
                      <a:solidFill>
                        <a:schemeClr val="dk1"/>
                      </a:solidFill>
                      <a:latin typeface="Calibri"/>
                      <a:ea typeface="Calibri"/>
                      <a:cs typeface="Calibri"/>
                      <a:sym typeface="Calibri"/>
                    </a:rPr>
                    <a:t>301</a:t>
                  </a:r>
                  <a:endParaRPr/>
                </a:p>
              </p:txBody>
            </p:sp>
            <p:sp>
              <p:nvSpPr>
                <p:cNvPr id="698" name="Google Shape;698;p41"/>
                <p:cNvSpPr txBox="1"/>
                <p:nvPr/>
              </p:nvSpPr>
              <p:spPr>
                <a:xfrm>
                  <a:off x="5803293" y="3585906"/>
                  <a:ext cx="1326796"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BO" sz="1600">
                      <a:solidFill>
                        <a:schemeClr val="dk1"/>
                      </a:solidFill>
                      <a:latin typeface="Calibri"/>
                      <a:ea typeface="Calibri"/>
                      <a:cs typeface="Calibri"/>
                      <a:sym typeface="Calibri"/>
                    </a:rPr>
                    <a:t>Salida de Voltaje</a:t>
                  </a:r>
                  <a:endParaRPr/>
                </a:p>
              </p:txBody>
            </p:sp>
          </p:grpSp>
          <p:sp>
            <p:nvSpPr>
              <p:cNvPr id="699" name="Google Shape;699;p41"/>
              <p:cNvSpPr txBox="1"/>
              <p:nvPr/>
            </p:nvSpPr>
            <p:spPr>
              <a:xfrm>
                <a:off x="2955091" y="6263617"/>
                <a:ext cx="2832003"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s-BO" sz="1800">
                    <a:solidFill>
                      <a:schemeClr val="dk1"/>
                    </a:solidFill>
                    <a:latin typeface="Calibri"/>
                    <a:ea typeface="Calibri"/>
                    <a:cs typeface="Calibri"/>
                    <a:sym typeface="Calibri"/>
                  </a:rPr>
                  <a:t>Parte frontal </a:t>
                </a:r>
                <a:endParaRPr/>
              </a:p>
            </p:txBody>
          </p:sp>
        </p:grpSp>
        <p:sp>
          <p:nvSpPr>
            <p:cNvPr id="700" name="Google Shape;700;p41"/>
            <p:cNvSpPr/>
            <p:nvPr/>
          </p:nvSpPr>
          <p:spPr>
            <a:xfrm>
              <a:off x="10820248" y="2701183"/>
              <a:ext cx="371037" cy="2017772"/>
            </a:xfrm>
            <a:prstGeom prst="rightBrace">
              <a:avLst>
                <a:gd fmla="val 8333" name="adj1"/>
                <a:gd fmla="val 50000" name="adj2"/>
              </a:avLst>
            </a:prstGeom>
            <a:noFill/>
            <a:ln cap="flat" cmpd="sng" w="381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graphicFrame>
        <p:nvGraphicFramePr>
          <p:cNvPr id="701" name="Google Shape;701;p41"/>
          <p:cNvGraphicFramePr/>
          <p:nvPr/>
        </p:nvGraphicFramePr>
        <p:xfrm>
          <a:off x="1634497" y="803682"/>
          <a:ext cx="3000000" cy="3000000"/>
        </p:xfrm>
        <a:graphic>
          <a:graphicData uri="http://schemas.openxmlformats.org/drawingml/2006/table">
            <a:tbl>
              <a:tblPr bandRow="1" firstCol="1" firstRow="1">
                <a:noFill/>
                <a:tableStyleId>{222A7E54-5182-43F9-A65E-7F61A87368E1}</a:tableStyleId>
              </a:tblPr>
              <a:tblGrid>
                <a:gridCol w="740175"/>
                <a:gridCol w="740175"/>
                <a:gridCol w="740175"/>
                <a:gridCol w="740175"/>
              </a:tblGrid>
              <a:tr h="343550">
                <a:tc gridSpan="4">
                  <a:txBody>
                    <a:bodyPr/>
                    <a:lstStyle/>
                    <a:p>
                      <a:pPr indent="0" lvl="0" marL="0" marR="0" rtl="0" algn="ctr">
                        <a:lnSpc>
                          <a:spcPct val="106000"/>
                        </a:lnSpc>
                        <a:spcBef>
                          <a:spcPts val="0"/>
                        </a:spcBef>
                        <a:spcAft>
                          <a:spcPts val="0"/>
                        </a:spcAft>
                        <a:buNone/>
                      </a:pPr>
                      <a:r>
                        <a:rPr b="1" lang="es-BO" sz="1600">
                          <a:solidFill>
                            <a:schemeClr val="dk1"/>
                          </a:solidFill>
                        </a:rPr>
                        <a:t>TEMPERATURA RTD</a:t>
                      </a:r>
                      <a:endParaRPr b="1"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AE5F1"/>
                    </a:solidFill>
                  </a:tcPr>
                </a:tc>
                <a:tc hMerge="1"/>
                <a:tc hMerge="1"/>
                <a:tc hMerge="1"/>
              </a:tr>
              <a:tr h="343550">
                <a:tc>
                  <a:txBody>
                    <a:bodyPr/>
                    <a:lstStyle/>
                    <a:p>
                      <a:pPr indent="0" lvl="0" marL="0" marR="0" rtl="0" algn="ctr">
                        <a:lnSpc>
                          <a:spcPct val="106000"/>
                        </a:lnSpc>
                        <a:spcBef>
                          <a:spcPts val="0"/>
                        </a:spcBef>
                        <a:spcAft>
                          <a:spcPts val="0"/>
                        </a:spcAft>
                        <a:buNone/>
                      </a:pPr>
                      <a:r>
                        <a:rPr b="1" lang="es-BO" sz="1600">
                          <a:solidFill>
                            <a:schemeClr val="dk1"/>
                          </a:solidFill>
                        </a:rPr>
                        <a:t>T [°C]</a:t>
                      </a:r>
                      <a:endParaRPr b="1"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AE5F1"/>
                    </a:solidFill>
                  </a:tcPr>
                </a:tc>
                <a:tc>
                  <a:txBody>
                    <a:bodyPr/>
                    <a:lstStyle/>
                    <a:p>
                      <a:pPr indent="0" lvl="0" marL="0" marR="0" rtl="0" algn="ctr">
                        <a:lnSpc>
                          <a:spcPct val="106000"/>
                        </a:lnSpc>
                        <a:spcBef>
                          <a:spcPts val="0"/>
                        </a:spcBef>
                        <a:spcAft>
                          <a:spcPts val="0"/>
                        </a:spcAft>
                        <a:buNone/>
                      </a:pPr>
                      <a:r>
                        <a:rPr b="1" lang="es-BO" sz="1600">
                          <a:solidFill>
                            <a:schemeClr val="dk1"/>
                          </a:solidFill>
                        </a:rPr>
                        <a:t>V m[V]</a:t>
                      </a:r>
                      <a:endParaRPr b="1"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AE5F1"/>
                    </a:solidFill>
                  </a:tcPr>
                </a:tc>
                <a:tc>
                  <a:txBody>
                    <a:bodyPr/>
                    <a:lstStyle/>
                    <a:p>
                      <a:pPr indent="0" lvl="0" marL="0" marR="0" rtl="0" algn="ctr">
                        <a:lnSpc>
                          <a:spcPct val="106000"/>
                        </a:lnSpc>
                        <a:spcBef>
                          <a:spcPts val="0"/>
                        </a:spcBef>
                        <a:spcAft>
                          <a:spcPts val="0"/>
                        </a:spcAft>
                        <a:buNone/>
                      </a:pPr>
                      <a:r>
                        <a:rPr b="1" lang="es-BO" sz="1600">
                          <a:solidFill>
                            <a:schemeClr val="dk1"/>
                          </a:solidFill>
                        </a:rPr>
                        <a:t>I mA</a:t>
                      </a:r>
                      <a:endParaRPr b="1"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AE5F1"/>
                    </a:solidFill>
                  </a:tcPr>
                </a:tc>
                <a:tc>
                  <a:txBody>
                    <a:bodyPr/>
                    <a:lstStyle/>
                    <a:p>
                      <a:pPr indent="0" lvl="0" marL="0" marR="0" rtl="0" algn="ctr">
                        <a:lnSpc>
                          <a:spcPct val="106000"/>
                        </a:lnSpc>
                        <a:spcBef>
                          <a:spcPts val="0"/>
                        </a:spcBef>
                        <a:spcAft>
                          <a:spcPts val="0"/>
                        </a:spcAft>
                        <a:buNone/>
                      </a:pPr>
                      <a:r>
                        <a:rPr b="1" lang="es-BO" sz="1600">
                          <a:solidFill>
                            <a:schemeClr val="dk1"/>
                          </a:solidFill>
                        </a:rPr>
                        <a:t>R [Ω]</a:t>
                      </a:r>
                      <a:endParaRPr b="1"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AE5F1"/>
                    </a:solidFill>
                  </a:tcPr>
                </a:tc>
              </a:tr>
              <a:tr h="343550">
                <a:tc>
                  <a:txBody>
                    <a:bodyPr/>
                    <a:lstStyle/>
                    <a:p>
                      <a:pPr indent="0" lvl="0" marL="0" marR="0" rtl="0" algn="ctr">
                        <a:lnSpc>
                          <a:spcPct val="106000"/>
                        </a:lnSpc>
                        <a:spcBef>
                          <a:spcPts val="0"/>
                        </a:spcBef>
                        <a:spcAft>
                          <a:spcPts val="0"/>
                        </a:spcAft>
                        <a:buNone/>
                      </a:pPr>
                      <a:r>
                        <a:rPr b="0" lang="es-BO" sz="1600">
                          <a:solidFill>
                            <a:schemeClr val="dk1"/>
                          </a:solidFill>
                        </a:rPr>
                        <a:t>19</a:t>
                      </a:r>
                      <a:endParaRPr b="0"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AE5F1"/>
                    </a:solidFill>
                  </a:tcPr>
                </a:tc>
                <a:tc>
                  <a:txBody>
                    <a:bodyPr/>
                    <a:lstStyle/>
                    <a:p>
                      <a:pPr indent="0" lvl="0" marL="0" marR="0" rtl="0" algn="ctr">
                        <a:lnSpc>
                          <a:spcPct val="106000"/>
                        </a:lnSpc>
                        <a:spcBef>
                          <a:spcPts val="0"/>
                        </a:spcBef>
                        <a:spcAft>
                          <a:spcPts val="0"/>
                        </a:spcAft>
                        <a:buNone/>
                      </a:pPr>
                      <a:r>
                        <a:rPr b="0" lang="es-BO" sz="1600">
                          <a:solidFill>
                            <a:schemeClr val="dk1"/>
                          </a:solidFill>
                        </a:rPr>
                        <a:t>107</a:t>
                      </a:r>
                      <a:endParaRPr b="0"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6000"/>
                        </a:lnSpc>
                        <a:spcBef>
                          <a:spcPts val="0"/>
                        </a:spcBef>
                        <a:spcAft>
                          <a:spcPts val="0"/>
                        </a:spcAft>
                        <a:buNone/>
                      </a:pPr>
                      <a:r>
                        <a:rPr b="0" lang="es-BO" sz="1600">
                          <a:solidFill>
                            <a:schemeClr val="dk1"/>
                          </a:solidFill>
                        </a:rPr>
                        <a:t>1</a:t>
                      </a:r>
                      <a:endParaRPr b="0"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6000"/>
                        </a:lnSpc>
                        <a:spcBef>
                          <a:spcPts val="0"/>
                        </a:spcBef>
                        <a:spcAft>
                          <a:spcPts val="0"/>
                        </a:spcAft>
                        <a:buNone/>
                      </a:pPr>
                      <a:r>
                        <a:rPr b="0" lang="es-BO" sz="1600">
                          <a:solidFill>
                            <a:schemeClr val="dk1"/>
                          </a:solidFill>
                        </a:rPr>
                        <a:t>107</a:t>
                      </a:r>
                      <a:endParaRPr b="0"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AE5F1"/>
                    </a:solidFill>
                  </a:tcPr>
                </a:tc>
              </a:tr>
              <a:tr h="343550">
                <a:tc>
                  <a:txBody>
                    <a:bodyPr/>
                    <a:lstStyle/>
                    <a:p>
                      <a:pPr indent="0" lvl="0" marL="0" marR="0" rtl="0" algn="ctr">
                        <a:lnSpc>
                          <a:spcPct val="106000"/>
                        </a:lnSpc>
                        <a:spcBef>
                          <a:spcPts val="0"/>
                        </a:spcBef>
                        <a:spcAft>
                          <a:spcPts val="0"/>
                        </a:spcAft>
                        <a:buNone/>
                      </a:pPr>
                      <a:r>
                        <a:rPr b="0" lang="es-BO" sz="1600">
                          <a:solidFill>
                            <a:schemeClr val="dk1"/>
                          </a:solidFill>
                        </a:rPr>
                        <a:t>25</a:t>
                      </a:r>
                      <a:endParaRPr b="0"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AE5F1"/>
                    </a:solidFill>
                  </a:tcPr>
                </a:tc>
                <a:tc>
                  <a:txBody>
                    <a:bodyPr/>
                    <a:lstStyle/>
                    <a:p>
                      <a:pPr indent="0" lvl="0" marL="0" marR="0" rtl="0" algn="ctr">
                        <a:lnSpc>
                          <a:spcPct val="106000"/>
                        </a:lnSpc>
                        <a:spcBef>
                          <a:spcPts val="0"/>
                        </a:spcBef>
                        <a:spcAft>
                          <a:spcPts val="0"/>
                        </a:spcAft>
                        <a:buNone/>
                      </a:pPr>
                      <a:r>
                        <a:rPr b="0" lang="es-BO" sz="1600">
                          <a:solidFill>
                            <a:schemeClr val="dk1"/>
                          </a:solidFill>
                        </a:rPr>
                        <a:t>110,4</a:t>
                      </a:r>
                      <a:endParaRPr b="0"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6000"/>
                        </a:lnSpc>
                        <a:spcBef>
                          <a:spcPts val="0"/>
                        </a:spcBef>
                        <a:spcAft>
                          <a:spcPts val="0"/>
                        </a:spcAft>
                        <a:buNone/>
                      </a:pPr>
                      <a:r>
                        <a:rPr b="0" lang="es-BO" sz="1600">
                          <a:solidFill>
                            <a:schemeClr val="dk1"/>
                          </a:solidFill>
                        </a:rPr>
                        <a:t>1</a:t>
                      </a:r>
                      <a:endParaRPr b="0"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6000"/>
                        </a:lnSpc>
                        <a:spcBef>
                          <a:spcPts val="0"/>
                        </a:spcBef>
                        <a:spcAft>
                          <a:spcPts val="0"/>
                        </a:spcAft>
                        <a:buNone/>
                      </a:pPr>
                      <a:r>
                        <a:rPr b="0" lang="es-BO" sz="1600">
                          <a:solidFill>
                            <a:schemeClr val="dk1"/>
                          </a:solidFill>
                        </a:rPr>
                        <a:t>110,4</a:t>
                      </a:r>
                      <a:endParaRPr b="0"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AE5F1"/>
                    </a:solidFill>
                  </a:tcPr>
                </a:tc>
              </a:tr>
              <a:tr h="343550">
                <a:tc>
                  <a:txBody>
                    <a:bodyPr/>
                    <a:lstStyle/>
                    <a:p>
                      <a:pPr indent="0" lvl="0" marL="0" marR="0" rtl="0" algn="ctr">
                        <a:lnSpc>
                          <a:spcPct val="106000"/>
                        </a:lnSpc>
                        <a:spcBef>
                          <a:spcPts val="0"/>
                        </a:spcBef>
                        <a:spcAft>
                          <a:spcPts val="0"/>
                        </a:spcAft>
                        <a:buNone/>
                      </a:pPr>
                      <a:r>
                        <a:rPr b="0" lang="es-BO" sz="1600">
                          <a:solidFill>
                            <a:schemeClr val="dk1"/>
                          </a:solidFill>
                        </a:rPr>
                        <a:t>30</a:t>
                      </a:r>
                      <a:endParaRPr b="0"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AE5F1"/>
                    </a:solidFill>
                  </a:tcPr>
                </a:tc>
                <a:tc>
                  <a:txBody>
                    <a:bodyPr/>
                    <a:lstStyle/>
                    <a:p>
                      <a:pPr indent="0" lvl="0" marL="0" marR="0" rtl="0" algn="ctr">
                        <a:lnSpc>
                          <a:spcPct val="106000"/>
                        </a:lnSpc>
                        <a:spcBef>
                          <a:spcPts val="0"/>
                        </a:spcBef>
                        <a:spcAft>
                          <a:spcPts val="0"/>
                        </a:spcAft>
                        <a:buNone/>
                      </a:pPr>
                      <a:r>
                        <a:rPr b="0" lang="es-BO" sz="1600">
                          <a:solidFill>
                            <a:schemeClr val="dk1"/>
                          </a:solidFill>
                        </a:rPr>
                        <a:t>118,3</a:t>
                      </a:r>
                      <a:endParaRPr b="0"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6000"/>
                        </a:lnSpc>
                        <a:spcBef>
                          <a:spcPts val="0"/>
                        </a:spcBef>
                        <a:spcAft>
                          <a:spcPts val="0"/>
                        </a:spcAft>
                        <a:buNone/>
                      </a:pPr>
                      <a:r>
                        <a:rPr b="0" lang="es-BO" sz="1600">
                          <a:solidFill>
                            <a:schemeClr val="dk1"/>
                          </a:solidFill>
                        </a:rPr>
                        <a:t>1</a:t>
                      </a:r>
                      <a:endParaRPr b="0"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6000"/>
                        </a:lnSpc>
                        <a:spcBef>
                          <a:spcPts val="0"/>
                        </a:spcBef>
                        <a:spcAft>
                          <a:spcPts val="0"/>
                        </a:spcAft>
                        <a:buNone/>
                      </a:pPr>
                      <a:r>
                        <a:rPr b="0" lang="es-BO" sz="1600">
                          <a:solidFill>
                            <a:schemeClr val="dk1"/>
                          </a:solidFill>
                        </a:rPr>
                        <a:t>118,3</a:t>
                      </a:r>
                      <a:endParaRPr b="0"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AE5F1"/>
                    </a:solidFill>
                  </a:tcPr>
                </a:tc>
              </a:tr>
              <a:tr h="343550">
                <a:tc>
                  <a:txBody>
                    <a:bodyPr/>
                    <a:lstStyle/>
                    <a:p>
                      <a:pPr indent="0" lvl="0" marL="0" marR="0" rtl="0" algn="ctr">
                        <a:lnSpc>
                          <a:spcPct val="106000"/>
                        </a:lnSpc>
                        <a:spcBef>
                          <a:spcPts val="0"/>
                        </a:spcBef>
                        <a:spcAft>
                          <a:spcPts val="0"/>
                        </a:spcAft>
                        <a:buNone/>
                      </a:pPr>
                      <a:r>
                        <a:rPr b="0" lang="es-BO" sz="1600">
                          <a:solidFill>
                            <a:schemeClr val="dk1"/>
                          </a:solidFill>
                        </a:rPr>
                        <a:t>39</a:t>
                      </a:r>
                      <a:endParaRPr b="0"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AE5F1"/>
                    </a:solidFill>
                  </a:tcPr>
                </a:tc>
                <a:tc>
                  <a:txBody>
                    <a:bodyPr/>
                    <a:lstStyle/>
                    <a:p>
                      <a:pPr indent="0" lvl="0" marL="0" marR="0" rtl="0" algn="ctr">
                        <a:lnSpc>
                          <a:spcPct val="106000"/>
                        </a:lnSpc>
                        <a:spcBef>
                          <a:spcPts val="0"/>
                        </a:spcBef>
                        <a:spcAft>
                          <a:spcPts val="0"/>
                        </a:spcAft>
                        <a:buNone/>
                      </a:pPr>
                      <a:r>
                        <a:rPr b="0" lang="es-BO" sz="1600">
                          <a:solidFill>
                            <a:schemeClr val="dk1"/>
                          </a:solidFill>
                        </a:rPr>
                        <a:t>121,6</a:t>
                      </a:r>
                      <a:endParaRPr b="0"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6000"/>
                        </a:lnSpc>
                        <a:spcBef>
                          <a:spcPts val="0"/>
                        </a:spcBef>
                        <a:spcAft>
                          <a:spcPts val="0"/>
                        </a:spcAft>
                        <a:buNone/>
                      </a:pPr>
                      <a:r>
                        <a:rPr b="0" lang="es-BO" sz="1600">
                          <a:solidFill>
                            <a:schemeClr val="dk1"/>
                          </a:solidFill>
                        </a:rPr>
                        <a:t>1</a:t>
                      </a:r>
                      <a:endParaRPr b="0"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6000"/>
                        </a:lnSpc>
                        <a:spcBef>
                          <a:spcPts val="0"/>
                        </a:spcBef>
                        <a:spcAft>
                          <a:spcPts val="0"/>
                        </a:spcAft>
                        <a:buNone/>
                      </a:pPr>
                      <a:r>
                        <a:rPr b="0" lang="es-BO" sz="1600">
                          <a:solidFill>
                            <a:schemeClr val="dk1"/>
                          </a:solidFill>
                        </a:rPr>
                        <a:t>121,6</a:t>
                      </a:r>
                      <a:endParaRPr b="0"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AE5F1"/>
                    </a:solidFill>
                  </a:tcPr>
                </a:tc>
              </a:tr>
              <a:tr h="343550">
                <a:tc>
                  <a:txBody>
                    <a:bodyPr/>
                    <a:lstStyle/>
                    <a:p>
                      <a:pPr indent="0" lvl="0" marL="0" marR="0" rtl="0" algn="ctr">
                        <a:lnSpc>
                          <a:spcPct val="106000"/>
                        </a:lnSpc>
                        <a:spcBef>
                          <a:spcPts val="0"/>
                        </a:spcBef>
                        <a:spcAft>
                          <a:spcPts val="0"/>
                        </a:spcAft>
                        <a:buNone/>
                      </a:pPr>
                      <a:r>
                        <a:rPr b="0" lang="es-BO" sz="1600">
                          <a:solidFill>
                            <a:schemeClr val="dk1"/>
                          </a:solidFill>
                        </a:rPr>
                        <a:t>50</a:t>
                      </a:r>
                      <a:endParaRPr b="0"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AE5F1"/>
                    </a:solidFill>
                  </a:tcPr>
                </a:tc>
                <a:tc>
                  <a:txBody>
                    <a:bodyPr/>
                    <a:lstStyle/>
                    <a:p>
                      <a:pPr indent="0" lvl="0" marL="0" marR="0" rtl="0" algn="ctr">
                        <a:lnSpc>
                          <a:spcPct val="106000"/>
                        </a:lnSpc>
                        <a:spcBef>
                          <a:spcPts val="0"/>
                        </a:spcBef>
                        <a:spcAft>
                          <a:spcPts val="0"/>
                        </a:spcAft>
                        <a:buNone/>
                      </a:pPr>
                      <a:r>
                        <a:rPr b="0" lang="es-BO" sz="1600">
                          <a:solidFill>
                            <a:schemeClr val="dk1"/>
                          </a:solidFill>
                        </a:rPr>
                        <a:t>122,5</a:t>
                      </a:r>
                      <a:endParaRPr b="0"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6000"/>
                        </a:lnSpc>
                        <a:spcBef>
                          <a:spcPts val="0"/>
                        </a:spcBef>
                        <a:spcAft>
                          <a:spcPts val="0"/>
                        </a:spcAft>
                        <a:buNone/>
                      </a:pPr>
                      <a:r>
                        <a:rPr b="0" lang="es-BO" sz="1600">
                          <a:solidFill>
                            <a:schemeClr val="dk1"/>
                          </a:solidFill>
                        </a:rPr>
                        <a:t>1</a:t>
                      </a:r>
                      <a:endParaRPr b="0"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6000"/>
                        </a:lnSpc>
                        <a:spcBef>
                          <a:spcPts val="0"/>
                        </a:spcBef>
                        <a:spcAft>
                          <a:spcPts val="0"/>
                        </a:spcAft>
                        <a:buNone/>
                      </a:pPr>
                      <a:r>
                        <a:rPr b="0" lang="es-BO" sz="1600">
                          <a:solidFill>
                            <a:schemeClr val="dk1"/>
                          </a:solidFill>
                        </a:rPr>
                        <a:t>122,5</a:t>
                      </a:r>
                      <a:endParaRPr b="0"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AE5F1"/>
                    </a:solidFill>
                  </a:tcPr>
                </a:tc>
              </a:tr>
              <a:tr h="343550">
                <a:tc>
                  <a:txBody>
                    <a:bodyPr/>
                    <a:lstStyle/>
                    <a:p>
                      <a:pPr indent="0" lvl="0" marL="0" marR="0" rtl="0" algn="ctr">
                        <a:lnSpc>
                          <a:spcPct val="106000"/>
                        </a:lnSpc>
                        <a:spcBef>
                          <a:spcPts val="0"/>
                        </a:spcBef>
                        <a:spcAft>
                          <a:spcPts val="0"/>
                        </a:spcAft>
                        <a:buNone/>
                      </a:pPr>
                      <a:r>
                        <a:rPr b="0" lang="es-BO" sz="1600">
                          <a:solidFill>
                            <a:schemeClr val="dk1"/>
                          </a:solidFill>
                        </a:rPr>
                        <a:t>61</a:t>
                      </a:r>
                      <a:endParaRPr b="0"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AE5F1"/>
                    </a:solidFill>
                  </a:tcPr>
                </a:tc>
                <a:tc>
                  <a:txBody>
                    <a:bodyPr/>
                    <a:lstStyle/>
                    <a:p>
                      <a:pPr indent="0" lvl="0" marL="0" marR="0" rtl="0" algn="ctr">
                        <a:lnSpc>
                          <a:spcPct val="106000"/>
                        </a:lnSpc>
                        <a:spcBef>
                          <a:spcPts val="0"/>
                        </a:spcBef>
                        <a:spcAft>
                          <a:spcPts val="0"/>
                        </a:spcAft>
                        <a:buNone/>
                      </a:pPr>
                      <a:r>
                        <a:rPr b="0" lang="es-BO" sz="1600">
                          <a:solidFill>
                            <a:schemeClr val="dk1"/>
                          </a:solidFill>
                        </a:rPr>
                        <a:t>125,4</a:t>
                      </a:r>
                      <a:endParaRPr b="0"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6000"/>
                        </a:lnSpc>
                        <a:spcBef>
                          <a:spcPts val="0"/>
                        </a:spcBef>
                        <a:spcAft>
                          <a:spcPts val="0"/>
                        </a:spcAft>
                        <a:buNone/>
                      </a:pPr>
                      <a:r>
                        <a:rPr b="0" lang="es-BO" sz="1600">
                          <a:solidFill>
                            <a:schemeClr val="dk1"/>
                          </a:solidFill>
                        </a:rPr>
                        <a:t>1</a:t>
                      </a:r>
                      <a:endParaRPr b="0"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6000"/>
                        </a:lnSpc>
                        <a:spcBef>
                          <a:spcPts val="0"/>
                        </a:spcBef>
                        <a:spcAft>
                          <a:spcPts val="0"/>
                        </a:spcAft>
                        <a:buNone/>
                      </a:pPr>
                      <a:r>
                        <a:rPr b="0" lang="es-BO" sz="1600">
                          <a:solidFill>
                            <a:schemeClr val="dk1"/>
                          </a:solidFill>
                        </a:rPr>
                        <a:t>125,4</a:t>
                      </a:r>
                      <a:endParaRPr b="0"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AE5F1"/>
                    </a:solidFill>
                  </a:tcPr>
                </a:tc>
              </a:tr>
              <a:tr h="343550">
                <a:tc>
                  <a:txBody>
                    <a:bodyPr/>
                    <a:lstStyle/>
                    <a:p>
                      <a:pPr indent="0" lvl="0" marL="0" marR="0" rtl="0" algn="ctr">
                        <a:lnSpc>
                          <a:spcPct val="106000"/>
                        </a:lnSpc>
                        <a:spcBef>
                          <a:spcPts val="0"/>
                        </a:spcBef>
                        <a:spcAft>
                          <a:spcPts val="0"/>
                        </a:spcAft>
                        <a:buNone/>
                      </a:pPr>
                      <a:r>
                        <a:rPr b="0" lang="es-BO" sz="1600">
                          <a:solidFill>
                            <a:schemeClr val="dk1"/>
                          </a:solidFill>
                        </a:rPr>
                        <a:t>65</a:t>
                      </a:r>
                      <a:endParaRPr b="0"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AE5F1"/>
                    </a:solidFill>
                  </a:tcPr>
                </a:tc>
                <a:tc>
                  <a:txBody>
                    <a:bodyPr/>
                    <a:lstStyle/>
                    <a:p>
                      <a:pPr indent="0" lvl="0" marL="0" marR="0" rtl="0" algn="ctr">
                        <a:lnSpc>
                          <a:spcPct val="106000"/>
                        </a:lnSpc>
                        <a:spcBef>
                          <a:spcPts val="0"/>
                        </a:spcBef>
                        <a:spcAft>
                          <a:spcPts val="0"/>
                        </a:spcAft>
                        <a:buNone/>
                      </a:pPr>
                      <a:r>
                        <a:rPr b="0" lang="es-BO" sz="1600">
                          <a:solidFill>
                            <a:schemeClr val="dk1"/>
                          </a:solidFill>
                        </a:rPr>
                        <a:t>129,5</a:t>
                      </a:r>
                      <a:endParaRPr b="0"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6000"/>
                        </a:lnSpc>
                        <a:spcBef>
                          <a:spcPts val="0"/>
                        </a:spcBef>
                        <a:spcAft>
                          <a:spcPts val="0"/>
                        </a:spcAft>
                        <a:buNone/>
                      </a:pPr>
                      <a:r>
                        <a:rPr b="0" lang="es-BO" sz="1600">
                          <a:solidFill>
                            <a:schemeClr val="dk1"/>
                          </a:solidFill>
                        </a:rPr>
                        <a:t>1</a:t>
                      </a:r>
                      <a:endParaRPr b="0"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6000"/>
                        </a:lnSpc>
                        <a:spcBef>
                          <a:spcPts val="0"/>
                        </a:spcBef>
                        <a:spcAft>
                          <a:spcPts val="0"/>
                        </a:spcAft>
                        <a:buNone/>
                      </a:pPr>
                      <a:r>
                        <a:rPr b="0" lang="es-BO" sz="1600">
                          <a:solidFill>
                            <a:schemeClr val="dk1"/>
                          </a:solidFill>
                        </a:rPr>
                        <a:t>129,5</a:t>
                      </a:r>
                      <a:endParaRPr b="0"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AE5F1"/>
                    </a:solidFill>
                  </a:tcPr>
                </a:tc>
              </a:tr>
              <a:tr h="343550">
                <a:tc>
                  <a:txBody>
                    <a:bodyPr/>
                    <a:lstStyle/>
                    <a:p>
                      <a:pPr indent="0" lvl="0" marL="0" marR="0" rtl="0" algn="ctr">
                        <a:lnSpc>
                          <a:spcPct val="106000"/>
                        </a:lnSpc>
                        <a:spcBef>
                          <a:spcPts val="0"/>
                        </a:spcBef>
                        <a:spcAft>
                          <a:spcPts val="0"/>
                        </a:spcAft>
                        <a:buNone/>
                      </a:pPr>
                      <a:r>
                        <a:rPr b="0" lang="es-BO" sz="1600">
                          <a:solidFill>
                            <a:schemeClr val="dk1"/>
                          </a:solidFill>
                        </a:rPr>
                        <a:t>80</a:t>
                      </a:r>
                      <a:endParaRPr b="0"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AE5F1"/>
                    </a:solidFill>
                  </a:tcPr>
                </a:tc>
                <a:tc>
                  <a:txBody>
                    <a:bodyPr/>
                    <a:lstStyle/>
                    <a:p>
                      <a:pPr indent="0" lvl="0" marL="0" marR="0" rtl="0" algn="ctr">
                        <a:lnSpc>
                          <a:spcPct val="106000"/>
                        </a:lnSpc>
                        <a:spcBef>
                          <a:spcPts val="0"/>
                        </a:spcBef>
                        <a:spcAft>
                          <a:spcPts val="0"/>
                        </a:spcAft>
                        <a:buNone/>
                      </a:pPr>
                      <a:r>
                        <a:rPr b="0" lang="es-BO" sz="1600">
                          <a:solidFill>
                            <a:schemeClr val="dk1"/>
                          </a:solidFill>
                        </a:rPr>
                        <a:t>135</a:t>
                      </a:r>
                      <a:endParaRPr b="0"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6000"/>
                        </a:lnSpc>
                        <a:spcBef>
                          <a:spcPts val="0"/>
                        </a:spcBef>
                        <a:spcAft>
                          <a:spcPts val="0"/>
                        </a:spcAft>
                        <a:buNone/>
                      </a:pPr>
                      <a:r>
                        <a:rPr b="0" lang="es-BO" sz="1600">
                          <a:solidFill>
                            <a:schemeClr val="dk1"/>
                          </a:solidFill>
                        </a:rPr>
                        <a:t>1</a:t>
                      </a:r>
                      <a:endParaRPr b="0"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6000"/>
                        </a:lnSpc>
                        <a:spcBef>
                          <a:spcPts val="0"/>
                        </a:spcBef>
                        <a:spcAft>
                          <a:spcPts val="0"/>
                        </a:spcAft>
                        <a:buNone/>
                      </a:pPr>
                      <a:r>
                        <a:rPr b="0" lang="es-BO" sz="1600">
                          <a:solidFill>
                            <a:schemeClr val="dk1"/>
                          </a:solidFill>
                        </a:rPr>
                        <a:t>135</a:t>
                      </a:r>
                      <a:endParaRPr b="0"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AE5F1"/>
                    </a:solidFill>
                  </a:tcPr>
                </a:tc>
              </a:tr>
              <a:tr h="343550">
                <a:tc>
                  <a:txBody>
                    <a:bodyPr/>
                    <a:lstStyle/>
                    <a:p>
                      <a:pPr indent="0" lvl="0" marL="0" marR="0" rtl="0" algn="ctr">
                        <a:lnSpc>
                          <a:spcPct val="106000"/>
                        </a:lnSpc>
                        <a:spcBef>
                          <a:spcPts val="0"/>
                        </a:spcBef>
                        <a:spcAft>
                          <a:spcPts val="0"/>
                        </a:spcAft>
                        <a:buNone/>
                      </a:pPr>
                      <a:r>
                        <a:rPr b="0" lang="es-BO" sz="1600">
                          <a:solidFill>
                            <a:schemeClr val="dk1"/>
                          </a:solidFill>
                        </a:rPr>
                        <a:t>85</a:t>
                      </a:r>
                      <a:endParaRPr b="0"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AE5F1"/>
                    </a:solidFill>
                  </a:tcPr>
                </a:tc>
                <a:tc>
                  <a:txBody>
                    <a:bodyPr/>
                    <a:lstStyle/>
                    <a:p>
                      <a:pPr indent="0" lvl="0" marL="0" marR="0" rtl="0" algn="ctr">
                        <a:lnSpc>
                          <a:spcPct val="106000"/>
                        </a:lnSpc>
                        <a:spcBef>
                          <a:spcPts val="0"/>
                        </a:spcBef>
                        <a:spcAft>
                          <a:spcPts val="0"/>
                        </a:spcAft>
                        <a:buNone/>
                      </a:pPr>
                      <a:r>
                        <a:rPr b="0" lang="es-BO" sz="1600">
                          <a:solidFill>
                            <a:schemeClr val="dk1"/>
                          </a:solidFill>
                        </a:rPr>
                        <a:t>137</a:t>
                      </a:r>
                      <a:endParaRPr b="0"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6000"/>
                        </a:lnSpc>
                        <a:spcBef>
                          <a:spcPts val="0"/>
                        </a:spcBef>
                        <a:spcAft>
                          <a:spcPts val="0"/>
                        </a:spcAft>
                        <a:buNone/>
                      </a:pPr>
                      <a:r>
                        <a:rPr b="0" lang="es-BO" sz="1600">
                          <a:solidFill>
                            <a:schemeClr val="dk1"/>
                          </a:solidFill>
                        </a:rPr>
                        <a:t>1</a:t>
                      </a:r>
                      <a:endParaRPr b="0"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6000"/>
                        </a:lnSpc>
                        <a:spcBef>
                          <a:spcPts val="0"/>
                        </a:spcBef>
                        <a:spcAft>
                          <a:spcPts val="0"/>
                        </a:spcAft>
                        <a:buNone/>
                      </a:pPr>
                      <a:r>
                        <a:rPr b="0" lang="es-BO" sz="1600">
                          <a:solidFill>
                            <a:schemeClr val="dk1"/>
                          </a:solidFill>
                        </a:rPr>
                        <a:t>137</a:t>
                      </a:r>
                      <a:endParaRPr b="0"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AE5F1"/>
                    </a:solidFill>
                  </a:tcPr>
                </a:tc>
              </a:tr>
              <a:tr h="343550">
                <a:tc>
                  <a:txBody>
                    <a:bodyPr/>
                    <a:lstStyle/>
                    <a:p>
                      <a:pPr indent="0" lvl="0" marL="0" marR="0" rtl="0" algn="ctr">
                        <a:lnSpc>
                          <a:spcPct val="106000"/>
                        </a:lnSpc>
                        <a:spcBef>
                          <a:spcPts val="0"/>
                        </a:spcBef>
                        <a:spcAft>
                          <a:spcPts val="0"/>
                        </a:spcAft>
                        <a:buNone/>
                      </a:pPr>
                      <a:r>
                        <a:rPr b="0" lang="es-BO" sz="1600">
                          <a:solidFill>
                            <a:schemeClr val="dk1"/>
                          </a:solidFill>
                        </a:rPr>
                        <a:t>99</a:t>
                      </a:r>
                      <a:endParaRPr b="0"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AE5F1"/>
                    </a:solidFill>
                  </a:tcPr>
                </a:tc>
                <a:tc>
                  <a:txBody>
                    <a:bodyPr/>
                    <a:lstStyle/>
                    <a:p>
                      <a:pPr indent="0" lvl="0" marL="0" marR="0" rtl="0" algn="ctr">
                        <a:lnSpc>
                          <a:spcPct val="106000"/>
                        </a:lnSpc>
                        <a:spcBef>
                          <a:spcPts val="0"/>
                        </a:spcBef>
                        <a:spcAft>
                          <a:spcPts val="0"/>
                        </a:spcAft>
                        <a:buNone/>
                      </a:pPr>
                      <a:r>
                        <a:rPr b="0" lang="es-BO" sz="1600">
                          <a:solidFill>
                            <a:schemeClr val="dk1"/>
                          </a:solidFill>
                        </a:rPr>
                        <a:t>141,2</a:t>
                      </a:r>
                      <a:endParaRPr b="0"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6000"/>
                        </a:lnSpc>
                        <a:spcBef>
                          <a:spcPts val="0"/>
                        </a:spcBef>
                        <a:spcAft>
                          <a:spcPts val="0"/>
                        </a:spcAft>
                        <a:buNone/>
                      </a:pPr>
                      <a:r>
                        <a:rPr b="0" lang="es-BO" sz="1600">
                          <a:solidFill>
                            <a:schemeClr val="dk1"/>
                          </a:solidFill>
                        </a:rPr>
                        <a:t>1</a:t>
                      </a:r>
                      <a:endParaRPr b="0"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6000"/>
                        </a:lnSpc>
                        <a:spcBef>
                          <a:spcPts val="0"/>
                        </a:spcBef>
                        <a:spcAft>
                          <a:spcPts val="0"/>
                        </a:spcAft>
                        <a:buNone/>
                      </a:pPr>
                      <a:r>
                        <a:rPr b="0" lang="es-BO" sz="1600">
                          <a:solidFill>
                            <a:schemeClr val="dk1"/>
                          </a:solidFill>
                        </a:rPr>
                        <a:t>141,2</a:t>
                      </a:r>
                      <a:endParaRPr b="0"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AE5F1"/>
                    </a:solidFill>
                  </a:tcPr>
                </a:tc>
              </a:tr>
              <a:tr h="343550">
                <a:tc>
                  <a:txBody>
                    <a:bodyPr/>
                    <a:lstStyle/>
                    <a:p>
                      <a:pPr indent="0" lvl="0" marL="0" marR="0" rtl="0" algn="ctr">
                        <a:lnSpc>
                          <a:spcPct val="106000"/>
                        </a:lnSpc>
                        <a:spcBef>
                          <a:spcPts val="0"/>
                        </a:spcBef>
                        <a:spcAft>
                          <a:spcPts val="0"/>
                        </a:spcAft>
                        <a:buNone/>
                      </a:pPr>
                      <a:r>
                        <a:rPr b="0" lang="es-BO" sz="1600">
                          <a:solidFill>
                            <a:schemeClr val="dk1"/>
                          </a:solidFill>
                        </a:rPr>
                        <a:t>120</a:t>
                      </a:r>
                      <a:endParaRPr b="0"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AE5F1"/>
                    </a:solidFill>
                  </a:tcPr>
                </a:tc>
                <a:tc>
                  <a:txBody>
                    <a:bodyPr/>
                    <a:lstStyle/>
                    <a:p>
                      <a:pPr indent="0" lvl="0" marL="0" marR="0" rtl="0" algn="ctr">
                        <a:lnSpc>
                          <a:spcPct val="106000"/>
                        </a:lnSpc>
                        <a:spcBef>
                          <a:spcPts val="0"/>
                        </a:spcBef>
                        <a:spcAft>
                          <a:spcPts val="0"/>
                        </a:spcAft>
                        <a:buNone/>
                      </a:pPr>
                      <a:r>
                        <a:rPr b="0" lang="es-BO" sz="1600">
                          <a:solidFill>
                            <a:schemeClr val="dk1"/>
                          </a:solidFill>
                        </a:rPr>
                        <a:t>151</a:t>
                      </a:r>
                      <a:endParaRPr b="0"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6000"/>
                        </a:lnSpc>
                        <a:spcBef>
                          <a:spcPts val="0"/>
                        </a:spcBef>
                        <a:spcAft>
                          <a:spcPts val="0"/>
                        </a:spcAft>
                        <a:buNone/>
                      </a:pPr>
                      <a:r>
                        <a:rPr b="0" lang="es-BO" sz="1600">
                          <a:solidFill>
                            <a:schemeClr val="dk1"/>
                          </a:solidFill>
                        </a:rPr>
                        <a:t>1</a:t>
                      </a:r>
                      <a:endParaRPr b="0"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6000"/>
                        </a:lnSpc>
                        <a:spcBef>
                          <a:spcPts val="0"/>
                        </a:spcBef>
                        <a:spcAft>
                          <a:spcPts val="0"/>
                        </a:spcAft>
                        <a:buNone/>
                      </a:pPr>
                      <a:r>
                        <a:rPr b="0" lang="es-BO" sz="1600">
                          <a:solidFill>
                            <a:schemeClr val="dk1"/>
                          </a:solidFill>
                        </a:rPr>
                        <a:t>151</a:t>
                      </a:r>
                      <a:endParaRPr b="0"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AE5F1"/>
                    </a:solidFill>
                  </a:tcPr>
                </a:tc>
              </a:tr>
              <a:tr h="343550">
                <a:tc>
                  <a:txBody>
                    <a:bodyPr/>
                    <a:lstStyle/>
                    <a:p>
                      <a:pPr indent="0" lvl="0" marL="0" marR="0" rtl="0" algn="ctr">
                        <a:lnSpc>
                          <a:spcPct val="106000"/>
                        </a:lnSpc>
                        <a:spcBef>
                          <a:spcPts val="0"/>
                        </a:spcBef>
                        <a:spcAft>
                          <a:spcPts val="0"/>
                        </a:spcAft>
                        <a:buNone/>
                      </a:pPr>
                      <a:r>
                        <a:rPr b="0" lang="es-BO" sz="1600">
                          <a:solidFill>
                            <a:schemeClr val="dk1"/>
                          </a:solidFill>
                        </a:rPr>
                        <a:t>135</a:t>
                      </a:r>
                      <a:endParaRPr b="0"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AE5F1"/>
                    </a:solidFill>
                  </a:tcPr>
                </a:tc>
                <a:tc>
                  <a:txBody>
                    <a:bodyPr/>
                    <a:lstStyle/>
                    <a:p>
                      <a:pPr indent="0" lvl="0" marL="0" marR="0" rtl="0" algn="ctr">
                        <a:lnSpc>
                          <a:spcPct val="106000"/>
                        </a:lnSpc>
                        <a:spcBef>
                          <a:spcPts val="0"/>
                        </a:spcBef>
                        <a:spcAft>
                          <a:spcPts val="0"/>
                        </a:spcAft>
                        <a:buNone/>
                      </a:pPr>
                      <a:r>
                        <a:rPr b="0" lang="es-BO" sz="1600">
                          <a:solidFill>
                            <a:schemeClr val="dk1"/>
                          </a:solidFill>
                        </a:rPr>
                        <a:t>156,1</a:t>
                      </a:r>
                      <a:endParaRPr b="0"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6000"/>
                        </a:lnSpc>
                        <a:spcBef>
                          <a:spcPts val="0"/>
                        </a:spcBef>
                        <a:spcAft>
                          <a:spcPts val="0"/>
                        </a:spcAft>
                        <a:buNone/>
                      </a:pPr>
                      <a:r>
                        <a:rPr b="0" lang="es-BO" sz="1600">
                          <a:solidFill>
                            <a:schemeClr val="dk1"/>
                          </a:solidFill>
                        </a:rPr>
                        <a:t>1</a:t>
                      </a:r>
                      <a:endParaRPr b="0"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6000"/>
                        </a:lnSpc>
                        <a:spcBef>
                          <a:spcPts val="0"/>
                        </a:spcBef>
                        <a:spcAft>
                          <a:spcPts val="0"/>
                        </a:spcAft>
                        <a:buNone/>
                      </a:pPr>
                      <a:r>
                        <a:rPr b="0" lang="es-BO" sz="1600">
                          <a:solidFill>
                            <a:schemeClr val="dk1"/>
                          </a:solidFill>
                        </a:rPr>
                        <a:t>156,1</a:t>
                      </a:r>
                      <a:endParaRPr b="0"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AE5F1"/>
                    </a:solidFill>
                  </a:tcPr>
                </a:tc>
              </a:tr>
            </a:tbl>
          </a:graphicData>
        </a:graphic>
      </p:graphicFrame>
      <p:grpSp>
        <p:nvGrpSpPr>
          <p:cNvPr id="702" name="Google Shape;702;p41"/>
          <p:cNvGrpSpPr/>
          <p:nvPr/>
        </p:nvGrpSpPr>
        <p:grpSpPr>
          <a:xfrm>
            <a:off x="4933443" y="824918"/>
            <a:ext cx="6977780" cy="4788430"/>
            <a:chOff x="4926535" y="1387359"/>
            <a:chExt cx="6897701" cy="4401935"/>
          </a:xfrm>
        </p:grpSpPr>
        <p:pic>
          <p:nvPicPr>
            <p:cNvPr id="703" name="Google Shape;703;p41"/>
            <p:cNvPicPr preferRelativeResize="0"/>
            <p:nvPr/>
          </p:nvPicPr>
          <p:blipFill rotWithShape="1">
            <a:blip r:embed="rId4">
              <a:alphaModFix/>
            </a:blip>
            <a:srcRect b="0" l="0" r="0" t="0"/>
            <a:stretch/>
          </p:blipFill>
          <p:spPr>
            <a:xfrm>
              <a:off x="4926535" y="1387359"/>
              <a:ext cx="6897701" cy="4401935"/>
            </a:xfrm>
            <a:prstGeom prst="rect">
              <a:avLst/>
            </a:prstGeom>
            <a:noFill/>
            <a:ln>
              <a:noFill/>
            </a:ln>
          </p:spPr>
        </p:pic>
        <p:sp>
          <p:nvSpPr>
            <p:cNvPr id="704" name="Google Shape;704;p41"/>
            <p:cNvSpPr/>
            <p:nvPr/>
          </p:nvSpPr>
          <p:spPr>
            <a:xfrm>
              <a:off x="6096000" y="5413829"/>
              <a:ext cx="1175657" cy="253445"/>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705" name="Google Shape;705;p41"/>
          <p:cNvGrpSpPr/>
          <p:nvPr/>
        </p:nvGrpSpPr>
        <p:grpSpPr>
          <a:xfrm>
            <a:off x="407368" y="3573007"/>
            <a:ext cx="5718059" cy="3328800"/>
            <a:chOff x="407368" y="3573007"/>
            <a:chExt cx="5718059" cy="3328800"/>
          </a:xfrm>
        </p:grpSpPr>
        <p:grpSp>
          <p:nvGrpSpPr>
            <p:cNvPr id="706" name="Google Shape;706;p41"/>
            <p:cNvGrpSpPr/>
            <p:nvPr/>
          </p:nvGrpSpPr>
          <p:grpSpPr>
            <a:xfrm>
              <a:off x="407368" y="3573007"/>
              <a:ext cx="5718059" cy="2706261"/>
              <a:chOff x="407368" y="3573007"/>
              <a:chExt cx="5718059" cy="2706261"/>
            </a:xfrm>
          </p:grpSpPr>
          <p:grpSp>
            <p:nvGrpSpPr>
              <p:cNvPr id="707" name="Google Shape;707;p41"/>
              <p:cNvGrpSpPr/>
              <p:nvPr/>
            </p:nvGrpSpPr>
            <p:grpSpPr>
              <a:xfrm>
                <a:off x="407368" y="3573007"/>
                <a:ext cx="5718059" cy="2706261"/>
                <a:chOff x="391983" y="0"/>
                <a:chExt cx="4523654" cy="2117726"/>
              </a:xfrm>
            </p:grpSpPr>
            <p:pic>
              <p:nvPicPr>
                <p:cNvPr id="708" name="Google Shape;708;p41"/>
                <p:cNvPicPr preferRelativeResize="0"/>
                <p:nvPr/>
              </p:nvPicPr>
              <p:blipFill rotWithShape="1">
                <a:blip r:embed="rId5">
                  <a:alphaModFix/>
                </a:blip>
                <a:srcRect b="0" l="15086" r="0" t="0"/>
                <a:stretch/>
              </p:blipFill>
              <p:spPr>
                <a:xfrm>
                  <a:off x="1722991" y="0"/>
                  <a:ext cx="3192646" cy="1732915"/>
                </a:xfrm>
                <a:prstGeom prst="rect">
                  <a:avLst/>
                </a:prstGeom>
                <a:noFill/>
                <a:ln>
                  <a:noFill/>
                </a:ln>
              </p:spPr>
            </p:pic>
            <p:sp>
              <p:nvSpPr>
                <p:cNvPr id="709" name="Google Shape;709;p41"/>
                <p:cNvSpPr/>
                <p:nvPr/>
              </p:nvSpPr>
              <p:spPr>
                <a:xfrm>
                  <a:off x="2659837" y="699364"/>
                  <a:ext cx="835862" cy="375858"/>
                </a:xfrm>
                <a:prstGeom prst="ellipse">
                  <a:avLst/>
                </a:prstGeom>
                <a:noFill/>
                <a:ln cap="flat" cmpd="sng" w="28575">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710" name="Google Shape;710;p41"/>
                <p:cNvSpPr/>
                <p:nvPr/>
              </p:nvSpPr>
              <p:spPr>
                <a:xfrm>
                  <a:off x="3654704" y="304343"/>
                  <a:ext cx="704616" cy="996327"/>
                </a:xfrm>
                <a:prstGeom prst="ellipse">
                  <a:avLst/>
                </a:prstGeom>
                <a:noFill/>
                <a:ln cap="flat" cmpd="sng" w="28575">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711" name="Google Shape;711;p41"/>
                <p:cNvSpPr/>
                <p:nvPr/>
              </p:nvSpPr>
              <p:spPr>
                <a:xfrm>
                  <a:off x="3034201" y="1089288"/>
                  <a:ext cx="1002381" cy="891961"/>
                </a:xfrm>
                <a:custGeom>
                  <a:rect b="b" l="l" r="r" t="t"/>
                  <a:pathLst>
                    <a:path extrusionOk="0" h="891961" w="2407697">
                      <a:moveTo>
                        <a:pt x="6696" y="0"/>
                      </a:moveTo>
                      <a:lnTo>
                        <a:pt x="6696" y="0"/>
                      </a:lnTo>
                      <a:cubicBezTo>
                        <a:pt x="-6017" y="305111"/>
                        <a:pt x="2522" y="42420"/>
                        <a:pt x="6696" y="605860"/>
                      </a:cubicBezTo>
                      <a:cubicBezTo>
                        <a:pt x="7402" y="701224"/>
                        <a:pt x="6696" y="796594"/>
                        <a:pt x="6696" y="891961"/>
                      </a:cubicBezTo>
                      <a:lnTo>
                        <a:pt x="2407697" y="875131"/>
                      </a:lnTo>
                    </a:path>
                  </a:pathLst>
                </a:custGeom>
                <a:noFill/>
                <a:ln cap="flat" cmpd="sng" w="28575">
                  <a:solidFill>
                    <a:schemeClr val="accent5"/>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712" name="Google Shape;712;p41"/>
                <p:cNvCxnSpPr/>
                <p:nvPr/>
              </p:nvCxnSpPr>
              <p:spPr>
                <a:xfrm>
                  <a:off x="4027780" y="1302106"/>
                  <a:ext cx="0" cy="663770"/>
                </a:xfrm>
                <a:prstGeom prst="straightConnector1">
                  <a:avLst/>
                </a:prstGeom>
                <a:noFill/>
                <a:ln cap="flat" cmpd="sng" w="28575">
                  <a:solidFill>
                    <a:schemeClr val="accent5"/>
                  </a:solidFill>
                  <a:prstDash val="solid"/>
                  <a:round/>
                  <a:headEnd len="sm" w="sm" type="none"/>
                  <a:tailEnd len="sm" w="sm" type="none"/>
                </a:ln>
                <a:effectLst>
                  <a:outerShdw blurRad="40000" rotWithShape="0" dir="5400000" dist="23000">
                    <a:srgbClr val="000000">
                      <a:alpha val="34901"/>
                    </a:srgbClr>
                  </a:outerShdw>
                </a:effectLst>
              </p:spPr>
            </p:cxnSp>
            <p:sp>
              <p:nvSpPr>
                <p:cNvPr id="713" name="Google Shape;713;p41"/>
                <p:cNvSpPr txBox="1"/>
                <p:nvPr/>
              </p:nvSpPr>
              <p:spPr>
                <a:xfrm>
                  <a:off x="391983" y="1708568"/>
                  <a:ext cx="2490340" cy="409158"/>
                </a:xfrm>
                <a:prstGeom prst="rect">
                  <a:avLst/>
                </a:prstGeom>
                <a:solidFill>
                  <a:srgbClr val="DAEEF3"/>
                </a:solid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s-BO" sz="1400">
                      <a:solidFill>
                        <a:schemeClr val="dk1"/>
                      </a:solidFill>
                      <a:latin typeface="Calibri"/>
                      <a:ea typeface="Calibri"/>
                      <a:cs typeface="Calibri"/>
                      <a:sym typeface="Calibri"/>
                    </a:rPr>
                    <a:t>Lectura de la corriente que proporciona el controlador de temperatura</a:t>
                  </a:r>
                  <a:endParaRPr sz="1800">
                    <a:solidFill>
                      <a:schemeClr val="dk1"/>
                    </a:solidFill>
                    <a:latin typeface="Times New Roman"/>
                    <a:ea typeface="Times New Roman"/>
                    <a:cs typeface="Times New Roman"/>
                    <a:sym typeface="Times New Roman"/>
                  </a:endParaRPr>
                </a:p>
              </p:txBody>
            </p:sp>
            <p:sp>
              <p:nvSpPr>
                <p:cNvPr id="714" name="Google Shape;714;p41"/>
                <p:cNvSpPr/>
                <p:nvPr/>
              </p:nvSpPr>
              <p:spPr>
                <a:xfrm>
                  <a:off x="1825904" y="384810"/>
                  <a:ext cx="755104" cy="1147792"/>
                </a:xfrm>
                <a:prstGeom prst="ellipse">
                  <a:avLst/>
                </a:prstGeom>
                <a:noFill/>
                <a:ln cap="flat" cmpd="sng" w="28575">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cxnSp>
              <p:nvCxnSpPr>
                <p:cNvPr id="715" name="Google Shape;715;p41"/>
                <p:cNvCxnSpPr/>
                <p:nvPr/>
              </p:nvCxnSpPr>
              <p:spPr>
                <a:xfrm flipH="1">
                  <a:off x="1609057" y="887293"/>
                  <a:ext cx="216847" cy="30154"/>
                </a:xfrm>
                <a:prstGeom prst="straightConnector1">
                  <a:avLst/>
                </a:prstGeom>
                <a:noFill/>
                <a:ln cap="flat" cmpd="sng" w="28575">
                  <a:solidFill>
                    <a:srgbClr val="FFFF00"/>
                  </a:solidFill>
                  <a:prstDash val="solid"/>
                  <a:round/>
                  <a:headEnd len="sm" w="sm" type="none"/>
                  <a:tailEnd len="med" w="med" type="triangle"/>
                </a:ln>
                <a:effectLst>
                  <a:outerShdw blurRad="40000" rotWithShape="0" dir="5400000" dist="23000">
                    <a:srgbClr val="000000">
                      <a:alpha val="34901"/>
                    </a:srgbClr>
                  </a:outerShdw>
                </a:effectLst>
              </p:spPr>
            </p:cxnSp>
            <p:sp>
              <p:nvSpPr>
                <p:cNvPr id="716" name="Google Shape;716;p41"/>
                <p:cNvSpPr txBox="1"/>
                <p:nvPr/>
              </p:nvSpPr>
              <p:spPr>
                <a:xfrm>
                  <a:off x="628042" y="811084"/>
                  <a:ext cx="987070" cy="409159"/>
                </a:xfrm>
                <a:prstGeom prst="rect">
                  <a:avLst/>
                </a:prstGeom>
                <a:solidFill>
                  <a:srgbClr val="FFFF00"/>
                </a:solidFill>
                <a:ln cap="flat" cmpd="sng" w="9525">
                  <a:solidFill>
                    <a:srgbClr val="FFFF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s-BO" sz="1400">
                      <a:solidFill>
                        <a:schemeClr val="dk1"/>
                      </a:solidFill>
                      <a:latin typeface="Calibri"/>
                      <a:ea typeface="Calibri"/>
                      <a:cs typeface="Calibri"/>
                      <a:sym typeface="Calibri"/>
                    </a:rPr>
                    <a:t>Lectura del voltaje</a:t>
                  </a:r>
                  <a:endParaRPr sz="1800">
                    <a:solidFill>
                      <a:schemeClr val="dk1"/>
                    </a:solidFill>
                    <a:latin typeface="Times New Roman"/>
                    <a:ea typeface="Times New Roman"/>
                    <a:cs typeface="Times New Roman"/>
                    <a:sym typeface="Times New Roman"/>
                  </a:endParaRPr>
                </a:p>
              </p:txBody>
            </p:sp>
          </p:grpSp>
          <p:cxnSp>
            <p:nvCxnSpPr>
              <p:cNvPr id="717" name="Google Shape;717;p41"/>
              <p:cNvCxnSpPr>
                <a:stCxn id="713" idx="3"/>
                <a:endCxn id="711" idx="3"/>
              </p:cNvCxnSpPr>
              <p:nvPr/>
            </p:nvCxnSpPr>
            <p:spPr>
              <a:xfrm>
                <a:off x="3555246" y="6017835"/>
                <a:ext cx="195600" cy="87000"/>
              </a:xfrm>
              <a:prstGeom prst="straightConnector1">
                <a:avLst/>
              </a:prstGeom>
              <a:noFill/>
              <a:ln cap="flat" cmpd="sng" w="28575">
                <a:solidFill>
                  <a:schemeClr val="accent5"/>
                </a:solidFill>
                <a:prstDash val="solid"/>
                <a:round/>
                <a:headEnd len="sm" w="sm" type="none"/>
                <a:tailEnd len="sm" w="sm" type="none"/>
              </a:ln>
              <a:effectLst>
                <a:outerShdw blurRad="40000" rotWithShape="0" dir="5400000" dist="23000">
                  <a:srgbClr val="000000">
                    <a:alpha val="34901"/>
                  </a:srgbClr>
                </a:outerShdw>
              </a:effectLst>
            </p:spPr>
          </p:cxnSp>
        </p:grpSp>
        <p:sp>
          <p:nvSpPr>
            <p:cNvPr id="718" name="Google Shape;718;p41"/>
            <p:cNvSpPr txBox="1"/>
            <p:nvPr/>
          </p:nvSpPr>
          <p:spPr>
            <a:xfrm>
              <a:off x="1732401" y="6255476"/>
              <a:ext cx="4170692"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s-BO" sz="1800">
                  <a:solidFill>
                    <a:schemeClr val="dk1"/>
                  </a:solidFill>
                  <a:latin typeface="Calibri"/>
                  <a:ea typeface="Calibri"/>
                  <a:cs typeface="Calibri"/>
                  <a:sym typeface="Calibri"/>
                </a:rPr>
                <a:t>Lectura del multímetro de voltaje y corriente</a:t>
              </a:r>
              <a:endParaRPr/>
            </a:p>
          </p:txBody>
        </p:sp>
      </p:gr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687"/>
                                        </p:tgtEl>
                                      </p:cBhvr>
                                    </p:animEffect>
                                    <p:set>
                                      <p:cBhvr>
                                        <p:cTn dur="1" fill="hold">
                                          <p:stCondLst>
                                            <p:cond delay="500"/>
                                          </p:stCondLst>
                                        </p:cTn>
                                        <p:tgtEl>
                                          <p:spTgt spid="687"/>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705"/>
                                        </p:tgtEl>
                                      </p:cBhvr>
                                    </p:animEffect>
                                    <p:set>
                                      <p:cBhvr>
                                        <p:cTn dur="1" fill="hold">
                                          <p:stCondLst>
                                            <p:cond delay="500"/>
                                          </p:stCondLst>
                                        </p:cTn>
                                        <p:tgtEl>
                                          <p:spTgt spid="705"/>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688"/>
                                        </p:tgtEl>
                                      </p:cBhvr>
                                    </p:animEffect>
                                    <p:set>
                                      <p:cBhvr>
                                        <p:cTn dur="1" fill="hold">
                                          <p:stCondLst>
                                            <p:cond delay="500"/>
                                          </p:stCondLst>
                                        </p:cTn>
                                        <p:tgtEl>
                                          <p:spTgt spid="68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6">
                                            <p:txEl>
                                              <p:pRg end="0" st="0"/>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6">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p42"/>
          <p:cNvSpPr txBox="1"/>
          <p:nvPr>
            <p:ph type="title"/>
          </p:nvPr>
        </p:nvSpPr>
        <p:spPr>
          <a:xfrm>
            <a:off x="1561514" y="455722"/>
            <a:ext cx="9553686" cy="712528"/>
          </a:xfrm>
          <a:prstGeom prst="rect">
            <a:avLst/>
          </a:prstGeom>
          <a:noFill/>
          <a:ln>
            <a:noFill/>
          </a:ln>
        </p:spPr>
        <p:txBody>
          <a:bodyPr anchorCtr="0" anchor="t" bIns="121900" lIns="121900" spcFirstLastPara="1" rIns="121900" wrap="square" tIns="121900">
            <a:normAutofit/>
          </a:bodyPr>
          <a:lstStyle/>
          <a:p>
            <a:pPr indent="0" lvl="0" marL="0" rtl="0" algn="l">
              <a:spcBef>
                <a:spcPts val="0"/>
              </a:spcBef>
              <a:spcAft>
                <a:spcPts val="0"/>
              </a:spcAft>
              <a:buClr>
                <a:schemeClr val="dk1"/>
              </a:buClr>
              <a:buSzPts val="2400"/>
              <a:buFont typeface="Calibri"/>
              <a:buNone/>
            </a:pPr>
            <a:r>
              <a:rPr b="1" lang="es-BO" sz="1800"/>
              <a:t>DOSIFICADOR</a:t>
            </a:r>
            <a:endParaRPr b="1" sz="1800"/>
          </a:p>
        </p:txBody>
      </p:sp>
      <p:sp>
        <p:nvSpPr>
          <p:cNvPr id="724" name="Google Shape;724;p42"/>
          <p:cNvSpPr txBox="1"/>
          <p:nvPr>
            <p:ph idx="1" type="body"/>
          </p:nvPr>
        </p:nvSpPr>
        <p:spPr>
          <a:xfrm>
            <a:off x="1593524" y="923964"/>
            <a:ext cx="5222556" cy="2289011"/>
          </a:xfrm>
          <a:prstGeom prst="rect">
            <a:avLst/>
          </a:prstGeom>
          <a:noFill/>
          <a:ln>
            <a:noFill/>
          </a:ln>
        </p:spPr>
        <p:txBody>
          <a:bodyPr anchorCtr="0" anchor="t" bIns="121900" lIns="121900" spcFirstLastPara="1" rIns="121900" wrap="square" tIns="121900">
            <a:normAutofit/>
          </a:bodyPr>
          <a:lstStyle/>
          <a:p>
            <a:pPr indent="0" lvl="0" marL="0" rtl="0" algn="just">
              <a:spcBef>
                <a:spcPts val="600"/>
              </a:spcBef>
              <a:spcAft>
                <a:spcPts val="0"/>
              </a:spcAft>
              <a:buClr>
                <a:schemeClr val="dk1"/>
              </a:buClr>
              <a:buSzPts val="1300"/>
              <a:buNone/>
            </a:pPr>
            <a:r>
              <a:rPr b="1" i="1" lang="es-BO" sz="1600" u="sng"/>
              <a:t>Principio de funcionamiento </a:t>
            </a:r>
            <a:endParaRPr/>
          </a:p>
          <a:p>
            <a:pPr indent="0" lvl="0" marL="0" rtl="0" algn="just">
              <a:spcBef>
                <a:spcPts val="600"/>
              </a:spcBef>
              <a:spcAft>
                <a:spcPts val="0"/>
              </a:spcAft>
              <a:buClr>
                <a:schemeClr val="dk1"/>
              </a:buClr>
              <a:buSzPts val="1300"/>
              <a:buNone/>
            </a:pPr>
            <a:r>
              <a:rPr lang="es-BO" sz="1600">
                <a:latin typeface="Calibri"/>
                <a:ea typeface="Calibri"/>
                <a:cs typeface="Calibri"/>
                <a:sym typeface="Calibri"/>
              </a:rPr>
              <a:t>El dosificador Burkert 8035 cumple la función de controlar y medir el volumen de líquido proporcionado al sistema, además nos brinda información del caudal de líquido que pasa a través de las tuberías. Todo esto gracias a un rodete que gira en proporción al fluido que pasa por la tubería.</a:t>
            </a:r>
            <a:endParaRPr sz="1600">
              <a:latin typeface="Calibri"/>
              <a:ea typeface="Calibri"/>
              <a:cs typeface="Calibri"/>
              <a:sym typeface="Calibri"/>
            </a:endParaRPr>
          </a:p>
          <a:p>
            <a:pPr indent="0" lvl="0" marL="0" rtl="0" algn="l">
              <a:spcBef>
                <a:spcPts val="1600"/>
              </a:spcBef>
              <a:spcAft>
                <a:spcPts val="1600"/>
              </a:spcAft>
              <a:buClr>
                <a:schemeClr val="dk1"/>
              </a:buClr>
              <a:buSzPts val="1300"/>
              <a:buNone/>
            </a:pPr>
            <a:r>
              <a:t/>
            </a:r>
            <a:endParaRPr/>
          </a:p>
        </p:txBody>
      </p:sp>
      <p:grpSp>
        <p:nvGrpSpPr>
          <p:cNvPr id="725" name="Google Shape;725;p42"/>
          <p:cNvGrpSpPr/>
          <p:nvPr/>
        </p:nvGrpSpPr>
        <p:grpSpPr>
          <a:xfrm>
            <a:off x="1561536" y="2803307"/>
            <a:ext cx="5578164" cy="3024282"/>
            <a:chOff x="2061933" y="1712741"/>
            <a:chExt cx="9011573" cy="4195148"/>
          </a:xfrm>
        </p:grpSpPr>
        <p:pic>
          <p:nvPicPr>
            <p:cNvPr id="726" name="Google Shape;726;p42"/>
            <p:cNvPicPr preferRelativeResize="0"/>
            <p:nvPr/>
          </p:nvPicPr>
          <p:blipFill rotWithShape="1">
            <a:blip r:embed="rId3">
              <a:alphaModFix/>
            </a:blip>
            <a:srcRect b="0" l="0" r="0" t="0"/>
            <a:stretch/>
          </p:blipFill>
          <p:spPr>
            <a:xfrm>
              <a:off x="2061933" y="1712741"/>
              <a:ext cx="9011573" cy="4195148"/>
            </a:xfrm>
            <a:prstGeom prst="rect">
              <a:avLst/>
            </a:prstGeom>
            <a:noFill/>
            <a:ln>
              <a:noFill/>
            </a:ln>
          </p:spPr>
        </p:pic>
        <p:sp>
          <p:nvSpPr>
            <p:cNvPr id="727" name="Google Shape;727;p42"/>
            <p:cNvSpPr/>
            <p:nvPr/>
          </p:nvSpPr>
          <p:spPr>
            <a:xfrm>
              <a:off x="3624170" y="3993018"/>
              <a:ext cx="1568060" cy="661893"/>
            </a:xfrm>
            <a:prstGeom prst="rightArrow">
              <a:avLst>
                <a:gd fmla="val 50000" name="adj1"/>
                <a:gd fmla="val 50000" name="adj2"/>
              </a:avLst>
            </a:prstGeom>
            <a:solidFill>
              <a:srgbClr val="00FFFF"/>
            </a:solidFill>
            <a:ln cap="flat" cmpd="sng" w="9525">
              <a:solidFill>
                <a:schemeClr val="dk1"/>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28" name="Google Shape;728;p42"/>
            <p:cNvSpPr/>
            <p:nvPr/>
          </p:nvSpPr>
          <p:spPr>
            <a:xfrm>
              <a:off x="8036520" y="3985568"/>
              <a:ext cx="1568060" cy="661893"/>
            </a:xfrm>
            <a:prstGeom prst="rightArrow">
              <a:avLst>
                <a:gd fmla="val 50000" name="adj1"/>
                <a:gd fmla="val 50000" name="adj2"/>
              </a:avLst>
            </a:prstGeom>
            <a:solidFill>
              <a:srgbClr val="00FFFF"/>
            </a:solidFill>
            <a:ln cap="flat" cmpd="sng" w="9525">
              <a:solidFill>
                <a:schemeClr val="dk1"/>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sp>
        <p:nvSpPr>
          <p:cNvPr id="729" name="Google Shape;729;p42"/>
          <p:cNvSpPr txBox="1"/>
          <p:nvPr/>
        </p:nvSpPr>
        <p:spPr>
          <a:xfrm>
            <a:off x="7553777" y="959475"/>
            <a:ext cx="3993900" cy="2217900"/>
          </a:xfrm>
          <a:prstGeom prst="rect">
            <a:avLst/>
          </a:prstGeom>
          <a:noFill/>
          <a:ln>
            <a:noFill/>
          </a:ln>
        </p:spPr>
        <p:txBody>
          <a:bodyPr anchorCtr="0" anchor="t" bIns="121900" lIns="121900" spcFirstLastPara="1" rIns="121900" wrap="square" tIns="121900">
            <a:noAutofit/>
          </a:bodyPr>
          <a:lstStyle/>
          <a:p>
            <a:pPr indent="0" lvl="0" marL="0" marR="0" rtl="0" algn="just">
              <a:lnSpc>
                <a:spcPct val="80000"/>
              </a:lnSpc>
              <a:spcBef>
                <a:spcPts val="800"/>
              </a:spcBef>
              <a:spcAft>
                <a:spcPts val="0"/>
              </a:spcAft>
              <a:buClr>
                <a:schemeClr val="dk1"/>
              </a:buClr>
              <a:buSzPts val="935"/>
              <a:buFont typeface="Arial"/>
              <a:buNone/>
            </a:pPr>
            <a:r>
              <a:rPr b="1" i="1" lang="es-BO" sz="1600" u="sng">
                <a:solidFill>
                  <a:schemeClr val="dk1"/>
                </a:solidFill>
                <a:latin typeface="Calibri"/>
                <a:ea typeface="Calibri"/>
                <a:cs typeface="Calibri"/>
                <a:sym typeface="Calibri"/>
              </a:rPr>
              <a:t>Características BURKERT 8035:</a:t>
            </a:r>
            <a:endParaRPr b="1" i="1" sz="1600" u="sng">
              <a:solidFill>
                <a:schemeClr val="dk1"/>
              </a:solidFill>
              <a:latin typeface="Calibri"/>
              <a:ea typeface="Calibri"/>
              <a:cs typeface="Calibri"/>
              <a:sym typeface="Calibri"/>
            </a:endParaRPr>
          </a:p>
          <a:p>
            <a:pPr indent="0" lvl="0" marL="0" marR="0" rtl="0" algn="just">
              <a:lnSpc>
                <a:spcPct val="80000"/>
              </a:lnSpc>
              <a:spcBef>
                <a:spcPts val="800"/>
              </a:spcBef>
              <a:spcAft>
                <a:spcPts val="0"/>
              </a:spcAft>
              <a:buClr>
                <a:schemeClr val="dk1"/>
              </a:buClr>
              <a:buSzPts val="935"/>
              <a:buFont typeface="Arial"/>
              <a:buNone/>
            </a:pPr>
            <a:r>
              <a:t/>
            </a:r>
            <a:endParaRPr b="1" i="1" sz="200" u="sng">
              <a:solidFill>
                <a:schemeClr val="dk1"/>
              </a:solidFill>
              <a:latin typeface="Calibri"/>
              <a:ea typeface="Calibri"/>
              <a:cs typeface="Calibri"/>
              <a:sym typeface="Calibri"/>
            </a:endParaRPr>
          </a:p>
          <a:p>
            <a:pPr indent="-342900" lvl="0" marL="342900" marR="0" rtl="0" algn="just">
              <a:lnSpc>
                <a:spcPct val="80000"/>
              </a:lnSpc>
              <a:spcBef>
                <a:spcPts val="800"/>
              </a:spcBef>
              <a:spcAft>
                <a:spcPts val="0"/>
              </a:spcAft>
              <a:buClr>
                <a:schemeClr val="dk1"/>
              </a:buClr>
              <a:buSzPts val="935"/>
              <a:buFont typeface="Noto Sans Symbols"/>
              <a:buChar char="⮚"/>
            </a:pPr>
            <a:r>
              <a:rPr lang="es-BO" sz="1600">
                <a:solidFill>
                  <a:schemeClr val="dk1"/>
                </a:solidFill>
                <a:latin typeface="Calibri"/>
                <a:ea typeface="Calibri"/>
                <a:cs typeface="Calibri"/>
                <a:sym typeface="Calibri"/>
              </a:rPr>
              <a:t>Alimentación de 115/230 VCA</a:t>
            </a:r>
            <a:endParaRPr/>
          </a:p>
          <a:p>
            <a:pPr indent="-342900" lvl="0" marL="342900" marR="0" rtl="0" algn="just">
              <a:lnSpc>
                <a:spcPct val="80000"/>
              </a:lnSpc>
              <a:spcBef>
                <a:spcPts val="800"/>
              </a:spcBef>
              <a:spcAft>
                <a:spcPts val="0"/>
              </a:spcAft>
              <a:buClr>
                <a:schemeClr val="dk1"/>
              </a:buClr>
              <a:buSzPts val="935"/>
              <a:buFont typeface="Noto Sans Symbols"/>
              <a:buChar char="⮚"/>
            </a:pPr>
            <a:r>
              <a:rPr lang="es-BO" sz="1600">
                <a:solidFill>
                  <a:schemeClr val="dk1"/>
                </a:solidFill>
                <a:latin typeface="Calibri"/>
                <a:ea typeface="Calibri"/>
                <a:cs typeface="Calibri"/>
                <a:sym typeface="Calibri"/>
              </a:rPr>
              <a:t>Viscosidad máxima 300 cSt</a:t>
            </a:r>
            <a:endParaRPr sz="1600">
              <a:solidFill>
                <a:schemeClr val="dk1"/>
              </a:solidFill>
              <a:latin typeface="Calibri"/>
              <a:ea typeface="Calibri"/>
              <a:cs typeface="Calibri"/>
              <a:sym typeface="Calibri"/>
            </a:endParaRPr>
          </a:p>
          <a:p>
            <a:pPr indent="-342900" lvl="0" marL="342900" marR="0" rtl="0" algn="just">
              <a:lnSpc>
                <a:spcPct val="80000"/>
              </a:lnSpc>
              <a:spcBef>
                <a:spcPts val="800"/>
              </a:spcBef>
              <a:spcAft>
                <a:spcPts val="0"/>
              </a:spcAft>
              <a:buClr>
                <a:schemeClr val="dk1"/>
              </a:buClr>
              <a:buSzPts val="935"/>
              <a:buFont typeface="Noto Sans Symbols"/>
              <a:buChar char="⮚"/>
            </a:pPr>
            <a:r>
              <a:rPr lang="es-BO" sz="1600">
                <a:solidFill>
                  <a:schemeClr val="dk1"/>
                </a:solidFill>
                <a:latin typeface="Calibri"/>
                <a:ea typeface="Calibri"/>
                <a:cs typeface="Calibri"/>
                <a:sym typeface="Calibri"/>
              </a:rPr>
              <a:t>Presión máxima de fluido  PN10</a:t>
            </a:r>
            <a:endParaRPr/>
          </a:p>
          <a:p>
            <a:pPr indent="-342900" lvl="0" marL="342900" marR="0" rtl="0" algn="just">
              <a:lnSpc>
                <a:spcPct val="80000"/>
              </a:lnSpc>
              <a:spcBef>
                <a:spcPts val="800"/>
              </a:spcBef>
              <a:spcAft>
                <a:spcPts val="0"/>
              </a:spcAft>
              <a:buClr>
                <a:schemeClr val="dk1"/>
              </a:buClr>
              <a:buSzPts val="935"/>
              <a:buFont typeface="Noto Sans Symbols"/>
              <a:buChar char="⮚"/>
            </a:pPr>
            <a:r>
              <a:rPr lang="es-BO" sz="1600">
                <a:solidFill>
                  <a:schemeClr val="dk1"/>
                </a:solidFill>
                <a:latin typeface="Calibri"/>
                <a:ea typeface="Calibri"/>
                <a:cs typeface="Calibri"/>
                <a:sym typeface="Calibri"/>
              </a:rPr>
              <a:t>Temperatura máxima del medio   60 </a:t>
            </a:r>
            <a:r>
              <a:rPr baseline="30000" lang="es-BO" sz="1600">
                <a:solidFill>
                  <a:schemeClr val="dk1"/>
                </a:solidFill>
                <a:latin typeface="Calibri"/>
                <a:ea typeface="Calibri"/>
                <a:cs typeface="Calibri"/>
                <a:sym typeface="Calibri"/>
              </a:rPr>
              <a:t>o</a:t>
            </a:r>
            <a:r>
              <a:rPr lang="es-BO" sz="1600">
                <a:solidFill>
                  <a:schemeClr val="dk1"/>
                </a:solidFill>
                <a:latin typeface="Calibri"/>
                <a:ea typeface="Calibri"/>
                <a:cs typeface="Calibri"/>
                <a:sym typeface="Calibri"/>
              </a:rPr>
              <a:t>C</a:t>
            </a:r>
            <a:endParaRPr sz="1600">
              <a:solidFill>
                <a:schemeClr val="dk1"/>
              </a:solidFill>
              <a:latin typeface="Calibri"/>
              <a:ea typeface="Calibri"/>
              <a:cs typeface="Calibri"/>
              <a:sym typeface="Calibri"/>
            </a:endParaRPr>
          </a:p>
          <a:p>
            <a:pPr indent="-283527" lvl="0" marL="342900" marR="0" rtl="0" algn="just">
              <a:lnSpc>
                <a:spcPct val="80000"/>
              </a:lnSpc>
              <a:spcBef>
                <a:spcPts val="800"/>
              </a:spcBef>
              <a:spcAft>
                <a:spcPts val="0"/>
              </a:spcAft>
              <a:buClr>
                <a:schemeClr val="dk1"/>
              </a:buClr>
              <a:buSzPts val="935"/>
              <a:buFont typeface="Noto Sans Symbols"/>
              <a:buNone/>
            </a:pPr>
            <a:r>
              <a:t/>
            </a:r>
            <a:endParaRPr sz="1600">
              <a:solidFill>
                <a:schemeClr val="dk1"/>
              </a:solidFill>
              <a:latin typeface="Calibri"/>
              <a:ea typeface="Calibri"/>
              <a:cs typeface="Calibri"/>
              <a:sym typeface="Calibri"/>
            </a:endParaRPr>
          </a:p>
          <a:p>
            <a:pPr indent="-283527" lvl="0" marL="342900" marR="0" rtl="0" algn="just">
              <a:lnSpc>
                <a:spcPct val="80000"/>
              </a:lnSpc>
              <a:spcBef>
                <a:spcPts val="800"/>
              </a:spcBef>
              <a:spcAft>
                <a:spcPts val="0"/>
              </a:spcAft>
              <a:buClr>
                <a:schemeClr val="dk1"/>
              </a:buClr>
              <a:buSzPts val="935"/>
              <a:buFont typeface="Noto Sans Symbols"/>
              <a:buNone/>
            </a:pPr>
            <a:r>
              <a:t/>
            </a:r>
            <a:endParaRPr sz="1600">
              <a:solidFill>
                <a:schemeClr val="dk1"/>
              </a:solidFill>
              <a:latin typeface="Calibri"/>
              <a:ea typeface="Calibri"/>
              <a:cs typeface="Calibri"/>
              <a:sym typeface="Calibri"/>
            </a:endParaRPr>
          </a:p>
        </p:txBody>
      </p:sp>
      <p:pic>
        <p:nvPicPr>
          <p:cNvPr id="730" name="Google Shape;730;p42"/>
          <p:cNvPicPr preferRelativeResize="0"/>
          <p:nvPr/>
        </p:nvPicPr>
        <p:blipFill rotWithShape="1">
          <a:blip r:embed="rId4">
            <a:alphaModFix/>
          </a:blip>
          <a:srcRect b="0" l="14300" r="38449" t="3333"/>
          <a:stretch/>
        </p:blipFill>
        <p:spPr>
          <a:xfrm rot="5400000">
            <a:off x="8348606" y="2817910"/>
            <a:ext cx="2433407" cy="2800373"/>
          </a:xfrm>
          <a:prstGeom prst="rect">
            <a:avLst/>
          </a:prstGeom>
          <a:noFill/>
          <a:ln>
            <a:noFill/>
          </a:ln>
        </p:spPr>
      </p:pic>
    </p:spTree>
  </p:cSld>
  <p:clrMapOvr>
    <a:masterClrMapping/>
  </p:clrMapOvr>
  <p:transition spd="slow">
    <p:push/>
  </p:transition>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sp>
        <p:nvSpPr>
          <p:cNvPr id="736" name="Google Shape;736;p43"/>
          <p:cNvSpPr txBox="1"/>
          <p:nvPr/>
        </p:nvSpPr>
        <p:spPr>
          <a:xfrm>
            <a:off x="1415480" y="664390"/>
            <a:ext cx="60960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BO" sz="1800">
                <a:solidFill>
                  <a:schemeClr val="dk1"/>
                </a:solidFill>
                <a:latin typeface="Calibri"/>
                <a:ea typeface="Calibri"/>
                <a:cs typeface="Calibri"/>
                <a:sym typeface="Calibri"/>
              </a:rPr>
              <a:t>Panel del dosificador </a:t>
            </a:r>
            <a:endParaRPr b="1" sz="1800">
              <a:solidFill>
                <a:schemeClr val="dk1"/>
              </a:solidFill>
              <a:latin typeface="Calibri"/>
              <a:ea typeface="Calibri"/>
              <a:cs typeface="Calibri"/>
              <a:sym typeface="Calibri"/>
            </a:endParaRPr>
          </a:p>
        </p:txBody>
      </p:sp>
      <p:grpSp>
        <p:nvGrpSpPr>
          <p:cNvPr id="737" name="Google Shape;737;p43"/>
          <p:cNvGrpSpPr/>
          <p:nvPr/>
        </p:nvGrpSpPr>
        <p:grpSpPr>
          <a:xfrm>
            <a:off x="2423592" y="1413384"/>
            <a:ext cx="8208912" cy="4031232"/>
            <a:chOff x="-198747" y="0"/>
            <a:chExt cx="6882958" cy="3183638"/>
          </a:xfrm>
        </p:grpSpPr>
        <p:sp>
          <p:nvSpPr>
            <p:cNvPr id="738" name="Google Shape;738;p43"/>
            <p:cNvSpPr/>
            <p:nvPr/>
          </p:nvSpPr>
          <p:spPr>
            <a:xfrm>
              <a:off x="-198747" y="1268169"/>
              <a:ext cx="2070625" cy="784429"/>
            </a:xfrm>
            <a:prstGeom prst="rect">
              <a:avLst/>
            </a:prstGeom>
            <a:gradFill>
              <a:gsLst>
                <a:gs pos="0">
                  <a:srgbClr val="FFF9F4"/>
                </a:gs>
                <a:gs pos="74000">
                  <a:srgbClr val="FBCFA9"/>
                </a:gs>
                <a:gs pos="83000">
                  <a:srgbClr val="FBCFA9"/>
                </a:gs>
                <a:gs pos="100000">
                  <a:srgbClr val="FDDEC5"/>
                </a:gs>
              </a:gsLst>
              <a:lin ang="5400000" scaled="0"/>
            </a:gradFill>
            <a:ln cap="flat" cmpd="sng" w="25400">
              <a:solidFill>
                <a:srgbClr val="FDE9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BO" sz="1800">
                  <a:solidFill>
                    <a:srgbClr val="000000"/>
                  </a:solidFill>
                  <a:latin typeface="Times New Roman"/>
                  <a:ea typeface="Times New Roman"/>
                  <a:cs typeface="Times New Roman"/>
                  <a:sym typeface="Times New Roman"/>
                </a:rPr>
                <a:t>Desplazamiento por los menús o incremento de un valor</a:t>
              </a:r>
              <a:endParaRPr sz="1800">
                <a:solidFill>
                  <a:schemeClr val="lt1"/>
                </a:solidFill>
                <a:latin typeface="Times New Roman"/>
                <a:ea typeface="Times New Roman"/>
                <a:cs typeface="Times New Roman"/>
                <a:sym typeface="Times New Roman"/>
              </a:endParaRPr>
            </a:p>
          </p:txBody>
        </p:sp>
        <p:grpSp>
          <p:nvGrpSpPr>
            <p:cNvPr id="739" name="Google Shape;739;p43"/>
            <p:cNvGrpSpPr/>
            <p:nvPr/>
          </p:nvGrpSpPr>
          <p:grpSpPr>
            <a:xfrm>
              <a:off x="1920240" y="0"/>
              <a:ext cx="4598790" cy="2862954"/>
              <a:chOff x="0" y="0"/>
              <a:chExt cx="4598790" cy="2862954"/>
            </a:xfrm>
          </p:grpSpPr>
          <p:grpSp>
            <p:nvGrpSpPr>
              <p:cNvPr id="740" name="Google Shape;740;p43"/>
              <p:cNvGrpSpPr/>
              <p:nvPr/>
            </p:nvGrpSpPr>
            <p:grpSpPr>
              <a:xfrm>
                <a:off x="0" y="0"/>
                <a:ext cx="2896173" cy="2691818"/>
                <a:chOff x="0" y="0"/>
                <a:chExt cx="2896173" cy="2691818"/>
              </a:xfrm>
            </p:grpSpPr>
            <p:pic>
              <p:nvPicPr>
                <p:cNvPr id="741" name="Google Shape;741;p43"/>
                <p:cNvPicPr preferRelativeResize="0"/>
                <p:nvPr/>
              </p:nvPicPr>
              <p:blipFill rotWithShape="1">
                <a:blip r:embed="rId3">
                  <a:alphaModFix/>
                </a:blip>
                <a:srcRect b="9724" l="0" r="0" t="17416"/>
                <a:stretch/>
              </p:blipFill>
              <p:spPr>
                <a:xfrm>
                  <a:off x="144780" y="0"/>
                  <a:ext cx="2501900" cy="2430780"/>
                </a:xfrm>
                <a:prstGeom prst="rect">
                  <a:avLst/>
                </a:prstGeom>
                <a:noFill/>
                <a:ln>
                  <a:noFill/>
                </a:ln>
              </p:spPr>
            </p:pic>
            <p:sp>
              <p:nvSpPr>
                <p:cNvPr id="742" name="Google Shape;742;p43"/>
                <p:cNvSpPr/>
                <p:nvPr/>
              </p:nvSpPr>
              <p:spPr>
                <a:xfrm>
                  <a:off x="0" y="1604010"/>
                  <a:ext cx="571500" cy="140970"/>
                </a:xfrm>
                <a:prstGeom prst="rightArrow">
                  <a:avLst>
                    <a:gd fmla="val 50000" name="adj1"/>
                    <a:gd fmla="val 50000" name="adj2"/>
                  </a:avLst>
                </a:prstGeom>
                <a:solidFill>
                  <a:srgbClr val="C0000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743" name="Google Shape;743;p43"/>
                <p:cNvSpPr/>
                <p:nvPr/>
              </p:nvSpPr>
              <p:spPr>
                <a:xfrm rot="404628">
                  <a:off x="2217296" y="1603756"/>
                  <a:ext cx="590674" cy="121901"/>
                </a:xfrm>
                <a:prstGeom prst="leftArrow">
                  <a:avLst>
                    <a:gd fmla="val 50000" name="adj1"/>
                    <a:gd fmla="val 50000" name="adj2"/>
                  </a:avLst>
                </a:prstGeom>
                <a:solidFill>
                  <a:srgbClr val="C0000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744" name="Google Shape;744;p43"/>
                <p:cNvSpPr/>
                <p:nvPr/>
              </p:nvSpPr>
              <p:spPr>
                <a:xfrm>
                  <a:off x="1219202" y="1775449"/>
                  <a:ext cx="121921" cy="754379"/>
                </a:xfrm>
                <a:prstGeom prst="upArrow">
                  <a:avLst>
                    <a:gd fmla="val 50000" name="adj1"/>
                    <a:gd fmla="val 50000" name="adj2"/>
                  </a:avLst>
                </a:prstGeom>
                <a:solidFill>
                  <a:srgbClr val="C0000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745" name="Google Shape;745;p43"/>
                <p:cNvSpPr/>
                <p:nvPr/>
              </p:nvSpPr>
              <p:spPr>
                <a:xfrm rot="-3664487">
                  <a:off x="2156161" y="1592961"/>
                  <a:ext cx="143431" cy="1355762"/>
                </a:xfrm>
                <a:prstGeom prst="upArrow">
                  <a:avLst>
                    <a:gd fmla="val 50000" name="adj1"/>
                    <a:gd fmla="val 50000" name="adj2"/>
                  </a:avLst>
                </a:prstGeom>
                <a:solidFill>
                  <a:srgbClr val="C0000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746" name="Google Shape;746;p43"/>
                <p:cNvSpPr/>
                <p:nvPr/>
              </p:nvSpPr>
              <p:spPr>
                <a:xfrm flipH="1" rot="-2967319">
                  <a:off x="2368505" y="1738690"/>
                  <a:ext cx="136485" cy="1092422"/>
                </a:xfrm>
                <a:prstGeom prst="upArrow">
                  <a:avLst>
                    <a:gd fmla="val 50000" name="adj1"/>
                    <a:gd fmla="val 50000" name="adj2"/>
                  </a:avLst>
                </a:prstGeom>
                <a:solidFill>
                  <a:srgbClr val="C0000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grpSp>
          <p:sp>
            <p:nvSpPr>
              <p:cNvPr id="747" name="Google Shape;747;p43"/>
              <p:cNvSpPr/>
              <p:nvPr/>
            </p:nvSpPr>
            <p:spPr>
              <a:xfrm>
                <a:off x="2782898" y="2337175"/>
                <a:ext cx="1815892" cy="525779"/>
              </a:xfrm>
              <a:prstGeom prst="rect">
                <a:avLst/>
              </a:prstGeom>
              <a:gradFill>
                <a:gsLst>
                  <a:gs pos="0">
                    <a:srgbClr val="FFF9F4"/>
                  </a:gs>
                  <a:gs pos="74000">
                    <a:srgbClr val="FBCFA9"/>
                  </a:gs>
                  <a:gs pos="83000">
                    <a:srgbClr val="FBCFA9"/>
                  </a:gs>
                  <a:gs pos="100000">
                    <a:srgbClr val="FDDEC5"/>
                  </a:gs>
                </a:gsLst>
                <a:lin ang="5400000" scaled="0"/>
              </a:gradFill>
              <a:ln cap="flat" cmpd="sng" w="25400">
                <a:solidFill>
                  <a:srgbClr val="FDE9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BO" sz="1800">
                    <a:solidFill>
                      <a:srgbClr val="000000"/>
                    </a:solidFill>
                    <a:latin typeface="Times New Roman"/>
                    <a:ea typeface="Times New Roman"/>
                    <a:cs typeface="Times New Roman"/>
                    <a:sym typeface="Times New Roman"/>
                  </a:rPr>
                  <a:t>Estados de los relés 1 y 2</a:t>
                </a:r>
                <a:endParaRPr sz="1800">
                  <a:solidFill>
                    <a:schemeClr val="lt1"/>
                  </a:solidFill>
                  <a:latin typeface="Times New Roman"/>
                  <a:ea typeface="Times New Roman"/>
                  <a:cs typeface="Times New Roman"/>
                  <a:sym typeface="Times New Roman"/>
                </a:endParaRPr>
              </a:p>
            </p:txBody>
          </p:sp>
        </p:grpSp>
        <p:sp>
          <p:nvSpPr>
            <p:cNvPr id="748" name="Google Shape;748;p43"/>
            <p:cNvSpPr/>
            <p:nvPr/>
          </p:nvSpPr>
          <p:spPr>
            <a:xfrm>
              <a:off x="4703138" y="1417514"/>
              <a:ext cx="1981073" cy="588665"/>
            </a:xfrm>
            <a:prstGeom prst="rect">
              <a:avLst/>
            </a:prstGeom>
            <a:gradFill>
              <a:gsLst>
                <a:gs pos="0">
                  <a:srgbClr val="FFF9F4"/>
                </a:gs>
                <a:gs pos="74000">
                  <a:srgbClr val="FBCFA9"/>
                </a:gs>
                <a:gs pos="83000">
                  <a:srgbClr val="FBCFA9"/>
                </a:gs>
                <a:gs pos="100000">
                  <a:srgbClr val="FDDEC5"/>
                </a:gs>
              </a:gsLst>
              <a:lin ang="5400000" scaled="0"/>
            </a:gradFill>
            <a:ln cap="flat" cmpd="sng" w="25400">
              <a:solidFill>
                <a:srgbClr val="FDE9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s-BO" sz="1800">
                  <a:solidFill>
                    <a:srgbClr val="000000"/>
                  </a:solidFill>
                  <a:latin typeface="Times New Roman"/>
                  <a:ea typeface="Times New Roman"/>
                  <a:cs typeface="Times New Roman"/>
                  <a:sym typeface="Times New Roman"/>
                </a:rPr>
                <a:t>Validación del menú o el parámetro elegido</a:t>
              </a:r>
              <a:endParaRPr sz="1800">
                <a:solidFill>
                  <a:schemeClr val="lt1"/>
                </a:solidFill>
                <a:latin typeface="Times New Roman"/>
                <a:ea typeface="Times New Roman"/>
                <a:cs typeface="Times New Roman"/>
                <a:sym typeface="Times New Roman"/>
              </a:endParaRPr>
            </a:p>
          </p:txBody>
        </p:sp>
        <p:sp>
          <p:nvSpPr>
            <p:cNvPr id="749" name="Google Shape;749;p43"/>
            <p:cNvSpPr/>
            <p:nvPr/>
          </p:nvSpPr>
          <p:spPr>
            <a:xfrm>
              <a:off x="1920232" y="2486269"/>
              <a:ext cx="2192694" cy="697369"/>
            </a:xfrm>
            <a:prstGeom prst="rect">
              <a:avLst/>
            </a:prstGeom>
            <a:gradFill>
              <a:gsLst>
                <a:gs pos="0">
                  <a:srgbClr val="FFF9F4"/>
                </a:gs>
                <a:gs pos="74000">
                  <a:srgbClr val="FBCFA9"/>
                </a:gs>
                <a:gs pos="83000">
                  <a:srgbClr val="FBCFA9"/>
                </a:gs>
                <a:gs pos="100000">
                  <a:srgbClr val="FDDEC5"/>
                </a:gs>
              </a:gsLst>
              <a:lin ang="5400000" scaled="0"/>
            </a:gradFill>
            <a:ln cap="flat" cmpd="sng" w="25400">
              <a:solidFill>
                <a:srgbClr val="FDE9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BO" sz="1800">
                  <a:solidFill>
                    <a:srgbClr val="000000"/>
                  </a:solidFill>
                  <a:latin typeface="Times New Roman"/>
                  <a:ea typeface="Times New Roman"/>
                  <a:cs typeface="Times New Roman"/>
                  <a:sym typeface="Times New Roman"/>
                </a:rPr>
                <a:t>Desplazamiento por los menús o selección de un digito para modificarlo</a:t>
              </a:r>
              <a:endParaRPr sz="1800">
                <a:solidFill>
                  <a:schemeClr val="lt1"/>
                </a:solidFill>
                <a:latin typeface="Times New Roman"/>
                <a:ea typeface="Times New Roman"/>
                <a:cs typeface="Times New Roman"/>
                <a:sym typeface="Times New Roman"/>
              </a:endParaRPr>
            </a:p>
          </p:txBody>
        </p:sp>
      </p:grpSp>
    </p:spTree>
  </p:cSld>
  <p:clrMapOvr>
    <a:masterClrMapping/>
  </p:clrMapOvr>
  <p:transition spd="slow">
    <p:push/>
  </p:transition>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sp>
        <p:nvSpPr>
          <p:cNvPr id="754" name="Google Shape;754;p44"/>
          <p:cNvSpPr txBox="1"/>
          <p:nvPr>
            <p:ph type="title"/>
          </p:nvPr>
        </p:nvSpPr>
        <p:spPr>
          <a:xfrm>
            <a:off x="1487488" y="438077"/>
            <a:ext cx="9385200" cy="733888"/>
          </a:xfrm>
          <a:prstGeom prst="rect">
            <a:avLst/>
          </a:prstGeom>
          <a:noFill/>
          <a:ln>
            <a:noFill/>
          </a:ln>
        </p:spPr>
        <p:txBody>
          <a:bodyPr anchorCtr="0" anchor="t" bIns="121900" lIns="121900" spcFirstLastPara="1" rIns="121900" wrap="square" tIns="121900">
            <a:normAutofit/>
          </a:bodyPr>
          <a:lstStyle/>
          <a:p>
            <a:pPr indent="0" lvl="0" marL="0" rtl="0" algn="l">
              <a:spcBef>
                <a:spcPts val="0"/>
              </a:spcBef>
              <a:spcAft>
                <a:spcPts val="0"/>
              </a:spcAft>
              <a:buClr>
                <a:schemeClr val="dk1"/>
              </a:buClr>
              <a:buSzPts val="2400"/>
              <a:buFont typeface="Calibri"/>
              <a:buNone/>
            </a:pPr>
            <a:r>
              <a:rPr b="1" i="1" lang="es-BO" sz="1800" u="sng"/>
              <a:t>Modos de funcionamiento</a:t>
            </a:r>
            <a:endParaRPr b="1" i="1" sz="1800" u="sng"/>
          </a:p>
        </p:txBody>
      </p:sp>
      <p:sp>
        <p:nvSpPr>
          <p:cNvPr id="755" name="Google Shape;755;p44"/>
          <p:cNvSpPr txBox="1"/>
          <p:nvPr>
            <p:ph idx="1" type="body"/>
          </p:nvPr>
        </p:nvSpPr>
        <p:spPr>
          <a:xfrm>
            <a:off x="1678968" y="1513153"/>
            <a:ext cx="4644400" cy="1940800"/>
          </a:xfrm>
          <a:prstGeom prst="rect">
            <a:avLst/>
          </a:prstGeom>
          <a:noFill/>
          <a:ln>
            <a:noFill/>
          </a:ln>
        </p:spPr>
        <p:txBody>
          <a:bodyPr anchorCtr="0" anchor="t" bIns="121900" lIns="121900" spcFirstLastPara="1" rIns="121900" wrap="square" tIns="121900">
            <a:normAutofit/>
          </a:bodyPr>
          <a:lstStyle/>
          <a:p>
            <a:pPr indent="-414855" lvl="0" marL="609585" rtl="0" algn="just">
              <a:spcBef>
                <a:spcPts val="0"/>
              </a:spcBef>
              <a:spcAft>
                <a:spcPts val="0"/>
              </a:spcAft>
              <a:buClr>
                <a:schemeClr val="dk1"/>
              </a:buClr>
              <a:buSzPts val="1300"/>
              <a:buAutoNum type="alphaLcParenR"/>
            </a:pPr>
            <a:r>
              <a:rPr b="1" lang="es-BO" sz="1600"/>
              <a:t>Modo de visualización   </a:t>
            </a:r>
            <a:endParaRPr b="1" sz="1600"/>
          </a:p>
          <a:p>
            <a:pPr indent="0" lvl="0" marL="0" rtl="0" algn="just">
              <a:spcBef>
                <a:spcPts val="1600"/>
              </a:spcBef>
              <a:spcAft>
                <a:spcPts val="0"/>
              </a:spcAft>
              <a:buClr>
                <a:schemeClr val="dk1"/>
              </a:buClr>
              <a:buSzPts val="1300"/>
              <a:buNone/>
            </a:pPr>
            <a:r>
              <a:rPr lang="es-BO" sz="1600"/>
              <a:t>Es el modo que viene por defecto al encender el equipo, se puede ver el volumen dosificado, el caudal en las unidades seleccionadas y una cuenta hacia atrás de un volumen configurado.</a:t>
            </a:r>
            <a:endParaRPr sz="1600"/>
          </a:p>
          <a:p>
            <a:pPr indent="0" lvl="0" marL="609585" rtl="0" algn="l">
              <a:spcBef>
                <a:spcPts val="1600"/>
              </a:spcBef>
              <a:spcAft>
                <a:spcPts val="0"/>
              </a:spcAft>
              <a:buClr>
                <a:schemeClr val="dk1"/>
              </a:buClr>
              <a:buSzPts val="1300"/>
              <a:buNone/>
            </a:pPr>
            <a:r>
              <a:t/>
            </a:r>
            <a:endParaRPr/>
          </a:p>
          <a:p>
            <a:pPr indent="0" lvl="0" marL="609585" rtl="0" algn="l">
              <a:spcBef>
                <a:spcPts val="1600"/>
              </a:spcBef>
              <a:spcAft>
                <a:spcPts val="1600"/>
              </a:spcAft>
              <a:buClr>
                <a:schemeClr val="dk1"/>
              </a:buClr>
              <a:buSzPts val="1300"/>
              <a:buNone/>
            </a:pPr>
            <a:r>
              <a:t/>
            </a:r>
            <a:endParaRPr/>
          </a:p>
        </p:txBody>
      </p:sp>
      <p:sp>
        <p:nvSpPr>
          <p:cNvPr id="756" name="Google Shape;756;p44"/>
          <p:cNvSpPr txBox="1"/>
          <p:nvPr>
            <p:ph idx="4294967295" type="body"/>
          </p:nvPr>
        </p:nvSpPr>
        <p:spPr>
          <a:xfrm>
            <a:off x="7250113" y="1487488"/>
            <a:ext cx="4941887" cy="1150937"/>
          </a:xfrm>
          <a:prstGeom prst="rect">
            <a:avLst/>
          </a:prstGeom>
          <a:noFill/>
          <a:ln>
            <a:noFill/>
          </a:ln>
        </p:spPr>
        <p:txBody>
          <a:bodyPr anchorCtr="0" anchor="t" bIns="121900" lIns="121900" spcFirstLastPara="1" rIns="121900" wrap="square" tIns="121900">
            <a:normAutofit/>
          </a:bodyPr>
          <a:lstStyle/>
          <a:p>
            <a:pPr indent="0" lvl="0" marL="0" rtl="0" algn="just">
              <a:spcBef>
                <a:spcPts val="320"/>
              </a:spcBef>
              <a:spcAft>
                <a:spcPts val="0"/>
              </a:spcAft>
              <a:buClr>
                <a:schemeClr val="dk1"/>
              </a:buClr>
              <a:buSzPts val="1600"/>
              <a:buNone/>
            </a:pPr>
            <a:r>
              <a:rPr lang="es-BO" sz="1600"/>
              <a:t>b)</a:t>
            </a:r>
            <a:r>
              <a:rPr b="1" lang="es-BO" sz="1600"/>
              <a:t> Modo de pruebas</a:t>
            </a:r>
            <a:endParaRPr/>
          </a:p>
          <a:p>
            <a:pPr indent="0" lvl="0" marL="0" rtl="0" algn="just">
              <a:spcBef>
                <a:spcPts val="320"/>
              </a:spcBef>
              <a:spcAft>
                <a:spcPts val="0"/>
              </a:spcAft>
              <a:buClr>
                <a:schemeClr val="dk1"/>
              </a:buClr>
              <a:buSzPts val="1600"/>
              <a:buNone/>
            </a:pPr>
            <a:r>
              <a:rPr lang="es-BO" sz="1600"/>
              <a:t>Sirve para comprobar el funcionamiento de los componentes del dosificador.</a:t>
            </a:r>
            <a:endParaRPr sz="1600"/>
          </a:p>
          <a:p>
            <a:pPr indent="0" lvl="0" marL="342900" rtl="0" algn="l">
              <a:spcBef>
                <a:spcPts val="1600"/>
              </a:spcBef>
              <a:spcAft>
                <a:spcPts val="0"/>
              </a:spcAft>
              <a:buClr>
                <a:schemeClr val="dk1"/>
              </a:buClr>
              <a:buSzPts val="3200"/>
              <a:buNone/>
            </a:pPr>
            <a:r>
              <a:t/>
            </a:r>
            <a:endParaRPr/>
          </a:p>
          <a:p>
            <a:pPr indent="0" lvl="0" marL="342900" rtl="0" algn="l">
              <a:spcBef>
                <a:spcPts val="1600"/>
              </a:spcBef>
              <a:spcAft>
                <a:spcPts val="1600"/>
              </a:spcAft>
              <a:buClr>
                <a:schemeClr val="dk1"/>
              </a:buClr>
              <a:buSzPts val="3200"/>
              <a:buNone/>
            </a:pPr>
            <a:r>
              <a:t/>
            </a:r>
            <a:endParaRPr/>
          </a:p>
        </p:txBody>
      </p:sp>
      <p:pic>
        <p:nvPicPr>
          <p:cNvPr id="757" name="Google Shape;757;p44"/>
          <p:cNvPicPr preferRelativeResize="0"/>
          <p:nvPr/>
        </p:nvPicPr>
        <p:blipFill rotWithShape="1">
          <a:blip r:embed="rId3">
            <a:alphaModFix/>
          </a:blip>
          <a:srcRect b="0" l="0" r="0" t="0"/>
          <a:stretch/>
        </p:blipFill>
        <p:spPr>
          <a:xfrm>
            <a:off x="1596533" y="3429000"/>
            <a:ext cx="4943367" cy="1804182"/>
          </a:xfrm>
          <a:prstGeom prst="rect">
            <a:avLst/>
          </a:prstGeom>
          <a:noFill/>
          <a:ln>
            <a:noFill/>
          </a:ln>
        </p:spPr>
      </p:pic>
      <p:pic>
        <p:nvPicPr>
          <p:cNvPr id="758" name="Google Shape;758;p44"/>
          <p:cNvPicPr preferRelativeResize="0"/>
          <p:nvPr/>
        </p:nvPicPr>
        <p:blipFill rotWithShape="1">
          <a:blip r:embed="rId4">
            <a:alphaModFix/>
          </a:blip>
          <a:srcRect b="0" l="0" r="0" t="0"/>
          <a:stretch/>
        </p:blipFill>
        <p:spPr>
          <a:xfrm>
            <a:off x="8120900" y="2637714"/>
            <a:ext cx="2385067" cy="3586800"/>
          </a:xfrm>
          <a:prstGeom prst="rect">
            <a:avLst/>
          </a:prstGeom>
          <a:noFill/>
          <a:ln>
            <a:noFill/>
          </a:ln>
        </p:spPr>
      </p:pic>
      <p:sp>
        <p:nvSpPr>
          <p:cNvPr id="759" name="Google Shape;759;p44"/>
          <p:cNvSpPr txBox="1"/>
          <p:nvPr/>
        </p:nvSpPr>
        <p:spPr>
          <a:xfrm>
            <a:off x="2015632" y="1118503"/>
            <a:ext cx="9385200" cy="670903"/>
          </a:xfrm>
          <a:prstGeom prst="rect">
            <a:avLst/>
          </a:prstGeom>
          <a:noFill/>
          <a:ln>
            <a:noFill/>
          </a:ln>
        </p:spPr>
        <p:txBody>
          <a:bodyPr anchorCtr="0" anchor="t" bIns="121900" lIns="121900" spcFirstLastPara="1" rIns="121900" wrap="square" tIns="121900">
            <a:normAutofit/>
          </a:bodyPr>
          <a:lstStyle/>
          <a:p>
            <a:pPr indent="0" lvl="0" marL="0" marR="0" rtl="0" algn="l">
              <a:lnSpc>
                <a:spcPct val="90000"/>
              </a:lnSpc>
              <a:spcBef>
                <a:spcPts val="0"/>
              </a:spcBef>
              <a:spcAft>
                <a:spcPts val="1600"/>
              </a:spcAft>
              <a:buClr>
                <a:schemeClr val="dk1"/>
              </a:buClr>
              <a:buSzPts val="1300"/>
              <a:buFont typeface="Arial"/>
              <a:buNone/>
            </a:pPr>
            <a:r>
              <a:rPr b="1" lang="es-BO" sz="1600">
                <a:solidFill>
                  <a:schemeClr val="dk1"/>
                </a:solidFill>
                <a:latin typeface="Calibri"/>
                <a:ea typeface="Calibri"/>
                <a:cs typeface="Calibri"/>
                <a:sym typeface="Calibri"/>
              </a:rPr>
              <a:t>c) Modo de configuración de parámetros </a:t>
            </a:r>
            <a:endParaRPr/>
          </a:p>
        </p:txBody>
      </p:sp>
      <p:pic>
        <p:nvPicPr>
          <p:cNvPr id="760" name="Google Shape;760;p44"/>
          <p:cNvPicPr preferRelativeResize="0"/>
          <p:nvPr/>
        </p:nvPicPr>
        <p:blipFill rotWithShape="1">
          <a:blip r:embed="rId5">
            <a:alphaModFix/>
          </a:blip>
          <a:srcRect b="0" l="0" r="0" t="0"/>
          <a:stretch/>
        </p:blipFill>
        <p:spPr>
          <a:xfrm>
            <a:off x="3192648" y="1624818"/>
            <a:ext cx="6261440" cy="4832886"/>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755">
                                            <p:txEl>
                                              <p:pRg end="0" st="0"/>
                                            </p:txEl>
                                          </p:spTgt>
                                        </p:tgtEl>
                                      </p:cBhvr>
                                    </p:animEffect>
                                    <p:set>
                                      <p:cBhvr>
                                        <p:cTn dur="1" fill="hold">
                                          <p:stCondLst>
                                            <p:cond delay="500"/>
                                          </p:stCondLst>
                                        </p:cTn>
                                        <p:tgtEl>
                                          <p:spTgt spid="755">
                                            <p:txEl>
                                              <p:pRg end="0" st="0"/>
                                            </p:txEl>
                                          </p:spTgt>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755">
                                            <p:txEl>
                                              <p:pRg end="1" st="1"/>
                                            </p:txEl>
                                          </p:spTgt>
                                        </p:tgtEl>
                                      </p:cBhvr>
                                    </p:animEffect>
                                    <p:set>
                                      <p:cBhvr>
                                        <p:cTn dur="1" fill="hold">
                                          <p:stCondLst>
                                            <p:cond delay="500"/>
                                          </p:stCondLst>
                                        </p:cTn>
                                        <p:tgtEl>
                                          <p:spTgt spid="755">
                                            <p:txEl>
                                              <p:pRg end="1" st="1"/>
                                            </p:txEl>
                                          </p:spTgt>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755">
                                            <p:txEl>
                                              <p:pRg end="2" st="2"/>
                                            </p:txEl>
                                          </p:spTgt>
                                        </p:tgtEl>
                                      </p:cBhvr>
                                    </p:animEffect>
                                    <p:set>
                                      <p:cBhvr>
                                        <p:cTn dur="1" fill="hold">
                                          <p:stCondLst>
                                            <p:cond delay="500"/>
                                          </p:stCondLst>
                                        </p:cTn>
                                        <p:tgtEl>
                                          <p:spTgt spid="755">
                                            <p:txEl>
                                              <p:pRg end="2" st="2"/>
                                            </p:txEl>
                                          </p:spTgt>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755">
                                            <p:txEl>
                                              <p:pRg end="3" st="3"/>
                                            </p:txEl>
                                          </p:spTgt>
                                        </p:tgtEl>
                                      </p:cBhvr>
                                    </p:animEffect>
                                    <p:set>
                                      <p:cBhvr>
                                        <p:cTn dur="1" fill="hold">
                                          <p:stCondLst>
                                            <p:cond delay="500"/>
                                          </p:stCondLst>
                                        </p:cTn>
                                        <p:tgtEl>
                                          <p:spTgt spid="755">
                                            <p:txEl>
                                              <p:pRg end="3" st="3"/>
                                            </p:txEl>
                                          </p:spTgt>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757"/>
                                        </p:tgtEl>
                                      </p:cBhvr>
                                    </p:animEffect>
                                    <p:set>
                                      <p:cBhvr>
                                        <p:cTn dur="1" fill="hold">
                                          <p:stCondLst>
                                            <p:cond delay="500"/>
                                          </p:stCondLst>
                                        </p:cTn>
                                        <p:tgtEl>
                                          <p:spTgt spid="757"/>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756">
                                            <p:txEl>
                                              <p:pRg end="0" st="0"/>
                                            </p:txEl>
                                          </p:spTgt>
                                        </p:tgtEl>
                                      </p:cBhvr>
                                    </p:animEffect>
                                    <p:set>
                                      <p:cBhvr>
                                        <p:cTn dur="1" fill="hold">
                                          <p:stCondLst>
                                            <p:cond delay="500"/>
                                          </p:stCondLst>
                                        </p:cTn>
                                        <p:tgtEl>
                                          <p:spTgt spid="756">
                                            <p:txEl>
                                              <p:pRg end="0" st="0"/>
                                            </p:txEl>
                                          </p:spTgt>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756">
                                            <p:txEl>
                                              <p:pRg end="1" st="1"/>
                                            </p:txEl>
                                          </p:spTgt>
                                        </p:tgtEl>
                                      </p:cBhvr>
                                    </p:animEffect>
                                    <p:set>
                                      <p:cBhvr>
                                        <p:cTn dur="1" fill="hold">
                                          <p:stCondLst>
                                            <p:cond delay="500"/>
                                          </p:stCondLst>
                                        </p:cTn>
                                        <p:tgtEl>
                                          <p:spTgt spid="756">
                                            <p:txEl>
                                              <p:pRg end="1" st="1"/>
                                            </p:txEl>
                                          </p:spTgt>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756">
                                            <p:txEl>
                                              <p:pRg end="2" st="2"/>
                                            </p:txEl>
                                          </p:spTgt>
                                        </p:tgtEl>
                                      </p:cBhvr>
                                    </p:animEffect>
                                    <p:set>
                                      <p:cBhvr>
                                        <p:cTn dur="1" fill="hold">
                                          <p:stCondLst>
                                            <p:cond delay="500"/>
                                          </p:stCondLst>
                                        </p:cTn>
                                        <p:tgtEl>
                                          <p:spTgt spid="756">
                                            <p:txEl>
                                              <p:pRg end="2" st="2"/>
                                            </p:txEl>
                                          </p:spTgt>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756">
                                            <p:txEl>
                                              <p:pRg end="3" st="3"/>
                                            </p:txEl>
                                          </p:spTgt>
                                        </p:tgtEl>
                                      </p:cBhvr>
                                    </p:animEffect>
                                    <p:set>
                                      <p:cBhvr>
                                        <p:cTn dur="1" fill="hold">
                                          <p:stCondLst>
                                            <p:cond delay="500"/>
                                          </p:stCondLst>
                                        </p:cTn>
                                        <p:tgtEl>
                                          <p:spTgt spid="756">
                                            <p:txEl>
                                              <p:pRg end="3" st="3"/>
                                            </p:txEl>
                                          </p:spTgt>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758"/>
                                        </p:tgtEl>
                                      </p:cBhvr>
                                    </p:animEffect>
                                    <p:set>
                                      <p:cBhvr>
                                        <p:cTn dur="1" fill="hold">
                                          <p:stCondLst>
                                            <p:cond delay="500"/>
                                          </p:stCondLst>
                                        </p:cTn>
                                        <p:tgtEl>
                                          <p:spTgt spid="75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5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p45"/>
          <p:cNvSpPr txBox="1"/>
          <p:nvPr>
            <p:ph idx="1" type="body"/>
          </p:nvPr>
        </p:nvSpPr>
        <p:spPr>
          <a:xfrm>
            <a:off x="1410824" y="689408"/>
            <a:ext cx="10111600" cy="729475"/>
          </a:xfrm>
          <a:prstGeom prst="rect">
            <a:avLst/>
          </a:prstGeom>
          <a:noFill/>
          <a:ln>
            <a:noFill/>
          </a:ln>
        </p:spPr>
        <p:txBody>
          <a:bodyPr anchorCtr="0" anchor="t" bIns="121900" lIns="121900" spcFirstLastPara="1" rIns="121900" wrap="square" tIns="121900">
            <a:normAutofit/>
          </a:bodyPr>
          <a:lstStyle/>
          <a:p>
            <a:pPr indent="0" lvl="0" marL="0" rtl="0" algn="l">
              <a:spcBef>
                <a:spcPts val="0"/>
              </a:spcBef>
              <a:spcAft>
                <a:spcPts val="0"/>
              </a:spcAft>
              <a:buClr>
                <a:schemeClr val="dk1"/>
              </a:buClr>
              <a:buSzPts val="1300"/>
              <a:buNone/>
            </a:pPr>
            <a:r>
              <a:rPr b="1" i="1" lang="es-BO" sz="1800" u="sng"/>
              <a:t>Pruebas de laboratorio del dosificador</a:t>
            </a:r>
            <a:endParaRPr/>
          </a:p>
          <a:p>
            <a:pPr indent="0" lvl="0" marL="0" rtl="0" algn="l">
              <a:spcBef>
                <a:spcPts val="1600"/>
              </a:spcBef>
              <a:spcAft>
                <a:spcPts val="0"/>
              </a:spcAft>
              <a:buClr>
                <a:schemeClr val="dk1"/>
              </a:buClr>
              <a:buSzPts val="1300"/>
              <a:buNone/>
            </a:pPr>
            <a:r>
              <a:t/>
            </a:r>
            <a:endParaRPr/>
          </a:p>
          <a:p>
            <a:pPr indent="0" lvl="0" marL="0" rtl="0" algn="l">
              <a:spcBef>
                <a:spcPts val="1600"/>
              </a:spcBef>
              <a:spcAft>
                <a:spcPts val="0"/>
              </a:spcAft>
              <a:buClr>
                <a:schemeClr val="dk1"/>
              </a:buClr>
              <a:buSzPts val="1300"/>
              <a:buNone/>
            </a:pPr>
            <a:r>
              <a:t/>
            </a:r>
            <a:endParaRPr/>
          </a:p>
          <a:p>
            <a:pPr indent="0" lvl="0" marL="0" rtl="0" algn="l">
              <a:spcBef>
                <a:spcPts val="1600"/>
              </a:spcBef>
              <a:spcAft>
                <a:spcPts val="0"/>
              </a:spcAft>
              <a:buClr>
                <a:schemeClr val="dk1"/>
              </a:buClr>
              <a:buSzPts val="1300"/>
              <a:buNone/>
            </a:pPr>
            <a:r>
              <a:t/>
            </a:r>
            <a:endParaRPr/>
          </a:p>
          <a:p>
            <a:pPr indent="0" lvl="0" marL="0" rtl="0" algn="l">
              <a:spcBef>
                <a:spcPts val="1600"/>
              </a:spcBef>
              <a:spcAft>
                <a:spcPts val="0"/>
              </a:spcAft>
              <a:buClr>
                <a:schemeClr val="dk1"/>
              </a:buClr>
              <a:buSzPts val="1300"/>
              <a:buNone/>
            </a:pPr>
            <a:r>
              <a:t/>
            </a:r>
            <a:endParaRPr/>
          </a:p>
          <a:p>
            <a:pPr indent="0" lvl="0" marL="0" rtl="0" algn="l">
              <a:spcBef>
                <a:spcPts val="1600"/>
              </a:spcBef>
              <a:spcAft>
                <a:spcPts val="0"/>
              </a:spcAft>
              <a:buClr>
                <a:schemeClr val="dk1"/>
              </a:buClr>
              <a:buSzPts val="1300"/>
              <a:buNone/>
            </a:pPr>
            <a:r>
              <a:t/>
            </a:r>
            <a:endParaRPr/>
          </a:p>
          <a:p>
            <a:pPr indent="0" lvl="0" marL="0" rtl="0" algn="l">
              <a:spcBef>
                <a:spcPts val="1600"/>
              </a:spcBef>
              <a:spcAft>
                <a:spcPts val="0"/>
              </a:spcAft>
              <a:buClr>
                <a:schemeClr val="dk1"/>
              </a:buClr>
              <a:buSzPts val="1300"/>
              <a:buNone/>
            </a:pPr>
            <a:r>
              <a:t/>
            </a:r>
            <a:endParaRPr/>
          </a:p>
          <a:p>
            <a:pPr indent="0" lvl="0" marL="0" rtl="0" algn="l">
              <a:spcBef>
                <a:spcPts val="1600"/>
              </a:spcBef>
              <a:spcAft>
                <a:spcPts val="0"/>
              </a:spcAft>
              <a:buClr>
                <a:schemeClr val="dk1"/>
              </a:buClr>
              <a:buSzPts val="1300"/>
              <a:buNone/>
            </a:pPr>
            <a:r>
              <a:t/>
            </a:r>
            <a:endParaRPr/>
          </a:p>
          <a:p>
            <a:pPr indent="0" lvl="0" marL="0" rtl="0" algn="l">
              <a:spcBef>
                <a:spcPts val="1600"/>
              </a:spcBef>
              <a:spcAft>
                <a:spcPts val="0"/>
              </a:spcAft>
              <a:buClr>
                <a:schemeClr val="dk1"/>
              </a:buClr>
              <a:buSzPts val="1300"/>
              <a:buNone/>
            </a:pPr>
            <a:r>
              <a:t/>
            </a:r>
            <a:endParaRPr/>
          </a:p>
          <a:p>
            <a:pPr indent="0" lvl="0" marL="0" rtl="0" algn="l">
              <a:spcBef>
                <a:spcPts val="1600"/>
              </a:spcBef>
              <a:spcAft>
                <a:spcPts val="0"/>
              </a:spcAft>
              <a:buClr>
                <a:schemeClr val="dk1"/>
              </a:buClr>
              <a:buSzPts val="1300"/>
              <a:buNone/>
            </a:pPr>
            <a:r>
              <a:t/>
            </a:r>
            <a:endParaRPr/>
          </a:p>
          <a:p>
            <a:pPr indent="0" lvl="0" marL="0" rtl="0" algn="l">
              <a:spcBef>
                <a:spcPts val="1600"/>
              </a:spcBef>
              <a:spcAft>
                <a:spcPts val="0"/>
              </a:spcAft>
              <a:buClr>
                <a:schemeClr val="dk1"/>
              </a:buClr>
              <a:buSzPts val="1300"/>
              <a:buNone/>
            </a:pPr>
            <a:r>
              <a:t/>
            </a:r>
            <a:endParaRPr/>
          </a:p>
        </p:txBody>
      </p:sp>
      <p:sp>
        <p:nvSpPr>
          <p:cNvPr id="766" name="Google Shape;766;p45"/>
          <p:cNvSpPr txBox="1"/>
          <p:nvPr/>
        </p:nvSpPr>
        <p:spPr>
          <a:xfrm>
            <a:off x="5231905" y="5522261"/>
            <a:ext cx="648072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dk1"/>
              </a:buClr>
              <a:buSzPts val="1800"/>
              <a:buFont typeface="Calibri"/>
              <a:buNone/>
            </a:pPr>
            <a:r>
              <a:rPr i="1" lang="es-BO" sz="1800">
                <a:solidFill>
                  <a:schemeClr val="dk1"/>
                </a:solidFill>
                <a:latin typeface="Calibri"/>
                <a:ea typeface="Calibri"/>
                <a:cs typeface="Calibri"/>
                <a:sym typeface="Calibri"/>
              </a:rPr>
              <a:t>Con esta gráfica podemos observar la relación del caudal y el voltaje  en laboratorio.</a:t>
            </a:r>
            <a:endParaRPr sz="1800">
              <a:solidFill>
                <a:schemeClr val="dk1"/>
              </a:solidFill>
              <a:latin typeface="Calibri"/>
              <a:ea typeface="Calibri"/>
              <a:cs typeface="Calibri"/>
              <a:sym typeface="Calibri"/>
            </a:endParaRPr>
          </a:p>
        </p:txBody>
      </p:sp>
      <p:graphicFrame>
        <p:nvGraphicFramePr>
          <p:cNvPr id="767" name="Google Shape;767;p45"/>
          <p:cNvGraphicFramePr/>
          <p:nvPr/>
        </p:nvGraphicFramePr>
        <p:xfrm>
          <a:off x="1775520" y="1347252"/>
          <a:ext cx="3000000" cy="3000000"/>
        </p:xfrm>
        <a:graphic>
          <a:graphicData uri="http://schemas.openxmlformats.org/drawingml/2006/table">
            <a:tbl>
              <a:tblPr>
                <a:noFill/>
                <a:tableStyleId>{222A7E54-5182-43F9-A65E-7F61A87368E1}</a:tableStyleId>
              </a:tblPr>
              <a:tblGrid>
                <a:gridCol w="1401425"/>
                <a:gridCol w="1401425"/>
              </a:tblGrid>
              <a:tr h="319075">
                <a:tc>
                  <a:txBody>
                    <a:bodyPr/>
                    <a:lstStyle/>
                    <a:p>
                      <a:pPr indent="0" lvl="0" marL="0" marR="0" rtl="0" algn="ctr">
                        <a:spcBef>
                          <a:spcPts val="0"/>
                        </a:spcBef>
                        <a:spcAft>
                          <a:spcPts val="0"/>
                        </a:spcAft>
                        <a:buNone/>
                      </a:pPr>
                      <a:r>
                        <a:rPr b="1" lang="es-BO" sz="1800" u="none" strike="noStrike"/>
                        <a:t>Caudal (L/s)</a:t>
                      </a:r>
                      <a:endParaRPr b="1" i="0" sz="1800" u="none" strike="noStrike">
                        <a:solidFill>
                          <a:srgbClr val="000000"/>
                        </a:solidFill>
                        <a:latin typeface="Calibri"/>
                        <a:ea typeface="Calibri"/>
                        <a:cs typeface="Calibri"/>
                        <a:sym typeface="Calibri"/>
                      </a:endParaRPr>
                    </a:p>
                  </a:txBody>
                  <a:tcPr marT="9525" marB="0" marR="9525" marL="95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s-BO" sz="1800" u="none" strike="noStrike"/>
                        <a:t>Voltaje (V)</a:t>
                      </a:r>
                      <a:endParaRPr b="1" i="0" sz="1800" u="none" strike="noStrike">
                        <a:solidFill>
                          <a:srgbClr val="000000"/>
                        </a:solidFill>
                        <a:latin typeface="Calibri"/>
                        <a:ea typeface="Calibri"/>
                        <a:cs typeface="Calibri"/>
                        <a:sym typeface="Calibri"/>
                      </a:endParaRPr>
                    </a:p>
                  </a:txBody>
                  <a:tcPr marT="9525" marB="0" marR="9525" marL="95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19075">
                <a:tc>
                  <a:txBody>
                    <a:bodyPr/>
                    <a:lstStyle/>
                    <a:p>
                      <a:pPr indent="0" lvl="0" marL="0" marR="0" rtl="0" algn="ctr">
                        <a:spcBef>
                          <a:spcPts val="0"/>
                        </a:spcBef>
                        <a:spcAft>
                          <a:spcPts val="0"/>
                        </a:spcAft>
                        <a:buNone/>
                      </a:pPr>
                      <a:r>
                        <a:rPr lang="es-BO" sz="1800" u="none" strike="noStrike"/>
                        <a:t>0,118</a:t>
                      </a:r>
                      <a:endParaRPr b="0" i="0" sz="18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i="0" lang="es-BO" sz="1800" u="none" strike="noStrike">
                          <a:solidFill>
                            <a:srgbClr val="000000"/>
                          </a:solidFill>
                          <a:latin typeface="Calibri"/>
                          <a:ea typeface="Calibri"/>
                          <a:cs typeface="Calibri"/>
                          <a:sym typeface="Calibri"/>
                        </a:rPr>
                        <a:t>99,7</a:t>
                      </a:r>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19075">
                <a:tc>
                  <a:txBody>
                    <a:bodyPr/>
                    <a:lstStyle/>
                    <a:p>
                      <a:pPr indent="0" lvl="0" marL="0" marR="0" rtl="0" algn="ctr">
                        <a:spcBef>
                          <a:spcPts val="0"/>
                        </a:spcBef>
                        <a:spcAft>
                          <a:spcPts val="0"/>
                        </a:spcAft>
                        <a:buNone/>
                      </a:pPr>
                      <a:r>
                        <a:rPr lang="es-BO" sz="1800" u="none" strike="noStrike"/>
                        <a:t>0,143</a:t>
                      </a:r>
                      <a:endParaRPr b="0" i="0" sz="18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i="0" lang="es-BO" sz="1800" u="none" strike="noStrike">
                          <a:solidFill>
                            <a:srgbClr val="000000"/>
                          </a:solidFill>
                          <a:latin typeface="Calibri"/>
                          <a:ea typeface="Calibri"/>
                          <a:cs typeface="Calibri"/>
                          <a:sym typeface="Calibri"/>
                        </a:rPr>
                        <a:t>103,2</a:t>
                      </a:r>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19075">
                <a:tc>
                  <a:txBody>
                    <a:bodyPr/>
                    <a:lstStyle/>
                    <a:p>
                      <a:pPr indent="0" lvl="0" marL="0" marR="0" rtl="0" algn="ctr">
                        <a:spcBef>
                          <a:spcPts val="0"/>
                        </a:spcBef>
                        <a:spcAft>
                          <a:spcPts val="0"/>
                        </a:spcAft>
                        <a:buNone/>
                      </a:pPr>
                      <a:r>
                        <a:rPr lang="es-BO" sz="1800" u="none" strike="noStrike"/>
                        <a:t>0,18</a:t>
                      </a:r>
                      <a:endParaRPr b="0" i="0" sz="18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i="0" lang="es-BO" sz="1800" u="none" strike="noStrike">
                          <a:solidFill>
                            <a:srgbClr val="000000"/>
                          </a:solidFill>
                          <a:latin typeface="Calibri"/>
                          <a:ea typeface="Calibri"/>
                          <a:cs typeface="Calibri"/>
                          <a:sym typeface="Calibri"/>
                        </a:rPr>
                        <a:t>110,7</a:t>
                      </a:r>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19075">
                <a:tc>
                  <a:txBody>
                    <a:bodyPr/>
                    <a:lstStyle/>
                    <a:p>
                      <a:pPr indent="0" lvl="0" marL="0" marR="0" rtl="0" algn="ctr">
                        <a:spcBef>
                          <a:spcPts val="0"/>
                        </a:spcBef>
                        <a:spcAft>
                          <a:spcPts val="0"/>
                        </a:spcAft>
                        <a:buNone/>
                      </a:pPr>
                      <a:r>
                        <a:rPr lang="es-BO" sz="1800" u="none" strike="noStrike"/>
                        <a:t>0,198</a:t>
                      </a:r>
                      <a:endParaRPr b="0" i="0" sz="18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i="0" lang="es-BO" sz="1800" u="none" strike="noStrike">
                          <a:solidFill>
                            <a:srgbClr val="000000"/>
                          </a:solidFill>
                          <a:latin typeface="Calibri"/>
                          <a:ea typeface="Calibri"/>
                          <a:cs typeface="Calibri"/>
                          <a:sym typeface="Calibri"/>
                        </a:rPr>
                        <a:t>116,7</a:t>
                      </a:r>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19075">
                <a:tc>
                  <a:txBody>
                    <a:bodyPr/>
                    <a:lstStyle/>
                    <a:p>
                      <a:pPr indent="0" lvl="0" marL="0" marR="0" rtl="0" algn="ctr">
                        <a:spcBef>
                          <a:spcPts val="0"/>
                        </a:spcBef>
                        <a:spcAft>
                          <a:spcPts val="0"/>
                        </a:spcAft>
                        <a:buNone/>
                      </a:pPr>
                      <a:r>
                        <a:rPr lang="es-BO" sz="1800" u="none" strike="noStrike"/>
                        <a:t>0,22</a:t>
                      </a:r>
                      <a:endParaRPr b="0" i="0" sz="18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i="0" lang="es-BO" sz="1800" u="none" strike="noStrike">
                          <a:solidFill>
                            <a:srgbClr val="000000"/>
                          </a:solidFill>
                          <a:latin typeface="Calibri"/>
                          <a:ea typeface="Calibri"/>
                          <a:cs typeface="Calibri"/>
                          <a:sym typeface="Calibri"/>
                        </a:rPr>
                        <a:t>120,7</a:t>
                      </a:r>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19075">
                <a:tc>
                  <a:txBody>
                    <a:bodyPr/>
                    <a:lstStyle/>
                    <a:p>
                      <a:pPr indent="0" lvl="0" marL="0" marR="0" rtl="0" algn="ctr">
                        <a:spcBef>
                          <a:spcPts val="0"/>
                        </a:spcBef>
                        <a:spcAft>
                          <a:spcPts val="0"/>
                        </a:spcAft>
                        <a:buNone/>
                      </a:pPr>
                      <a:r>
                        <a:rPr lang="es-BO" sz="1800" u="none" strike="noStrike"/>
                        <a:t>0,252</a:t>
                      </a:r>
                      <a:endParaRPr b="0" i="0" sz="18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i="0" lang="es-BO" sz="1800" u="none" strike="noStrike">
                          <a:solidFill>
                            <a:srgbClr val="000000"/>
                          </a:solidFill>
                          <a:latin typeface="Calibri"/>
                          <a:ea typeface="Calibri"/>
                          <a:cs typeface="Calibri"/>
                          <a:sym typeface="Calibri"/>
                        </a:rPr>
                        <a:t>130,5</a:t>
                      </a:r>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19075">
                <a:tc>
                  <a:txBody>
                    <a:bodyPr/>
                    <a:lstStyle/>
                    <a:p>
                      <a:pPr indent="0" lvl="0" marL="0" marR="0" rtl="0" algn="ctr">
                        <a:spcBef>
                          <a:spcPts val="0"/>
                        </a:spcBef>
                        <a:spcAft>
                          <a:spcPts val="0"/>
                        </a:spcAft>
                        <a:buNone/>
                      </a:pPr>
                      <a:r>
                        <a:rPr lang="es-BO" sz="1800" u="none" strike="noStrike"/>
                        <a:t>0,29</a:t>
                      </a:r>
                      <a:endParaRPr b="0" i="0" sz="18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i="0" lang="es-BO" sz="1800" u="none" strike="noStrike">
                          <a:solidFill>
                            <a:srgbClr val="000000"/>
                          </a:solidFill>
                          <a:latin typeface="Calibri"/>
                          <a:ea typeface="Calibri"/>
                          <a:cs typeface="Calibri"/>
                          <a:sym typeface="Calibri"/>
                        </a:rPr>
                        <a:t>140,2</a:t>
                      </a:r>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19075">
                <a:tc>
                  <a:txBody>
                    <a:bodyPr/>
                    <a:lstStyle/>
                    <a:p>
                      <a:pPr indent="0" lvl="0" marL="0" marR="0" rtl="0" algn="ctr">
                        <a:spcBef>
                          <a:spcPts val="0"/>
                        </a:spcBef>
                        <a:spcAft>
                          <a:spcPts val="0"/>
                        </a:spcAft>
                        <a:buNone/>
                      </a:pPr>
                      <a:r>
                        <a:rPr lang="es-BO" sz="1800" u="none" strike="noStrike"/>
                        <a:t>0,322</a:t>
                      </a:r>
                      <a:endParaRPr b="0" i="0" sz="18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i="0" lang="es-BO" sz="1800" u="none" strike="noStrike">
                          <a:solidFill>
                            <a:srgbClr val="000000"/>
                          </a:solidFill>
                          <a:latin typeface="Calibri"/>
                          <a:ea typeface="Calibri"/>
                          <a:cs typeface="Calibri"/>
                          <a:sym typeface="Calibri"/>
                        </a:rPr>
                        <a:t>149,8</a:t>
                      </a:r>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03875">
                <a:tc>
                  <a:txBody>
                    <a:bodyPr/>
                    <a:lstStyle/>
                    <a:p>
                      <a:pPr indent="0" lvl="0" marL="0" marR="0" rtl="0" algn="ctr">
                        <a:spcBef>
                          <a:spcPts val="0"/>
                        </a:spcBef>
                        <a:spcAft>
                          <a:spcPts val="0"/>
                        </a:spcAft>
                        <a:buNone/>
                      </a:pPr>
                      <a:r>
                        <a:rPr lang="es-BO" sz="1800" u="none" strike="noStrike"/>
                        <a:t>0,352</a:t>
                      </a:r>
                      <a:endParaRPr b="0" i="0" sz="18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i="0" lang="es-BO" sz="1800" u="none" strike="noStrike">
                          <a:solidFill>
                            <a:srgbClr val="000000"/>
                          </a:solidFill>
                          <a:latin typeface="Calibri"/>
                          <a:ea typeface="Calibri"/>
                          <a:cs typeface="Calibri"/>
                          <a:sym typeface="Calibri"/>
                        </a:rPr>
                        <a:t>160,3</a:t>
                      </a:r>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03875">
                <a:tc>
                  <a:txBody>
                    <a:bodyPr/>
                    <a:lstStyle/>
                    <a:p>
                      <a:pPr indent="0" lvl="0" marL="0" marR="0" rtl="0" algn="ctr">
                        <a:spcBef>
                          <a:spcPts val="0"/>
                        </a:spcBef>
                        <a:spcAft>
                          <a:spcPts val="0"/>
                        </a:spcAft>
                        <a:buNone/>
                      </a:pPr>
                      <a:r>
                        <a:rPr lang="es-BO" sz="1800" u="none" strike="noStrike"/>
                        <a:t>0,383</a:t>
                      </a:r>
                      <a:endParaRPr b="0" i="0" sz="18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i="0" lang="es-BO" sz="1800" u="none" strike="noStrike">
                          <a:solidFill>
                            <a:srgbClr val="000000"/>
                          </a:solidFill>
                          <a:latin typeface="Calibri"/>
                          <a:ea typeface="Calibri"/>
                          <a:cs typeface="Calibri"/>
                          <a:sym typeface="Calibri"/>
                        </a:rPr>
                        <a:t>170,2</a:t>
                      </a:r>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03875">
                <a:tc>
                  <a:txBody>
                    <a:bodyPr/>
                    <a:lstStyle/>
                    <a:p>
                      <a:pPr indent="0" lvl="0" marL="0" marR="0" rtl="0" algn="ctr">
                        <a:spcBef>
                          <a:spcPts val="0"/>
                        </a:spcBef>
                        <a:spcAft>
                          <a:spcPts val="0"/>
                        </a:spcAft>
                        <a:buNone/>
                      </a:pPr>
                      <a:r>
                        <a:rPr lang="es-BO" sz="1800" u="none" strike="noStrike"/>
                        <a:t>0,42</a:t>
                      </a:r>
                      <a:endParaRPr b="0" i="0" sz="18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i="0" lang="es-BO" sz="1800" u="none" strike="noStrike">
                          <a:solidFill>
                            <a:srgbClr val="000000"/>
                          </a:solidFill>
                          <a:latin typeface="Calibri"/>
                          <a:ea typeface="Calibri"/>
                          <a:cs typeface="Calibri"/>
                          <a:sym typeface="Calibri"/>
                        </a:rPr>
                        <a:t>180,2</a:t>
                      </a:r>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graphicFrame>
        <p:nvGraphicFramePr>
          <p:cNvPr id="768" name="Google Shape;768;p45"/>
          <p:cNvGraphicFramePr/>
          <p:nvPr/>
        </p:nvGraphicFramePr>
        <p:xfrm>
          <a:off x="5231904" y="1268759"/>
          <a:ext cx="6480720" cy="4111533"/>
        </p:xfrm>
        <a:graphic>
          <a:graphicData uri="http://schemas.openxmlformats.org/drawingml/2006/chart">
            <c:chart r:id="rId3"/>
          </a:graphicData>
        </a:graphic>
      </p:graphicFrame>
    </p:spTree>
  </p:cSld>
  <p:clrMapOvr>
    <a:masterClrMapping/>
  </p:clrMapOvr>
  <p:transition spd="slow">
    <p:push/>
  </p:transition>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sp>
        <p:nvSpPr>
          <p:cNvPr id="773" name="Google Shape;773;p46"/>
          <p:cNvSpPr txBox="1"/>
          <p:nvPr/>
        </p:nvSpPr>
        <p:spPr>
          <a:xfrm>
            <a:off x="1107757" y="1093250"/>
            <a:ext cx="9976485" cy="1477328"/>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1" lang="es-BO" sz="1600" u="sng" strike="noStrike">
                <a:solidFill>
                  <a:schemeClr val="dk1"/>
                </a:solidFill>
                <a:latin typeface="Calibri"/>
                <a:ea typeface="Calibri"/>
                <a:cs typeface="Calibri"/>
                <a:sym typeface="Calibri"/>
              </a:rPr>
              <a:t>Principio de funcionamiento</a:t>
            </a:r>
            <a:endParaRPr/>
          </a:p>
          <a:p>
            <a:pPr indent="0" lvl="0" marL="0" marR="0" rtl="0" algn="just">
              <a:spcBef>
                <a:spcPts val="600"/>
              </a:spcBef>
              <a:spcAft>
                <a:spcPts val="0"/>
              </a:spcAft>
              <a:buNone/>
            </a:pPr>
            <a:r>
              <a:rPr b="0" i="0" lang="es-BO" sz="1600" u="none" strike="noStrike">
                <a:solidFill>
                  <a:schemeClr val="dk1"/>
                </a:solidFill>
                <a:latin typeface="Calibri"/>
                <a:ea typeface="Calibri"/>
                <a:cs typeface="Calibri"/>
                <a:sym typeface="Calibri"/>
              </a:rPr>
              <a:t>Un sensor ultrasónico es un dispositivo electrónico que mide la distancia de un objeto objetivo mediante la emisión de ondas de sonido ultrasónicas y convierte el sonido reflejado en una señal eléctrica. </a:t>
            </a:r>
            <a:br>
              <a:rPr b="0" lang="es-BO" sz="1600">
                <a:solidFill>
                  <a:schemeClr val="dk1"/>
                </a:solidFill>
                <a:latin typeface="Calibri"/>
                <a:ea typeface="Calibri"/>
                <a:cs typeface="Calibri"/>
                <a:sym typeface="Calibri"/>
              </a:rPr>
            </a:br>
            <a:r>
              <a:rPr b="0" i="0" lang="es-BO" sz="1600" u="none" strike="noStrike">
                <a:solidFill>
                  <a:schemeClr val="dk1"/>
                </a:solidFill>
                <a:latin typeface="Calibri"/>
                <a:ea typeface="Calibri"/>
                <a:cs typeface="Calibri"/>
                <a:sym typeface="Calibri"/>
              </a:rPr>
              <a:t> </a:t>
            </a:r>
            <a:endParaRPr/>
          </a:p>
          <a:p>
            <a:pPr indent="0" lvl="0" marL="0" marR="0" rtl="0" algn="ctr">
              <a:spcBef>
                <a:spcPts val="600"/>
              </a:spcBef>
              <a:spcAft>
                <a:spcPts val="0"/>
              </a:spcAft>
              <a:buNone/>
            </a:pPr>
            <a:r>
              <a:rPr b="0" i="0" lang="es-BO" sz="1600" u="none" strike="noStrike">
                <a:solidFill>
                  <a:schemeClr val="dk1"/>
                </a:solidFill>
                <a:latin typeface="Calibri"/>
                <a:ea typeface="Calibri"/>
                <a:cs typeface="Calibri"/>
                <a:sym typeface="Calibri"/>
              </a:rPr>
              <a:t>Variable Medida =  Intensidad de corriente en mA</a:t>
            </a:r>
            <a:endParaRPr b="0" sz="1600">
              <a:solidFill>
                <a:schemeClr val="dk1"/>
              </a:solidFill>
              <a:latin typeface="Calibri"/>
              <a:ea typeface="Calibri"/>
              <a:cs typeface="Calibri"/>
              <a:sym typeface="Calibri"/>
            </a:endParaRPr>
          </a:p>
        </p:txBody>
      </p:sp>
      <p:sp>
        <p:nvSpPr>
          <p:cNvPr id="774" name="Google Shape;774;p46"/>
          <p:cNvSpPr txBox="1"/>
          <p:nvPr>
            <p:ph type="title"/>
          </p:nvPr>
        </p:nvSpPr>
        <p:spPr>
          <a:xfrm>
            <a:off x="1107756" y="507633"/>
            <a:ext cx="4405928" cy="455146"/>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2000"/>
              <a:buFont typeface="Calibri"/>
              <a:buNone/>
            </a:pPr>
            <a:r>
              <a:rPr b="1" i="0" lang="es-BO" sz="2000" u="none" strike="noStrike"/>
              <a:t>SENSOR DE ULTRASONIDO</a:t>
            </a:r>
            <a:endParaRPr b="1" sz="2000"/>
          </a:p>
        </p:txBody>
      </p:sp>
      <p:pic>
        <p:nvPicPr>
          <p:cNvPr id="775" name="Google Shape;775;p46"/>
          <p:cNvPicPr preferRelativeResize="0"/>
          <p:nvPr/>
        </p:nvPicPr>
        <p:blipFill rotWithShape="1">
          <a:blip r:embed="rId3">
            <a:alphaModFix/>
          </a:blip>
          <a:srcRect b="0" l="0" r="0" t="0"/>
          <a:stretch/>
        </p:blipFill>
        <p:spPr>
          <a:xfrm>
            <a:off x="1919536" y="2701049"/>
            <a:ext cx="8786189" cy="3433689"/>
          </a:xfrm>
          <a:prstGeom prst="rect">
            <a:avLst/>
          </a:prstGeom>
          <a:noFill/>
          <a:ln>
            <a:noFill/>
          </a:ln>
        </p:spPr>
      </p:pic>
    </p:spTree>
  </p:cSld>
  <p:clrMapOvr>
    <a:masterClrMapping/>
  </p:clrMapOvr>
  <p:transition spd="slow">
    <p:push/>
  </p:transition>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p47"/>
          <p:cNvSpPr txBox="1"/>
          <p:nvPr/>
        </p:nvSpPr>
        <p:spPr>
          <a:xfrm>
            <a:off x="1359085" y="459501"/>
            <a:ext cx="8945800" cy="600124"/>
          </a:xfrm>
          <a:prstGeom prst="rect">
            <a:avLst/>
          </a:prstGeom>
          <a:noFill/>
          <a:ln>
            <a:noFill/>
          </a:ln>
        </p:spPr>
        <p:txBody>
          <a:bodyPr anchorCtr="0" anchor="t" bIns="121900" lIns="121900" spcFirstLastPara="1" rIns="121900" wrap="square" tIns="121900">
            <a:spAutoFit/>
          </a:bodyPr>
          <a:lstStyle/>
          <a:p>
            <a:pPr indent="0" lvl="0" marL="0" marR="0" rtl="0" algn="l">
              <a:lnSpc>
                <a:spcPct val="115000"/>
              </a:lnSpc>
              <a:spcBef>
                <a:spcPts val="0"/>
              </a:spcBef>
              <a:spcAft>
                <a:spcPts val="0"/>
              </a:spcAft>
              <a:buNone/>
            </a:pPr>
            <a:r>
              <a:rPr b="1" i="1" lang="es-BO" sz="2000" u="sng">
                <a:solidFill>
                  <a:schemeClr val="dk1"/>
                </a:solidFill>
                <a:latin typeface="Calibri"/>
                <a:ea typeface="Calibri"/>
                <a:cs typeface="Calibri"/>
                <a:sym typeface="Calibri"/>
              </a:rPr>
              <a:t>Características del Sensor Ultrasónico 73P-DCAC1S-D5-ALLEN-BRADLEY</a:t>
            </a:r>
            <a:endParaRPr/>
          </a:p>
        </p:txBody>
      </p:sp>
      <p:grpSp>
        <p:nvGrpSpPr>
          <p:cNvPr id="781" name="Google Shape;781;p47"/>
          <p:cNvGrpSpPr/>
          <p:nvPr/>
        </p:nvGrpSpPr>
        <p:grpSpPr>
          <a:xfrm>
            <a:off x="6699170" y="3921307"/>
            <a:ext cx="4667714" cy="2223039"/>
            <a:chOff x="1335510" y="2672306"/>
            <a:chExt cx="4667714" cy="2223039"/>
          </a:xfrm>
        </p:grpSpPr>
        <p:grpSp>
          <p:nvGrpSpPr>
            <p:cNvPr id="782" name="Google Shape;782;p47"/>
            <p:cNvGrpSpPr/>
            <p:nvPr/>
          </p:nvGrpSpPr>
          <p:grpSpPr>
            <a:xfrm>
              <a:off x="1335510" y="2672306"/>
              <a:ext cx="4667714" cy="2223039"/>
              <a:chOff x="1335510" y="2672306"/>
              <a:chExt cx="4667714" cy="2223039"/>
            </a:xfrm>
          </p:grpSpPr>
          <p:pic>
            <p:nvPicPr>
              <p:cNvPr id="783" name="Google Shape;783;p47"/>
              <p:cNvPicPr preferRelativeResize="0"/>
              <p:nvPr/>
            </p:nvPicPr>
            <p:blipFill rotWithShape="1">
              <a:blip r:embed="rId3">
                <a:alphaModFix/>
              </a:blip>
              <a:srcRect b="0" l="0" r="0" t="0"/>
              <a:stretch/>
            </p:blipFill>
            <p:spPr>
              <a:xfrm>
                <a:off x="2588096" y="2733823"/>
                <a:ext cx="2238236" cy="2106575"/>
              </a:xfrm>
              <a:prstGeom prst="rect">
                <a:avLst/>
              </a:prstGeom>
              <a:noFill/>
              <a:ln>
                <a:noFill/>
              </a:ln>
            </p:spPr>
          </p:pic>
          <p:grpSp>
            <p:nvGrpSpPr>
              <p:cNvPr id="784" name="Google Shape;784;p47"/>
              <p:cNvGrpSpPr/>
              <p:nvPr/>
            </p:nvGrpSpPr>
            <p:grpSpPr>
              <a:xfrm>
                <a:off x="1335510" y="2672306"/>
                <a:ext cx="4667714" cy="2223039"/>
                <a:chOff x="1335510" y="2672306"/>
                <a:chExt cx="4667714" cy="2223039"/>
              </a:xfrm>
            </p:grpSpPr>
            <p:sp>
              <p:nvSpPr>
                <p:cNvPr id="785" name="Google Shape;785;p47"/>
                <p:cNvSpPr txBox="1"/>
                <p:nvPr/>
              </p:nvSpPr>
              <p:spPr>
                <a:xfrm>
                  <a:off x="4670649" y="2672306"/>
                  <a:ext cx="669063" cy="46779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600"/>
                    <a:buFont typeface="Calibri"/>
                    <a:buNone/>
                  </a:pPr>
                  <a:r>
                    <a:rPr lang="es-BO" sz="1600">
                      <a:solidFill>
                        <a:schemeClr val="dk1"/>
                      </a:solidFill>
                      <a:latin typeface="Calibri"/>
                      <a:ea typeface="Calibri"/>
                      <a:cs typeface="Calibri"/>
                      <a:sym typeface="Calibri"/>
                    </a:rPr>
                    <a:t>PINES</a:t>
                  </a:r>
                  <a:endParaRPr sz="1600">
                    <a:solidFill>
                      <a:schemeClr val="dk1"/>
                    </a:solidFill>
                    <a:latin typeface="Calibri"/>
                    <a:ea typeface="Calibri"/>
                    <a:cs typeface="Calibri"/>
                    <a:sym typeface="Calibri"/>
                  </a:endParaRPr>
                </a:p>
              </p:txBody>
            </p:sp>
            <p:sp>
              <p:nvSpPr>
                <p:cNvPr id="786" name="Google Shape;786;p47"/>
                <p:cNvSpPr txBox="1"/>
                <p:nvPr/>
              </p:nvSpPr>
              <p:spPr>
                <a:xfrm>
                  <a:off x="4679025" y="4144400"/>
                  <a:ext cx="1324199" cy="750945"/>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chemeClr val="dk1"/>
                    </a:buClr>
                    <a:buSzPts val="1600"/>
                    <a:buFont typeface="Calibri"/>
                    <a:buNone/>
                  </a:pPr>
                  <a:r>
                    <a:rPr lang="es-BO" sz="1600">
                      <a:solidFill>
                        <a:schemeClr val="dk1"/>
                      </a:solidFill>
                      <a:latin typeface="Calibri"/>
                      <a:ea typeface="Calibri"/>
                      <a:cs typeface="Calibri"/>
                      <a:sym typeface="Calibri"/>
                    </a:rPr>
                    <a:t>Botón de configuración</a:t>
                  </a:r>
                  <a:endParaRPr sz="1600">
                    <a:solidFill>
                      <a:schemeClr val="dk1"/>
                    </a:solidFill>
                    <a:latin typeface="Calibri"/>
                    <a:ea typeface="Calibri"/>
                    <a:cs typeface="Calibri"/>
                    <a:sym typeface="Calibri"/>
                  </a:endParaRPr>
                </a:p>
              </p:txBody>
            </p:sp>
            <p:sp>
              <p:nvSpPr>
                <p:cNvPr id="787" name="Google Shape;787;p47"/>
                <p:cNvSpPr txBox="1"/>
                <p:nvPr/>
              </p:nvSpPr>
              <p:spPr>
                <a:xfrm>
                  <a:off x="1510067" y="2694028"/>
                  <a:ext cx="1375484" cy="750945"/>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chemeClr val="dk1"/>
                    </a:buClr>
                    <a:buSzPts val="1600"/>
                    <a:buFont typeface="Calibri"/>
                    <a:buNone/>
                  </a:pPr>
                  <a:r>
                    <a:rPr lang="es-BO" sz="1600">
                      <a:solidFill>
                        <a:schemeClr val="dk1"/>
                      </a:solidFill>
                      <a:latin typeface="Calibri"/>
                      <a:ea typeface="Calibri"/>
                      <a:cs typeface="Calibri"/>
                      <a:sym typeface="Calibri"/>
                    </a:rPr>
                    <a:t>Puntos de ajuste P1 y P2</a:t>
                  </a:r>
                  <a:endParaRPr sz="1600">
                    <a:solidFill>
                      <a:schemeClr val="dk1"/>
                    </a:solidFill>
                    <a:latin typeface="Calibri"/>
                    <a:ea typeface="Calibri"/>
                    <a:cs typeface="Calibri"/>
                    <a:sym typeface="Calibri"/>
                  </a:endParaRPr>
                </a:p>
              </p:txBody>
            </p:sp>
            <p:sp>
              <p:nvSpPr>
                <p:cNvPr id="788" name="Google Shape;788;p47"/>
                <p:cNvSpPr txBox="1"/>
                <p:nvPr/>
              </p:nvSpPr>
              <p:spPr>
                <a:xfrm>
                  <a:off x="1335510" y="4180765"/>
                  <a:ext cx="1639685" cy="46779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chemeClr val="dk1"/>
                    </a:buClr>
                    <a:buSzPts val="1600"/>
                    <a:buFont typeface="Calibri"/>
                    <a:buNone/>
                  </a:pPr>
                  <a:r>
                    <a:rPr lang="es-BO" sz="1600">
                      <a:solidFill>
                        <a:schemeClr val="dk1"/>
                      </a:solidFill>
                      <a:latin typeface="Calibri"/>
                      <a:ea typeface="Calibri"/>
                      <a:cs typeface="Calibri"/>
                      <a:sym typeface="Calibri"/>
                    </a:rPr>
                    <a:t>Alineación/Eco</a:t>
                  </a:r>
                  <a:endParaRPr sz="1600">
                    <a:solidFill>
                      <a:schemeClr val="dk1"/>
                    </a:solidFill>
                    <a:latin typeface="Calibri"/>
                    <a:ea typeface="Calibri"/>
                    <a:cs typeface="Calibri"/>
                    <a:sym typeface="Calibri"/>
                  </a:endParaRPr>
                </a:p>
              </p:txBody>
            </p:sp>
          </p:grpSp>
        </p:grpSp>
        <p:grpSp>
          <p:nvGrpSpPr>
            <p:cNvPr id="789" name="Google Shape;789;p47"/>
            <p:cNvGrpSpPr/>
            <p:nvPr/>
          </p:nvGrpSpPr>
          <p:grpSpPr>
            <a:xfrm>
              <a:off x="2197809" y="2993875"/>
              <a:ext cx="2743416" cy="1366525"/>
              <a:chOff x="2197809" y="2993875"/>
              <a:chExt cx="2743416" cy="1366525"/>
            </a:xfrm>
          </p:grpSpPr>
          <p:cxnSp>
            <p:nvCxnSpPr>
              <p:cNvPr id="790" name="Google Shape;790;p47"/>
              <p:cNvCxnSpPr>
                <a:endCxn id="787" idx="2"/>
              </p:cNvCxnSpPr>
              <p:nvPr/>
            </p:nvCxnSpPr>
            <p:spPr>
              <a:xfrm rot="10800000">
                <a:off x="2197809" y="3444973"/>
                <a:ext cx="697200" cy="276600"/>
              </a:xfrm>
              <a:prstGeom prst="straightConnector1">
                <a:avLst/>
              </a:prstGeom>
              <a:noFill/>
              <a:ln cap="flat" cmpd="sng" w="38100">
                <a:solidFill>
                  <a:srgbClr val="FF00FF"/>
                </a:solidFill>
                <a:prstDash val="solid"/>
                <a:round/>
                <a:headEnd len="sm" w="sm" type="none"/>
                <a:tailEnd len="med" w="med" type="triangle"/>
              </a:ln>
            </p:spPr>
          </p:cxnSp>
          <p:cxnSp>
            <p:nvCxnSpPr>
              <p:cNvPr id="791" name="Google Shape;791;p47"/>
              <p:cNvCxnSpPr/>
              <p:nvPr/>
            </p:nvCxnSpPr>
            <p:spPr>
              <a:xfrm>
                <a:off x="3753000" y="4089453"/>
                <a:ext cx="1188225" cy="209747"/>
              </a:xfrm>
              <a:prstGeom prst="straightConnector1">
                <a:avLst/>
              </a:prstGeom>
              <a:noFill/>
              <a:ln cap="flat" cmpd="sng" w="38100">
                <a:solidFill>
                  <a:srgbClr val="FF00FF"/>
                </a:solidFill>
                <a:prstDash val="solid"/>
                <a:round/>
                <a:headEnd len="sm" w="sm" type="none"/>
                <a:tailEnd len="med" w="med" type="triangle"/>
              </a:ln>
            </p:spPr>
          </p:cxnSp>
          <p:cxnSp>
            <p:nvCxnSpPr>
              <p:cNvPr id="792" name="Google Shape;792;p47"/>
              <p:cNvCxnSpPr/>
              <p:nvPr/>
            </p:nvCxnSpPr>
            <p:spPr>
              <a:xfrm flipH="1" rot="10800000">
                <a:off x="3819225" y="2993875"/>
                <a:ext cx="859800" cy="399300"/>
              </a:xfrm>
              <a:prstGeom prst="straightConnector1">
                <a:avLst/>
              </a:prstGeom>
              <a:noFill/>
              <a:ln cap="flat" cmpd="sng" w="38100">
                <a:solidFill>
                  <a:srgbClr val="FF00FF"/>
                </a:solidFill>
                <a:prstDash val="solid"/>
                <a:round/>
                <a:headEnd len="sm" w="sm" type="none"/>
                <a:tailEnd len="med" w="med" type="triangle"/>
              </a:ln>
            </p:spPr>
          </p:cxnSp>
          <p:cxnSp>
            <p:nvCxnSpPr>
              <p:cNvPr id="793" name="Google Shape;793;p47"/>
              <p:cNvCxnSpPr/>
              <p:nvPr/>
            </p:nvCxnSpPr>
            <p:spPr>
              <a:xfrm flipH="1">
                <a:off x="2763600" y="4144400"/>
                <a:ext cx="512700" cy="216000"/>
              </a:xfrm>
              <a:prstGeom prst="straightConnector1">
                <a:avLst/>
              </a:prstGeom>
              <a:noFill/>
              <a:ln cap="flat" cmpd="sng" w="38100">
                <a:solidFill>
                  <a:srgbClr val="FF00FF"/>
                </a:solidFill>
                <a:prstDash val="solid"/>
                <a:round/>
                <a:headEnd len="sm" w="sm" type="none"/>
                <a:tailEnd len="med" w="med" type="triangle"/>
              </a:ln>
            </p:spPr>
          </p:cxnSp>
          <p:sp>
            <p:nvSpPr>
              <p:cNvPr id="794" name="Google Shape;794;p47"/>
              <p:cNvSpPr/>
              <p:nvPr/>
            </p:nvSpPr>
            <p:spPr>
              <a:xfrm>
                <a:off x="2885550" y="3706325"/>
                <a:ext cx="1734900" cy="245700"/>
              </a:xfrm>
              <a:prstGeom prst="rect">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grpSp>
      </p:grpSp>
      <p:pic>
        <p:nvPicPr>
          <p:cNvPr id="795" name="Google Shape;795;p47"/>
          <p:cNvPicPr preferRelativeResize="0"/>
          <p:nvPr/>
        </p:nvPicPr>
        <p:blipFill rotWithShape="1">
          <a:blip r:embed="rId4">
            <a:alphaModFix/>
          </a:blip>
          <a:srcRect b="0" l="0" r="0" t="0"/>
          <a:stretch/>
        </p:blipFill>
        <p:spPr>
          <a:xfrm>
            <a:off x="1396981" y="1170065"/>
            <a:ext cx="3728365" cy="4299035"/>
          </a:xfrm>
          <a:prstGeom prst="rect">
            <a:avLst/>
          </a:prstGeom>
          <a:noFill/>
          <a:ln>
            <a:noFill/>
          </a:ln>
        </p:spPr>
      </p:pic>
      <p:sp>
        <p:nvSpPr>
          <p:cNvPr id="796" name="Google Shape;796;p47"/>
          <p:cNvSpPr txBox="1"/>
          <p:nvPr/>
        </p:nvSpPr>
        <p:spPr>
          <a:xfrm>
            <a:off x="6288199" y="3361810"/>
            <a:ext cx="5093966" cy="48958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i="1" lang="es-BO" sz="1600">
                <a:solidFill>
                  <a:schemeClr val="dk1"/>
                </a:solidFill>
                <a:latin typeface="Calibri"/>
                <a:ea typeface="Calibri"/>
                <a:cs typeface="Calibri"/>
                <a:sym typeface="Calibri"/>
              </a:rPr>
              <a:t>Información básica en la etiqueta del sensor ultrasónico</a:t>
            </a:r>
            <a:endParaRPr sz="1600">
              <a:solidFill>
                <a:schemeClr val="dk1"/>
              </a:solidFill>
              <a:latin typeface="Calibri"/>
              <a:ea typeface="Calibri"/>
              <a:cs typeface="Calibri"/>
              <a:sym typeface="Calibri"/>
            </a:endParaRPr>
          </a:p>
        </p:txBody>
      </p:sp>
      <p:sp>
        <p:nvSpPr>
          <p:cNvPr id="797" name="Google Shape;797;p47"/>
          <p:cNvSpPr txBox="1"/>
          <p:nvPr/>
        </p:nvSpPr>
        <p:spPr>
          <a:xfrm>
            <a:off x="6869226" y="6314862"/>
            <a:ext cx="4493839" cy="437443"/>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i="1" lang="es-BO" sz="1600">
                <a:solidFill>
                  <a:schemeClr val="dk1"/>
                </a:solidFill>
                <a:latin typeface="Calibri"/>
                <a:ea typeface="Calibri"/>
                <a:cs typeface="Calibri"/>
                <a:sym typeface="Calibri"/>
              </a:rPr>
              <a:t>Vista superior</a:t>
            </a:r>
            <a:endParaRPr sz="1600">
              <a:solidFill>
                <a:schemeClr val="dk1"/>
              </a:solidFill>
              <a:latin typeface="Calibri"/>
              <a:ea typeface="Calibri"/>
              <a:cs typeface="Calibri"/>
              <a:sym typeface="Calibri"/>
            </a:endParaRPr>
          </a:p>
          <a:p>
            <a:pPr indent="0" lvl="0" marL="0" marR="0" rtl="0" algn="ctr">
              <a:spcBef>
                <a:spcPts val="0"/>
              </a:spcBef>
              <a:spcAft>
                <a:spcPts val="0"/>
              </a:spcAft>
              <a:buNone/>
            </a:pPr>
            <a:r>
              <a:rPr i="1" lang="es-BO" sz="1600">
                <a:solidFill>
                  <a:schemeClr val="dk1"/>
                </a:solidFill>
                <a:latin typeface="Times New Roman"/>
                <a:ea typeface="Times New Roman"/>
                <a:cs typeface="Times New Roman"/>
                <a:sym typeface="Times New Roman"/>
              </a:rPr>
              <a:t> </a:t>
            </a:r>
            <a:endParaRPr sz="1600">
              <a:solidFill>
                <a:schemeClr val="dk1"/>
              </a:solidFill>
              <a:latin typeface="Times New Roman"/>
              <a:ea typeface="Times New Roman"/>
              <a:cs typeface="Times New Roman"/>
              <a:sym typeface="Times New Roman"/>
            </a:endParaRPr>
          </a:p>
          <a:p>
            <a:pPr indent="0" lvl="0" marL="0" marR="0" rtl="0" algn="ctr">
              <a:spcBef>
                <a:spcPts val="0"/>
              </a:spcBef>
              <a:spcAft>
                <a:spcPts val="0"/>
              </a:spcAft>
              <a:buNone/>
            </a:pPr>
            <a:r>
              <a:rPr i="1" lang="es-BO" sz="1600">
                <a:solidFill>
                  <a:schemeClr val="dk1"/>
                </a:solidFill>
                <a:latin typeface="Times New Roman"/>
                <a:ea typeface="Times New Roman"/>
                <a:cs typeface="Times New Roman"/>
                <a:sym typeface="Times New Roman"/>
              </a:rPr>
              <a:t> </a:t>
            </a:r>
            <a:endParaRPr sz="1600">
              <a:solidFill>
                <a:schemeClr val="dk1"/>
              </a:solidFill>
              <a:latin typeface="Times New Roman"/>
              <a:ea typeface="Times New Roman"/>
              <a:cs typeface="Times New Roman"/>
              <a:sym typeface="Times New Roman"/>
            </a:endParaRPr>
          </a:p>
        </p:txBody>
      </p:sp>
      <p:sp>
        <p:nvSpPr>
          <p:cNvPr id="798" name="Google Shape;798;p47"/>
          <p:cNvSpPr txBox="1"/>
          <p:nvPr/>
        </p:nvSpPr>
        <p:spPr>
          <a:xfrm>
            <a:off x="1796497" y="6014800"/>
            <a:ext cx="2987400" cy="60012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i="1" lang="es-BO" sz="1600">
                <a:solidFill>
                  <a:schemeClr val="dk1"/>
                </a:solidFill>
                <a:latin typeface="Calibri"/>
                <a:ea typeface="Calibri"/>
                <a:cs typeface="Calibri"/>
                <a:sym typeface="Calibri"/>
              </a:rPr>
              <a:t>Sensor ultrasónico</a:t>
            </a:r>
            <a:endParaRPr/>
          </a:p>
          <a:p>
            <a:pPr indent="0" lvl="0" marL="0" marR="0" rtl="0" algn="ctr">
              <a:spcBef>
                <a:spcPts val="0"/>
              </a:spcBef>
              <a:spcAft>
                <a:spcPts val="0"/>
              </a:spcAft>
              <a:buNone/>
            </a:pPr>
            <a:r>
              <a:rPr i="1" lang="es-BO" sz="1600">
                <a:solidFill>
                  <a:schemeClr val="dk1"/>
                </a:solidFill>
                <a:latin typeface="Calibri"/>
                <a:ea typeface="Calibri"/>
                <a:cs typeface="Calibri"/>
                <a:sym typeface="Calibri"/>
              </a:rPr>
              <a:t>Vista tridimensional  </a:t>
            </a:r>
            <a:endParaRPr i="1" sz="1600">
              <a:solidFill>
                <a:schemeClr val="dk1"/>
              </a:solidFill>
              <a:latin typeface="Calibri"/>
              <a:ea typeface="Calibri"/>
              <a:cs typeface="Calibri"/>
              <a:sym typeface="Calibri"/>
            </a:endParaRPr>
          </a:p>
        </p:txBody>
      </p:sp>
      <p:sp>
        <p:nvSpPr>
          <p:cNvPr id="799" name="Google Shape;799;p47"/>
          <p:cNvSpPr txBox="1"/>
          <p:nvPr/>
        </p:nvSpPr>
        <p:spPr>
          <a:xfrm>
            <a:off x="9752302" y="1648121"/>
            <a:ext cx="21751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400">
                <a:solidFill>
                  <a:schemeClr val="dk1"/>
                </a:solidFill>
                <a:latin typeface="Calibri"/>
                <a:ea typeface="Calibri"/>
                <a:cs typeface="Calibri"/>
                <a:sym typeface="Calibri"/>
              </a:rPr>
              <a:t>Configuración de la salida</a:t>
            </a:r>
            <a:endParaRPr/>
          </a:p>
        </p:txBody>
      </p:sp>
      <p:grpSp>
        <p:nvGrpSpPr>
          <p:cNvPr id="800" name="Google Shape;800;p47"/>
          <p:cNvGrpSpPr/>
          <p:nvPr/>
        </p:nvGrpSpPr>
        <p:grpSpPr>
          <a:xfrm>
            <a:off x="6579113" y="1015725"/>
            <a:ext cx="5061503" cy="2300268"/>
            <a:chOff x="6579113" y="1015725"/>
            <a:chExt cx="5061503" cy="2300268"/>
          </a:xfrm>
        </p:grpSpPr>
        <p:grpSp>
          <p:nvGrpSpPr>
            <p:cNvPr id="801" name="Google Shape;801;p47"/>
            <p:cNvGrpSpPr/>
            <p:nvPr/>
          </p:nvGrpSpPr>
          <p:grpSpPr>
            <a:xfrm>
              <a:off x="6579113" y="1015725"/>
              <a:ext cx="5061503" cy="2053235"/>
              <a:chOff x="6579113" y="1015725"/>
              <a:chExt cx="5061503" cy="2053235"/>
            </a:xfrm>
          </p:grpSpPr>
          <p:pic>
            <p:nvPicPr>
              <p:cNvPr id="802" name="Google Shape;802;p47"/>
              <p:cNvPicPr preferRelativeResize="0"/>
              <p:nvPr/>
            </p:nvPicPr>
            <p:blipFill rotWithShape="1">
              <a:blip r:embed="rId5">
                <a:alphaModFix/>
              </a:blip>
              <a:srcRect b="15967" l="4298" r="4827" t="17310"/>
              <a:stretch/>
            </p:blipFill>
            <p:spPr>
              <a:xfrm>
                <a:off x="6579113" y="1538046"/>
                <a:ext cx="3024124" cy="1248971"/>
              </a:xfrm>
              <a:prstGeom prst="rect">
                <a:avLst/>
              </a:prstGeom>
              <a:noFill/>
              <a:ln>
                <a:noFill/>
              </a:ln>
            </p:spPr>
          </p:pic>
          <p:cxnSp>
            <p:nvCxnSpPr>
              <p:cNvPr id="803" name="Google Shape;803;p47"/>
              <p:cNvCxnSpPr/>
              <p:nvPr/>
            </p:nvCxnSpPr>
            <p:spPr>
              <a:xfrm rot="10800000">
                <a:off x="7392144" y="1280160"/>
                <a:ext cx="0" cy="421482"/>
              </a:xfrm>
              <a:prstGeom prst="straightConnector1">
                <a:avLst/>
              </a:prstGeom>
              <a:noFill/>
              <a:ln cap="flat" cmpd="sng" w="38100">
                <a:solidFill>
                  <a:srgbClr val="FF0000"/>
                </a:solidFill>
                <a:prstDash val="solid"/>
                <a:round/>
                <a:headEnd len="sm" w="sm" type="none"/>
                <a:tailEnd len="med" w="med" type="triangle"/>
              </a:ln>
            </p:spPr>
          </p:cxnSp>
          <p:sp>
            <p:nvSpPr>
              <p:cNvPr id="804" name="Google Shape;804;p47"/>
              <p:cNvSpPr/>
              <p:nvPr/>
            </p:nvSpPr>
            <p:spPr>
              <a:xfrm>
                <a:off x="8854440" y="1280160"/>
                <a:ext cx="897862" cy="419100"/>
              </a:xfrm>
              <a:custGeom>
                <a:rect b="b" l="l" r="r" t="t"/>
                <a:pathLst>
                  <a:path extrusionOk="0" h="419100" w="815340">
                    <a:moveTo>
                      <a:pt x="0" y="419100"/>
                    </a:moveTo>
                    <a:lnTo>
                      <a:pt x="350520" y="419100"/>
                    </a:lnTo>
                    <a:lnTo>
                      <a:pt x="358140" y="0"/>
                    </a:lnTo>
                    <a:lnTo>
                      <a:pt x="815340" y="0"/>
                    </a:lnTo>
                  </a:path>
                </a:pathLst>
              </a:custGeom>
              <a:noFill/>
              <a:ln cap="flat" cmpd="sng" w="38100">
                <a:solidFill>
                  <a:srgbClr val="FF0000"/>
                </a:solidFill>
                <a:prstDash val="solid"/>
                <a:round/>
                <a:headEnd len="sm" w="sm" type="none"/>
                <a:tailEnd len="med" w="med" type="triangl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05" name="Google Shape;805;p47"/>
              <p:cNvSpPr/>
              <p:nvPr/>
            </p:nvSpPr>
            <p:spPr>
              <a:xfrm flipH="1" rot="10800000">
                <a:off x="8942554" y="2435080"/>
                <a:ext cx="815340" cy="419100"/>
              </a:xfrm>
              <a:custGeom>
                <a:rect b="b" l="l" r="r" t="t"/>
                <a:pathLst>
                  <a:path extrusionOk="0" h="419100" w="815340">
                    <a:moveTo>
                      <a:pt x="0" y="419100"/>
                    </a:moveTo>
                    <a:lnTo>
                      <a:pt x="350520" y="419100"/>
                    </a:lnTo>
                    <a:lnTo>
                      <a:pt x="358140" y="0"/>
                    </a:lnTo>
                    <a:lnTo>
                      <a:pt x="815340" y="0"/>
                    </a:lnTo>
                  </a:path>
                </a:pathLst>
              </a:custGeom>
              <a:noFill/>
              <a:ln cap="flat" cmpd="sng" w="38100">
                <a:solidFill>
                  <a:srgbClr val="FF0000"/>
                </a:solidFill>
                <a:prstDash val="solid"/>
                <a:round/>
                <a:headEnd len="sm" w="sm" type="none"/>
                <a:tailEnd len="med" w="med" type="triangl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806" name="Google Shape;806;p47"/>
              <p:cNvCxnSpPr/>
              <p:nvPr/>
            </p:nvCxnSpPr>
            <p:spPr>
              <a:xfrm>
                <a:off x="8854440" y="1844824"/>
                <a:ext cx="897862" cy="0"/>
              </a:xfrm>
              <a:prstGeom prst="straightConnector1">
                <a:avLst/>
              </a:prstGeom>
              <a:noFill/>
              <a:ln cap="flat" cmpd="sng" w="38100">
                <a:solidFill>
                  <a:srgbClr val="FF0000"/>
                </a:solidFill>
                <a:prstDash val="solid"/>
                <a:round/>
                <a:headEnd len="sm" w="sm" type="none"/>
                <a:tailEnd len="med" w="med" type="triangle"/>
              </a:ln>
            </p:spPr>
          </p:cxnSp>
          <p:cxnSp>
            <p:nvCxnSpPr>
              <p:cNvPr id="807" name="Google Shape;807;p47"/>
              <p:cNvCxnSpPr/>
              <p:nvPr/>
            </p:nvCxnSpPr>
            <p:spPr>
              <a:xfrm>
                <a:off x="8854440" y="2060848"/>
                <a:ext cx="897862" cy="0"/>
              </a:xfrm>
              <a:prstGeom prst="straightConnector1">
                <a:avLst/>
              </a:prstGeom>
              <a:noFill/>
              <a:ln cap="flat" cmpd="sng" w="38100">
                <a:solidFill>
                  <a:srgbClr val="FF0000"/>
                </a:solidFill>
                <a:prstDash val="solid"/>
                <a:round/>
                <a:headEnd len="sm" w="sm" type="none"/>
                <a:tailEnd len="med" w="med" type="triangle"/>
              </a:ln>
            </p:spPr>
          </p:cxnSp>
          <p:cxnSp>
            <p:nvCxnSpPr>
              <p:cNvPr id="808" name="Google Shape;808;p47"/>
              <p:cNvCxnSpPr/>
              <p:nvPr/>
            </p:nvCxnSpPr>
            <p:spPr>
              <a:xfrm>
                <a:off x="8261914" y="2708920"/>
                <a:ext cx="0" cy="360040"/>
              </a:xfrm>
              <a:prstGeom prst="straightConnector1">
                <a:avLst/>
              </a:prstGeom>
              <a:noFill/>
              <a:ln cap="flat" cmpd="sng" w="38100">
                <a:solidFill>
                  <a:srgbClr val="FF0000"/>
                </a:solidFill>
                <a:prstDash val="solid"/>
                <a:round/>
                <a:headEnd len="sm" w="sm" type="none"/>
                <a:tailEnd len="med" w="med" type="triangle"/>
              </a:ln>
            </p:spPr>
          </p:cxnSp>
          <p:sp>
            <p:nvSpPr>
              <p:cNvPr id="809" name="Google Shape;809;p47"/>
              <p:cNvSpPr txBox="1"/>
              <p:nvPr/>
            </p:nvSpPr>
            <p:spPr>
              <a:xfrm>
                <a:off x="6587641" y="1015725"/>
                <a:ext cx="1661569"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400">
                    <a:solidFill>
                      <a:schemeClr val="dk1"/>
                    </a:solidFill>
                    <a:latin typeface="Calibri"/>
                    <a:ea typeface="Calibri"/>
                    <a:cs typeface="Calibri"/>
                    <a:sym typeface="Calibri"/>
                  </a:rPr>
                  <a:t>Logo de la industria</a:t>
                </a:r>
                <a:endParaRPr/>
              </a:p>
            </p:txBody>
          </p:sp>
          <p:sp>
            <p:nvSpPr>
              <p:cNvPr id="810" name="Google Shape;810;p47"/>
              <p:cNvSpPr txBox="1"/>
              <p:nvPr/>
            </p:nvSpPr>
            <p:spPr>
              <a:xfrm>
                <a:off x="9865674" y="1061112"/>
                <a:ext cx="1661569"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400">
                    <a:solidFill>
                      <a:schemeClr val="dk1"/>
                    </a:solidFill>
                    <a:latin typeface="Calibri"/>
                    <a:ea typeface="Calibri"/>
                    <a:cs typeface="Calibri"/>
                    <a:sym typeface="Calibri"/>
                  </a:rPr>
                  <a:t>Logo de la industria</a:t>
                </a:r>
                <a:endParaRPr/>
              </a:p>
            </p:txBody>
          </p:sp>
          <p:sp>
            <p:nvSpPr>
              <p:cNvPr id="811" name="Google Shape;811;p47"/>
              <p:cNvSpPr txBox="1"/>
              <p:nvPr/>
            </p:nvSpPr>
            <p:spPr>
              <a:xfrm>
                <a:off x="9752302" y="1931353"/>
                <a:ext cx="1888314"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BO" sz="1400">
                    <a:solidFill>
                      <a:schemeClr val="dk1"/>
                    </a:solidFill>
                    <a:latin typeface="Calibri"/>
                    <a:ea typeface="Calibri"/>
                    <a:cs typeface="Calibri"/>
                    <a:sym typeface="Calibri"/>
                  </a:rPr>
                  <a:t>Fuente de alimentación de clase 2</a:t>
                </a:r>
                <a:endParaRPr/>
              </a:p>
            </p:txBody>
          </p:sp>
          <p:sp>
            <p:nvSpPr>
              <p:cNvPr id="812" name="Google Shape;812;p47"/>
              <p:cNvSpPr txBox="1"/>
              <p:nvPr/>
            </p:nvSpPr>
            <p:spPr>
              <a:xfrm>
                <a:off x="9703464" y="2665533"/>
                <a:ext cx="1661569"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400">
                    <a:solidFill>
                      <a:schemeClr val="dk1"/>
                    </a:solidFill>
                    <a:latin typeface="Calibri"/>
                    <a:ea typeface="Calibri"/>
                    <a:cs typeface="Calibri"/>
                    <a:sym typeface="Calibri"/>
                  </a:rPr>
                  <a:t>Número de catálogo </a:t>
                </a:r>
                <a:endParaRPr/>
              </a:p>
            </p:txBody>
          </p:sp>
        </p:grpSp>
        <p:sp>
          <p:nvSpPr>
            <p:cNvPr id="813" name="Google Shape;813;p47"/>
            <p:cNvSpPr txBox="1"/>
            <p:nvPr/>
          </p:nvSpPr>
          <p:spPr>
            <a:xfrm>
              <a:off x="7409305" y="3008216"/>
              <a:ext cx="1661569"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400">
                  <a:solidFill>
                    <a:schemeClr val="dk1"/>
                  </a:solidFill>
                  <a:latin typeface="Calibri"/>
                  <a:ea typeface="Calibri"/>
                  <a:cs typeface="Calibri"/>
                  <a:sym typeface="Calibri"/>
                </a:rPr>
                <a:t>País de fabricación </a:t>
              </a:r>
              <a:endParaRPr/>
            </a:p>
          </p:txBody>
        </p:sp>
      </p:grpSp>
    </p:spTree>
  </p:cSld>
  <p:clrMapOvr>
    <a:masterClrMapping/>
  </p:clrMapOvr>
  <p:transition spd="slow">
    <p:push/>
  </p:transition>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8" name="Shape 818"/>
        <p:cNvGrpSpPr/>
        <p:nvPr/>
      </p:nvGrpSpPr>
      <p:grpSpPr>
        <a:xfrm>
          <a:off x="0" y="0"/>
          <a:ext cx="0" cy="0"/>
          <a:chOff x="0" y="0"/>
          <a:chExt cx="0" cy="0"/>
        </a:xfrm>
      </p:grpSpPr>
      <p:sp>
        <p:nvSpPr>
          <p:cNvPr id="819" name="Google Shape;819;p48"/>
          <p:cNvSpPr txBox="1"/>
          <p:nvPr>
            <p:ph type="title"/>
          </p:nvPr>
        </p:nvSpPr>
        <p:spPr>
          <a:xfrm>
            <a:off x="1730000" y="525000"/>
            <a:ext cx="9385200" cy="527736"/>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2400"/>
              <a:buFont typeface="Calibri"/>
              <a:buNone/>
            </a:pPr>
            <a:r>
              <a:rPr b="1" i="1" lang="es-BO" sz="2000" u="sng"/>
              <a:t>Conexión del Sensor de Ultrasonido al PLC</a:t>
            </a:r>
            <a:endParaRPr i="1" sz="2000" u="sng"/>
          </a:p>
        </p:txBody>
      </p:sp>
      <p:pic>
        <p:nvPicPr>
          <p:cNvPr id="820" name="Google Shape;820;p48"/>
          <p:cNvPicPr preferRelativeResize="0"/>
          <p:nvPr/>
        </p:nvPicPr>
        <p:blipFill rotWithShape="1">
          <a:blip r:embed="rId3">
            <a:alphaModFix/>
          </a:blip>
          <a:srcRect b="6547" l="9428" r="3269" t="5917"/>
          <a:stretch/>
        </p:blipFill>
        <p:spPr>
          <a:xfrm>
            <a:off x="1757424" y="1088152"/>
            <a:ext cx="9385200" cy="4677856"/>
          </a:xfrm>
          <a:prstGeom prst="rect">
            <a:avLst/>
          </a:prstGeom>
          <a:noFill/>
          <a:ln>
            <a:noFill/>
          </a:ln>
        </p:spPr>
      </p:pic>
    </p:spTree>
  </p:cSld>
  <p:clrMapOvr>
    <a:masterClrMapping/>
  </p:clrMapOvr>
  <p:transition spd="slow">
    <p:push/>
  </p:transition>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4" name="Shape 824"/>
        <p:cNvGrpSpPr/>
        <p:nvPr/>
      </p:nvGrpSpPr>
      <p:grpSpPr>
        <a:xfrm>
          <a:off x="0" y="0"/>
          <a:ext cx="0" cy="0"/>
          <a:chOff x="0" y="0"/>
          <a:chExt cx="0" cy="0"/>
        </a:xfrm>
      </p:grpSpPr>
      <p:sp>
        <p:nvSpPr>
          <p:cNvPr id="825" name="Google Shape;825;p49"/>
          <p:cNvSpPr txBox="1"/>
          <p:nvPr/>
        </p:nvSpPr>
        <p:spPr>
          <a:xfrm>
            <a:off x="1055440" y="404664"/>
            <a:ext cx="6095685" cy="564730"/>
          </a:xfrm>
          <a:prstGeom prst="rect">
            <a:avLst/>
          </a:prstGeom>
          <a:noFill/>
          <a:ln>
            <a:noFill/>
          </a:ln>
        </p:spPr>
        <p:txBody>
          <a:bodyPr anchorCtr="0" anchor="t" bIns="121900" lIns="121900" spcFirstLastPara="1" rIns="121900" wrap="square" tIns="121900">
            <a:spAutoFit/>
          </a:bodyPr>
          <a:lstStyle/>
          <a:p>
            <a:pPr indent="0" lvl="0" marL="0" marR="0" rtl="0" algn="l">
              <a:lnSpc>
                <a:spcPct val="115000"/>
              </a:lnSpc>
              <a:spcBef>
                <a:spcPts val="0"/>
              </a:spcBef>
              <a:spcAft>
                <a:spcPts val="0"/>
              </a:spcAft>
              <a:buNone/>
            </a:pPr>
            <a:r>
              <a:rPr b="1" i="1" lang="es-BO" sz="1800" u="sng">
                <a:solidFill>
                  <a:schemeClr val="dk1"/>
                </a:solidFill>
                <a:latin typeface="Calibri"/>
                <a:ea typeface="Calibri"/>
                <a:cs typeface="Calibri"/>
                <a:sym typeface="Calibri"/>
              </a:rPr>
              <a:t>Pruebas en laboratorio del Sensor Ultrasonico</a:t>
            </a:r>
            <a:endParaRPr b="1" i="1" sz="1800" u="sng">
              <a:solidFill>
                <a:schemeClr val="dk1"/>
              </a:solidFill>
              <a:latin typeface="Calibri"/>
              <a:ea typeface="Calibri"/>
              <a:cs typeface="Calibri"/>
              <a:sym typeface="Calibri"/>
            </a:endParaRPr>
          </a:p>
        </p:txBody>
      </p:sp>
      <p:pic>
        <p:nvPicPr>
          <p:cNvPr id="826" name="Google Shape;826;p49"/>
          <p:cNvPicPr preferRelativeResize="0"/>
          <p:nvPr/>
        </p:nvPicPr>
        <p:blipFill rotWithShape="1">
          <a:blip r:embed="rId3">
            <a:alphaModFix/>
          </a:blip>
          <a:srcRect b="0" l="0" r="0" t="0"/>
          <a:stretch/>
        </p:blipFill>
        <p:spPr>
          <a:xfrm>
            <a:off x="4799856" y="1052736"/>
            <a:ext cx="6840760" cy="4399694"/>
          </a:xfrm>
          <a:prstGeom prst="rect">
            <a:avLst/>
          </a:prstGeom>
          <a:noFill/>
          <a:ln>
            <a:noFill/>
          </a:ln>
        </p:spPr>
      </p:pic>
      <p:sp>
        <p:nvSpPr>
          <p:cNvPr id="827" name="Google Shape;827;p49"/>
          <p:cNvSpPr txBox="1"/>
          <p:nvPr/>
        </p:nvSpPr>
        <p:spPr>
          <a:xfrm>
            <a:off x="1271464" y="2132856"/>
            <a:ext cx="4824536" cy="120032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BO" sz="1800">
                <a:solidFill>
                  <a:schemeClr val="dk1"/>
                </a:solidFill>
                <a:latin typeface="Calibri"/>
                <a:ea typeface="Calibri"/>
                <a:cs typeface="Calibri"/>
                <a:sym typeface="Calibri"/>
              </a:rPr>
              <a:t>Con la ayuda del multímetro se realizó la lectura de corriente analógica proporcionada por el sensor en función a la altura del nivel de líquido del depósito, obteniéndose lo siguiente:</a:t>
            </a:r>
            <a:endParaRPr sz="1400">
              <a:solidFill>
                <a:schemeClr val="dk1"/>
              </a:solidFill>
              <a:latin typeface="Times New Roman"/>
              <a:ea typeface="Times New Roman"/>
              <a:cs typeface="Times New Roman"/>
              <a:sym typeface="Times New Roman"/>
            </a:endParaRPr>
          </a:p>
        </p:txBody>
      </p:sp>
      <p:graphicFrame>
        <p:nvGraphicFramePr>
          <p:cNvPr id="828" name="Google Shape;828;p49"/>
          <p:cNvGraphicFramePr/>
          <p:nvPr/>
        </p:nvGraphicFramePr>
        <p:xfrm>
          <a:off x="1633784" y="1052736"/>
          <a:ext cx="3000000" cy="3000000"/>
        </p:xfrm>
        <a:graphic>
          <a:graphicData uri="http://schemas.openxmlformats.org/drawingml/2006/table">
            <a:tbl>
              <a:tblPr bandRow="1" firstCol="1" firstRow="1">
                <a:noFill/>
                <a:tableStyleId>{222A7E54-5182-43F9-A65E-7F61A87368E1}</a:tableStyleId>
              </a:tblPr>
              <a:tblGrid>
                <a:gridCol w="1581775"/>
                <a:gridCol w="1221975"/>
              </a:tblGrid>
              <a:tr h="719650">
                <a:tc>
                  <a:txBody>
                    <a:bodyPr/>
                    <a:lstStyle/>
                    <a:p>
                      <a:pPr indent="0" lvl="0" marL="0" marR="0" rtl="0" algn="ctr">
                        <a:spcBef>
                          <a:spcPts val="0"/>
                        </a:spcBef>
                        <a:spcAft>
                          <a:spcPts val="0"/>
                        </a:spcAft>
                        <a:buNone/>
                      </a:pPr>
                      <a:r>
                        <a:rPr lang="es-BO" sz="1600">
                          <a:solidFill>
                            <a:schemeClr val="dk1"/>
                          </a:solidFill>
                        </a:rPr>
                        <a:t>Corriente [mA]</a:t>
                      </a:r>
                      <a:endParaRPr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AE5F1"/>
                    </a:solidFill>
                  </a:tcPr>
                </a:tc>
                <a:tc>
                  <a:txBody>
                    <a:bodyPr/>
                    <a:lstStyle/>
                    <a:p>
                      <a:pPr indent="0" lvl="0" marL="0" marR="0" rtl="0" algn="ctr">
                        <a:spcBef>
                          <a:spcPts val="0"/>
                        </a:spcBef>
                        <a:spcAft>
                          <a:spcPts val="0"/>
                        </a:spcAft>
                        <a:buNone/>
                      </a:pPr>
                      <a:r>
                        <a:rPr lang="es-BO" sz="1600">
                          <a:solidFill>
                            <a:schemeClr val="dk1"/>
                          </a:solidFill>
                        </a:rPr>
                        <a:t>Altura [cm]</a:t>
                      </a:r>
                      <a:endParaRPr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AE5F1"/>
                    </a:solidFill>
                  </a:tcPr>
                </a:tc>
              </a:tr>
              <a:tr h="408900">
                <a:tc>
                  <a:txBody>
                    <a:bodyPr/>
                    <a:lstStyle/>
                    <a:p>
                      <a:pPr indent="0" lvl="0" marL="0" marR="0" rtl="0" algn="ctr">
                        <a:spcBef>
                          <a:spcPts val="0"/>
                        </a:spcBef>
                        <a:spcAft>
                          <a:spcPts val="0"/>
                        </a:spcAft>
                        <a:buNone/>
                      </a:pPr>
                      <a:r>
                        <a:rPr lang="es-BO" sz="1600">
                          <a:solidFill>
                            <a:schemeClr val="dk1"/>
                          </a:solidFill>
                        </a:rPr>
                        <a:t>3,8</a:t>
                      </a:r>
                      <a:endParaRPr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s-BO" sz="1600">
                          <a:solidFill>
                            <a:schemeClr val="dk1"/>
                          </a:solidFill>
                        </a:rPr>
                        <a:t>0</a:t>
                      </a:r>
                      <a:endParaRPr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408900">
                <a:tc>
                  <a:txBody>
                    <a:bodyPr/>
                    <a:lstStyle/>
                    <a:p>
                      <a:pPr indent="0" lvl="0" marL="0" marR="0" rtl="0" algn="ctr">
                        <a:spcBef>
                          <a:spcPts val="0"/>
                        </a:spcBef>
                        <a:spcAft>
                          <a:spcPts val="0"/>
                        </a:spcAft>
                        <a:buNone/>
                      </a:pPr>
                      <a:r>
                        <a:rPr lang="es-BO" sz="1600">
                          <a:solidFill>
                            <a:schemeClr val="dk1"/>
                          </a:solidFill>
                        </a:rPr>
                        <a:t>5,4</a:t>
                      </a:r>
                      <a:endParaRPr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s-BO" sz="1600">
                          <a:solidFill>
                            <a:schemeClr val="dk1"/>
                          </a:solidFill>
                        </a:rPr>
                        <a:t>5</a:t>
                      </a:r>
                      <a:endParaRPr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408900">
                <a:tc>
                  <a:txBody>
                    <a:bodyPr/>
                    <a:lstStyle/>
                    <a:p>
                      <a:pPr indent="0" lvl="0" marL="0" marR="0" rtl="0" algn="ctr">
                        <a:spcBef>
                          <a:spcPts val="0"/>
                        </a:spcBef>
                        <a:spcAft>
                          <a:spcPts val="0"/>
                        </a:spcAft>
                        <a:buNone/>
                      </a:pPr>
                      <a:r>
                        <a:rPr lang="es-BO" sz="1600">
                          <a:solidFill>
                            <a:schemeClr val="dk1"/>
                          </a:solidFill>
                        </a:rPr>
                        <a:t>7,3</a:t>
                      </a:r>
                      <a:endParaRPr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s-BO" sz="1600">
                          <a:solidFill>
                            <a:schemeClr val="dk1"/>
                          </a:solidFill>
                        </a:rPr>
                        <a:t>10</a:t>
                      </a:r>
                      <a:endParaRPr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408900">
                <a:tc>
                  <a:txBody>
                    <a:bodyPr/>
                    <a:lstStyle/>
                    <a:p>
                      <a:pPr indent="0" lvl="0" marL="0" marR="0" rtl="0" algn="ctr">
                        <a:spcBef>
                          <a:spcPts val="0"/>
                        </a:spcBef>
                        <a:spcAft>
                          <a:spcPts val="0"/>
                        </a:spcAft>
                        <a:buNone/>
                      </a:pPr>
                      <a:r>
                        <a:rPr lang="es-BO" sz="1600">
                          <a:solidFill>
                            <a:schemeClr val="dk1"/>
                          </a:solidFill>
                        </a:rPr>
                        <a:t>9,2</a:t>
                      </a:r>
                      <a:endParaRPr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s-BO" sz="1600">
                          <a:solidFill>
                            <a:schemeClr val="dk1"/>
                          </a:solidFill>
                        </a:rPr>
                        <a:t>15</a:t>
                      </a:r>
                      <a:endParaRPr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408900">
                <a:tc>
                  <a:txBody>
                    <a:bodyPr/>
                    <a:lstStyle/>
                    <a:p>
                      <a:pPr indent="0" lvl="0" marL="0" marR="0" rtl="0" algn="ctr">
                        <a:spcBef>
                          <a:spcPts val="0"/>
                        </a:spcBef>
                        <a:spcAft>
                          <a:spcPts val="0"/>
                        </a:spcAft>
                        <a:buNone/>
                      </a:pPr>
                      <a:r>
                        <a:rPr lang="es-BO" sz="1600">
                          <a:solidFill>
                            <a:schemeClr val="dk1"/>
                          </a:solidFill>
                        </a:rPr>
                        <a:t>11,1</a:t>
                      </a:r>
                      <a:endParaRPr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s-BO" sz="1600">
                          <a:solidFill>
                            <a:schemeClr val="dk1"/>
                          </a:solidFill>
                        </a:rPr>
                        <a:t>20</a:t>
                      </a:r>
                      <a:endParaRPr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408900">
                <a:tc>
                  <a:txBody>
                    <a:bodyPr/>
                    <a:lstStyle/>
                    <a:p>
                      <a:pPr indent="0" lvl="0" marL="0" marR="0" rtl="0" algn="ctr">
                        <a:spcBef>
                          <a:spcPts val="0"/>
                        </a:spcBef>
                        <a:spcAft>
                          <a:spcPts val="0"/>
                        </a:spcAft>
                        <a:buNone/>
                      </a:pPr>
                      <a:r>
                        <a:rPr lang="es-BO" sz="1600">
                          <a:solidFill>
                            <a:schemeClr val="dk1"/>
                          </a:solidFill>
                        </a:rPr>
                        <a:t>13,3</a:t>
                      </a:r>
                      <a:endParaRPr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s-BO" sz="1600">
                          <a:solidFill>
                            <a:schemeClr val="dk1"/>
                          </a:solidFill>
                        </a:rPr>
                        <a:t>25</a:t>
                      </a:r>
                      <a:endParaRPr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408900">
                <a:tc>
                  <a:txBody>
                    <a:bodyPr/>
                    <a:lstStyle/>
                    <a:p>
                      <a:pPr indent="0" lvl="0" marL="0" marR="0" rtl="0" algn="ctr">
                        <a:spcBef>
                          <a:spcPts val="0"/>
                        </a:spcBef>
                        <a:spcAft>
                          <a:spcPts val="0"/>
                        </a:spcAft>
                        <a:buNone/>
                      </a:pPr>
                      <a:r>
                        <a:rPr lang="es-BO" sz="1600">
                          <a:solidFill>
                            <a:schemeClr val="dk1"/>
                          </a:solidFill>
                        </a:rPr>
                        <a:t>15,4</a:t>
                      </a:r>
                      <a:endParaRPr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s-BO" sz="1600">
                          <a:solidFill>
                            <a:schemeClr val="dk1"/>
                          </a:solidFill>
                        </a:rPr>
                        <a:t>30</a:t>
                      </a:r>
                      <a:endParaRPr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408900">
                <a:tc>
                  <a:txBody>
                    <a:bodyPr/>
                    <a:lstStyle/>
                    <a:p>
                      <a:pPr indent="0" lvl="0" marL="0" marR="0" rtl="0" algn="ctr">
                        <a:spcBef>
                          <a:spcPts val="0"/>
                        </a:spcBef>
                        <a:spcAft>
                          <a:spcPts val="0"/>
                        </a:spcAft>
                        <a:buNone/>
                      </a:pPr>
                      <a:r>
                        <a:rPr lang="es-BO" sz="1600">
                          <a:solidFill>
                            <a:schemeClr val="dk1"/>
                          </a:solidFill>
                        </a:rPr>
                        <a:t>17,3</a:t>
                      </a:r>
                      <a:endParaRPr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s-BO" sz="1600">
                          <a:solidFill>
                            <a:schemeClr val="dk1"/>
                          </a:solidFill>
                        </a:rPr>
                        <a:t>35</a:t>
                      </a:r>
                      <a:endParaRPr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408900">
                <a:tc>
                  <a:txBody>
                    <a:bodyPr/>
                    <a:lstStyle/>
                    <a:p>
                      <a:pPr indent="0" lvl="0" marL="0" marR="0" rtl="0" algn="ctr">
                        <a:spcBef>
                          <a:spcPts val="0"/>
                        </a:spcBef>
                        <a:spcAft>
                          <a:spcPts val="0"/>
                        </a:spcAft>
                        <a:buNone/>
                      </a:pPr>
                      <a:r>
                        <a:rPr lang="es-BO" sz="1600">
                          <a:solidFill>
                            <a:schemeClr val="dk1"/>
                          </a:solidFill>
                        </a:rPr>
                        <a:t>17,9</a:t>
                      </a:r>
                      <a:endParaRPr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s-BO" sz="1600">
                          <a:solidFill>
                            <a:schemeClr val="dk1"/>
                          </a:solidFill>
                        </a:rPr>
                        <a:t>36,5</a:t>
                      </a:r>
                      <a:endParaRPr sz="12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827"/>
                                        </p:tgtEl>
                                      </p:cBhvr>
                                    </p:animEffect>
                                    <p:set>
                                      <p:cBhvr>
                                        <p:cTn dur="1" fill="hold">
                                          <p:stCondLst>
                                            <p:cond delay="500"/>
                                          </p:stCondLst>
                                        </p:cTn>
                                        <p:tgtEl>
                                          <p:spTgt spid="82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p50"/>
          <p:cNvSpPr txBox="1"/>
          <p:nvPr>
            <p:ph type="title"/>
          </p:nvPr>
        </p:nvSpPr>
        <p:spPr>
          <a:xfrm>
            <a:off x="1263333" y="405078"/>
            <a:ext cx="9851867" cy="671100"/>
          </a:xfrm>
          <a:prstGeom prst="rect">
            <a:avLst/>
          </a:prstGeom>
          <a:noFill/>
          <a:ln>
            <a:noFill/>
          </a:ln>
        </p:spPr>
        <p:txBody>
          <a:bodyPr anchorCtr="0" anchor="t" bIns="121900" lIns="121900" spcFirstLastPara="1" rIns="121900" wrap="square" tIns="121900">
            <a:normAutofit/>
          </a:bodyPr>
          <a:lstStyle/>
          <a:p>
            <a:pPr indent="0" lvl="0" marL="0" rtl="0" algn="l">
              <a:spcBef>
                <a:spcPts val="0"/>
              </a:spcBef>
              <a:spcAft>
                <a:spcPts val="0"/>
              </a:spcAft>
              <a:buClr>
                <a:schemeClr val="dk1"/>
              </a:buClr>
              <a:buSzPts val="2400"/>
              <a:buFont typeface="Calibri"/>
              <a:buNone/>
            </a:pPr>
            <a:r>
              <a:rPr b="1" lang="es-BO" sz="1800"/>
              <a:t>SENSOR VIBRATORIO</a:t>
            </a:r>
            <a:endParaRPr b="1" sz="1800"/>
          </a:p>
        </p:txBody>
      </p:sp>
      <p:sp>
        <p:nvSpPr>
          <p:cNvPr id="834" name="Google Shape;834;p50"/>
          <p:cNvSpPr txBox="1"/>
          <p:nvPr>
            <p:ph idx="1" type="body"/>
          </p:nvPr>
        </p:nvSpPr>
        <p:spPr>
          <a:xfrm>
            <a:off x="1263333" y="980728"/>
            <a:ext cx="5155990" cy="3855600"/>
          </a:xfrm>
          <a:prstGeom prst="rect">
            <a:avLst/>
          </a:prstGeom>
          <a:noFill/>
          <a:ln>
            <a:noFill/>
          </a:ln>
        </p:spPr>
        <p:txBody>
          <a:bodyPr anchorCtr="0" anchor="t" bIns="121900" lIns="121900" spcFirstLastPara="1" rIns="121900" wrap="square" tIns="121900">
            <a:normAutofit/>
          </a:bodyPr>
          <a:lstStyle/>
          <a:p>
            <a:pPr indent="0" lvl="0" marL="0" rtl="0" algn="just">
              <a:spcBef>
                <a:spcPts val="600"/>
              </a:spcBef>
              <a:spcAft>
                <a:spcPts val="0"/>
              </a:spcAft>
              <a:buClr>
                <a:schemeClr val="dk1"/>
              </a:buClr>
              <a:buSzPts val="1300"/>
              <a:buNone/>
            </a:pPr>
            <a:r>
              <a:rPr b="1" i="1" lang="es-BO" sz="1600" u="sng"/>
              <a:t>Principio de funcionamiento</a:t>
            </a:r>
            <a:endParaRPr/>
          </a:p>
          <a:p>
            <a:pPr indent="0" lvl="0" marL="0" rtl="0" algn="just">
              <a:spcBef>
                <a:spcPts val="600"/>
              </a:spcBef>
              <a:spcAft>
                <a:spcPts val="0"/>
              </a:spcAft>
              <a:buClr>
                <a:schemeClr val="dk1"/>
              </a:buClr>
              <a:buSzPts val="1300"/>
              <a:buNone/>
            </a:pPr>
            <a:r>
              <a:rPr lang="es-BO" sz="1600"/>
              <a:t>A través de membranas estimuladas por voltaje, se induce una compresión que hace que la horquilla vibre, y genere una carga eléctrica en función de su frecuencia de resonancia, que al sumergir la horquilla se altera, lo que cambia la carga producida. El sensor es capaz de detectar fluidos o sólidos granulados con densidad relativa mayor a 0.7.</a:t>
            </a:r>
            <a:endParaRPr sz="1600"/>
          </a:p>
        </p:txBody>
      </p:sp>
      <p:pic>
        <p:nvPicPr>
          <p:cNvPr id="835" name="Google Shape;835;p50"/>
          <p:cNvPicPr preferRelativeResize="0"/>
          <p:nvPr/>
        </p:nvPicPr>
        <p:blipFill rotWithShape="1">
          <a:blip r:embed="rId3">
            <a:alphaModFix/>
          </a:blip>
          <a:srcRect b="0" l="0" r="0" t="0"/>
          <a:stretch/>
        </p:blipFill>
        <p:spPr>
          <a:xfrm rot="-5400000">
            <a:off x="2976774" y="2230070"/>
            <a:ext cx="1689016" cy="4674800"/>
          </a:xfrm>
          <a:prstGeom prst="rect">
            <a:avLst/>
          </a:prstGeom>
          <a:noFill/>
          <a:ln>
            <a:noFill/>
          </a:ln>
        </p:spPr>
      </p:pic>
      <p:sp>
        <p:nvSpPr>
          <p:cNvPr id="836" name="Google Shape;836;p50"/>
          <p:cNvSpPr txBox="1"/>
          <p:nvPr/>
        </p:nvSpPr>
        <p:spPr>
          <a:xfrm>
            <a:off x="6637122" y="980728"/>
            <a:ext cx="5363533" cy="2716276"/>
          </a:xfrm>
          <a:prstGeom prst="rect">
            <a:avLst/>
          </a:prstGeom>
          <a:noFill/>
          <a:ln>
            <a:noFill/>
          </a:ln>
        </p:spPr>
        <p:txBody>
          <a:bodyPr anchorCtr="0" anchor="t" bIns="121900" lIns="121900" spcFirstLastPara="1" rIns="121900" wrap="square" tIns="121900">
            <a:normAutofit/>
          </a:bodyPr>
          <a:lstStyle/>
          <a:p>
            <a:pPr indent="0" lvl="0" marL="0" marR="0" rtl="0" algn="just">
              <a:spcBef>
                <a:spcPts val="600"/>
              </a:spcBef>
              <a:spcAft>
                <a:spcPts val="0"/>
              </a:spcAft>
              <a:buClr>
                <a:schemeClr val="dk1"/>
              </a:buClr>
              <a:buSzPts val="1300"/>
              <a:buFont typeface="Arial"/>
              <a:buNone/>
            </a:pPr>
            <a:r>
              <a:rPr b="1" i="1" lang="es-BO" sz="1600" u="sng">
                <a:solidFill>
                  <a:schemeClr val="dk1"/>
                </a:solidFill>
                <a:latin typeface="Calibri"/>
                <a:ea typeface="Calibri"/>
                <a:cs typeface="Calibri"/>
                <a:sym typeface="Calibri"/>
              </a:rPr>
              <a:t>Carteristas </a:t>
            </a:r>
            <a:r>
              <a:rPr b="1" lang="es-BO" sz="1600" u="sng">
                <a:solidFill>
                  <a:schemeClr val="dk1"/>
                </a:solidFill>
                <a:latin typeface="Calibri"/>
                <a:ea typeface="Calibri"/>
                <a:cs typeface="Calibri"/>
                <a:sym typeface="Calibri"/>
              </a:rPr>
              <a:t>Endress+Hauser Liquiphant FTL20-0024 DC-PNP</a:t>
            </a:r>
            <a:r>
              <a:rPr b="1" i="1" lang="es-BO" sz="1600" u="sng">
                <a:solidFill>
                  <a:schemeClr val="dk1"/>
                </a:solidFill>
                <a:latin typeface="Calibri"/>
                <a:ea typeface="Calibri"/>
                <a:cs typeface="Calibri"/>
                <a:sym typeface="Calibri"/>
              </a:rPr>
              <a:t> </a:t>
            </a:r>
            <a:endParaRPr u="sng"/>
          </a:p>
          <a:p>
            <a:pPr indent="-285750" lvl="0" marL="285750" marR="0" rtl="0" algn="just">
              <a:spcBef>
                <a:spcPts val="600"/>
              </a:spcBef>
              <a:spcAft>
                <a:spcPts val="0"/>
              </a:spcAft>
              <a:buClr>
                <a:schemeClr val="dk1"/>
              </a:buClr>
              <a:buSzPts val="1300"/>
              <a:buFont typeface="Noto Sans Symbols"/>
              <a:buChar char="⮚"/>
            </a:pPr>
            <a:r>
              <a:rPr lang="es-BO" sz="1600">
                <a:solidFill>
                  <a:schemeClr val="dk1"/>
                </a:solidFill>
                <a:latin typeface="Calibri"/>
                <a:ea typeface="Calibri"/>
                <a:cs typeface="Calibri"/>
                <a:sym typeface="Calibri"/>
              </a:rPr>
              <a:t>El sensor es capaz de detectar fluidos o sólidos granulados con densidad relativa mayor a 0.7.</a:t>
            </a:r>
            <a:endParaRPr/>
          </a:p>
          <a:p>
            <a:pPr indent="-285750" lvl="0" marL="285750" marR="0" rtl="0" algn="just">
              <a:spcBef>
                <a:spcPts val="600"/>
              </a:spcBef>
              <a:spcAft>
                <a:spcPts val="0"/>
              </a:spcAft>
              <a:buClr>
                <a:schemeClr val="dk1"/>
              </a:buClr>
              <a:buSzPts val="1300"/>
              <a:buFont typeface="Noto Sans Symbols"/>
              <a:buChar char="⮚"/>
            </a:pPr>
            <a:r>
              <a:rPr lang="es-BO" sz="1600">
                <a:solidFill>
                  <a:schemeClr val="dk1"/>
                </a:solidFill>
                <a:latin typeface="Calibri"/>
                <a:ea typeface="Calibri"/>
                <a:cs typeface="Calibri"/>
                <a:sym typeface="Calibri"/>
              </a:rPr>
              <a:t>No se requiere calibración.</a:t>
            </a:r>
            <a:endParaRPr/>
          </a:p>
          <a:p>
            <a:pPr indent="-285750" lvl="0" marL="285750" marR="0" rtl="0" algn="just">
              <a:spcBef>
                <a:spcPts val="600"/>
              </a:spcBef>
              <a:spcAft>
                <a:spcPts val="0"/>
              </a:spcAft>
              <a:buClr>
                <a:schemeClr val="dk1"/>
              </a:buClr>
              <a:buSzPts val="1300"/>
              <a:buFont typeface="Noto Sans Symbols"/>
              <a:buChar char="⮚"/>
            </a:pPr>
            <a:r>
              <a:rPr lang="es-BO" sz="1600">
                <a:solidFill>
                  <a:schemeClr val="dk1"/>
                </a:solidFill>
                <a:latin typeface="Calibri"/>
                <a:ea typeface="Calibri"/>
                <a:cs typeface="Calibri"/>
                <a:sym typeface="Calibri"/>
              </a:rPr>
              <a:t>Voltaje de trabajo amplio, de 10 a 35V.</a:t>
            </a:r>
            <a:endParaRPr/>
          </a:p>
          <a:p>
            <a:pPr indent="-285750" lvl="0" marL="285750" marR="0" rtl="0" algn="just">
              <a:spcBef>
                <a:spcPts val="600"/>
              </a:spcBef>
              <a:spcAft>
                <a:spcPts val="0"/>
              </a:spcAft>
              <a:buClr>
                <a:schemeClr val="dk1"/>
              </a:buClr>
              <a:buSzPts val="1300"/>
              <a:buFont typeface="Noto Sans Symbols"/>
              <a:buChar char="⮚"/>
            </a:pPr>
            <a:r>
              <a:rPr lang="es-BO" sz="1600">
                <a:solidFill>
                  <a:schemeClr val="dk1"/>
                </a:solidFill>
                <a:latin typeface="Calibri"/>
                <a:ea typeface="Calibri"/>
                <a:cs typeface="Calibri"/>
                <a:sym typeface="Calibri"/>
              </a:rPr>
              <a:t> Alta fiabilidad.</a:t>
            </a:r>
            <a:endParaRPr/>
          </a:p>
          <a:p>
            <a:pPr indent="-285750" lvl="0" marL="285750" marR="0" rtl="0" algn="just">
              <a:spcBef>
                <a:spcPts val="600"/>
              </a:spcBef>
              <a:spcAft>
                <a:spcPts val="0"/>
              </a:spcAft>
              <a:buClr>
                <a:schemeClr val="dk1"/>
              </a:buClr>
              <a:buSzPts val="1300"/>
              <a:buFont typeface="Noto Sans Symbols"/>
              <a:buChar char="⮚"/>
            </a:pPr>
            <a:r>
              <a:rPr lang="es-BO" sz="1600">
                <a:solidFill>
                  <a:schemeClr val="dk1"/>
                </a:solidFill>
                <a:latin typeface="Calibri"/>
                <a:ea typeface="Calibri"/>
                <a:cs typeface="Calibri"/>
                <a:sym typeface="Calibri"/>
              </a:rPr>
              <a:t>Medición independiente de las propiedades del material, exceptuando la densidad.</a:t>
            </a:r>
            <a:endParaRPr/>
          </a:p>
        </p:txBody>
      </p:sp>
    </p:spTree>
  </p:cSld>
  <p:clrMapOvr>
    <a:masterClrMapping/>
  </p:clrMapOvr>
  <p:transition spd="slow">
    <p:push/>
  </p:transition>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sp>
        <p:nvSpPr>
          <p:cNvPr id="841" name="Google Shape;841;p51"/>
          <p:cNvSpPr txBox="1"/>
          <p:nvPr>
            <p:ph type="title"/>
          </p:nvPr>
        </p:nvSpPr>
        <p:spPr>
          <a:xfrm>
            <a:off x="1603716" y="427478"/>
            <a:ext cx="9613470" cy="705600"/>
          </a:xfrm>
          <a:prstGeom prst="rect">
            <a:avLst/>
          </a:prstGeom>
          <a:noFill/>
          <a:ln>
            <a:noFill/>
          </a:ln>
        </p:spPr>
        <p:txBody>
          <a:bodyPr anchorCtr="0" anchor="t" bIns="121900" lIns="121900" spcFirstLastPara="1" rIns="121900" wrap="square" tIns="121900">
            <a:normAutofit/>
          </a:bodyPr>
          <a:lstStyle/>
          <a:p>
            <a:pPr indent="0" lvl="0" marL="0" rtl="0" algn="l">
              <a:spcBef>
                <a:spcPts val="0"/>
              </a:spcBef>
              <a:spcAft>
                <a:spcPts val="0"/>
              </a:spcAft>
              <a:buClr>
                <a:schemeClr val="dk1"/>
              </a:buClr>
              <a:buSzPts val="2400"/>
              <a:buFont typeface="Calibri"/>
              <a:buNone/>
            </a:pPr>
            <a:r>
              <a:rPr b="1" i="1" lang="es-BO" sz="1800" u="sng"/>
              <a:t>Conexiones de los Sensores Vibratorios al PLC</a:t>
            </a:r>
            <a:endParaRPr b="1" i="1" sz="1800" u="sng"/>
          </a:p>
        </p:txBody>
      </p:sp>
      <p:sp>
        <p:nvSpPr>
          <p:cNvPr id="842" name="Google Shape;842;p51"/>
          <p:cNvSpPr txBox="1"/>
          <p:nvPr>
            <p:ph idx="1" type="body"/>
          </p:nvPr>
        </p:nvSpPr>
        <p:spPr>
          <a:xfrm>
            <a:off x="1617238" y="810285"/>
            <a:ext cx="9750083" cy="1409200"/>
          </a:xfrm>
          <a:prstGeom prst="rect">
            <a:avLst/>
          </a:prstGeom>
          <a:noFill/>
          <a:ln>
            <a:noFill/>
          </a:ln>
        </p:spPr>
        <p:txBody>
          <a:bodyPr anchorCtr="0" anchor="t" bIns="121900" lIns="121900" spcFirstLastPara="1" rIns="121900" wrap="square" tIns="121900">
            <a:normAutofit/>
          </a:bodyPr>
          <a:lstStyle/>
          <a:p>
            <a:pPr indent="0" lvl="0" marL="0" rtl="0" algn="l">
              <a:lnSpc>
                <a:spcPct val="115000"/>
              </a:lnSpc>
              <a:spcBef>
                <a:spcPts val="0"/>
              </a:spcBef>
              <a:spcAft>
                <a:spcPts val="0"/>
              </a:spcAft>
              <a:buClr>
                <a:schemeClr val="dk1"/>
              </a:buClr>
              <a:buSzPts val="1300"/>
              <a:buNone/>
            </a:pPr>
            <a:r>
              <a:rPr lang="es-BO" sz="1600"/>
              <a:t>Se instalan 2 sensores vibratorios que permiten tener tanto una posible protección de vaciado como de rebalse del tanque superior. Ambos se conectan con un conector solenoide que permite una fácil transmisión de la señal de salida al PLC Micrologix 1100.</a:t>
            </a:r>
            <a:endParaRPr sz="1600"/>
          </a:p>
        </p:txBody>
      </p:sp>
      <p:grpSp>
        <p:nvGrpSpPr>
          <p:cNvPr id="843" name="Google Shape;843;p51"/>
          <p:cNvGrpSpPr/>
          <p:nvPr/>
        </p:nvGrpSpPr>
        <p:grpSpPr>
          <a:xfrm>
            <a:off x="1496106" y="1782702"/>
            <a:ext cx="9721080" cy="4290363"/>
            <a:chOff x="1194892" y="2435304"/>
            <a:chExt cx="9188295" cy="3769985"/>
          </a:xfrm>
        </p:grpSpPr>
        <p:pic>
          <p:nvPicPr>
            <p:cNvPr id="844" name="Google Shape;844;p51"/>
            <p:cNvPicPr preferRelativeResize="0"/>
            <p:nvPr/>
          </p:nvPicPr>
          <p:blipFill rotWithShape="1">
            <a:blip r:embed="rId3">
              <a:alphaModFix/>
            </a:blip>
            <a:srcRect b="0" l="0" r="0" t="0"/>
            <a:stretch/>
          </p:blipFill>
          <p:spPr>
            <a:xfrm>
              <a:off x="1194892" y="2435304"/>
              <a:ext cx="5036546" cy="3769985"/>
            </a:xfrm>
            <a:prstGeom prst="rect">
              <a:avLst/>
            </a:prstGeom>
            <a:noFill/>
            <a:ln>
              <a:noFill/>
            </a:ln>
          </p:spPr>
        </p:pic>
        <p:pic>
          <p:nvPicPr>
            <p:cNvPr id="845" name="Google Shape;845;p51"/>
            <p:cNvPicPr preferRelativeResize="0"/>
            <p:nvPr/>
          </p:nvPicPr>
          <p:blipFill rotWithShape="1">
            <a:blip r:embed="rId4">
              <a:alphaModFix/>
            </a:blip>
            <a:srcRect b="68775" l="9851" r="60183" t="9347"/>
            <a:stretch/>
          </p:blipFill>
          <p:spPr>
            <a:xfrm>
              <a:off x="7184299" y="2712140"/>
              <a:ext cx="3198888" cy="1770475"/>
            </a:xfrm>
            <a:prstGeom prst="rect">
              <a:avLst/>
            </a:prstGeom>
            <a:noFill/>
            <a:ln>
              <a:noFill/>
            </a:ln>
          </p:spPr>
        </p:pic>
      </p:grpSp>
      <p:sp>
        <p:nvSpPr>
          <p:cNvPr id="846" name="Google Shape;846;p51"/>
          <p:cNvSpPr txBox="1"/>
          <p:nvPr/>
        </p:nvSpPr>
        <p:spPr>
          <a:xfrm>
            <a:off x="1559496" y="5996865"/>
            <a:ext cx="4392489"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s-BO" sz="1600">
                <a:solidFill>
                  <a:schemeClr val="dk1"/>
                </a:solidFill>
                <a:latin typeface="Calibri"/>
                <a:ea typeface="Calibri"/>
                <a:cs typeface="Calibri"/>
                <a:sym typeface="Calibri"/>
              </a:rPr>
              <a:t>Conexión de SW1 y SW2 al PLC en sus entradas I0.0 e I0.1 respectivamente. </a:t>
            </a:r>
            <a:endParaRPr i="1" sz="1600">
              <a:solidFill>
                <a:schemeClr val="dk1"/>
              </a:solidFill>
              <a:latin typeface="Calibri"/>
              <a:ea typeface="Calibri"/>
              <a:cs typeface="Calibri"/>
              <a:sym typeface="Calibri"/>
            </a:endParaRPr>
          </a:p>
        </p:txBody>
      </p:sp>
      <p:sp>
        <p:nvSpPr>
          <p:cNvPr id="847" name="Google Shape;847;p51"/>
          <p:cNvSpPr txBox="1"/>
          <p:nvPr/>
        </p:nvSpPr>
        <p:spPr>
          <a:xfrm>
            <a:off x="7608168" y="4147135"/>
            <a:ext cx="4392489"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s-BO" sz="1600">
                <a:solidFill>
                  <a:schemeClr val="dk1"/>
                </a:solidFill>
                <a:latin typeface="Calibri"/>
                <a:ea typeface="Calibri"/>
                <a:cs typeface="Calibri"/>
                <a:sym typeface="Calibri"/>
              </a:rPr>
              <a:t>Conexión del sensor al cable solenoide</a:t>
            </a:r>
            <a:endParaRPr i="1" sz="1600">
              <a:solidFill>
                <a:schemeClr val="dk1"/>
              </a:solidFill>
              <a:latin typeface="Calibri"/>
              <a:ea typeface="Calibri"/>
              <a:cs typeface="Calibri"/>
              <a:sym typeface="Calibri"/>
            </a:endParaRPr>
          </a:p>
        </p:txBody>
      </p:sp>
    </p:spTree>
  </p:cSld>
  <p:clrMapOvr>
    <a:masterClrMapping/>
  </p:clrMapOvr>
  <p:transition spd="slow">
    <p:push/>
  </p:transition>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p52"/>
          <p:cNvSpPr txBox="1"/>
          <p:nvPr>
            <p:ph type="title"/>
          </p:nvPr>
        </p:nvSpPr>
        <p:spPr>
          <a:xfrm>
            <a:off x="1716666" y="333814"/>
            <a:ext cx="5027406" cy="724400"/>
          </a:xfrm>
          <a:prstGeom prst="rect">
            <a:avLst/>
          </a:prstGeom>
          <a:noFill/>
          <a:ln>
            <a:noFill/>
          </a:ln>
        </p:spPr>
        <p:txBody>
          <a:bodyPr anchorCtr="0" anchor="t" bIns="121900" lIns="121900" spcFirstLastPara="1" rIns="121900" wrap="square" tIns="121900">
            <a:normAutofit/>
          </a:bodyPr>
          <a:lstStyle/>
          <a:p>
            <a:pPr indent="0" lvl="0" marL="0" rtl="0" algn="l">
              <a:spcBef>
                <a:spcPts val="0"/>
              </a:spcBef>
              <a:spcAft>
                <a:spcPts val="0"/>
              </a:spcAft>
              <a:buClr>
                <a:schemeClr val="dk1"/>
              </a:buClr>
              <a:buSzPts val="2400"/>
              <a:buFont typeface="Calibri"/>
              <a:buNone/>
            </a:pPr>
            <a:r>
              <a:rPr b="1" i="1" lang="es-BO" sz="1800" u="sng"/>
              <a:t>Pruebas en laboratorio del Sensor Vibratorio</a:t>
            </a:r>
            <a:endParaRPr/>
          </a:p>
        </p:txBody>
      </p:sp>
      <p:sp>
        <p:nvSpPr>
          <p:cNvPr id="853" name="Google Shape;853;p52"/>
          <p:cNvSpPr txBox="1"/>
          <p:nvPr/>
        </p:nvSpPr>
        <p:spPr>
          <a:xfrm>
            <a:off x="1716666" y="712613"/>
            <a:ext cx="9307200" cy="1151557"/>
          </a:xfrm>
          <a:prstGeom prst="rect">
            <a:avLst/>
          </a:prstGeom>
          <a:noFill/>
          <a:ln>
            <a:noFill/>
          </a:ln>
        </p:spPr>
        <p:txBody>
          <a:bodyPr anchorCtr="0" anchor="t" bIns="121900" lIns="121900" spcFirstLastPara="1" rIns="121900" wrap="square" tIns="121900">
            <a:spAutoFit/>
          </a:bodyPr>
          <a:lstStyle/>
          <a:p>
            <a:pPr indent="0" lvl="0" marL="0" marR="0" rtl="0" algn="just">
              <a:spcBef>
                <a:spcPts val="0"/>
              </a:spcBef>
              <a:spcAft>
                <a:spcPts val="0"/>
              </a:spcAft>
              <a:buNone/>
            </a:pPr>
            <a:r>
              <a:rPr lang="es-BO" sz="1600">
                <a:solidFill>
                  <a:schemeClr val="dk1"/>
                </a:solidFill>
                <a:latin typeface="Calibri"/>
                <a:ea typeface="Calibri"/>
                <a:cs typeface="Calibri"/>
                <a:sym typeface="Calibri"/>
              </a:rPr>
              <a:t>Se realizó la medición de voltaje a la salida del sensor, que teóricamente nos debería dar 24V DC cuando el valor del switch sea ‘1’ y 0 V DC cuando sea ‘0’.</a:t>
            </a:r>
            <a:endParaRPr sz="1600">
              <a:solidFill>
                <a:schemeClr val="dk1"/>
              </a:solidFill>
              <a:latin typeface="Calibri"/>
              <a:ea typeface="Calibri"/>
              <a:cs typeface="Calibri"/>
              <a:sym typeface="Calibri"/>
            </a:endParaRPr>
          </a:p>
          <a:p>
            <a:pPr indent="0" lvl="0" marL="0" marR="0" rtl="0" algn="just">
              <a:spcBef>
                <a:spcPts val="1333"/>
              </a:spcBef>
              <a:spcAft>
                <a:spcPts val="0"/>
              </a:spcAft>
              <a:buNone/>
            </a:pPr>
            <a:r>
              <a:rPr lang="es-BO" sz="1600">
                <a:solidFill>
                  <a:schemeClr val="dk1"/>
                </a:solidFill>
                <a:latin typeface="Calibri"/>
                <a:ea typeface="Calibri"/>
                <a:cs typeface="Calibri"/>
                <a:sym typeface="Calibri"/>
              </a:rPr>
              <a:t>Se pudo observar que existe una variación, ya que el ‘1’ lógico tuvo un voltaje de 22.1 VDC.</a:t>
            </a:r>
            <a:endParaRPr sz="1600">
              <a:solidFill>
                <a:schemeClr val="dk1"/>
              </a:solidFill>
              <a:latin typeface="Calibri"/>
              <a:ea typeface="Calibri"/>
              <a:cs typeface="Calibri"/>
              <a:sym typeface="Calibri"/>
            </a:endParaRPr>
          </a:p>
        </p:txBody>
      </p:sp>
      <p:pic>
        <p:nvPicPr>
          <p:cNvPr id="854" name="Google Shape;854;p52"/>
          <p:cNvPicPr preferRelativeResize="0"/>
          <p:nvPr/>
        </p:nvPicPr>
        <p:blipFill rotWithShape="1">
          <a:blip r:embed="rId3">
            <a:alphaModFix/>
          </a:blip>
          <a:srcRect b="0" l="0" r="0" t="0"/>
          <a:stretch/>
        </p:blipFill>
        <p:spPr>
          <a:xfrm>
            <a:off x="2051760" y="2204864"/>
            <a:ext cx="8088480" cy="3600400"/>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4"/>
                                        </p:tgtEl>
                                        <p:attrNameLst>
                                          <p:attrName>style.visibility</p:attrName>
                                        </p:attrNameLst>
                                      </p:cBhvr>
                                      <p:to>
                                        <p:strVal val="visible"/>
                                      </p:to>
                                    </p:set>
                                    <p:animEffect filter="fade" transition="in">
                                      <p:cBhvr>
                                        <p:cTn dur="1000"/>
                                        <p:tgtEl>
                                          <p:spTgt spid="8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8" name="Shape 858"/>
        <p:cNvGrpSpPr/>
        <p:nvPr/>
      </p:nvGrpSpPr>
      <p:grpSpPr>
        <a:xfrm>
          <a:off x="0" y="0"/>
          <a:ext cx="0" cy="0"/>
          <a:chOff x="0" y="0"/>
          <a:chExt cx="0" cy="0"/>
        </a:xfrm>
      </p:grpSpPr>
      <p:sp>
        <p:nvSpPr>
          <p:cNvPr id="859" name="Google Shape;859;p53"/>
          <p:cNvSpPr txBox="1"/>
          <p:nvPr>
            <p:ph type="title"/>
          </p:nvPr>
        </p:nvSpPr>
        <p:spPr>
          <a:xfrm>
            <a:off x="1716666" y="333814"/>
            <a:ext cx="6179534" cy="718922"/>
          </a:xfrm>
          <a:prstGeom prst="rect">
            <a:avLst/>
          </a:prstGeom>
          <a:noFill/>
          <a:ln>
            <a:noFill/>
          </a:ln>
        </p:spPr>
        <p:txBody>
          <a:bodyPr anchorCtr="0" anchor="t" bIns="121900" lIns="121900" spcFirstLastPara="1" rIns="121900" wrap="square" tIns="121900">
            <a:normAutofit/>
          </a:bodyPr>
          <a:lstStyle/>
          <a:p>
            <a:pPr indent="0" lvl="0" marL="0" rtl="0" algn="l">
              <a:spcBef>
                <a:spcPts val="0"/>
              </a:spcBef>
              <a:spcAft>
                <a:spcPts val="0"/>
              </a:spcAft>
              <a:buClr>
                <a:schemeClr val="dk1"/>
              </a:buClr>
              <a:buSzPts val="2400"/>
              <a:buFont typeface="Calibri"/>
              <a:buNone/>
            </a:pPr>
            <a:r>
              <a:rPr b="1" i="1" lang="es-BO" sz="1800" u="sng">
                <a:latin typeface="Calibri"/>
                <a:ea typeface="Calibri"/>
                <a:cs typeface="Calibri"/>
                <a:sym typeface="Calibri"/>
              </a:rPr>
              <a:t>Pruebas en laboratorio del Sensor Vibratorio(cont.)</a:t>
            </a:r>
            <a:endParaRPr/>
          </a:p>
        </p:txBody>
      </p:sp>
      <p:sp>
        <p:nvSpPr>
          <p:cNvPr id="860" name="Google Shape;860;p53"/>
          <p:cNvSpPr txBox="1"/>
          <p:nvPr/>
        </p:nvSpPr>
        <p:spPr>
          <a:xfrm>
            <a:off x="1716666" y="712613"/>
            <a:ext cx="9307200" cy="1484982"/>
          </a:xfrm>
          <a:prstGeom prst="rect">
            <a:avLst/>
          </a:prstGeom>
          <a:noFill/>
          <a:ln>
            <a:noFill/>
          </a:ln>
        </p:spPr>
        <p:txBody>
          <a:bodyPr anchorCtr="0" anchor="t" bIns="121900" lIns="121900" spcFirstLastPara="1" rIns="121900" wrap="square" tIns="121900">
            <a:spAutoFit/>
          </a:bodyPr>
          <a:lstStyle/>
          <a:p>
            <a:pPr indent="0" lvl="0" marL="0" marR="0" rtl="0" algn="just">
              <a:spcBef>
                <a:spcPts val="1333"/>
              </a:spcBef>
              <a:spcAft>
                <a:spcPts val="0"/>
              </a:spcAft>
              <a:buNone/>
            </a:pPr>
            <a:r>
              <a:rPr lang="es-BO" sz="1600">
                <a:solidFill>
                  <a:schemeClr val="dk1"/>
                </a:solidFill>
                <a:latin typeface="Calibri"/>
                <a:ea typeface="Calibri"/>
                <a:cs typeface="Calibri"/>
                <a:sym typeface="Calibri"/>
              </a:rPr>
              <a:t>Mediante la lectura de las entradas I0.0 e I0.1 se controla la baliza del sistema en 3 niveles:</a:t>
            </a:r>
            <a:endParaRPr sz="1600">
              <a:solidFill>
                <a:schemeClr val="dk1"/>
              </a:solidFill>
              <a:latin typeface="Calibri"/>
              <a:ea typeface="Calibri"/>
              <a:cs typeface="Calibri"/>
              <a:sym typeface="Calibri"/>
            </a:endParaRPr>
          </a:p>
          <a:p>
            <a:pPr indent="0" lvl="0" marL="0" marR="0" rtl="0" algn="just">
              <a:spcBef>
                <a:spcPts val="1333"/>
              </a:spcBef>
              <a:spcAft>
                <a:spcPts val="1333"/>
              </a:spcAft>
              <a:buNone/>
            </a:pPr>
            <a:r>
              <a:rPr b="1" lang="es-BO" sz="1600" u="sng">
                <a:solidFill>
                  <a:schemeClr val="dk1"/>
                </a:solidFill>
                <a:latin typeface="Calibri"/>
                <a:ea typeface="Calibri"/>
                <a:cs typeface="Calibri"/>
                <a:sym typeface="Calibri"/>
              </a:rPr>
              <a:t>Verde:</a:t>
            </a:r>
            <a:r>
              <a:rPr lang="es-BO" sz="1600">
                <a:solidFill>
                  <a:schemeClr val="dk1"/>
                </a:solidFill>
                <a:latin typeface="Calibri"/>
                <a:ea typeface="Calibri"/>
                <a:cs typeface="Calibri"/>
                <a:sym typeface="Calibri"/>
              </a:rPr>
              <a:t> Nivel Bajo (SW1 y SW2 libres) </a:t>
            </a:r>
            <a:r>
              <a:rPr b="1" lang="es-BO" sz="1600" u="sng">
                <a:solidFill>
                  <a:schemeClr val="dk1"/>
                </a:solidFill>
                <a:latin typeface="Calibri"/>
                <a:ea typeface="Calibri"/>
                <a:cs typeface="Calibri"/>
                <a:sym typeface="Calibri"/>
              </a:rPr>
              <a:t>Sin Luz:</a:t>
            </a:r>
            <a:r>
              <a:rPr lang="es-BO" sz="1600">
                <a:solidFill>
                  <a:schemeClr val="dk1"/>
                </a:solidFill>
                <a:latin typeface="Calibri"/>
                <a:ea typeface="Calibri"/>
                <a:cs typeface="Calibri"/>
                <a:sym typeface="Calibri"/>
              </a:rPr>
              <a:t> Nivel Medio (SW1 sumergido, SW2 libre) </a:t>
            </a:r>
            <a:r>
              <a:rPr b="1" lang="es-BO" sz="1600" u="sng">
                <a:solidFill>
                  <a:schemeClr val="dk1"/>
                </a:solidFill>
                <a:latin typeface="Calibri"/>
                <a:ea typeface="Calibri"/>
                <a:cs typeface="Calibri"/>
                <a:sym typeface="Calibri"/>
              </a:rPr>
              <a:t>Rojo:</a:t>
            </a:r>
            <a:r>
              <a:rPr lang="es-BO" sz="1600">
                <a:solidFill>
                  <a:schemeClr val="dk1"/>
                </a:solidFill>
                <a:latin typeface="Calibri"/>
                <a:ea typeface="Calibri"/>
                <a:cs typeface="Calibri"/>
                <a:sym typeface="Calibri"/>
              </a:rPr>
              <a:t> Nivel Alto (SW1 y SW2 sumergidos)</a:t>
            </a:r>
            <a:endParaRPr sz="1600">
              <a:solidFill>
                <a:schemeClr val="dk1"/>
              </a:solidFill>
              <a:latin typeface="Calibri"/>
              <a:ea typeface="Calibri"/>
              <a:cs typeface="Calibri"/>
              <a:sym typeface="Calibri"/>
            </a:endParaRPr>
          </a:p>
        </p:txBody>
      </p:sp>
      <p:pic>
        <p:nvPicPr>
          <p:cNvPr id="861" name="Google Shape;861;p53"/>
          <p:cNvPicPr preferRelativeResize="0"/>
          <p:nvPr/>
        </p:nvPicPr>
        <p:blipFill rotWithShape="1">
          <a:blip r:embed="rId3">
            <a:alphaModFix/>
          </a:blip>
          <a:srcRect b="0" l="0" r="0" t="0"/>
          <a:stretch/>
        </p:blipFill>
        <p:spPr>
          <a:xfrm>
            <a:off x="1199456" y="2636912"/>
            <a:ext cx="9958998" cy="2952328"/>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1"/>
                                        </p:tgtEl>
                                        <p:attrNameLst>
                                          <p:attrName>style.visibility</p:attrName>
                                        </p:attrNameLst>
                                      </p:cBhvr>
                                      <p:to>
                                        <p:strVal val="visible"/>
                                      </p:to>
                                    </p:set>
                                    <p:animEffect filter="fade" transition="in">
                                      <p:cBhvr>
                                        <p:cTn dur="500"/>
                                        <p:tgtEl>
                                          <p:spTgt spid="8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sp>
        <p:nvSpPr>
          <p:cNvPr id="866" name="Google Shape;866;p54"/>
          <p:cNvSpPr txBox="1"/>
          <p:nvPr>
            <p:ph idx="1" type="body"/>
          </p:nvPr>
        </p:nvSpPr>
        <p:spPr>
          <a:xfrm>
            <a:off x="1127447" y="2163621"/>
            <a:ext cx="6048671" cy="4746983"/>
          </a:xfrm>
          <a:prstGeom prst="rect">
            <a:avLst/>
          </a:prstGeom>
          <a:noFill/>
          <a:ln>
            <a:noFill/>
          </a:ln>
        </p:spPr>
        <p:txBody>
          <a:bodyPr anchorCtr="0" anchor="t" bIns="121900" lIns="121900" spcFirstLastPara="1" rIns="121900" wrap="square" tIns="121900">
            <a:normAutofit/>
          </a:bodyPr>
          <a:lstStyle/>
          <a:p>
            <a:pPr indent="0" lvl="0" marL="0" rtl="0" algn="just">
              <a:spcBef>
                <a:spcPts val="1600"/>
              </a:spcBef>
              <a:spcAft>
                <a:spcPts val="0"/>
              </a:spcAft>
              <a:buClr>
                <a:schemeClr val="dk1"/>
              </a:buClr>
              <a:buSzPts val="1300"/>
              <a:buNone/>
            </a:pPr>
            <a:r>
              <a:rPr b="1" i="1" lang="es-BO" sz="1600" u="sng"/>
              <a:t>Características T PMC131:</a:t>
            </a:r>
            <a:endParaRPr b="1" i="1" sz="1600" u="sng"/>
          </a:p>
          <a:p>
            <a:pPr indent="-423323" lvl="0" marL="609585" rtl="0" algn="just">
              <a:spcBef>
                <a:spcPts val="1600"/>
              </a:spcBef>
              <a:spcAft>
                <a:spcPts val="0"/>
              </a:spcAft>
              <a:buClr>
                <a:schemeClr val="dk1"/>
              </a:buClr>
              <a:buSzPts val="1400"/>
              <a:buChar char="●"/>
            </a:pPr>
            <a:r>
              <a:rPr lang="es-BO" sz="1600"/>
              <a:t>Variable a medir: Presión absoluta y presión manométrica</a:t>
            </a:r>
            <a:endParaRPr sz="1600"/>
          </a:p>
          <a:p>
            <a:pPr indent="-423323" lvl="0" marL="609585" rtl="0" algn="just">
              <a:spcBef>
                <a:spcPts val="0"/>
              </a:spcBef>
              <a:spcAft>
                <a:spcPts val="0"/>
              </a:spcAft>
              <a:buClr>
                <a:schemeClr val="dk1"/>
              </a:buClr>
              <a:buSzPts val="1400"/>
              <a:buChar char="●"/>
            </a:pPr>
            <a:r>
              <a:rPr lang="es-BO" sz="1600"/>
              <a:t> Voltaje de alimentación: 11 – 30 V DC</a:t>
            </a:r>
            <a:endParaRPr sz="1600"/>
          </a:p>
          <a:p>
            <a:pPr indent="-423323" lvl="0" marL="609585" rtl="0" algn="just">
              <a:spcBef>
                <a:spcPts val="0"/>
              </a:spcBef>
              <a:spcAft>
                <a:spcPts val="0"/>
              </a:spcAft>
              <a:buClr>
                <a:schemeClr val="dk1"/>
              </a:buClr>
              <a:buSzPts val="1400"/>
              <a:buChar char="●"/>
            </a:pPr>
            <a:r>
              <a:rPr lang="es-BO" sz="1600"/>
              <a:t> Señal de salida: 2 hilos de 4 – 20 mA</a:t>
            </a:r>
            <a:endParaRPr sz="1600"/>
          </a:p>
          <a:p>
            <a:pPr indent="-423323" lvl="0" marL="609585" rtl="0" algn="just">
              <a:spcBef>
                <a:spcPts val="0"/>
              </a:spcBef>
              <a:spcAft>
                <a:spcPts val="0"/>
              </a:spcAft>
              <a:buClr>
                <a:schemeClr val="dk1"/>
              </a:buClr>
              <a:buSzPts val="1400"/>
              <a:buChar char="●"/>
            </a:pPr>
            <a:r>
              <a:rPr lang="es-BO" sz="1600"/>
              <a:t> Rango de temperatura de proceso: –20 a +100 °C</a:t>
            </a:r>
            <a:endParaRPr sz="1600"/>
          </a:p>
          <a:p>
            <a:pPr indent="0" lvl="0" marL="0" rtl="0" algn="just">
              <a:spcBef>
                <a:spcPts val="1600"/>
              </a:spcBef>
              <a:spcAft>
                <a:spcPts val="0"/>
              </a:spcAft>
              <a:buClr>
                <a:schemeClr val="dk1"/>
              </a:buClr>
              <a:buSzPts val="1300"/>
              <a:buNone/>
            </a:pPr>
            <a:r>
              <a:rPr b="1" lang="es-BO" sz="1600" u="sng"/>
              <a:t>Características del sensor según su código (T PMC131 – A12F1D12):</a:t>
            </a:r>
            <a:endParaRPr b="1" sz="1600" u="sng"/>
          </a:p>
          <a:p>
            <a:pPr indent="-423323" lvl="0" marL="609585" rtl="0" algn="just">
              <a:spcBef>
                <a:spcPts val="1600"/>
              </a:spcBef>
              <a:spcAft>
                <a:spcPts val="0"/>
              </a:spcAft>
              <a:buClr>
                <a:schemeClr val="dk1"/>
              </a:buClr>
              <a:buSzPts val="1400"/>
              <a:buChar char="●"/>
            </a:pPr>
            <a:r>
              <a:rPr lang="es-BO" sz="1600"/>
              <a:t> A1:     Conector solenoidal</a:t>
            </a:r>
            <a:endParaRPr sz="1600"/>
          </a:p>
          <a:p>
            <a:pPr indent="-423323" lvl="0" marL="609585" rtl="0" algn="just">
              <a:spcBef>
                <a:spcPts val="0"/>
              </a:spcBef>
              <a:spcAft>
                <a:spcPts val="0"/>
              </a:spcAft>
              <a:buClr>
                <a:schemeClr val="dk1"/>
              </a:buClr>
              <a:buSzPts val="1400"/>
              <a:buChar char="●"/>
            </a:pPr>
            <a:r>
              <a:rPr lang="es-BO" sz="1600"/>
              <a:t> 2:       Conexión para cañerías ½ y ¼ </a:t>
            </a:r>
            <a:endParaRPr sz="1600"/>
          </a:p>
          <a:p>
            <a:pPr indent="-423323" lvl="0" marL="609585" rtl="0" algn="just">
              <a:spcBef>
                <a:spcPts val="0"/>
              </a:spcBef>
              <a:spcAft>
                <a:spcPts val="0"/>
              </a:spcAft>
              <a:buClr>
                <a:schemeClr val="dk1"/>
              </a:buClr>
              <a:buSzPts val="1400"/>
              <a:buChar char="●"/>
            </a:pPr>
            <a:r>
              <a:rPr lang="es-BO" sz="1600"/>
              <a:t> F:        Aislamiento FKM Viton</a:t>
            </a:r>
            <a:endParaRPr sz="1600"/>
          </a:p>
          <a:p>
            <a:pPr indent="-423323" lvl="0" marL="609585" rtl="0" algn="just">
              <a:spcBef>
                <a:spcPts val="0"/>
              </a:spcBef>
              <a:spcAft>
                <a:spcPts val="0"/>
              </a:spcAft>
              <a:buClr>
                <a:schemeClr val="dk1"/>
              </a:buClr>
              <a:buSzPts val="1400"/>
              <a:buChar char="●"/>
            </a:pPr>
            <a:r>
              <a:rPr lang="es-BO" sz="1600"/>
              <a:t> 1:       Sin equipo adicional</a:t>
            </a:r>
            <a:endParaRPr sz="1600"/>
          </a:p>
          <a:p>
            <a:pPr indent="-423323" lvl="0" marL="609585" rtl="0" algn="just">
              <a:spcBef>
                <a:spcPts val="0"/>
              </a:spcBef>
              <a:spcAft>
                <a:spcPts val="0"/>
              </a:spcAft>
              <a:buClr>
                <a:schemeClr val="dk1"/>
              </a:buClr>
              <a:buSzPts val="1400"/>
              <a:buChar char="●"/>
            </a:pPr>
            <a:r>
              <a:rPr lang="es-BO" sz="1600"/>
              <a:t> D12:  Rango de medición: 0 a 200 mbar </a:t>
            </a:r>
            <a:endParaRPr/>
          </a:p>
          <a:p>
            <a:pPr indent="0" lvl="0" marL="186262" rtl="0" algn="just">
              <a:spcBef>
                <a:spcPts val="0"/>
              </a:spcBef>
              <a:spcAft>
                <a:spcPts val="0"/>
              </a:spcAft>
              <a:buClr>
                <a:schemeClr val="dk1"/>
              </a:buClr>
              <a:buSzPts val="1400"/>
              <a:buNone/>
            </a:pPr>
            <a:r>
              <a:rPr lang="es-BO" sz="1600"/>
              <a:t>	     Presión máxima de trabajo (MWP): 3.3 bar </a:t>
            </a:r>
            <a:endParaRPr/>
          </a:p>
          <a:p>
            <a:pPr indent="0" lvl="0" marL="186262" rtl="0" algn="just">
              <a:spcBef>
                <a:spcPts val="0"/>
              </a:spcBef>
              <a:spcAft>
                <a:spcPts val="0"/>
              </a:spcAft>
              <a:buClr>
                <a:schemeClr val="dk1"/>
              </a:buClr>
              <a:buSzPts val="1400"/>
              <a:buNone/>
            </a:pPr>
            <a:r>
              <a:rPr lang="es-BO" sz="1600"/>
              <a:t>	      límite de sobrepresión (OPL): 5 bar</a:t>
            </a:r>
            <a:endParaRPr sz="1600"/>
          </a:p>
        </p:txBody>
      </p:sp>
      <p:sp>
        <p:nvSpPr>
          <p:cNvPr id="867" name="Google Shape;867;p54"/>
          <p:cNvSpPr txBox="1"/>
          <p:nvPr/>
        </p:nvSpPr>
        <p:spPr>
          <a:xfrm>
            <a:off x="1127448" y="286131"/>
            <a:ext cx="6785748" cy="738623"/>
          </a:xfrm>
          <a:prstGeom prst="rect">
            <a:avLst/>
          </a:prstGeom>
          <a:noFill/>
          <a:ln>
            <a:noFill/>
          </a:ln>
        </p:spPr>
        <p:txBody>
          <a:bodyPr anchorCtr="0" anchor="t" bIns="121900" lIns="121900" spcFirstLastPara="1" rIns="121900" wrap="square" tIns="121900">
            <a:spAutoFit/>
          </a:bodyPr>
          <a:lstStyle/>
          <a:p>
            <a:pPr indent="0" lvl="0" marL="0" marR="0" rtl="0" algn="l">
              <a:spcBef>
                <a:spcPts val="0"/>
              </a:spcBef>
              <a:spcAft>
                <a:spcPts val="0"/>
              </a:spcAft>
              <a:buNone/>
            </a:pPr>
            <a:r>
              <a:rPr b="1" lang="es-BO" sz="1800">
                <a:solidFill>
                  <a:schemeClr val="dk1"/>
                </a:solidFill>
                <a:latin typeface="Calibri"/>
                <a:ea typeface="Calibri"/>
                <a:cs typeface="Calibri"/>
                <a:sym typeface="Calibri"/>
              </a:rPr>
              <a:t>SENSOR DE PRESIÓN  T PMC131 </a:t>
            </a:r>
            <a:r>
              <a:rPr lang="es-BO" sz="3200">
                <a:solidFill>
                  <a:schemeClr val="lt1"/>
                </a:solidFill>
                <a:latin typeface="Montserrat"/>
                <a:ea typeface="Montserrat"/>
                <a:cs typeface="Montserrat"/>
                <a:sym typeface="Montserrat"/>
              </a:rPr>
              <a:t>MC 131</a:t>
            </a:r>
            <a:endParaRPr sz="3200">
              <a:solidFill>
                <a:schemeClr val="lt1"/>
              </a:solidFill>
              <a:latin typeface="Montserrat"/>
              <a:ea typeface="Montserrat"/>
              <a:cs typeface="Montserrat"/>
              <a:sym typeface="Montserrat"/>
            </a:endParaRPr>
          </a:p>
        </p:txBody>
      </p:sp>
      <p:sp>
        <p:nvSpPr>
          <p:cNvPr id="868" name="Google Shape;868;p54"/>
          <p:cNvSpPr txBox="1"/>
          <p:nvPr/>
        </p:nvSpPr>
        <p:spPr>
          <a:xfrm>
            <a:off x="1199456" y="966671"/>
            <a:ext cx="5976663" cy="1354217"/>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1" lang="es-BO" sz="1600" u="sng">
                <a:solidFill>
                  <a:schemeClr val="dk1"/>
                </a:solidFill>
                <a:latin typeface="Calibri"/>
                <a:ea typeface="Calibri"/>
                <a:cs typeface="Calibri"/>
                <a:sym typeface="Calibri"/>
              </a:rPr>
              <a:t>Principio de funcionamiento</a:t>
            </a:r>
            <a:endParaRPr/>
          </a:p>
          <a:p>
            <a:pPr indent="0" lvl="0" marL="0" marR="0" rtl="0" algn="just">
              <a:spcBef>
                <a:spcPts val="0"/>
              </a:spcBef>
              <a:spcAft>
                <a:spcPts val="0"/>
              </a:spcAft>
              <a:buNone/>
            </a:pPr>
            <a:r>
              <a:rPr lang="es-BO" sz="1600">
                <a:solidFill>
                  <a:schemeClr val="dk1"/>
                </a:solidFill>
                <a:latin typeface="Calibri"/>
                <a:ea typeface="Calibri"/>
                <a:cs typeface="Calibri"/>
                <a:sym typeface="Calibri"/>
              </a:rPr>
              <a:t>Los transductores de presión capacitivos son medidores que se basan en la utilización de un elemento elástico cuya deformación, proporcional a la diferencia de presión entre ambos lados de ese elemento elástico, se convierte en una señal eléctrica.</a:t>
            </a:r>
            <a:endParaRPr sz="1200">
              <a:solidFill>
                <a:schemeClr val="dk1"/>
              </a:solidFill>
              <a:latin typeface="Times New Roman"/>
              <a:ea typeface="Times New Roman"/>
              <a:cs typeface="Times New Roman"/>
              <a:sym typeface="Times New Roman"/>
            </a:endParaRPr>
          </a:p>
        </p:txBody>
      </p:sp>
      <p:pic>
        <p:nvPicPr>
          <p:cNvPr id="869" name="Google Shape;869;p54"/>
          <p:cNvPicPr preferRelativeResize="0"/>
          <p:nvPr/>
        </p:nvPicPr>
        <p:blipFill rotWithShape="1">
          <a:blip r:embed="rId3">
            <a:alphaModFix/>
          </a:blip>
          <a:srcRect b="0" l="1586" r="0" t="0"/>
          <a:stretch/>
        </p:blipFill>
        <p:spPr>
          <a:xfrm>
            <a:off x="7464152" y="836712"/>
            <a:ext cx="4464496" cy="5523343"/>
          </a:xfrm>
          <a:prstGeom prst="rect">
            <a:avLst/>
          </a:prstGeom>
          <a:noFill/>
          <a:ln>
            <a:noFill/>
          </a:ln>
        </p:spPr>
      </p:pic>
    </p:spTree>
  </p:cSld>
  <p:clrMapOvr>
    <a:masterClrMapping/>
  </p:clrMapOvr>
  <p:transition spd="slow">
    <p:push/>
  </p:transition>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4" name="Shape 874"/>
        <p:cNvGrpSpPr/>
        <p:nvPr/>
      </p:nvGrpSpPr>
      <p:grpSpPr>
        <a:xfrm>
          <a:off x="0" y="0"/>
          <a:ext cx="0" cy="0"/>
          <a:chOff x="0" y="0"/>
          <a:chExt cx="0" cy="0"/>
        </a:xfrm>
      </p:grpSpPr>
      <p:sp>
        <p:nvSpPr>
          <p:cNvPr id="875" name="Google Shape;875;p55"/>
          <p:cNvSpPr txBox="1"/>
          <p:nvPr>
            <p:ph type="title"/>
          </p:nvPr>
        </p:nvSpPr>
        <p:spPr>
          <a:xfrm>
            <a:off x="1730000" y="525000"/>
            <a:ext cx="9385200" cy="599744"/>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2400"/>
              <a:buFont typeface="Calibri"/>
              <a:buNone/>
            </a:pPr>
            <a:r>
              <a:rPr b="1" i="1" lang="es-BO" sz="1800" u="sng"/>
              <a:t>Conexión del Sensor de Presión T PMC131 al PLC  </a:t>
            </a:r>
            <a:endParaRPr b="1" i="1" sz="1800" u="sng"/>
          </a:p>
        </p:txBody>
      </p:sp>
      <p:sp>
        <p:nvSpPr>
          <p:cNvPr id="876" name="Google Shape;876;p55"/>
          <p:cNvSpPr/>
          <p:nvPr/>
        </p:nvSpPr>
        <p:spPr>
          <a:xfrm>
            <a:off x="1769176" y="6144788"/>
            <a:ext cx="9385200" cy="376423"/>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i="1" lang="es-BO" sz="1800">
                <a:solidFill>
                  <a:schemeClr val="dk1"/>
                </a:solidFill>
                <a:latin typeface="Calibri"/>
                <a:ea typeface="Calibri"/>
                <a:cs typeface="Calibri"/>
                <a:sym typeface="Calibri"/>
              </a:rPr>
              <a:t>Conexión del sensor de presión al PLC micrologix 1100</a:t>
            </a:r>
            <a:endParaRPr sz="1800">
              <a:solidFill>
                <a:schemeClr val="dk1"/>
              </a:solidFill>
              <a:latin typeface="Calibri"/>
              <a:ea typeface="Calibri"/>
              <a:cs typeface="Calibri"/>
              <a:sym typeface="Calibri"/>
            </a:endParaRPr>
          </a:p>
        </p:txBody>
      </p:sp>
      <p:pic>
        <p:nvPicPr>
          <p:cNvPr id="877" name="Google Shape;877;p55"/>
          <p:cNvPicPr preferRelativeResize="0"/>
          <p:nvPr/>
        </p:nvPicPr>
        <p:blipFill rotWithShape="1">
          <a:blip r:embed="rId3">
            <a:alphaModFix/>
          </a:blip>
          <a:srcRect b="0" l="0" r="0" t="0"/>
          <a:stretch/>
        </p:blipFill>
        <p:spPr>
          <a:xfrm>
            <a:off x="1769192" y="1769039"/>
            <a:ext cx="9385200" cy="4375749"/>
          </a:xfrm>
          <a:prstGeom prst="rect">
            <a:avLst/>
          </a:prstGeom>
          <a:noFill/>
          <a:ln>
            <a:noFill/>
          </a:ln>
        </p:spPr>
      </p:pic>
      <p:sp>
        <p:nvSpPr>
          <p:cNvPr id="878" name="Google Shape;878;p55"/>
          <p:cNvSpPr txBox="1"/>
          <p:nvPr/>
        </p:nvSpPr>
        <p:spPr>
          <a:xfrm>
            <a:off x="1730000" y="1040700"/>
            <a:ext cx="969459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chemeClr val="dk1"/>
                </a:solidFill>
                <a:latin typeface="Calibri"/>
                <a:ea typeface="Calibri"/>
                <a:cs typeface="Calibri"/>
                <a:sym typeface="Calibri"/>
              </a:rPr>
              <a:t>Para realizar la adaptación de señales se deberá de conectar un terminal de la alimentación del sensor en el módulo de expansión del PLC, como se muestra en la figura:</a:t>
            </a:r>
            <a:endParaRPr sz="1400">
              <a:solidFill>
                <a:schemeClr val="dk1"/>
              </a:solidFill>
              <a:latin typeface="Times New Roman"/>
              <a:ea typeface="Times New Roman"/>
              <a:cs typeface="Times New Roman"/>
              <a:sym typeface="Times New Roman"/>
            </a:endParaRPr>
          </a:p>
        </p:txBody>
      </p:sp>
    </p:spTree>
  </p:cSld>
  <p:clrMapOvr>
    <a:masterClrMapping/>
  </p:clrMapOvr>
  <p:transition spd="slow">
    <p:push/>
  </p:transition>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2" name="Shape 882"/>
        <p:cNvGrpSpPr/>
        <p:nvPr/>
      </p:nvGrpSpPr>
      <p:grpSpPr>
        <a:xfrm>
          <a:off x="0" y="0"/>
          <a:ext cx="0" cy="0"/>
          <a:chOff x="0" y="0"/>
          <a:chExt cx="0" cy="0"/>
        </a:xfrm>
      </p:grpSpPr>
      <p:sp>
        <p:nvSpPr>
          <p:cNvPr id="883" name="Google Shape;883;p56"/>
          <p:cNvSpPr txBox="1"/>
          <p:nvPr>
            <p:ph idx="1" type="body"/>
          </p:nvPr>
        </p:nvSpPr>
        <p:spPr>
          <a:xfrm>
            <a:off x="1586303" y="644525"/>
            <a:ext cx="6546173" cy="5728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1600"/>
              </a:spcAft>
              <a:buClr>
                <a:schemeClr val="dk1"/>
              </a:buClr>
              <a:buSzPts val="1300"/>
              <a:buNone/>
            </a:pPr>
            <a:r>
              <a:rPr b="1" i="1" lang="es-BO" sz="1800" u="sng"/>
              <a:t>Pruebas de laboratorio del Sensor de Presión T PMC131 </a:t>
            </a:r>
            <a:endParaRPr/>
          </a:p>
        </p:txBody>
      </p:sp>
      <p:sp>
        <p:nvSpPr>
          <p:cNvPr id="884" name="Google Shape;884;p56"/>
          <p:cNvSpPr txBox="1"/>
          <p:nvPr>
            <p:ph idx="4294967295" type="body"/>
          </p:nvPr>
        </p:nvSpPr>
        <p:spPr>
          <a:xfrm>
            <a:off x="4899025" y="5180013"/>
            <a:ext cx="7292975" cy="1157287"/>
          </a:xfrm>
          <a:prstGeom prst="rect">
            <a:avLst/>
          </a:prstGeom>
          <a:noFill/>
          <a:ln>
            <a:noFill/>
          </a:ln>
        </p:spPr>
        <p:txBody>
          <a:bodyPr anchorCtr="0" anchor="t" bIns="121900" lIns="121900" spcFirstLastPara="1" rIns="121900" wrap="square" tIns="121900">
            <a:noAutofit/>
          </a:bodyPr>
          <a:lstStyle/>
          <a:p>
            <a:pPr indent="0" lvl="0" marL="0" rtl="0" algn="ctr">
              <a:spcBef>
                <a:spcPts val="320"/>
              </a:spcBef>
              <a:spcAft>
                <a:spcPts val="1600"/>
              </a:spcAft>
              <a:buClr>
                <a:schemeClr val="dk1"/>
              </a:buClr>
              <a:buSzPts val="1600"/>
              <a:buNone/>
            </a:pPr>
            <a:r>
              <a:rPr i="1" lang="es-BO" sz="1600"/>
              <a:t>Las pruebas de laboratorio nos indicaron que el sensor se encuentra mal calibrado y es por ello que en la adaptación de señales se realiza un ajuste para ajustar las mediciones realizadas</a:t>
            </a:r>
            <a:endParaRPr i="1" sz="1600"/>
          </a:p>
        </p:txBody>
      </p:sp>
      <p:pic>
        <p:nvPicPr>
          <p:cNvPr id="885" name="Google Shape;885;p56"/>
          <p:cNvPicPr preferRelativeResize="0"/>
          <p:nvPr/>
        </p:nvPicPr>
        <p:blipFill rotWithShape="1">
          <a:blip r:embed="rId3">
            <a:alphaModFix/>
          </a:blip>
          <a:srcRect b="0" l="30755" r="0" t="0"/>
          <a:stretch/>
        </p:blipFill>
        <p:spPr>
          <a:xfrm>
            <a:off x="4899024" y="1132658"/>
            <a:ext cx="6546173" cy="4133511"/>
          </a:xfrm>
          <a:prstGeom prst="rect">
            <a:avLst/>
          </a:prstGeom>
          <a:noFill/>
          <a:ln>
            <a:noFill/>
          </a:ln>
        </p:spPr>
      </p:pic>
      <p:sp>
        <p:nvSpPr>
          <p:cNvPr id="886" name="Google Shape;886;p56"/>
          <p:cNvSpPr txBox="1"/>
          <p:nvPr/>
        </p:nvSpPr>
        <p:spPr>
          <a:xfrm>
            <a:off x="1847528" y="1393464"/>
            <a:ext cx="9406241" cy="3786549"/>
          </a:xfrm>
          <a:prstGeom prst="rect">
            <a:avLst/>
          </a:prstGeom>
          <a:blipFill rotWithShape="1">
            <a:blip r:embed="rId4">
              <a:alphaModFix/>
            </a:blip>
            <a:stretch>
              <a:fillRect b="0" l="-517" r="-582" t="-965"/>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graphicFrame>
        <p:nvGraphicFramePr>
          <p:cNvPr id="887" name="Google Shape;887;p56"/>
          <p:cNvGraphicFramePr/>
          <p:nvPr/>
        </p:nvGraphicFramePr>
        <p:xfrm>
          <a:off x="1664470" y="1248463"/>
          <a:ext cx="3000000" cy="3000000"/>
        </p:xfrm>
        <a:graphic>
          <a:graphicData uri="http://schemas.openxmlformats.org/drawingml/2006/table">
            <a:tbl>
              <a:tblPr bandRow="1" firstCol="1" firstRow="1">
                <a:noFill/>
                <a:tableStyleId>{222A7E54-5182-43F9-A65E-7F61A87368E1}</a:tableStyleId>
              </a:tblPr>
              <a:tblGrid>
                <a:gridCol w="1028575"/>
                <a:gridCol w="741875"/>
                <a:gridCol w="1019850"/>
              </a:tblGrid>
              <a:tr h="657175">
                <a:tc>
                  <a:txBody>
                    <a:bodyPr/>
                    <a:lstStyle/>
                    <a:p>
                      <a:pPr indent="0" lvl="0" marL="0" marR="0" rtl="0" algn="ctr">
                        <a:spcBef>
                          <a:spcPts val="0"/>
                        </a:spcBef>
                        <a:spcAft>
                          <a:spcPts val="0"/>
                        </a:spcAft>
                        <a:buNone/>
                      </a:pPr>
                      <a:r>
                        <a:rPr b="0" lang="es-BO" sz="1800">
                          <a:solidFill>
                            <a:schemeClr val="dk1"/>
                          </a:solidFill>
                        </a:rPr>
                        <a:t>Corriente mA</a:t>
                      </a:r>
                      <a:endParaRPr b="0" sz="14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AE5F1"/>
                    </a:solidFill>
                  </a:tcPr>
                </a:tc>
                <a:tc>
                  <a:txBody>
                    <a:bodyPr/>
                    <a:lstStyle/>
                    <a:p>
                      <a:pPr indent="0" lvl="0" marL="0" marR="0" rtl="0" algn="ctr">
                        <a:spcBef>
                          <a:spcPts val="0"/>
                        </a:spcBef>
                        <a:spcAft>
                          <a:spcPts val="0"/>
                        </a:spcAft>
                        <a:buNone/>
                      </a:pPr>
                      <a:r>
                        <a:rPr b="0" lang="es-BO" sz="1800">
                          <a:solidFill>
                            <a:schemeClr val="dk1"/>
                          </a:solidFill>
                        </a:rPr>
                        <a:t>Altura cm</a:t>
                      </a:r>
                      <a:endParaRPr b="0" sz="14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AE5F1"/>
                    </a:solidFill>
                  </a:tcPr>
                </a:tc>
                <a:tc>
                  <a:txBody>
                    <a:bodyPr/>
                    <a:lstStyle/>
                    <a:p>
                      <a:pPr indent="0" lvl="0" marL="0" marR="0" rtl="0" algn="ctr">
                        <a:spcBef>
                          <a:spcPts val="0"/>
                        </a:spcBef>
                        <a:spcAft>
                          <a:spcPts val="0"/>
                        </a:spcAft>
                        <a:buNone/>
                      </a:pPr>
                      <a:r>
                        <a:rPr b="0" lang="es-BO" sz="1800">
                          <a:solidFill>
                            <a:schemeClr val="dk1"/>
                          </a:solidFill>
                        </a:rPr>
                        <a:t>Presión mbar</a:t>
                      </a:r>
                      <a:endParaRPr b="0" sz="14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AE5F1"/>
                    </a:solidFill>
                  </a:tcPr>
                </a:tc>
              </a:tr>
              <a:tr h="373400">
                <a:tc>
                  <a:txBody>
                    <a:bodyPr/>
                    <a:lstStyle/>
                    <a:p>
                      <a:pPr indent="0" lvl="0" marL="0" marR="0" rtl="0" algn="ctr">
                        <a:spcBef>
                          <a:spcPts val="0"/>
                        </a:spcBef>
                        <a:spcAft>
                          <a:spcPts val="0"/>
                        </a:spcAft>
                        <a:buNone/>
                      </a:pPr>
                      <a:r>
                        <a:rPr b="0" lang="es-BO" sz="1800">
                          <a:solidFill>
                            <a:schemeClr val="dk1"/>
                          </a:solidFill>
                        </a:rPr>
                        <a:t>3.9</a:t>
                      </a:r>
                      <a:endParaRPr b="0" sz="14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AE5F1"/>
                    </a:solidFill>
                  </a:tcPr>
                </a:tc>
                <a:tc>
                  <a:txBody>
                    <a:bodyPr/>
                    <a:lstStyle/>
                    <a:p>
                      <a:pPr indent="0" lvl="0" marL="0" marR="0" rtl="0" algn="ctr">
                        <a:spcBef>
                          <a:spcPts val="0"/>
                        </a:spcBef>
                        <a:spcAft>
                          <a:spcPts val="0"/>
                        </a:spcAft>
                        <a:buNone/>
                      </a:pPr>
                      <a:r>
                        <a:rPr b="0" lang="es-BO" sz="1800">
                          <a:solidFill>
                            <a:schemeClr val="dk1"/>
                          </a:solidFill>
                        </a:rPr>
                        <a:t>0</a:t>
                      </a:r>
                      <a:endParaRPr b="0" sz="14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AE5F1"/>
                    </a:solidFill>
                  </a:tcPr>
                </a:tc>
                <a:tc>
                  <a:txBody>
                    <a:bodyPr/>
                    <a:lstStyle/>
                    <a:p>
                      <a:pPr indent="0" lvl="0" marL="0" marR="0" rtl="0" algn="ctr">
                        <a:spcBef>
                          <a:spcPts val="0"/>
                        </a:spcBef>
                        <a:spcAft>
                          <a:spcPts val="0"/>
                        </a:spcAft>
                        <a:buNone/>
                      </a:pPr>
                      <a:r>
                        <a:rPr b="0" lang="es-BO" sz="1800">
                          <a:solidFill>
                            <a:schemeClr val="dk1"/>
                          </a:solidFill>
                        </a:rPr>
                        <a:t>0.00</a:t>
                      </a:r>
                      <a:endParaRPr b="0" sz="14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AE5F1"/>
                    </a:solidFill>
                  </a:tcPr>
                </a:tc>
              </a:tr>
              <a:tr h="373400">
                <a:tc>
                  <a:txBody>
                    <a:bodyPr/>
                    <a:lstStyle/>
                    <a:p>
                      <a:pPr indent="0" lvl="0" marL="0" marR="0" rtl="0" algn="ctr">
                        <a:spcBef>
                          <a:spcPts val="0"/>
                        </a:spcBef>
                        <a:spcAft>
                          <a:spcPts val="0"/>
                        </a:spcAft>
                        <a:buNone/>
                      </a:pPr>
                      <a:r>
                        <a:rPr b="0" lang="es-BO" sz="1800">
                          <a:solidFill>
                            <a:schemeClr val="dk1"/>
                          </a:solidFill>
                        </a:rPr>
                        <a:t>4</a:t>
                      </a:r>
                      <a:endParaRPr b="0" sz="14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s-BO" sz="1800">
                          <a:solidFill>
                            <a:schemeClr val="dk1"/>
                          </a:solidFill>
                        </a:rPr>
                        <a:t>5</a:t>
                      </a:r>
                      <a:endParaRPr b="0" sz="14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s-BO" sz="1800">
                          <a:solidFill>
                            <a:schemeClr val="dk1"/>
                          </a:solidFill>
                        </a:rPr>
                        <a:t>0.00</a:t>
                      </a:r>
                      <a:endParaRPr b="0" sz="14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73400">
                <a:tc>
                  <a:txBody>
                    <a:bodyPr/>
                    <a:lstStyle/>
                    <a:p>
                      <a:pPr indent="0" lvl="0" marL="0" marR="0" rtl="0" algn="ctr">
                        <a:spcBef>
                          <a:spcPts val="0"/>
                        </a:spcBef>
                        <a:spcAft>
                          <a:spcPts val="0"/>
                        </a:spcAft>
                        <a:buNone/>
                      </a:pPr>
                      <a:r>
                        <a:rPr b="0" lang="es-BO" sz="1800">
                          <a:solidFill>
                            <a:schemeClr val="dk1"/>
                          </a:solidFill>
                        </a:rPr>
                        <a:t>4.43</a:t>
                      </a:r>
                      <a:endParaRPr b="0" sz="14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s-BO" sz="1800">
                          <a:solidFill>
                            <a:schemeClr val="dk1"/>
                          </a:solidFill>
                        </a:rPr>
                        <a:t>10</a:t>
                      </a:r>
                      <a:endParaRPr b="0" sz="14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s-BO" sz="1800">
                          <a:solidFill>
                            <a:schemeClr val="dk1"/>
                          </a:solidFill>
                        </a:rPr>
                        <a:t>4.89</a:t>
                      </a:r>
                      <a:endParaRPr b="0" sz="14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73400">
                <a:tc>
                  <a:txBody>
                    <a:bodyPr/>
                    <a:lstStyle/>
                    <a:p>
                      <a:pPr indent="0" lvl="0" marL="0" marR="0" rtl="0" algn="ctr">
                        <a:spcBef>
                          <a:spcPts val="0"/>
                        </a:spcBef>
                        <a:spcAft>
                          <a:spcPts val="0"/>
                        </a:spcAft>
                        <a:buNone/>
                      </a:pPr>
                      <a:r>
                        <a:rPr b="0" lang="es-BO" sz="1800">
                          <a:solidFill>
                            <a:schemeClr val="dk1"/>
                          </a:solidFill>
                        </a:rPr>
                        <a:t>4.81</a:t>
                      </a:r>
                      <a:endParaRPr b="0" sz="14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s-BO" sz="1800">
                          <a:solidFill>
                            <a:schemeClr val="dk1"/>
                          </a:solidFill>
                        </a:rPr>
                        <a:t>15</a:t>
                      </a:r>
                      <a:endParaRPr b="0" sz="14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s-BO" sz="1800">
                          <a:solidFill>
                            <a:schemeClr val="dk1"/>
                          </a:solidFill>
                        </a:rPr>
                        <a:t>9.78</a:t>
                      </a:r>
                      <a:endParaRPr b="0" sz="14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73400">
                <a:tc>
                  <a:txBody>
                    <a:bodyPr/>
                    <a:lstStyle/>
                    <a:p>
                      <a:pPr indent="0" lvl="0" marL="0" marR="0" rtl="0" algn="ctr">
                        <a:spcBef>
                          <a:spcPts val="0"/>
                        </a:spcBef>
                        <a:spcAft>
                          <a:spcPts val="0"/>
                        </a:spcAft>
                        <a:buNone/>
                      </a:pPr>
                      <a:r>
                        <a:rPr b="0" lang="es-BO" sz="1800">
                          <a:solidFill>
                            <a:schemeClr val="dk1"/>
                          </a:solidFill>
                        </a:rPr>
                        <a:t>5.19</a:t>
                      </a:r>
                      <a:endParaRPr b="0" sz="14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s-BO" sz="1800">
                          <a:solidFill>
                            <a:schemeClr val="dk1"/>
                          </a:solidFill>
                        </a:rPr>
                        <a:t>20</a:t>
                      </a:r>
                      <a:endParaRPr b="0" sz="14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s-BO" sz="1800">
                          <a:solidFill>
                            <a:schemeClr val="dk1"/>
                          </a:solidFill>
                        </a:rPr>
                        <a:t>14.66</a:t>
                      </a:r>
                      <a:endParaRPr b="0" sz="14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73400">
                <a:tc>
                  <a:txBody>
                    <a:bodyPr/>
                    <a:lstStyle/>
                    <a:p>
                      <a:pPr indent="0" lvl="0" marL="0" marR="0" rtl="0" algn="ctr">
                        <a:spcBef>
                          <a:spcPts val="0"/>
                        </a:spcBef>
                        <a:spcAft>
                          <a:spcPts val="0"/>
                        </a:spcAft>
                        <a:buNone/>
                      </a:pPr>
                      <a:r>
                        <a:rPr b="0" lang="es-BO" sz="1800">
                          <a:solidFill>
                            <a:schemeClr val="dk1"/>
                          </a:solidFill>
                        </a:rPr>
                        <a:t>5.57</a:t>
                      </a:r>
                      <a:endParaRPr b="0" sz="14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s-BO" sz="1800">
                          <a:solidFill>
                            <a:schemeClr val="dk1"/>
                          </a:solidFill>
                        </a:rPr>
                        <a:t>25</a:t>
                      </a:r>
                      <a:endParaRPr b="0" sz="14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s-BO" sz="1800">
                          <a:solidFill>
                            <a:schemeClr val="dk1"/>
                          </a:solidFill>
                        </a:rPr>
                        <a:t>19.55</a:t>
                      </a:r>
                      <a:endParaRPr b="0" sz="14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73400">
                <a:tc>
                  <a:txBody>
                    <a:bodyPr/>
                    <a:lstStyle/>
                    <a:p>
                      <a:pPr indent="0" lvl="0" marL="0" marR="0" rtl="0" algn="ctr">
                        <a:spcBef>
                          <a:spcPts val="0"/>
                        </a:spcBef>
                        <a:spcAft>
                          <a:spcPts val="0"/>
                        </a:spcAft>
                        <a:buNone/>
                      </a:pPr>
                      <a:r>
                        <a:rPr b="0" lang="es-BO" sz="1800">
                          <a:solidFill>
                            <a:schemeClr val="dk1"/>
                          </a:solidFill>
                        </a:rPr>
                        <a:t>5.97</a:t>
                      </a:r>
                      <a:endParaRPr b="0" sz="14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s-BO" sz="1800">
                          <a:solidFill>
                            <a:schemeClr val="dk1"/>
                          </a:solidFill>
                        </a:rPr>
                        <a:t>30</a:t>
                      </a:r>
                      <a:endParaRPr b="0" sz="14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s-BO" sz="1800">
                          <a:solidFill>
                            <a:schemeClr val="dk1"/>
                          </a:solidFill>
                        </a:rPr>
                        <a:t>24.44</a:t>
                      </a:r>
                      <a:endParaRPr b="0" sz="14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73400">
                <a:tc>
                  <a:txBody>
                    <a:bodyPr/>
                    <a:lstStyle/>
                    <a:p>
                      <a:pPr indent="0" lvl="0" marL="0" marR="0" rtl="0" algn="ctr">
                        <a:spcBef>
                          <a:spcPts val="0"/>
                        </a:spcBef>
                        <a:spcAft>
                          <a:spcPts val="0"/>
                        </a:spcAft>
                        <a:buNone/>
                      </a:pPr>
                      <a:r>
                        <a:rPr b="0" lang="es-BO" sz="1800">
                          <a:solidFill>
                            <a:schemeClr val="dk1"/>
                          </a:solidFill>
                        </a:rPr>
                        <a:t>6.38</a:t>
                      </a:r>
                      <a:endParaRPr b="0" sz="14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s-BO" sz="1800">
                          <a:solidFill>
                            <a:schemeClr val="dk1"/>
                          </a:solidFill>
                        </a:rPr>
                        <a:t>35</a:t>
                      </a:r>
                      <a:endParaRPr b="0" sz="14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s-BO" sz="1800">
                          <a:solidFill>
                            <a:schemeClr val="dk1"/>
                          </a:solidFill>
                        </a:rPr>
                        <a:t>29.33</a:t>
                      </a:r>
                      <a:endParaRPr b="0" sz="14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73400">
                <a:tc>
                  <a:txBody>
                    <a:bodyPr/>
                    <a:lstStyle/>
                    <a:p>
                      <a:pPr indent="0" lvl="0" marL="0" marR="0" rtl="0" algn="ctr">
                        <a:spcBef>
                          <a:spcPts val="0"/>
                        </a:spcBef>
                        <a:spcAft>
                          <a:spcPts val="0"/>
                        </a:spcAft>
                        <a:buNone/>
                      </a:pPr>
                      <a:r>
                        <a:rPr b="0" lang="es-BO" sz="1800">
                          <a:solidFill>
                            <a:schemeClr val="dk1"/>
                          </a:solidFill>
                        </a:rPr>
                        <a:t>6.49</a:t>
                      </a:r>
                      <a:endParaRPr b="0" sz="14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s-BO" sz="1800">
                          <a:solidFill>
                            <a:schemeClr val="dk1"/>
                          </a:solidFill>
                        </a:rPr>
                        <a:t>36.5</a:t>
                      </a:r>
                      <a:endParaRPr b="0" sz="14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s-BO" sz="1800">
                          <a:solidFill>
                            <a:schemeClr val="dk1"/>
                          </a:solidFill>
                        </a:rPr>
                        <a:t>30.79</a:t>
                      </a:r>
                      <a:endParaRPr b="0" sz="14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886"/>
                                        </p:tgtEl>
                                      </p:cBhvr>
                                    </p:animEffect>
                                    <p:set>
                                      <p:cBhvr>
                                        <p:cTn dur="1" fill="hold">
                                          <p:stCondLst>
                                            <p:cond delay="500"/>
                                          </p:stCondLst>
                                        </p:cTn>
                                        <p:tgtEl>
                                          <p:spTgt spid="88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4">
                                            <p:txEl>
                                              <p:pRg end="0" st="0"/>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p57"/>
          <p:cNvSpPr txBox="1"/>
          <p:nvPr>
            <p:ph type="title"/>
          </p:nvPr>
        </p:nvSpPr>
        <p:spPr>
          <a:xfrm>
            <a:off x="1477109" y="500657"/>
            <a:ext cx="8770718" cy="567787"/>
          </a:xfrm>
          <a:prstGeom prst="rect">
            <a:avLst/>
          </a:prstGeom>
          <a:noFill/>
          <a:ln>
            <a:noFill/>
          </a:ln>
        </p:spPr>
        <p:txBody>
          <a:bodyPr anchorCtr="0" anchor="t" bIns="121900" lIns="121900" spcFirstLastPara="1" rIns="121900" wrap="square" tIns="121900">
            <a:normAutofit/>
          </a:bodyPr>
          <a:lstStyle/>
          <a:p>
            <a:pPr indent="0" lvl="0" marL="0" rtl="0" algn="l">
              <a:spcBef>
                <a:spcPts val="0"/>
              </a:spcBef>
              <a:spcAft>
                <a:spcPts val="0"/>
              </a:spcAft>
              <a:buClr>
                <a:schemeClr val="dk1"/>
              </a:buClr>
              <a:buSzPts val="990"/>
              <a:buFont typeface="Calibri"/>
              <a:buNone/>
            </a:pPr>
            <a:r>
              <a:rPr b="1" lang="es-BO" sz="1800">
                <a:latin typeface="Calibri"/>
                <a:ea typeface="Calibri"/>
                <a:cs typeface="Calibri"/>
                <a:sym typeface="Calibri"/>
              </a:rPr>
              <a:t>ELECTROVÁLVULAS “Burkert Type 6211”</a:t>
            </a:r>
            <a:endParaRPr sz="1800"/>
          </a:p>
        </p:txBody>
      </p:sp>
      <p:sp>
        <p:nvSpPr>
          <p:cNvPr id="893" name="Google Shape;893;p57"/>
          <p:cNvSpPr txBox="1"/>
          <p:nvPr>
            <p:ph idx="1" type="body"/>
          </p:nvPr>
        </p:nvSpPr>
        <p:spPr>
          <a:xfrm>
            <a:off x="1477109" y="941907"/>
            <a:ext cx="5022166" cy="2487093"/>
          </a:xfrm>
          <a:prstGeom prst="rect">
            <a:avLst/>
          </a:prstGeom>
          <a:noFill/>
          <a:ln>
            <a:noFill/>
          </a:ln>
        </p:spPr>
        <p:txBody>
          <a:bodyPr anchorCtr="0" anchor="t" bIns="121900" lIns="121900" spcFirstLastPara="1" rIns="121900" wrap="square" tIns="121900">
            <a:normAutofit lnSpcReduction="10000"/>
          </a:bodyPr>
          <a:lstStyle/>
          <a:p>
            <a:pPr indent="0" lvl="0" marL="0" rtl="0" algn="just">
              <a:spcBef>
                <a:spcPts val="1333"/>
              </a:spcBef>
              <a:spcAft>
                <a:spcPts val="0"/>
              </a:spcAft>
              <a:buClr>
                <a:schemeClr val="dk1"/>
              </a:buClr>
              <a:buSzPts val="1300"/>
              <a:buNone/>
            </a:pPr>
            <a:r>
              <a:rPr lang="es-BO" sz="1600">
                <a:latin typeface="Calibri"/>
                <a:ea typeface="Calibri"/>
                <a:cs typeface="Calibri"/>
                <a:sym typeface="Calibri"/>
              </a:rPr>
              <a:t>El sistema cuenta con dos electroválvulas de tipo solenoide, las cuales permiten el paso del líquido para el llenado del tanque superior, estas electroválvulas son normalmente cerradas.</a:t>
            </a:r>
            <a:endParaRPr sz="1600">
              <a:latin typeface="Calibri"/>
              <a:ea typeface="Calibri"/>
              <a:cs typeface="Calibri"/>
              <a:sym typeface="Calibri"/>
            </a:endParaRPr>
          </a:p>
          <a:p>
            <a:pPr indent="0" lvl="0" marL="0" rtl="0" algn="just">
              <a:spcBef>
                <a:spcPts val="1333"/>
              </a:spcBef>
              <a:spcAft>
                <a:spcPts val="0"/>
              </a:spcAft>
              <a:buClr>
                <a:schemeClr val="dk1"/>
              </a:buClr>
              <a:buSzPts val="1300"/>
              <a:buNone/>
            </a:pPr>
            <a:r>
              <a:rPr lang="es-BO" sz="1600">
                <a:latin typeface="Calibri"/>
                <a:ea typeface="Calibri"/>
                <a:cs typeface="Calibri"/>
                <a:sym typeface="Calibri"/>
              </a:rPr>
              <a:t>El tipo solenoide realiza la apertura y cierre de la válvula mediante la generación de un campo magnético, el cual contrae el émbolo dentro de la válvula para que este pase de un estado a otro.</a:t>
            </a:r>
            <a:endParaRPr sz="1600">
              <a:latin typeface="Calibri"/>
              <a:ea typeface="Calibri"/>
              <a:cs typeface="Calibri"/>
              <a:sym typeface="Calibri"/>
            </a:endParaRPr>
          </a:p>
          <a:p>
            <a:pPr indent="0" lvl="0" marL="0" rtl="0" algn="l">
              <a:spcBef>
                <a:spcPts val="0"/>
              </a:spcBef>
              <a:spcAft>
                <a:spcPts val="1600"/>
              </a:spcAft>
              <a:buClr>
                <a:schemeClr val="dk1"/>
              </a:buClr>
              <a:buSzPts val="1300"/>
              <a:buNone/>
            </a:pPr>
            <a:r>
              <a:t/>
            </a:r>
            <a:endParaRPr/>
          </a:p>
        </p:txBody>
      </p:sp>
      <p:pic>
        <p:nvPicPr>
          <p:cNvPr id="894" name="Google Shape;894;p57"/>
          <p:cNvPicPr preferRelativeResize="0"/>
          <p:nvPr/>
        </p:nvPicPr>
        <p:blipFill rotWithShape="1">
          <a:blip r:embed="rId3">
            <a:alphaModFix/>
          </a:blip>
          <a:srcRect b="0" l="0" r="0" t="0"/>
          <a:stretch/>
        </p:blipFill>
        <p:spPr>
          <a:xfrm>
            <a:off x="2821190" y="3605601"/>
            <a:ext cx="2144705" cy="2873520"/>
          </a:xfrm>
          <a:prstGeom prst="rect">
            <a:avLst/>
          </a:prstGeom>
          <a:noFill/>
          <a:ln>
            <a:noFill/>
          </a:ln>
        </p:spPr>
      </p:pic>
      <p:pic>
        <p:nvPicPr>
          <p:cNvPr id="895" name="Google Shape;895;p57"/>
          <p:cNvPicPr preferRelativeResize="0"/>
          <p:nvPr/>
        </p:nvPicPr>
        <p:blipFill rotWithShape="1">
          <a:blip r:embed="rId4">
            <a:alphaModFix/>
          </a:blip>
          <a:srcRect b="0" l="0" r="0" t="0"/>
          <a:stretch/>
        </p:blipFill>
        <p:spPr>
          <a:xfrm>
            <a:off x="1589500" y="4182358"/>
            <a:ext cx="4797232" cy="1846619"/>
          </a:xfrm>
          <a:prstGeom prst="rect">
            <a:avLst/>
          </a:prstGeom>
          <a:noFill/>
          <a:ln>
            <a:noFill/>
          </a:ln>
        </p:spPr>
      </p:pic>
      <p:sp>
        <p:nvSpPr>
          <p:cNvPr id="896" name="Google Shape;896;p57"/>
          <p:cNvSpPr txBox="1"/>
          <p:nvPr/>
        </p:nvSpPr>
        <p:spPr>
          <a:xfrm>
            <a:off x="6972192" y="3195742"/>
            <a:ext cx="4797233" cy="1846619"/>
          </a:xfrm>
          <a:prstGeom prst="rect">
            <a:avLst/>
          </a:prstGeom>
          <a:noFill/>
          <a:ln>
            <a:noFill/>
          </a:ln>
        </p:spPr>
        <p:txBody>
          <a:bodyPr anchorCtr="0" anchor="t" bIns="121900" lIns="121900" spcFirstLastPara="1" rIns="121900" wrap="square" tIns="121900">
            <a:spAutoFit/>
          </a:bodyPr>
          <a:lstStyle/>
          <a:p>
            <a:pPr indent="0" lvl="0" marL="0" marR="0" rtl="0" algn="just">
              <a:spcBef>
                <a:spcPts val="0"/>
              </a:spcBef>
              <a:spcAft>
                <a:spcPts val="0"/>
              </a:spcAft>
              <a:buNone/>
            </a:pPr>
            <a:r>
              <a:rPr lang="es-BO" sz="1600">
                <a:solidFill>
                  <a:schemeClr val="dk1"/>
                </a:solidFill>
                <a:latin typeface="Calibri"/>
                <a:ea typeface="Calibri"/>
                <a:cs typeface="Calibri"/>
                <a:sym typeface="Calibri"/>
              </a:rPr>
              <a:t>El control de activación se lo hace por medio de suministrar una tensión alterna de 230v a una frecuencia de 50 o 60 Hz. En las especificaciones se ve también la presión que este puede tolerar, siendo estas desde 0.5 a 10 [bar].</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Lato"/>
              <a:ea typeface="Lato"/>
              <a:cs typeface="Lato"/>
              <a:sym typeface="Lato"/>
            </a:endParaRPr>
          </a:p>
        </p:txBody>
      </p:sp>
      <p:pic>
        <p:nvPicPr>
          <p:cNvPr id="897" name="Google Shape;897;p57"/>
          <p:cNvPicPr preferRelativeResize="0"/>
          <p:nvPr/>
        </p:nvPicPr>
        <p:blipFill rotWithShape="1">
          <a:blip r:embed="rId5">
            <a:alphaModFix/>
          </a:blip>
          <a:srcRect b="0" l="0" r="0" t="0"/>
          <a:stretch/>
        </p:blipFill>
        <p:spPr>
          <a:xfrm>
            <a:off x="7672782" y="956771"/>
            <a:ext cx="3396054" cy="1989140"/>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894"/>
                                        </p:tgtEl>
                                      </p:cBhvr>
                                    </p:animEffect>
                                    <p:set>
                                      <p:cBhvr>
                                        <p:cTn dur="1" fill="hold">
                                          <p:stCondLst>
                                            <p:cond delay="500"/>
                                          </p:stCondLst>
                                        </p:cTn>
                                        <p:tgtEl>
                                          <p:spTgt spid="89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p58"/>
          <p:cNvSpPr txBox="1"/>
          <p:nvPr>
            <p:ph type="title"/>
          </p:nvPr>
        </p:nvSpPr>
        <p:spPr>
          <a:xfrm>
            <a:off x="1465600" y="819499"/>
            <a:ext cx="9494855" cy="541085"/>
          </a:xfrm>
          <a:prstGeom prst="rect">
            <a:avLst/>
          </a:prstGeom>
          <a:noFill/>
          <a:ln>
            <a:noFill/>
          </a:ln>
        </p:spPr>
        <p:txBody>
          <a:bodyPr anchorCtr="0" anchor="t" bIns="121900" lIns="121900" spcFirstLastPara="1" rIns="121900" wrap="square" tIns="121900">
            <a:normAutofit/>
          </a:bodyPr>
          <a:lstStyle/>
          <a:p>
            <a:pPr indent="0" lvl="0" marL="0" rtl="0" algn="ctr">
              <a:spcBef>
                <a:spcPts val="0"/>
              </a:spcBef>
              <a:spcAft>
                <a:spcPts val="0"/>
              </a:spcAft>
              <a:buClr>
                <a:srgbClr val="000000"/>
              </a:buClr>
              <a:buSzPts val="990"/>
              <a:buFont typeface="Calibri"/>
              <a:buNone/>
            </a:pPr>
            <a:r>
              <a:rPr b="1" lang="es-BO" sz="1800">
                <a:latin typeface="Calibri"/>
                <a:ea typeface="Calibri"/>
                <a:cs typeface="Calibri"/>
                <a:sym typeface="Calibri"/>
              </a:rPr>
              <a:t>UBICACIÓN EN EL SISTEMA</a:t>
            </a:r>
            <a:endParaRPr sz="1800"/>
          </a:p>
        </p:txBody>
      </p:sp>
      <p:sp>
        <p:nvSpPr>
          <p:cNvPr id="903" name="Google Shape;903;p58"/>
          <p:cNvSpPr txBox="1"/>
          <p:nvPr>
            <p:ph idx="1" type="body"/>
          </p:nvPr>
        </p:nvSpPr>
        <p:spPr>
          <a:xfrm>
            <a:off x="8637563" y="2574387"/>
            <a:ext cx="2912012" cy="3274963"/>
          </a:xfrm>
          <a:prstGeom prst="rect">
            <a:avLst/>
          </a:prstGeom>
          <a:noFill/>
          <a:ln>
            <a:noFill/>
          </a:ln>
        </p:spPr>
        <p:txBody>
          <a:bodyPr anchorCtr="0" anchor="t" bIns="121900" lIns="121900" spcFirstLastPara="1" rIns="121900" wrap="square" tIns="121900">
            <a:normAutofit/>
          </a:bodyPr>
          <a:lstStyle/>
          <a:p>
            <a:pPr indent="0" lvl="0" marL="0" rtl="0" algn="just">
              <a:spcBef>
                <a:spcPts val="0"/>
              </a:spcBef>
              <a:spcAft>
                <a:spcPts val="0"/>
              </a:spcAft>
              <a:buClr>
                <a:schemeClr val="dk1"/>
              </a:buClr>
              <a:buSzPts val="1300"/>
              <a:buNone/>
            </a:pPr>
            <a:r>
              <a:rPr lang="es-BO" sz="1600">
                <a:latin typeface="Calibri"/>
                <a:ea typeface="Calibri"/>
                <a:cs typeface="Calibri"/>
                <a:sym typeface="Calibri"/>
              </a:rPr>
              <a:t>Las electroválvulas son energizadas con tensión alterna de 230 VAC, dicha energía es producto de la salida a relé del PLC.</a:t>
            </a:r>
            <a:endParaRPr sz="1600">
              <a:latin typeface="Calibri"/>
              <a:ea typeface="Calibri"/>
              <a:cs typeface="Calibri"/>
              <a:sym typeface="Calibri"/>
            </a:endParaRPr>
          </a:p>
          <a:p>
            <a:pPr indent="0" lvl="0" marL="0" rtl="0" algn="just">
              <a:spcBef>
                <a:spcPts val="1600"/>
              </a:spcBef>
              <a:spcAft>
                <a:spcPts val="1600"/>
              </a:spcAft>
              <a:buClr>
                <a:schemeClr val="dk1"/>
              </a:buClr>
              <a:buSzPts val="1300"/>
              <a:buNone/>
            </a:pPr>
            <a:r>
              <a:rPr lang="es-BO" sz="1600">
                <a:latin typeface="Calibri"/>
                <a:ea typeface="Calibri"/>
                <a:cs typeface="Calibri"/>
                <a:sym typeface="Calibri"/>
              </a:rPr>
              <a:t>Esta y otras características se encuentran en su placa de especificaciones.</a:t>
            </a:r>
            <a:endParaRPr sz="1600">
              <a:latin typeface="Calibri"/>
              <a:ea typeface="Calibri"/>
              <a:cs typeface="Calibri"/>
              <a:sym typeface="Calibri"/>
            </a:endParaRPr>
          </a:p>
        </p:txBody>
      </p:sp>
      <p:pic>
        <p:nvPicPr>
          <p:cNvPr id="904" name="Google Shape;904;p58"/>
          <p:cNvPicPr preferRelativeResize="0"/>
          <p:nvPr/>
        </p:nvPicPr>
        <p:blipFill rotWithShape="1">
          <a:blip r:embed="rId3">
            <a:alphaModFix/>
          </a:blip>
          <a:srcRect b="0" l="0" r="0" t="0"/>
          <a:stretch/>
        </p:blipFill>
        <p:spPr>
          <a:xfrm>
            <a:off x="1578143" y="1454200"/>
            <a:ext cx="6701668" cy="4584301"/>
          </a:xfrm>
          <a:prstGeom prst="rect">
            <a:avLst/>
          </a:prstGeom>
          <a:noFill/>
          <a:ln>
            <a:noFill/>
          </a:ln>
        </p:spPr>
      </p:pic>
    </p:spTree>
  </p:cSld>
  <p:clrMapOvr>
    <a:masterClrMapping/>
  </p:clrMapOvr>
  <p:transition spd="slow">
    <p:push/>
  </p:transition>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8" name="Shape 908"/>
        <p:cNvGrpSpPr/>
        <p:nvPr/>
      </p:nvGrpSpPr>
      <p:grpSpPr>
        <a:xfrm>
          <a:off x="0" y="0"/>
          <a:ext cx="0" cy="0"/>
          <a:chOff x="0" y="0"/>
          <a:chExt cx="0" cy="0"/>
        </a:xfrm>
      </p:grpSpPr>
      <p:sp>
        <p:nvSpPr>
          <p:cNvPr id="909" name="Google Shape;909;p59"/>
          <p:cNvSpPr txBox="1"/>
          <p:nvPr>
            <p:ph type="title"/>
          </p:nvPr>
        </p:nvSpPr>
        <p:spPr>
          <a:xfrm>
            <a:off x="1403400" y="3140968"/>
            <a:ext cx="9385200" cy="1218800"/>
          </a:xfrm>
          <a:prstGeom prst="rect">
            <a:avLst/>
          </a:prstGeom>
          <a:noFill/>
          <a:ln>
            <a:noFill/>
          </a:ln>
        </p:spPr>
        <p:txBody>
          <a:bodyPr anchorCtr="0" anchor="t" bIns="91425" lIns="91425" spcFirstLastPara="1" rIns="91425" wrap="square" tIns="91425">
            <a:normAutofit/>
          </a:bodyPr>
          <a:lstStyle/>
          <a:p>
            <a:pPr indent="0" lvl="0" marL="0" rtl="0" algn="ctr">
              <a:spcBef>
                <a:spcPts val="0"/>
              </a:spcBef>
              <a:spcAft>
                <a:spcPts val="0"/>
              </a:spcAft>
              <a:buClr>
                <a:schemeClr val="dk1"/>
              </a:buClr>
              <a:buSzPts val="2400"/>
              <a:buFont typeface="Calibri"/>
              <a:buNone/>
            </a:pPr>
            <a:r>
              <a:rPr b="1" lang="es-BO" sz="3600"/>
              <a:t>CONTROLADORES</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4" name="Shape 914"/>
        <p:cNvGrpSpPr/>
        <p:nvPr/>
      </p:nvGrpSpPr>
      <p:grpSpPr>
        <a:xfrm>
          <a:off x="0" y="0"/>
          <a:ext cx="0" cy="0"/>
          <a:chOff x="0" y="0"/>
          <a:chExt cx="0" cy="0"/>
        </a:xfrm>
      </p:grpSpPr>
      <p:sp>
        <p:nvSpPr>
          <p:cNvPr id="915" name="Google Shape;915;p60"/>
          <p:cNvSpPr txBox="1"/>
          <p:nvPr>
            <p:ph type="title"/>
          </p:nvPr>
        </p:nvSpPr>
        <p:spPr>
          <a:xfrm>
            <a:off x="1846144" y="415336"/>
            <a:ext cx="5630416" cy="634082"/>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1800"/>
              <a:buFont typeface="Calibri"/>
              <a:buNone/>
            </a:pPr>
            <a:r>
              <a:rPr b="1" lang="es-BO" sz="1800"/>
              <a:t>Controlador Lógico Programable Micrologix 1100</a:t>
            </a:r>
            <a:endParaRPr/>
          </a:p>
        </p:txBody>
      </p:sp>
      <p:sp>
        <p:nvSpPr>
          <p:cNvPr id="916" name="Google Shape;916;p60"/>
          <p:cNvSpPr txBox="1"/>
          <p:nvPr>
            <p:ph idx="1" type="body"/>
          </p:nvPr>
        </p:nvSpPr>
        <p:spPr>
          <a:xfrm>
            <a:off x="1847528" y="1049418"/>
            <a:ext cx="8640960" cy="2595607"/>
          </a:xfrm>
          <a:prstGeom prst="rect">
            <a:avLst/>
          </a:prstGeom>
          <a:noFill/>
          <a:ln>
            <a:noFill/>
          </a:ln>
        </p:spPr>
        <p:txBody>
          <a:bodyPr anchorCtr="0" anchor="t" bIns="45700" lIns="91425" spcFirstLastPara="1" rIns="91425" wrap="square" tIns="45700">
            <a:normAutofit/>
          </a:bodyPr>
          <a:lstStyle/>
          <a:p>
            <a:pPr indent="0" lvl="0" marL="0" rtl="0" algn="l">
              <a:lnSpc>
                <a:spcPct val="150000"/>
              </a:lnSpc>
              <a:spcBef>
                <a:spcPts val="0"/>
              </a:spcBef>
              <a:spcAft>
                <a:spcPts val="0"/>
              </a:spcAft>
              <a:buClr>
                <a:schemeClr val="dk1"/>
              </a:buClr>
              <a:buSzPts val="1600"/>
              <a:buNone/>
            </a:pPr>
            <a:r>
              <a:rPr lang="es-BO" sz="1600"/>
              <a:t>Provisto de 10 entradas digitales de 24VDC, 6 salidas a relé, un puerto Ethernet para comunicaciones y con capacidad de soportar hasta 4 módulos de expansión de la serie 1762.</a:t>
            </a:r>
            <a:endParaRPr/>
          </a:p>
          <a:p>
            <a:pPr indent="0" lvl="0" marL="0" rtl="0" algn="l">
              <a:lnSpc>
                <a:spcPct val="150000"/>
              </a:lnSpc>
              <a:spcBef>
                <a:spcPts val="320"/>
              </a:spcBef>
              <a:spcAft>
                <a:spcPts val="0"/>
              </a:spcAft>
              <a:buClr>
                <a:schemeClr val="dk1"/>
              </a:buClr>
              <a:buSzPts val="1600"/>
              <a:buNone/>
            </a:pPr>
            <a:r>
              <a:rPr lang="es-BO" sz="1600"/>
              <a:t>Es capaz de suplir las necesidades de aplicación de control, mediante su programación con el software RSLogix.</a:t>
            </a:r>
            <a:endParaRPr/>
          </a:p>
          <a:p>
            <a:pPr indent="0" lvl="0" marL="0" rtl="0" algn="l">
              <a:lnSpc>
                <a:spcPct val="150000"/>
              </a:lnSpc>
              <a:spcBef>
                <a:spcPts val="320"/>
              </a:spcBef>
              <a:spcAft>
                <a:spcPts val="0"/>
              </a:spcAft>
              <a:buClr>
                <a:schemeClr val="dk1"/>
              </a:buClr>
              <a:buSzPts val="1600"/>
              <a:buNone/>
            </a:pPr>
            <a:r>
              <a:rPr lang="es-BO" sz="1600"/>
              <a:t>El uso principal que se le dio al PLC es como instrumento de medición de los sensores, adaptación de señales analógicas y la implementación del controlador PI.</a:t>
            </a:r>
            <a:endParaRPr/>
          </a:p>
        </p:txBody>
      </p:sp>
      <p:pic>
        <p:nvPicPr>
          <p:cNvPr id="917" name="Google Shape;917;p60"/>
          <p:cNvPicPr preferRelativeResize="0"/>
          <p:nvPr/>
        </p:nvPicPr>
        <p:blipFill rotWithShape="1">
          <a:blip r:embed="rId3">
            <a:alphaModFix/>
          </a:blip>
          <a:srcRect b="0" l="0" r="0" t="0"/>
          <a:stretch/>
        </p:blipFill>
        <p:spPr>
          <a:xfrm>
            <a:off x="3071664" y="3451840"/>
            <a:ext cx="2450711" cy="2642031"/>
          </a:xfrm>
          <a:prstGeom prst="rect">
            <a:avLst/>
          </a:prstGeom>
          <a:noFill/>
          <a:ln>
            <a:noFill/>
          </a:ln>
        </p:spPr>
      </p:pic>
      <p:pic>
        <p:nvPicPr>
          <p:cNvPr id="918" name="Google Shape;918;p60"/>
          <p:cNvPicPr preferRelativeResize="0"/>
          <p:nvPr/>
        </p:nvPicPr>
        <p:blipFill rotWithShape="1">
          <a:blip r:embed="rId4">
            <a:alphaModFix/>
          </a:blip>
          <a:srcRect b="0" l="17795" r="18933" t="0"/>
          <a:stretch/>
        </p:blipFill>
        <p:spPr>
          <a:xfrm>
            <a:off x="7028789" y="3429000"/>
            <a:ext cx="1737260" cy="2745729"/>
          </a:xfrm>
          <a:prstGeom prst="rect">
            <a:avLst/>
          </a:prstGeom>
          <a:noFill/>
          <a:ln>
            <a:noFill/>
          </a:ln>
        </p:spPr>
      </p:pic>
      <p:sp>
        <p:nvSpPr>
          <p:cNvPr id="919" name="Google Shape;919;p60"/>
          <p:cNvSpPr txBox="1"/>
          <p:nvPr/>
        </p:nvSpPr>
        <p:spPr>
          <a:xfrm>
            <a:off x="6816080" y="6093871"/>
            <a:ext cx="2450711"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s-BO" sz="1600" u="sng">
                <a:solidFill>
                  <a:schemeClr val="dk1"/>
                </a:solidFill>
                <a:latin typeface="Calibri"/>
                <a:ea typeface="Calibri"/>
                <a:cs typeface="Calibri"/>
                <a:sym typeface="Calibri"/>
              </a:rPr>
              <a:t>Módulo de Expansión Analógica</a:t>
            </a:r>
            <a:endParaRPr/>
          </a:p>
        </p:txBody>
      </p:sp>
      <p:sp>
        <p:nvSpPr>
          <p:cNvPr id="920" name="Google Shape;920;p60"/>
          <p:cNvSpPr txBox="1"/>
          <p:nvPr/>
        </p:nvSpPr>
        <p:spPr>
          <a:xfrm>
            <a:off x="3071168" y="6174729"/>
            <a:ext cx="2450711"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s-BO" sz="1600" u="sng">
                <a:solidFill>
                  <a:schemeClr val="dk1"/>
                </a:solidFill>
                <a:latin typeface="Calibri"/>
                <a:ea typeface="Calibri"/>
                <a:cs typeface="Calibri"/>
                <a:sym typeface="Calibri"/>
              </a:rPr>
              <a:t>PLC Micrologix 1100</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4" name="Shape 924"/>
        <p:cNvGrpSpPr/>
        <p:nvPr/>
      </p:nvGrpSpPr>
      <p:grpSpPr>
        <a:xfrm>
          <a:off x="0" y="0"/>
          <a:ext cx="0" cy="0"/>
          <a:chOff x="0" y="0"/>
          <a:chExt cx="0" cy="0"/>
        </a:xfrm>
      </p:grpSpPr>
      <p:sp>
        <p:nvSpPr>
          <p:cNvPr id="925" name="Google Shape;925;p61"/>
          <p:cNvSpPr txBox="1"/>
          <p:nvPr>
            <p:ph type="title"/>
          </p:nvPr>
        </p:nvSpPr>
        <p:spPr>
          <a:xfrm>
            <a:off x="1636913" y="421481"/>
            <a:ext cx="9385200" cy="445338"/>
          </a:xfrm>
          <a:prstGeom prst="rect">
            <a:avLst/>
          </a:prstGeom>
          <a:noFill/>
          <a:ln>
            <a:noFill/>
          </a:ln>
        </p:spPr>
        <p:txBody>
          <a:bodyPr anchorCtr="0" anchor="t" bIns="121900" lIns="121900" spcFirstLastPara="1" rIns="121900" wrap="square" tIns="121900">
            <a:normAutofit fontScale="90000"/>
          </a:bodyPr>
          <a:lstStyle/>
          <a:p>
            <a:pPr indent="0" lvl="0" marL="0" rtl="0" algn="l">
              <a:spcBef>
                <a:spcPts val="0"/>
              </a:spcBef>
              <a:spcAft>
                <a:spcPts val="0"/>
              </a:spcAft>
              <a:buClr>
                <a:schemeClr val="dk1"/>
              </a:buClr>
              <a:buSzPct val="148148"/>
              <a:buFont typeface="Calibri"/>
              <a:buNone/>
            </a:pPr>
            <a:r>
              <a:rPr b="1" lang="es-BO" sz="1800"/>
              <a:t>CONTROLADOR DE TEMPERATURA</a:t>
            </a:r>
            <a:endParaRPr b="1" sz="1800"/>
          </a:p>
        </p:txBody>
      </p:sp>
      <p:sp>
        <p:nvSpPr>
          <p:cNvPr id="926" name="Google Shape;926;p61"/>
          <p:cNvSpPr txBox="1"/>
          <p:nvPr>
            <p:ph idx="1" type="body"/>
          </p:nvPr>
        </p:nvSpPr>
        <p:spPr>
          <a:xfrm>
            <a:off x="1599920" y="922183"/>
            <a:ext cx="4955121" cy="1576136"/>
          </a:xfrm>
          <a:prstGeom prst="rect">
            <a:avLst/>
          </a:prstGeom>
          <a:solidFill>
            <a:schemeClr val="lt1"/>
          </a:solidFill>
          <a:ln>
            <a:noFill/>
          </a:ln>
        </p:spPr>
        <p:txBody>
          <a:bodyPr anchorCtr="0" anchor="t" bIns="121900" lIns="121900" spcFirstLastPara="1" rIns="121900" wrap="square" tIns="121900">
            <a:noAutofit/>
          </a:bodyPr>
          <a:lstStyle/>
          <a:p>
            <a:pPr indent="0" lvl="0" marL="0" rtl="0" algn="just">
              <a:lnSpc>
                <a:spcPct val="80000"/>
              </a:lnSpc>
              <a:spcBef>
                <a:spcPts val="600"/>
              </a:spcBef>
              <a:spcAft>
                <a:spcPts val="0"/>
              </a:spcAft>
              <a:buClr>
                <a:schemeClr val="dk1"/>
              </a:buClr>
              <a:buSzPts val="1300"/>
              <a:buNone/>
            </a:pPr>
            <a:r>
              <a:rPr b="1" i="1" lang="es-BO" sz="1600" u="sng"/>
              <a:t>Principio de funcionamiento </a:t>
            </a:r>
            <a:endParaRPr/>
          </a:p>
          <a:p>
            <a:pPr indent="0" lvl="0" marL="0" rtl="0" algn="just">
              <a:lnSpc>
                <a:spcPct val="80000"/>
              </a:lnSpc>
              <a:spcBef>
                <a:spcPts val="1200"/>
              </a:spcBef>
              <a:spcAft>
                <a:spcPts val="600"/>
              </a:spcAft>
              <a:buClr>
                <a:schemeClr val="dk1"/>
              </a:buClr>
              <a:buSzPts val="1300"/>
              <a:buNone/>
            </a:pPr>
            <a:r>
              <a:rPr lang="es-BO" sz="1600"/>
              <a:t>Un controlador de temperatura compara  la magnitud de la variable que se desea controlar enviada por el transmisor con el valor del set point (nivel de referencia). El controlador se encarga de aplicar las correcciones para mantener la señal en el valor deseado</a:t>
            </a:r>
            <a:endParaRPr/>
          </a:p>
        </p:txBody>
      </p:sp>
      <p:pic>
        <p:nvPicPr>
          <p:cNvPr id="927" name="Google Shape;927;p61"/>
          <p:cNvPicPr preferRelativeResize="0"/>
          <p:nvPr/>
        </p:nvPicPr>
        <p:blipFill rotWithShape="1">
          <a:blip r:embed="rId3">
            <a:alphaModFix/>
          </a:blip>
          <a:srcRect b="45615" l="15010" r="7852" t="19506"/>
          <a:stretch/>
        </p:blipFill>
        <p:spPr>
          <a:xfrm>
            <a:off x="2050301" y="3215903"/>
            <a:ext cx="2482532" cy="2566632"/>
          </a:xfrm>
          <a:prstGeom prst="rect">
            <a:avLst/>
          </a:prstGeom>
          <a:noFill/>
          <a:ln>
            <a:noFill/>
          </a:ln>
        </p:spPr>
      </p:pic>
      <p:pic>
        <p:nvPicPr>
          <p:cNvPr id="928" name="Google Shape;928;p61"/>
          <p:cNvPicPr preferRelativeResize="0"/>
          <p:nvPr/>
        </p:nvPicPr>
        <p:blipFill rotWithShape="1">
          <a:blip r:embed="rId4">
            <a:alphaModFix/>
          </a:blip>
          <a:srcRect b="0" l="0" r="0" t="3175"/>
          <a:stretch/>
        </p:blipFill>
        <p:spPr>
          <a:xfrm>
            <a:off x="4989635" y="3574084"/>
            <a:ext cx="7202365" cy="2566633"/>
          </a:xfrm>
          <a:prstGeom prst="rect">
            <a:avLst/>
          </a:prstGeom>
          <a:noFill/>
          <a:ln>
            <a:noFill/>
          </a:ln>
        </p:spPr>
      </p:pic>
      <p:sp>
        <p:nvSpPr>
          <p:cNvPr id="929" name="Google Shape;929;p61"/>
          <p:cNvSpPr txBox="1"/>
          <p:nvPr/>
        </p:nvSpPr>
        <p:spPr>
          <a:xfrm>
            <a:off x="1817067" y="5880701"/>
            <a:ext cx="2308400" cy="615513"/>
          </a:xfrm>
          <a:prstGeom prst="rect">
            <a:avLst/>
          </a:prstGeom>
          <a:noFill/>
          <a:ln>
            <a:noFill/>
          </a:ln>
        </p:spPr>
        <p:txBody>
          <a:bodyPr anchorCtr="0" anchor="t" bIns="121900" lIns="121900" spcFirstLastPara="1" rIns="121900" wrap="square" tIns="121900">
            <a:spAutoFit/>
          </a:bodyPr>
          <a:lstStyle/>
          <a:p>
            <a:pPr indent="0" lvl="0" marL="0" marR="0" rtl="0" algn="ctr">
              <a:spcBef>
                <a:spcPts val="0"/>
              </a:spcBef>
              <a:spcAft>
                <a:spcPts val="0"/>
              </a:spcAft>
              <a:buNone/>
            </a:pPr>
            <a:r>
              <a:rPr lang="es-BO" sz="2400">
                <a:solidFill>
                  <a:schemeClr val="lt1"/>
                </a:solidFill>
                <a:latin typeface="Lato"/>
                <a:ea typeface="Lato"/>
                <a:cs typeface="Lato"/>
                <a:sym typeface="Lato"/>
              </a:rPr>
              <a:t>Parte frontal</a:t>
            </a:r>
            <a:endParaRPr sz="2400">
              <a:solidFill>
                <a:schemeClr val="lt1"/>
              </a:solidFill>
              <a:latin typeface="Lato"/>
              <a:ea typeface="Lato"/>
              <a:cs typeface="Lato"/>
              <a:sym typeface="Lato"/>
            </a:endParaRPr>
          </a:p>
        </p:txBody>
      </p:sp>
      <p:sp>
        <p:nvSpPr>
          <p:cNvPr id="930" name="Google Shape;930;p61"/>
          <p:cNvSpPr txBox="1"/>
          <p:nvPr/>
        </p:nvSpPr>
        <p:spPr>
          <a:xfrm>
            <a:off x="7032104" y="6004221"/>
            <a:ext cx="3549664" cy="615512"/>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6000"/>
              </a:lnSpc>
              <a:spcBef>
                <a:spcPts val="0"/>
              </a:spcBef>
              <a:spcAft>
                <a:spcPts val="0"/>
              </a:spcAft>
              <a:buNone/>
            </a:pPr>
            <a:r>
              <a:rPr i="1" lang="es-BO" sz="1600">
                <a:solidFill>
                  <a:srgbClr val="333333"/>
                </a:solidFill>
                <a:latin typeface="Calibri"/>
                <a:ea typeface="Calibri"/>
                <a:cs typeface="Calibri"/>
                <a:sym typeface="Calibri"/>
              </a:rPr>
              <a:t>Entradas y salidas del controlador de temperatura</a:t>
            </a:r>
            <a:endParaRPr sz="1600">
              <a:solidFill>
                <a:schemeClr val="dk1"/>
              </a:solidFill>
              <a:latin typeface="Times New Roman"/>
              <a:ea typeface="Times New Roman"/>
              <a:cs typeface="Times New Roman"/>
              <a:sym typeface="Times New Roman"/>
            </a:endParaRPr>
          </a:p>
        </p:txBody>
      </p:sp>
      <p:sp>
        <p:nvSpPr>
          <p:cNvPr id="931" name="Google Shape;931;p61"/>
          <p:cNvSpPr txBox="1"/>
          <p:nvPr/>
        </p:nvSpPr>
        <p:spPr>
          <a:xfrm>
            <a:off x="2050301" y="5981840"/>
            <a:ext cx="2527633" cy="615512"/>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i="1" lang="es-BO" sz="1600">
                <a:solidFill>
                  <a:srgbClr val="333333"/>
                </a:solidFill>
                <a:latin typeface="Calibri"/>
                <a:ea typeface="Calibri"/>
                <a:cs typeface="Calibri"/>
                <a:sym typeface="Calibri"/>
              </a:rPr>
              <a:t>Parte frontal del controlador de temperatura</a:t>
            </a:r>
            <a:endParaRPr sz="1200">
              <a:solidFill>
                <a:schemeClr val="dk1"/>
              </a:solidFill>
              <a:latin typeface="Times New Roman"/>
              <a:ea typeface="Times New Roman"/>
              <a:cs typeface="Times New Roman"/>
              <a:sym typeface="Times New Roman"/>
            </a:endParaRPr>
          </a:p>
        </p:txBody>
      </p:sp>
      <p:sp>
        <p:nvSpPr>
          <p:cNvPr id="932" name="Google Shape;932;p61"/>
          <p:cNvSpPr txBox="1"/>
          <p:nvPr/>
        </p:nvSpPr>
        <p:spPr>
          <a:xfrm>
            <a:off x="6655509" y="954291"/>
            <a:ext cx="5155374" cy="2360458"/>
          </a:xfrm>
          <a:prstGeom prst="rect">
            <a:avLst/>
          </a:prstGeom>
          <a:solidFill>
            <a:schemeClr val="lt1"/>
          </a:solidFill>
          <a:ln>
            <a:noFill/>
          </a:ln>
        </p:spPr>
        <p:txBody>
          <a:bodyPr anchorCtr="0" anchor="t" bIns="121900" lIns="121900" spcFirstLastPara="1" rIns="121900" wrap="square" tIns="121900">
            <a:noAutofit/>
          </a:bodyPr>
          <a:lstStyle/>
          <a:p>
            <a:pPr indent="0" lvl="0" marL="0" marR="0" rtl="0" algn="just">
              <a:lnSpc>
                <a:spcPct val="80000"/>
              </a:lnSpc>
              <a:spcBef>
                <a:spcPts val="600"/>
              </a:spcBef>
              <a:spcAft>
                <a:spcPts val="0"/>
              </a:spcAft>
              <a:buClr>
                <a:schemeClr val="dk1"/>
              </a:buClr>
              <a:buSzPts val="1300"/>
              <a:buFont typeface="Arial"/>
              <a:buNone/>
            </a:pPr>
            <a:r>
              <a:rPr b="1" i="1" lang="es-BO" sz="1600" u="sng">
                <a:solidFill>
                  <a:schemeClr val="dk1"/>
                </a:solidFill>
                <a:latin typeface="Calibri"/>
                <a:ea typeface="Calibri"/>
                <a:cs typeface="Calibri"/>
                <a:sym typeface="Calibri"/>
              </a:rPr>
              <a:t>Características </a:t>
            </a:r>
            <a:endParaRPr/>
          </a:p>
          <a:p>
            <a:pPr indent="-285750" lvl="0" marL="285750" marR="0" rtl="0" algn="just">
              <a:lnSpc>
                <a:spcPct val="80000"/>
              </a:lnSpc>
              <a:spcBef>
                <a:spcPts val="600"/>
              </a:spcBef>
              <a:spcAft>
                <a:spcPts val="0"/>
              </a:spcAft>
              <a:buClr>
                <a:schemeClr val="dk1"/>
              </a:buClr>
              <a:buSzPts val="1300"/>
              <a:buFont typeface="Noto Sans Symbols"/>
              <a:buChar char="⮚"/>
            </a:pPr>
            <a:r>
              <a:rPr lang="es-BO" sz="1600">
                <a:solidFill>
                  <a:schemeClr val="dk1"/>
                </a:solidFill>
                <a:latin typeface="Calibri"/>
                <a:ea typeface="Calibri"/>
                <a:cs typeface="Calibri"/>
                <a:sym typeface="Calibri"/>
              </a:rPr>
              <a:t>Voltaje de suministro: 110 - 240 VCA</a:t>
            </a:r>
            <a:endParaRPr/>
          </a:p>
          <a:p>
            <a:pPr indent="-285750" lvl="0" marL="285750" marR="0" rtl="0" algn="just">
              <a:lnSpc>
                <a:spcPct val="80000"/>
              </a:lnSpc>
              <a:spcBef>
                <a:spcPts val="0"/>
              </a:spcBef>
              <a:spcAft>
                <a:spcPts val="0"/>
              </a:spcAft>
              <a:buClr>
                <a:schemeClr val="dk1"/>
              </a:buClr>
              <a:buSzPts val="1300"/>
              <a:buFont typeface="Noto Sans Symbols"/>
              <a:buChar char="⮚"/>
            </a:pPr>
            <a:r>
              <a:rPr lang="es-BO" sz="1600">
                <a:solidFill>
                  <a:schemeClr val="dk1"/>
                </a:solidFill>
                <a:latin typeface="Calibri"/>
                <a:ea typeface="Calibri"/>
                <a:cs typeface="Calibri"/>
                <a:sym typeface="Calibri"/>
              </a:rPr>
              <a:t>Frecuencia operativa: 50 – 60 Hz</a:t>
            </a:r>
            <a:endParaRPr/>
          </a:p>
          <a:p>
            <a:pPr indent="-285750" lvl="0" marL="285750" marR="0" rtl="0" algn="just">
              <a:lnSpc>
                <a:spcPct val="80000"/>
              </a:lnSpc>
              <a:spcBef>
                <a:spcPts val="0"/>
              </a:spcBef>
              <a:spcAft>
                <a:spcPts val="0"/>
              </a:spcAft>
              <a:buClr>
                <a:schemeClr val="dk1"/>
              </a:buClr>
              <a:buSzPts val="1300"/>
              <a:buFont typeface="Noto Sans Symbols"/>
              <a:buChar char="⮚"/>
            </a:pPr>
            <a:r>
              <a:rPr lang="es-BO" sz="1600">
                <a:solidFill>
                  <a:schemeClr val="dk1"/>
                </a:solidFill>
                <a:latin typeface="Calibri"/>
                <a:ea typeface="Calibri"/>
                <a:cs typeface="Calibri"/>
                <a:sym typeface="Calibri"/>
              </a:rPr>
              <a:t>Entrada de voltaje analógico: 1 a 5 Vcc, 0 a 5 Vcc y 0 a 10 Vcc</a:t>
            </a:r>
            <a:endParaRPr sz="1600">
              <a:solidFill>
                <a:schemeClr val="dk1"/>
              </a:solidFill>
              <a:latin typeface="Calibri"/>
              <a:ea typeface="Calibri"/>
              <a:cs typeface="Calibri"/>
              <a:sym typeface="Calibri"/>
            </a:endParaRPr>
          </a:p>
          <a:p>
            <a:pPr indent="-285750" lvl="0" marL="285750" marR="0" rtl="0" algn="just">
              <a:lnSpc>
                <a:spcPct val="80000"/>
              </a:lnSpc>
              <a:spcBef>
                <a:spcPts val="0"/>
              </a:spcBef>
              <a:spcAft>
                <a:spcPts val="0"/>
              </a:spcAft>
              <a:buClr>
                <a:schemeClr val="dk1"/>
              </a:buClr>
              <a:buSzPts val="1300"/>
              <a:buFont typeface="Noto Sans Symbols"/>
              <a:buChar char="⮚"/>
            </a:pPr>
            <a:r>
              <a:rPr lang="es-BO" sz="1600">
                <a:solidFill>
                  <a:schemeClr val="dk1"/>
                </a:solidFill>
                <a:latin typeface="Calibri"/>
                <a:ea typeface="Calibri"/>
                <a:cs typeface="Calibri"/>
                <a:sym typeface="Calibri"/>
              </a:rPr>
              <a:t> Entrada de corriente analógico: 4 a 20 mA y 0 a 20 mA</a:t>
            </a:r>
            <a:endParaRPr/>
          </a:p>
          <a:p>
            <a:pPr indent="0" lvl="0" marL="0" marR="0" rtl="0" algn="just">
              <a:lnSpc>
                <a:spcPct val="80000"/>
              </a:lnSpc>
              <a:spcBef>
                <a:spcPts val="600"/>
              </a:spcBef>
              <a:spcAft>
                <a:spcPts val="600"/>
              </a:spcAft>
              <a:buClr>
                <a:schemeClr val="dk1"/>
              </a:buClr>
              <a:buSzPts val="1300"/>
              <a:buFont typeface="Arial"/>
              <a:buNone/>
            </a:pPr>
            <a:r>
              <a:rPr lang="es-BO" sz="1600">
                <a:solidFill>
                  <a:schemeClr val="dk1"/>
                </a:solidFill>
                <a:latin typeface="Calibri"/>
                <a:ea typeface="Calibri"/>
                <a:cs typeface="Calibri"/>
                <a:sym typeface="Calibri"/>
              </a:rPr>
              <a:t>Este controlador tiene la característica de aceptar distintos modelos de sensores de temperatura, casi todas las termocuplas del mercado, RTD's, termosensores y entrada analógica de corriente y voltaje. </a:t>
            </a:r>
            <a:endParaRPr sz="1600">
              <a:solidFill>
                <a:schemeClr val="dk1"/>
              </a:solidFill>
              <a:latin typeface="Calibri"/>
              <a:ea typeface="Calibri"/>
              <a:cs typeface="Calibri"/>
              <a:sym typeface="Calibri"/>
            </a:endParaRPr>
          </a:p>
        </p:txBody>
      </p:sp>
    </p:spTree>
  </p:cSld>
  <p:clrMapOvr>
    <a:masterClrMapping/>
  </p:clrMapOvr>
  <p:transition spd="slow">
    <p:push/>
  </p:transition>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pic>
        <p:nvPicPr>
          <p:cNvPr id="937" name="Google Shape;937;p62"/>
          <p:cNvPicPr preferRelativeResize="0"/>
          <p:nvPr/>
        </p:nvPicPr>
        <p:blipFill rotWithShape="1">
          <a:blip r:embed="rId3">
            <a:alphaModFix/>
          </a:blip>
          <a:srcRect b="0" l="0" r="0" t="0"/>
          <a:stretch/>
        </p:blipFill>
        <p:spPr>
          <a:xfrm>
            <a:off x="2470107" y="1170210"/>
            <a:ext cx="8107987" cy="4746099"/>
          </a:xfrm>
          <a:prstGeom prst="rect">
            <a:avLst/>
          </a:prstGeom>
          <a:noFill/>
          <a:ln>
            <a:noFill/>
          </a:ln>
        </p:spPr>
      </p:pic>
      <p:sp>
        <p:nvSpPr>
          <p:cNvPr id="938" name="Google Shape;938;p62"/>
          <p:cNvSpPr txBox="1"/>
          <p:nvPr/>
        </p:nvSpPr>
        <p:spPr>
          <a:xfrm>
            <a:off x="1530905" y="1413062"/>
            <a:ext cx="5611457" cy="3724096"/>
          </a:xfrm>
          <a:prstGeom prst="rect">
            <a:avLst/>
          </a:prstGeom>
          <a:noFill/>
          <a:ln>
            <a:noFill/>
          </a:ln>
        </p:spPr>
        <p:txBody>
          <a:bodyPr anchorCtr="0" anchor="t" bIns="45700" lIns="91425" spcFirstLastPara="1" rIns="91425" wrap="square" tIns="45700">
            <a:spAutoFit/>
          </a:bodyPr>
          <a:lstStyle/>
          <a:p>
            <a:pPr indent="-342900" lvl="0" marL="342900" marR="0" rtl="0" algn="just">
              <a:spcBef>
                <a:spcPts val="0"/>
              </a:spcBef>
              <a:spcAft>
                <a:spcPts val="0"/>
              </a:spcAft>
              <a:buClr>
                <a:srgbClr val="000000"/>
              </a:buClr>
              <a:buSzPts val="1800"/>
              <a:buFont typeface="Calibri"/>
              <a:buAutoNum type="arabicPeriod"/>
            </a:pPr>
            <a:r>
              <a:rPr lang="es-BO" sz="1800">
                <a:solidFill>
                  <a:srgbClr val="000000"/>
                </a:solidFill>
                <a:latin typeface="Calibri"/>
                <a:ea typeface="Calibri"/>
                <a:cs typeface="Calibri"/>
                <a:sym typeface="Calibri"/>
              </a:rPr>
              <a:t>Energizar el sistema</a:t>
            </a:r>
            <a:endParaRPr sz="1400">
              <a:solidFill>
                <a:schemeClr val="dk1"/>
              </a:solidFill>
              <a:latin typeface="Times New Roman"/>
              <a:ea typeface="Times New Roman"/>
              <a:cs typeface="Times New Roman"/>
              <a:sym typeface="Times New Roman"/>
            </a:endParaRPr>
          </a:p>
          <a:p>
            <a:pPr indent="-342900" lvl="0" marL="342900" marR="0" rtl="0" algn="just">
              <a:spcBef>
                <a:spcPts val="1200"/>
              </a:spcBef>
              <a:spcAft>
                <a:spcPts val="0"/>
              </a:spcAft>
              <a:buClr>
                <a:srgbClr val="333333"/>
              </a:buClr>
              <a:buSzPts val="1800"/>
              <a:buFont typeface="Calibri"/>
              <a:buAutoNum type="arabicPeriod"/>
            </a:pPr>
            <a:r>
              <a:rPr lang="es-BO" sz="1800">
                <a:solidFill>
                  <a:srgbClr val="333333"/>
                </a:solidFill>
                <a:latin typeface="Calibri"/>
                <a:ea typeface="Calibri"/>
                <a:cs typeface="Calibri"/>
                <a:sym typeface="Calibri"/>
              </a:rPr>
              <a:t>Se debe presionar el primer botón </a:t>
            </a:r>
            <a:r>
              <a:rPr b="1" i="1" lang="es-BO" sz="1800">
                <a:solidFill>
                  <a:srgbClr val="333333"/>
                </a:solidFill>
                <a:latin typeface="Calibri"/>
                <a:ea typeface="Calibri"/>
                <a:cs typeface="Calibri"/>
                <a:sym typeface="Calibri"/>
              </a:rPr>
              <a:t>Figura1-1</a:t>
            </a:r>
            <a:r>
              <a:rPr lang="es-BO" sz="1800">
                <a:solidFill>
                  <a:srgbClr val="333333"/>
                </a:solidFill>
                <a:latin typeface="Calibri"/>
                <a:ea typeface="Calibri"/>
                <a:cs typeface="Calibri"/>
                <a:sym typeface="Calibri"/>
              </a:rPr>
              <a:t>, que es de selección de grupo, por cuatro de segundos y en la primera opción iN-t </a:t>
            </a:r>
            <a:r>
              <a:rPr b="1" i="1" lang="es-BO" sz="1800">
                <a:solidFill>
                  <a:srgbClr val="333333"/>
                </a:solidFill>
                <a:latin typeface="Calibri"/>
                <a:ea typeface="Calibri"/>
                <a:cs typeface="Calibri"/>
                <a:sym typeface="Calibri"/>
              </a:rPr>
              <a:t>Figura1-2</a:t>
            </a:r>
            <a:r>
              <a:rPr lang="es-BO" sz="1800">
                <a:solidFill>
                  <a:srgbClr val="333333"/>
                </a:solidFill>
                <a:latin typeface="Calibri"/>
                <a:ea typeface="Calibri"/>
                <a:cs typeface="Calibri"/>
                <a:sym typeface="Calibri"/>
              </a:rPr>
              <a:t> seleccionar el número (con la tecla arriba o abajo)</a:t>
            </a:r>
            <a:endParaRPr sz="1400">
              <a:solidFill>
                <a:schemeClr val="dk1"/>
              </a:solidFill>
              <a:latin typeface="Times New Roman"/>
              <a:ea typeface="Times New Roman"/>
              <a:cs typeface="Times New Roman"/>
              <a:sym typeface="Times New Roman"/>
            </a:endParaRPr>
          </a:p>
          <a:p>
            <a:pPr indent="-169862" lvl="0" marL="534988" marR="0" rtl="0" algn="just">
              <a:spcBef>
                <a:spcPts val="0"/>
              </a:spcBef>
              <a:spcAft>
                <a:spcPts val="0"/>
              </a:spcAft>
              <a:buClr>
                <a:srgbClr val="333333"/>
              </a:buClr>
              <a:buSzPts val="1800"/>
              <a:buFont typeface="Arial"/>
              <a:buChar char="•"/>
            </a:pPr>
            <a:r>
              <a:rPr lang="es-BO" sz="1800">
                <a:solidFill>
                  <a:srgbClr val="333333"/>
                </a:solidFill>
                <a:latin typeface="Calibri"/>
                <a:ea typeface="Calibri"/>
                <a:cs typeface="Calibri"/>
                <a:sym typeface="Calibri"/>
              </a:rPr>
              <a:t>Numero 1 para el sensor de temperatura RTD</a:t>
            </a:r>
            <a:endParaRPr sz="1400">
              <a:solidFill>
                <a:schemeClr val="dk1"/>
              </a:solidFill>
              <a:latin typeface="Times New Roman"/>
              <a:ea typeface="Times New Roman"/>
              <a:cs typeface="Times New Roman"/>
              <a:sym typeface="Times New Roman"/>
            </a:endParaRPr>
          </a:p>
          <a:p>
            <a:pPr indent="-169862" lvl="0" marL="534988" marR="0" rtl="0" algn="just">
              <a:spcBef>
                <a:spcPts val="0"/>
              </a:spcBef>
              <a:spcAft>
                <a:spcPts val="0"/>
              </a:spcAft>
              <a:buClr>
                <a:srgbClr val="333333"/>
              </a:buClr>
              <a:buSzPts val="1800"/>
              <a:buFont typeface="Arial"/>
              <a:buChar char="•"/>
            </a:pPr>
            <a:r>
              <a:rPr lang="es-BO" sz="1800">
                <a:solidFill>
                  <a:srgbClr val="333333"/>
                </a:solidFill>
                <a:latin typeface="Calibri"/>
                <a:ea typeface="Calibri"/>
                <a:cs typeface="Calibri"/>
                <a:sym typeface="Calibri"/>
              </a:rPr>
              <a:t>Numero 7 para la termocupla J</a:t>
            </a:r>
            <a:endParaRPr sz="1400">
              <a:solidFill>
                <a:schemeClr val="dk1"/>
              </a:solidFill>
              <a:latin typeface="Times New Roman"/>
              <a:ea typeface="Times New Roman"/>
              <a:cs typeface="Times New Roman"/>
              <a:sym typeface="Times New Roman"/>
            </a:endParaRPr>
          </a:p>
          <a:p>
            <a:pPr indent="-169862" lvl="0" marL="534988" marR="0" rtl="0" algn="just">
              <a:spcBef>
                <a:spcPts val="0"/>
              </a:spcBef>
              <a:spcAft>
                <a:spcPts val="0"/>
              </a:spcAft>
              <a:buNone/>
            </a:pPr>
            <a:r>
              <a:rPr lang="es-BO" sz="1800">
                <a:solidFill>
                  <a:srgbClr val="333333"/>
                </a:solidFill>
                <a:latin typeface="Calibri"/>
                <a:ea typeface="Calibri"/>
                <a:cs typeface="Calibri"/>
                <a:sym typeface="Calibri"/>
              </a:rPr>
              <a:t>Esta información está en el manual con el que viene el equipo.</a:t>
            </a:r>
            <a:endParaRPr/>
          </a:p>
          <a:p>
            <a:pPr indent="0" lvl="0" marL="0" marR="0" rtl="0" algn="just">
              <a:spcBef>
                <a:spcPts val="1200"/>
              </a:spcBef>
              <a:spcAft>
                <a:spcPts val="0"/>
              </a:spcAft>
              <a:buNone/>
            </a:pPr>
            <a:r>
              <a:rPr lang="es-BO" sz="1800">
                <a:solidFill>
                  <a:srgbClr val="333333"/>
                </a:solidFill>
                <a:latin typeface="Calibri"/>
                <a:ea typeface="Calibri"/>
                <a:cs typeface="Calibri"/>
                <a:sym typeface="Calibri"/>
              </a:rPr>
              <a:t>3. Luego retornamos presionando el mismo botón por cuatro segundos y ya deberíamos tener la temperatura en la pantalla </a:t>
            </a:r>
            <a:r>
              <a:rPr b="1" i="1" lang="es-BO" sz="1800">
                <a:solidFill>
                  <a:srgbClr val="333333"/>
                </a:solidFill>
                <a:latin typeface="Calibri"/>
                <a:ea typeface="Calibri"/>
                <a:cs typeface="Calibri"/>
                <a:sym typeface="Calibri"/>
              </a:rPr>
              <a:t>Figura1-3</a:t>
            </a:r>
            <a:r>
              <a:rPr lang="es-BO" sz="1800">
                <a:solidFill>
                  <a:srgbClr val="333333"/>
                </a:solidFill>
                <a:latin typeface="Calibri"/>
                <a:ea typeface="Calibri"/>
                <a:cs typeface="Calibri"/>
                <a:sym typeface="Calibri"/>
              </a:rPr>
              <a:t>.</a:t>
            </a:r>
            <a:endParaRPr sz="1400">
              <a:solidFill>
                <a:schemeClr val="dk1"/>
              </a:solidFill>
              <a:latin typeface="Times New Roman"/>
              <a:ea typeface="Times New Roman"/>
              <a:cs typeface="Times New Roman"/>
              <a:sym typeface="Times New Roman"/>
            </a:endParaRPr>
          </a:p>
        </p:txBody>
      </p:sp>
      <p:pic>
        <p:nvPicPr>
          <p:cNvPr id="939" name="Google Shape;939;p62"/>
          <p:cNvPicPr preferRelativeResize="0"/>
          <p:nvPr/>
        </p:nvPicPr>
        <p:blipFill rotWithShape="1">
          <a:blip r:embed="rId4">
            <a:alphaModFix/>
          </a:blip>
          <a:srcRect b="0" l="67791" r="908" t="0"/>
          <a:stretch/>
        </p:blipFill>
        <p:spPr>
          <a:xfrm>
            <a:off x="7685360" y="1567186"/>
            <a:ext cx="3668440" cy="4141842"/>
          </a:xfrm>
          <a:prstGeom prst="rect">
            <a:avLst/>
          </a:prstGeom>
          <a:noFill/>
          <a:ln>
            <a:noFill/>
          </a:ln>
        </p:spPr>
      </p:pic>
      <p:pic>
        <p:nvPicPr>
          <p:cNvPr id="940" name="Google Shape;940;p62"/>
          <p:cNvPicPr preferRelativeResize="0"/>
          <p:nvPr/>
        </p:nvPicPr>
        <p:blipFill rotWithShape="1">
          <a:blip r:embed="rId4">
            <a:alphaModFix/>
          </a:blip>
          <a:srcRect b="0" l="35924" r="33682" t="3163"/>
          <a:stretch/>
        </p:blipFill>
        <p:spPr>
          <a:xfrm>
            <a:off x="7736843" y="1723905"/>
            <a:ext cx="3616957" cy="4072869"/>
          </a:xfrm>
          <a:prstGeom prst="rect">
            <a:avLst/>
          </a:prstGeom>
          <a:noFill/>
          <a:ln>
            <a:noFill/>
          </a:ln>
        </p:spPr>
      </p:pic>
      <p:pic>
        <p:nvPicPr>
          <p:cNvPr id="941" name="Google Shape;941;p62"/>
          <p:cNvPicPr preferRelativeResize="0"/>
          <p:nvPr/>
        </p:nvPicPr>
        <p:blipFill rotWithShape="1">
          <a:blip r:embed="rId4">
            <a:alphaModFix/>
          </a:blip>
          <a:srcRect b="0" l="684" r="65546" t="3163"/>
          <a:stretch/>
        </p:blipFill>
        <p:spPr>
          <a:xfrm>
            <a:off x="7685360" y="1567186"/>
            <a:ext cx="3674231" cy="3919214"/>
          </a:xfrm>
          <a:prstGeom prst="rect">
            <a:avLst/>
          </a:prstGeom>
          <a:noFill/>
          <a:ln>
            <a:noFill/>
          </a:ln>
        </p:spPr>
      </p:pic>
      <p:sp>
        <p:nvSpPr>
          <p:cNvPr id="942" name="Google Shape;942;p62"/>
          <p:cNvSpPr txBox="1"/>
          <p:nvPr/>
        </p:nvSpPr>
        <p:spPr>
          <a:xfrm>
            <a:off x="1530905" y="781968"/>
            <a:ext cx="6096000" cy="319446"/>
          </a:xfrm>
          <a:prstGeom prst="rect">
            <a:avLst/>
          </a:prstGeom>
          <a:noFill/>
          <a:ln>
            <a:noFill/>
          </a:ln>
        </p:spPr>
        <p:txBody>
          <a:bodyPr anchorCtr="0" anchor="t" bIns="45700" lIns="91425" spcFirstLastPara="1" rIns="91425" wrap="square" tIns="45700">
            <a:spAutoFit/>
          </a:bodyPr>
          <a:lstStyle/>
          <a:p>
            <a:pPr indent="0" lvl="0" marL="0" marR="0" rtl="0" algn="just">
              <a:lnSpc>
                <a:spcPct val="80000"/>
              </a:lnSpc>
              <a:spcBef>
                <a:spcPts val="0"/>
              </a:spcBef>
              <a:spcAft>
                <a:spcPts val="0"/>
              </a:spcAft>
              <a:buClr>
                <a:schemeClr val="dk1"/>
              </a:buClr>
              <a:buSzPts val="1800"/>
              <a:buFont typeface="Calibri"/>
              <a:buNone/>
            </a:pPr>
            <a:r>
              <a:rPr b="1" i="1" lang="es-BO" sz="1800" u="sng">
                <a:solidFill>
                  <a:schemeClr val="dk1"/>
                </a:solidFill>
                <a:latin typeface="Calibri"/>
                <a:ea typeface="Calibri"/>
                <a:cs typeface="Calibri"/>
                <a:sym typeface="Calibri"/>
              </a:rPr>
              <a:t>Configuración del control de temperatura</a:t>
            </a:r>
            <a:endParaRPr b="1" i="1" sz="1800" u="sng">
              <a:solidFill>
                <a:schemeClr val="dk1"/>
              </a:solidFill>
              <a:latin typeface="Calibri"/>
              <a:ea typeface="Calibri"/>
              <a:cs typeface="Calibri"/>
              <a:sym typeface="Calibri"/>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937"/>
                                        </p:tgtEl>
                                      </p:cBhvr>
                                    </p:animEffect>
                                    <p:set>
                                      <p:cBhvr>
                                        <p:cTn dur="1" fill="hold">
                                          <p:stCondLst>
                                            <p:cond delay="500"/>
                                          </p:stCondLst>
                                        </p:cTn>
                                        <p:tgtEl>
                                          <p:spTgt spid="93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941"/>
                                        </p:tgtEl>
                                      </p:cBhvr>
                                    </p:animEffect>
                                    <p:set>
                                      <p:cBhvr>
                                        <p:cTn dur="1" fill="hold">
                                          <p:stCondLst>
                                            <p:cond delay="500"/>
                                          </p:stCondLst>
                                        </p:cTn>
                                        <p:tgtEl>
                                          <p:spTgt spid="94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940"/>
                                        </p:tgtEl>
                                      </p:cBhvr>
                                    </p:animEffect>
                                    <p:set>
                                      <p:cBhvr>
                                        <p:cTn dur="1" fill="hold">
                                          <p:stCondLst>
                                            <p:cond delay="500"/>
                                          </p:stCondLst>
                                        </p:cTn>
                                        <p:tgtEl>
                                          <p:spTgt spid="94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pic>
        <p:nvPicPr>
          <p:cNvPr id="947" name="Google Shape;947;p63"/>
          <p:cNvPicPr preferRelativeResize="0"/>
          <p:nvPr/>
        </p:nvPicPr>
        <p:blipFill rotWithShape="1">
          <a:blip r:embed="rId3">
            <a:alphaModFix/>
          </a:blip>
          <a:srcRect b="0" l="0" r="0" t="0"/>
          <a:stretch/>
        </p:blipFill>
        <p:spPr>
          <a:xfrm>
            <a:off x="7700701" y="1364714"/>
            <a:ext cx="3481364" cy="4602258"/>
          </a:xfrm>
          <a:prstGeom prst="rect">
            <a:avLst/>
          </a:prstGeom>
          <a:noFill/>
          <a:ln>
            <a:noFill/>
          </a:ln>
        </p:spPr>
      </p:pic>
      <p:sp>
        <p:nvSpPr>
          <p:cNvPr id="948" name="Google Shape;948;p63"/>
          <p:cNvSpPr txBox="1"/>
          <p:nvPr/>
        </p:nvSpPr>
        <p:spPr>
          <a:xfrm>
            <a:off x="1487488" y="1033903"/>
            <a:ext cx="5416061" cy="46474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s-BO" sz="1800" u="none" strike="noStrike">
                <a:solidFill>
                  <a:schemeClr val="dk1"/>
                </a:solidFill>
                <a:latin typeface="Calibri"/>
                <a:ea typeface="Calibri"/>
                <a:cs typeface="Calibri"/>
                <a:sym typeface="Calibri"/>
              </a:rPr>
              <a:t>VARIADOR DE FRECUENCIA POWERFLEX 4M</a:t>
            </a:r>
            <a:endParaRPr b="1" sz="1800">
              <a:solidFill>
                <a:schemeClr val="dk1"/>
              </a:solidFill>
              <a:latin typeface="Calibri"/>
              <a:ea typeface="Calibri"/>
              <a:cs typeface="Calibri"/>
              <a:sym typeface="Calibri"/>
            </a:endParaRPr>
          </a:p>
          <a:p>
            <a:pPr indent="0" lvl="0" marL="0" marR="0" rtl="0" algn="just">
              <a:spcBef>
                <a:spcPts val="0"/>
              </a:spcBef>
              <a:spcAft>
                <a:spcPts val="0"/>
              </a:spcAft>
              <a:buNone/>
            </a:pPr>
            <a:br>
              <a:rPr b="0" lang="es-BO" sz="1600">
                <a:solidFill>
                  <a:schemeClr val="dk1"/>
                </a:solidFill>
                <a:latin typeface="Calibri"/>
                <a:ea typeface="Calibri"/>
                <a:cs typeface="Calibri"/>
                <a:sym typeface="Calibri"/>
              </a:rPr>
            </a:br>
            <a:r>
              <a:rPr b="0" i="0" lang="es-BO" sz="1600" u="none" strike="noStrike">
                <a:solidFill>
                  <a:schemeClr val="dk1"/>
                </a:solidFill>
                <a:latin typeface="Calibri"/>
                <a:ea typeface="Calibri"/>
                <a:cs typeface="Calibri"/>
                <a:sym typeface="Calibri"/>
              </a:rPr>
              <a:t>El variador de frecuencia regula la velocidad de motores eléctricos para que la electricidad que llega al motor se ajuste a la demanda real de la aplicación, reduciendo el consumo energético del motor.</a:t>
            </a:r>
            <a:endParaRPr b="0" sz="1600">
              <a:solidFill>
                <a:schemeClr val="dk1"/>
              </a:solidFill>
              <a:latin typeface="Calibri"/>
              <a:ea typeface="Calibri"/>
              <a:cs typeface="Calibri"/>
              <a:sym typeface="Calibri"/>
            </a:endParaRPr>
          </a:p>
          <a:p>
            <a:pPr indent="0" lvl="0" marL="0" marR="0" rtl="0" algn="just">
              <a:spcBef>
                <a:spcPts val="1200"/>
              </a:spcBef>
              <a:spcAft>
                <a:spcPts val="0"/>
              </a:spcAft>
              <a:buNone/>
            </a:pPr>
            <a:r>
              <a:rPr b="0" i="0" lang="es-BO" sz="1600" u="sng">
                <a:solidFill>
                  <a:schemeClr val="dk1"/>
                </a:solidFill>
                <a:latin typeface="Calibri"/>
                <a:ea typeface="Calibri"/>
                <a:cs typeface="Calibri"/>
                <a:sym typeface="Calibri"/>
              </a:rPr>
              <a:t>Conexión:</a:t>
            </a:r>
            <a:endParaRPr b="0" sz="1600">
              <a:solidFill>
                <a:schemeClr val="dk1"/>
              </a:solidFill>
              <a:latin typeface="Calibri"/>
              <a:ea typeface="Calibri"/>
              <a:cs typeface="Calibri"/>
              <a:sym typeface="Calibri"/>
            </a:endParaRPr>
          </a:p>
          <a:p>
            <a:pPr indent="0" lvl="0" marL="0" marR="0" rtl="0" algn="just">
              <a:spcBef>
                <a:spcPts val="2400"/>
              </a:spcBef>
              <a:spcAft>
                <a:spcPts val="0"/>
              </a:spcAft>
              <a:buNone/>
            </a:pPr>
            <a:r>
              <a:rPr b="0" i="0" lang="es-BO" sz="1600" u="none" strike="noStrike">
                <a:solidFill>
                  <a:schemeClr val="dk1"/>
                </a:solidFill>
                <a:latin typeface="Calibri"/>
                <a:ea typeface="Calibri"/>
                <a:cs typeface="Calibri"/>
                <a:sym typeface="Calibri"/>
              </a:rPr>
              <a:t>200-240V, Monofásico, 0.2-2.2 kW (0.25-3.0 Hp) – Salida 240 VAC trifásico.</a:t>
            </a:r>
            <a:endParaRPr b="0" sz="1600">
              <a:solidFill>
                <a:schemeClr val="dk1"/>
              </a:solidFill>
              <a:latin typeface="Calibri"/>
              <a:ea typeface="Calibri"/>
              <a:cs typeface="Calibri"/>
              <a:sym typeface="Calibri"/>
            </a:endParaRPr>
          </a:p>
          <a:p>
            <a:pPr indent="0" lvl="0" marL="0" marR="0" rtl="0" algn="just">
              <a:spcBef>
                <a:spcPts val="2400"/>
              </a:spcBef>
              <a:spcAft>
                <a:spcPts val="0"/>
              </a:spcAft>
              <a:buNone/>
            </a:pPr>
            <a:r>
              <a:rPr b="0" i="0" lang="es-BO" sz="1600" u="sng">
                <a:solidFill>
                  <a:schemeClr val="dk1"/>
                </a:solidFill>
                <a:latin typeface="Calibri"/>
                <a:ea typeface="Calibri"/>
                <a:cs typeface="Calibri"/>
                <a:sym typeface="Calibri"/>
              </a:rPr>
              <a:t>Entradas y salidas:</a:t>
            </a:r>
            <a:endParaRPr b="0" sz="1600">
              <a:solidFill>
                <a:schemeClr val="dk1"/>
              </a:solidFill>
              <a:latin typeface="Calibri"/>
              <a:ea typeface="Calibri"/>
              <a:cs typeface="Calibri"/>
              <a:sym typeface="Calibri"/>
            </a:endParaRPr>
          </a:p>
          <a:p>
            <a:pPr indent="-101600" lvl="0" marL="0" marR="0" rtl="0" algn="just">
              <a:spcBef>
                <a:spcPts val="2400"/>
              </a:spcBef>
              <a:spcAft>
                <a:spcPts val="0"/>
              </a:spcAft>
              <a:buClr>
                <a:schemeClr val="dk1"/>
              </a:buClr>
              <a:buSzPts val="1600"/>
              <a:buFont typeface="Arial"/>
              <a:buChar char="•"/>
            </a:pPr>
            <a:r>
              <a:rPr b="0" i="0" lang="es-BO" sz="1600" u="none" strike="noStrike">
                <a:solidFill>
                  <a:schemeClr val="dk1"/>
                </a:solidFill>
                <a:latin typeface="Calibri"/>
                <a:ea typeface="Calibri"/>
                <a:cs typeface="Calibri"/>
                <a:sym typeface="Calibri"/>
              </a:rPr>
              <a:t>5 entradas digitales (dos programables).</a:t>
            </a:r>
            <a:endParaRPr/>
          </a:p>
          <a:p>
            <a:pPr indent="-101600" lvl="0" marL="0" marR="0" rtl="0" algn="just">
              <a:spcBef>
                <a:spcPts val="0"/>
              </a:spcBef>
              <a:spcAft>
                <a:spcPts val="0"/>
              </a:spcAft>
              <a:buClr>
                <a:schemeClr val="dk1"/>
              </a:buClr>
              <a:buSzPts val="1600"/>
              <a:buFont typeface="Arial"/>
              <a:buChar char="•"/>
            </a:pPr>
            <a:r>
              <a:rPr b="0" i="0" lang="es-BO" sz="1600" u="none" strike="noStrike">
                <a:solidFill>
                  <a:schemeClr val="dk1"/>
                </a:solidFill>
                <a:latin typeface="Calibri"/>
                <a:ea typeface="Calibri"/>
                <a:cs typeface="Calibri"/>
                <a:sym typeface="Calibri"/>
              </a:rPr>
              <a:t>1 entrada analógica 0 a 10 VDC</a:t>
            </a:r>
            <a:endParaRPr/>
          </a:p>
          <a:p>
            <a:pPr indent="-101600" lvl="0" marL="0" marR="0" rtl="0" algn="just">
              <a:spcBef>
                <a:spcPts val="0"/>
              </a:spcBef>
              <a:spcAft>
                <a:spcPts val="0"/>
              </a:spcAft>
              <a:buClr>
                <a:schemeClr val="dk1"/>
              </a:buClr>
              <a:buSzPts val="1600"/>
              <a:buFont typeface="Arial"/>
              <a:buChar char="•"/>
            </a:pPr>
            <a:r>
              <a:rPr b="0" i="0" lang="es-BO" sz="1600" u="none" strike="noStrike">
                <a:solidFill>
                  <a:schemeClr val="dk1"/>
                </a:solidFill>
                <a:latin typeface="Calibri"/>
                <a:ea typeface="Calibri"/>
                <a:cs typeface="Calibri"/>
                <a:sym typeface="Calibri"/>
              </a:rPr>
              <a:t>1 entrada analógica 4 a 20 mA.</a:t>
            </a:r>
            <a:endParaRPr b="0" i="0" sz="1600" u="none" strike="noStrike">
              <a:solidFill>
                <a:schemeClr val="dk1"/>
              </a:solidFill>
              <a:latin typeface="Calibri"/>
              <a:ea typeface="Calibri"/>
              <a:cs typeface="Calibri"/>
              <a:sym typeface="Calibri"/>
            </a:endParaRPr>
          </a:p>
          <a:p>
            <a:pPr indent="-101600" lvl="0" marL="0" marR="0" rtl="0" algn="just">
              <a:spcBef>
                <a:spcPts val="0"/>
              </a:spcBef>
              <a:spcAft>
                <a:spcPts val="0"/>
              </a:spcAft>
              <a:buClr>
                <a:schemeClr val="dk1"/>
              </a:buClr>
              <a:buSzPts val="1600"/>
              <a:buFont typeface="Arial"/>
              <a:buChar char="•"/>
            </a:pPr>
            <a:r>
              <a:rPr b="0" i="0" lang="es-BO" sz="1600" u="none" strike="noStrike">
                <a:solidFill>
                  <a:schemeClr val="dk1"/>
                </a:solidFill>
                <a:latin typeface="Calibri"/>
                <a:ea typeface="Calibri"/>
                <a:cs typeface="Calibri"/>
                <a:sym typeface="Calibri"/>
              </a:rPr>
              <a:t>1 salida digital tipo relé, un polo doble tiro.</a:t>
            </a:r>
            <a:endParaRPr/>
          </a:p>
        </p:txBody>
      </p:sp>
      <p:pic>
        <p:nvPicPr>
          <p:cNvPr id="949" name="Google Shape;949;p63"/>
          <p:cNvPicPr preferRelativeResize="0"/>
          <p:nvPr/>
        </p:nvPicPr>
        <p:blipFill rotWithShape="1">
          <a:blip r:embed="rId4">
            <a:alphaModFix/>
          </a:blip>
          <a:srcRect b="0" l="0" r="0" t="0"/>
          <a:stretch/>
        </p:blipFill>
        <p:spPr>
          <a:xfrm>
            <a:off x="7104112" y="1033903"/>
            <a:ext cx="4470425" cy="3780544"/>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947"/>
                                        </p:tgtEl>
                                      </p:cBhvr>
                                    </p:animEffect>
                                    <p:set>
                                      <p:cBhvr>
                                        <p:cTn dur="1" fill="hold">
                                          <p:stCondLst>
                                            <p:cond delay="500"/>
                                          </p:stCondLst>
                                        </p:cTn>
                                        <p:tgtEl>
                                          <p:spTgt spid="94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4" name="Shape 954"/>
        <p:cNvGrpSpPr/>
        <p:nvPr/>
      </p:nvGrpSpPr>
      <p:grpSpPr>
        <a:xfrm>
          <a:off x="0" y="0"/>
          <a:ext cx="0" cy="0"/>
          <a:chOff x="0" y="0"/>
          <a:chExt cx="0" cy="0"/>
        </a:xfrm>
      </p:grpSpPr>
      <p:sp>
        <p:nvSpPr>
          <p:cNvPr id="955" name="Google Shape;955;p64"/>
          <p:cNvSpPr txBox="1"/>
          <p:nvPr/>
        </p:nvSpPr>
        <p:spPr>
          <a:xfrm>
            <a:off x="1792185" y="506907"/>
            <a:ext cx="7038900" cy="914100"/>
          </a:xfrm>
          <a:prstGeom prst="rect">
            <a:avLst/>
          </a:prstGeom>
          <a:noFill/>
          <a:ln>
            <a:noFill/>
          </a:ln>
        </p:spPr>
        <p:txBody>
          <a:bodyPr anchorCtr="0" anchor="t" bIns="91425" lIns="91425" spcFirstLastPara="1" rIns="91425" wrap="square" tIns="91425">
            <a:normAutofit/>
          </a:bodyPr>
          <a:lstStyle/>
          <a:p>
            <a:pPr indent="0" lvl="0" marL="0" marR="0" rtl="0" algn="l">
              <a:lnSpc>
                <a:spcPct val="90000"/>
              </a:lnSpc>
              <a:spcBef>
                <a:spcPts val="0"/>
              </a:spcBef>
              <a:spcAft>
                <a:spcPts val="0"/>
              </a:spcAft>
              <a:buClr>
                <a:schemeClr val="dk1"/>
              </a:buClr>
              <a:buSzPts val="2800"/>
              <a:buFont typeface="Calibri"/>
              <a:buNone/>
            </a:pPr>
            <a:r>
              <a:rPr lang="es-BO" sz="2800">
                <a:solidFill>
                  <a:schemeClr val="dk1"/>
                </a:solidFill>
                <a:latin typeface="Calibri"/>
                <a:ea typeface="Calibri"/>
                <a:cs typeface="Calibri"/>
                <a:sym typeface="Calibri"/>
              </a:rPr>
              <a:t>INTERFAZ DE PROGRAMACIÓN</a:t>
            </a:r>
            <a:endParaRPr/>
          </a:p>
        </p:txBody>
      </p:sp>
      <p:sp>
        <p:nvSpPr>
          <p:cNvPr id="956" name="Google Shape;956;p64"/>
          <p:cNvSpPr txBox="1"/>
          <p:nvPr/>
        </p:nvSpPr>
        <p:spPr>
          <a:xfrm>
            <a:off x="1281531" y="2235201"/>
            <a:ext cx="4322352" cy="1193800"/>
          </a:xfrm>
          <a:prstGeom prst="rect">
            <a:avLst/>
          </a:prstGeom>
          <a:noFill/>
          <a:ln>
            <a:noFill/>
          </a:ln>
        </p:spPr>
        <p:txBody>
          <a:bodyPr anchorCtr="0" anchor="t" bIns="91425" lIns="91425" spcFirstLastPara="1" rIns="91425" wrap="square" tIns="91425">
            <a:normAutofit/>
          </a:bodyPr>
          <a:lstStyle/>
          <a:p>
            <a:pPr indent="0" lvl="0" marL="0" marR="0" rtl="0" algn="just">
              <a:lnSpc>
                <a:spcPct val="90000"/>
              </a:lnSpc>
              <a:spcBef>
                <a:spcPts val="0"/>
              </a:spcBef>
              <a:spcAft>
                <a:spcPts val="0"/>
              </a:spcAft>
              <a:buClr>
                <a:schemeClr val="dk1"/>
              </a:buClr>
              <a:buSzPts val="1800"/>
              <a:buFont typeface="Arial"/>
              <a:buNone/>
            </a:pPr>
            <a:r>
              <a:rPr lang="es-BO" sz="1800">
                <a:solidFill>
                  <a:schemeClr val="dk1"/>
                </a:solidFill>
                <a:latin typeface="Calibri"/>
                <a:ea typeface="Calibri"/>
                <a:cs typeface="Calibri"/>
                <a:sym typeface="Calibri"/>
              </a:rPr>
              <a:t>Voltaje del motor, Frecuencia de trabajo del motor y Intensidad máxima de trabajo</a:t>
            </a:r>
            <a:endParaRPr/>
          </a:p>
          <a:p>
            <a:pPr indent="0" lvl="0" marL="0" marR="0" rtl="0" algn="just">
              <a:lnSpc>
                <a:spcPct val="90000"/>
              </a:lnSpc>
              <a:spcBef>
                <a:spcPts val="0"/>
              </a:spcBef>
              <a:spcAft>
                <a:spcPts val="0"/>
              </a:spcAft>
              <a:buClr>
                <a:schemeClr val="dk1"/>
              </a:buClr>
              <a:buSzPts val="1800"/>
              <a:buFont typeface="Arial"/>
              <a:buNone/>
            </a:pPr>
            <a:r>
              <a:rPr lang="es-BO" sz="1800">
                <a:solidFill>
                  <a:schemeClr val="dk1"/>
                </a:solidFill>
                <a:latin typeface="Calibri"/>
                <a:ea typeface="Calibri"/>
                <a:cs typeface="Calibri"/>
                <a:sym typeface="Calibri"/>
              </a:rPr>
              <a:t>Parámetros:</a:t>
            </a:r>
            <a:endParaRPr/>
          </a:p>
          <a:p>
            <a:pPr indent="0" lvl="0" marL="0" marR="0" rtl="0" algn="just">
              <a:lnSpc>
                <a:spcPct val="90000"/>
              </a:lnSpc>
              <a:spcBef>
                <a:spcPts val="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p:txBody>
      </p:sp>
      <p:pic>
        <p:nvPicPr>
          <p:cNvPr id="957" name="Google Shape;957;p64"/>
          <p:cNvPicPr preferRelativeResize="0"/>
          <p:nvPr/>
        </p:nvPicPr>
        <p:blipFill rotWithShape="1">
          <a:blip r:embed="rId3">
            <a:alphaModFix/>
          </a:blip>
          <a:srcRect b="0" l="0" r="0" t="0"/>
          <a:stretch/>
        </p:blipFill>
        <p:spPr>
          <a:xfrm>
            <a:off x="5707838" y="1679710"/>
            <a:ext cx="5961647" cy="4256051"/>
          </a:xfrm>
          <a:prstGeom prst="rect">
            <a:avLst/>
          </a:prstGeom>
          <a:noFill/>
          <a:ln>
            <a:noFill/>
          </a:ln>
        </p:spPr>
      </p:pic>
      <p:graphicFrame>
        <p:nvGraphicFramePr>
          <p:cNvPr id="958" name="Google Shape;958;p64"/>
          <p:cNvGraphicFramePr/>
          <p:nvPr/>
        </p:nvGraphicFramePr>
        <p:xfrm>
          <a:off x="1281531" y="3588327"/>
          <a:ext cx="3000000" cy="3000000"/>
        </p:xfrm>
        <a:graphic>
          <a:graphicData uri="http://schemas.openxmlformats.org/drawingml/2006/table">
            <a:tbl>
              <a:tblPr bandRow="1" firstRow="1">
                <a:noFill/>
                <a:tableStyleId>{222A7E54-5182-43F9-A65E-7F61A87368E1}</a:tableStyleId>
              </a:tblPr>
              <a:tblGrid>
                <a:gridCol w="682175"/>
                <a:gridCol w="3672125"/>
              </a:tblGrid>
              <a:tr h="370850">
                <a:tc>
                  <a:txBody>
                    <a:bodyPr/>
                    <a:lstStyle/>
                    <a:p>
                      <a:pPr indent="0" lvl="0" marL="0" marR="0" rtl="0" algn="l">
                        <a:spcBef>
                          <a:spcPts val="0"/>
                        </a:spcBef>
                        <a:spcAft>
                          <a:spcPts val="0"/>
                        </a:spcAft>
                        <a:buNone/>
                      </a:pPr>
                      <a:r>
                        <a:rPr b="0" lang="es-BO" sz="1800"/>
                        <a:t>d101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0" lang="es-BO" sz="1800"/>
                        <a:t>Visualizar la frecuencia de operación</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l">
                        <a:spcBef>
                          <a:spcPts val="0"/>
                        </a:spcBef>
                        <a:spcAft>
                          <a:spcPts val="0"/>
                        </a:spcAft>
                        <a:buNone/>
                      </a:pPr>
                      <a:r>
                        <a:rPr lang="es-BO" sz="1800"/>
                        <a:t>p104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s-BO" sz="1800"/>
                        <a:t>Frecuencia mínima de operación</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l">
                        <a:spcBef>
                          <a:spcPts val="0"/>
                        </a:spcBef>
                        <a:spcAft>
                          <a:spcPts val="0"/>
                        </a:spcAft>
                        <a:buNone/>
                      </a:pPr>
                      <a:r>
                        <a:rPr lang="es-BO" sz="1800"/>
                        <a:t>P105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s-BO" sz="1800"/>
                        <a:t>Frecuencia máxima de operación</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l">
                        <a:spcBef>
                          <a:spcPts val="0"/>
                        </a:spcBef>
                        <a:spcAft>
                          <a:spcPts val="0"/>
                        </a:spcAft>
                        <a:buNone/>
                      </a:pPr>
                      <a:r>
                        <a:rPr lang="es-BO" sz="1800"/>
                        <a:t>p108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s-BO" sz="1800"/>
                        <a:t>0      Manual</a:t>
                      </a:r>
                      <a:endParaRPr/>
                    </a:p>
                    <a:p>
                      <a:pPr indent="-342900" lvl="0" marL="342900" marR="0" rtl="0" algn="l">
                        <a:spcBef>
                          <a:spcPts val="0"/>
                        </a:spcBef>
                        <a:spcAft>
                          <a:spcPts val="0"/>
                        </a:spcAft>
                        <a:buClr>
                          <a:schemeClr val="dk1"/>
                        </a:buClr>
                        <a:buSzPts val="1800"/>
                        <a:buFont typeface="Calibri"/>
                        <a:buAutoNum type="arabicPlain" startAt="3"/>
                      </a:pPr>
                      <a:r>
                        <a:rPr lang="es-BO" sz="1800"/>
                        <a:t>Automático por corriente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transition spd="slow">
    <p:push/>
  </p:transition>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2" name="Shape 962"/>
        <p:cNvGrpSpPr/>
        <p:nvPr/>
      </p:nvGrpSpPr>
      <p:grpSpPr>
        <a:xfrm>
          <a:off x="0" y="0"/>
          <a:ext cx="0" cy="0"/>
          <a:chOff x="0" y="0"/>
          <a:chExt cx="0" cy="0"/>
        </a:xfrm>
      </p:grpSpPr>
      <p:sp>
        <p:nvSpPr>
          <p:cNvPr id="963" name="Google Shape;963;p65"/>
          <p:cNvSpPr txBox="1"/>
          <p:nvPr>
            <p:ph type="title"/>
          </p:nvPr>
        </p:nvSpPr>
        <p:spPr>
          <a:xfrm>
            <a:off x="1403400" y="3140968"/>
            <a:ext cx="9385200" cy="1218800"/>
          </a:xfrm>
          <a:prstGeom prst="rect">
            <a:avLst/>
          </a:prstGeom>
          <a:noFill/>
          <a:ln>
            <a:noFill/>
          </a:ln>
        </p:spPr>
        <p:txBody>
          <a:bodyPr anchorCtr="0" anchor="t" bIns="91425" lIns="91425" spcFirstLastPara="1" rIns="91425" wrap="square" tIns="91425">
            <a:normAutofit/>
          </a:bodyPr>
          <a:lstStyle/>
          <a:p>
            <a:pPr indent="0" lvl="0" marL="0" rtl="0" algn="ctr">
              <a:spcBef>
                <a:spcPts val="0"/>
              </a:spcBef>
              <a:spcAft>
                <a:spcPts val="0"/>
              </a:spcAft>
              <a:buClr>
                <a:schemeClr val="dk1"/>
              </a:buClr>
              <a:buSzPts val="2400"/>
              <a:buFont typeface="Calibri"/>
              <a:buNone/>
            </a:pPr>
            <a:r>
              <a:rPr b="1" lang="es-BO" sz="3600"/>
              <a:t>ACTUADOR</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7" name="Shape 967"/>
        <p:cNvGrpSpPr/>
        <p:nvPr/>
      </p:nvGrpSpPr>
      <p:grpSpPr>
        <a:xfrm>
          <a:off x="0" y="0"/>
          <a:ext cx="0" cy="0"/>
          <a:chOff x="0" y="0"/>
          <a:chExt cx="0" cy="0"/>
        </a:xfrm>
      </p:grpSpPr>
      <p:sp>
        <p:nvSpPr>
          <p:cNvPr id="968" name="Google Shape;968;p66"/>
          <p:cNvSpPr txBox="1"/>
          <p:nvPr>
            <p:ph type="title"/>
          </p:nvPr>
        </p:nvSpPr>
        <p:spPr>
          <a:xfrm>
            <a:off x="2855640" y="375428"/>
            <a:ext cx="6956999" cy="605299"/>
          </a:xfrm>
          <a:prstGeom prst="rect">
            <a:avLst/>
          </a:prstGeom>
          <a:noFill/>
          <a:ln>
            <a:noFill/>
          </a:ln>
        </p:spPr>
        <p:txBody>
          <a:bodyPr anchorCtr="0" anchor="t" bIns="121900" lIns="121900" spcFirstLastPara="1" rIns="121900" wrap="square" tIns="121900">
            <a:normAutofit/>
          </a:bodyPr>
          <a:lstStyle/>
          <a:p>
            <a:pPr indent="0" lvl="0" marL="0" rtl="0" algn="l">
              <a:spcBef>
                <a:spcPts val="0"/>
              </a:spcBef>
              <a:spcAft>
                <a:spcPts val="0"/>
              </a:spcAft>
              <a:buClr>
                <a:schemeClr val="dk1"/>
              </a:buClr>
              <a:buSzPts val="2400"/>
              <a:buFont typeface="Calibri"/>
              <a:buNone/>
            </a:pPr>
            <a:r>
              <a:rPr b="1" lang="es-BO" sz="1800"/>
              <a:t>BOMBA DE AGUA PENTAX CMT 100/00</a:t>
            </a:r>
            <a:endParaRPr b="1" sz="1800"/>
          </a:p>
        </p:txBody>
      </p:sp>
      <p:sp>
        <p:nvSpPr>
          <p:cNvPr id="969" name="Google Shape;969;p66"/>
          <p:cNvSpPr txBox="1"/>
          <p:nvPr>
            <p:ph idx="1" type="body"/>
          </p:nvPr>
        </p:nvSpPr>
        <p:spPr>
          <a:xfrm>
            <a:off x="1047788" y="1451561"/>
            <a:ext cx="4896544" cy="2293376"/>
          </a:xfrm>
          <a:prstGeom prst="rect">
            <a:avLst/>
          </a:prstGeom>
          <a:noFill/>
          <a:ln>
            <a:noFill/>
          </a:ln>
        </p:spPr>
        <p:txBody>
          <a:bodyPr anchorCtr="0" anchor="t" bIns="121900" lIns="121900" spcFirstLastPara="1" rIns="121900" wrap="square" tIns="121900">
            <a:normAutofit/>
          </a:bodyPr>
          <a:lstStyle/>
          <a:p>
            <a:pPr indent="0" lvl="0" marL="0" rtl="0" algn="just">
              <a:spcBef>
                <a:spcPts val="0"/>
              </a:spcBef>
              <a:spcAft>
                <a:spcPts val="0"/>
              </a:spcAft>
              <a:buClr>
                <a:schemeClr val="dk1"/>
              </a:buClr>
              <a:buSzPts val="1300"/>
              <a:buNone/>
            </a:pPr>
            <a:r>
              <a:rPr lang="es-BO" sz="1600"/>
              <a:t>Transductor encargado de bombear el agua mediante la transformación de energía eléctrica a energía mecánica (rotacional) del tanque inferior hacia el superior</a:t>
            </a:r>
            <a:endParaRPr/>
          </a:p>
          <a:p>
            <a:pPr indent="0" lvl="0" marL="0" rtl="0" algn="just">
              <a:spcBef>
                <a:spcPts val="0"/>
              </a:spcBef>
              <a:spcAft>
                <a:spcPts val="0"/>
              </a:spcAft>
              <a:buClr>
                <a:schemeClr val="dk1"/>
              </a:buClr>
              <a:buSzPts val="1300"/>
              <a:buNone/>
            </a:pPr>
            <a:r>
              <a:rPr lang="es-BO" sz="1600"/>
              <a:t>Su funcionamiento es muy sencillo, el agua es aspirada por el tubo de entrada de la Bomba de Agua para luego ser impulsada por un motor, a medida que el rotor gira, se mueve el fluido alimentado así la bomba.</a:t>
            </a:r>
            <a:endParaRPr/>
          </a:p>
        </p:txBody>
      </p:sp>
      <p:pic>
        <p:nvPicPr>
          <p:cNvPr id="970" name="Google Shape;970;p66"/>
          <p:cNvPicPr preferRelativeResize="0"/>
          <p:nvPr/>
        </p:nvPicPr>
        <p:blipFill rotWithShape="1">
          <a:blip r:embed="rId3">
            <a:alphaModFix/>
          </a:blip>
          <a:srcRect b="0" l="0" r="51330" t="0"/>
          <a:stretch/>
        </p:blipFill>
        <p:spPr>
          <a:xfrm>
            <a:off x="1270928" y="3501008"/>
            <a:ext cx="4234239" cy="2806169"/>
          </a:xfrm>
          <a:prstGeom prst="rect">
            <a:avLst/>
          </a:prstGeom>
          <a:noFill/>
          <a:ln>
            <a:noFill/>
          </a:ln>
        </p:spPr>
      </p:pic>
      <p:pic>
        <p:nvPicPr>
          <p:cNvPr id="971" name="Google Shape;971;p66"/>
          <p:cNvPicPr preferRelativeResize="0"/>
          <p:nvPr/>
        </p:nvPicPr>
        <p:blipFill rotWithShape="1">
          <a:blip r:embed="rId3">
            <a:alphaModFix/>
          </a:blip>
          <a:srcRect b="0" l="54059" r="0" t="0"/>
          <a:stretch/>
        </p:blipFill>
        <p:spPr>
          <a:xfrm>
            <a:off x="1389677" y="3501008"/>
            <a:ext cx="3996740" cy="2806169"/>
          </a:xfrm>
          <a:prstGeom prst="rect">
            <a:avLst/>
          </a:prstGeom>
          <a:noFill/>
          <a:ln>
            <a:noFill/>
          </a:ln>
        </p:spPr>
      </p:pic>
      <p:sp>
        <p:nvSpPr>
          <p:cNvPr id="972" name="Google Shape;972;p66"/>
          <p:cNvSpPr txBox="1"/>
          <p:nvPr/>
        </p:nvSpPr>
        <p:spPr>
          <a:xfrm>
            <a:off x="1127447" y="1113007"/>
            <a:ext cx="4896544"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s-BO" sz="1600" u="sng">
                <a:solidFill>
                  <a:schemeClr val="dk1"/>
                </a:solidFill>
                <a:latin typeface="Calibri"/>
                <a:ea typeface="Calibri"/>
                <a:cs typeface="Calibri"/>
                <a:sym typeface="Calibri"/>
              </a:rPr>
              <a:t>Principio de funcionamiento</a:t>
            </a:r>
            <a:endParaRPr/>
          </a:p>
        </p:txBody>
      </p:sp>
      <p:graphicFrame>
        <p:nvGraphicFramePr>
          <p:cNvPr id="973" name="Google Shape;973;p66"/>
          <p:cNvGraphicFramePr/>
          <p:nvPr/>
        </p:nvGraphicFramePr>
        <p:xfrm>
          <a:off x="6463694" y="1113007"/>
          <a:ext cx="3000000" cy="3000000"/>
        </p:xfrm>
        <a:graphic>
          <a:graphicData uri="http://schemas.openxmlformats.org/drawingml/2006/table">
            <a:tbl>
              <a:tblPr>
                <a:noFill/>
                <a:tableStyleId>{222A7E54-5182-43F9-A65E-7F61A87368E1}</a:tableStyleId>
              </a:tblPr>
              <a:tblGrid>
                <a:gridCol w="1555400"/>
                <a:gridCol w="3511425"/>
              </a:tblGrid>
              <a:tr h="178650">
                <a:tc gridSpan="2">
                  <a:txBody>
                    <a:bodyPr/>
                    <a:lstStyle/>
                    <a:p>
                      <a:pPr indent="0" lvl="0" marL="0" marR="0" rtl="0" algn="ctr">
                        <a:spcBef>
                          <a:spcPts val="0"/>
                        </a:spcBef>
                        <a:spcAft>
                          <a:spcPts val="0"/>
                        </a:spcAft>
                        <a:buNone/>
                      </a:pPr>
                      <a:r>
                        <a:rPr b="1" i="1" lang="es-BO" sz="1400" u="sng" strike="noStrike"/>
                        <a:t>Características Pentax CMT 100/00</a:t>
                      </a:r>
                      <a:endParaRPr b="1" i="1" sz="1400" u="sng" strike="noStrike">
                        <a:solidFill>
                          <a:srgbClr val="000000"/>
                        </a:solidFill>
                        <a:latin typeface="Times New Roman"/>
                        <a:ea typeface="Times New Roman"/>
                        <a:cs typeface="Times New Roman"/>
                        <a:sym typeface="Times New Roman"/>
                      </a:endParaRPr>
                    </a:p>
                  </a:txBody>
                  <a:tcPr marT="8500" marB="0" marR="8500" marL="8500" anchor="b"/>
                </a:tc>
                <a:tc hMerge="1"/>
              </a:tr>
              <a:tr h="178650">
                <a:tc>
                  <a:txBody>
                    <a:bodyPr/>
                    <a:lstStyle/>
                    <a:p>
                      <a:pPr indent="0" lvl="0" marL="0" marR="0" rtl="0" algn="l">
                        <a:spcBef>
                          <a:spcPts val="0"/>
                        </a:spcBef>
                        <a:spcAft>
                          <a:spcPts val="0"/>
                        </a:spcAft>
                        <a:buNone/>
                      </a:pPr>
                      <a:r>
                        <a:rPr lang="es-BO" sz="1400" u="none" strike="noStrike"/>
                        <a:t>Q (l/min)</a:t>
                      </a:r>
                      <a:endParaRPr b="1" i="0" sz="1400" u="none" strike="noStrike">
                        <a:solidFill>
                          <a:srgbClr val="000000"/>
                        </a:solidFill>
                        <a:latin typeface="Times New Roman"/>
                        <a:ea typeface="Times New Roman"/>
                        <a:cs typeface="Times New Roman"/>
                        <a:sym typeface="Times New Roman"/>
                      </a:endParaRPr>
                    </a:p>
                  </a:txBody>
                  <a:tcPr marT="8500" marB="0" marR="8500" marL="8500" anchor="ctr"/>
                </a:tc>
                <a:tc>
                  <a:txBody>
                    <a:bodyPr/>
                    <a:lstStyle/>
                    <a:p>
                      <a:pPr indent="0" lvl="0" marL="0" marR="0" rtl="0" algn="l">
                        <a:spcBef>
                          <a:spcPts val="0"/>
                        </a:spcBef>
                        <a:spcAft>
                          <a:spcPts val="0"/>
                        </a:spcAft>
                        <a:buNone/>
                      </a:pPr>
                      <a:r>
                        <a:rPr lang="es-BO" sz="1400" u="none" strike="noStrike"/>
                        <a:t>Caudal de salida</a:t>
                      </a:r>
                      <a:endParaRPr b="0" i="0" sz="1400" u="none" strike="noStrike">
                        <a:solidFill>
                          <a:srgbClr val="000000"/>
                        </a:solidFill>
                        <a:latin typeface="Times New Roman"/>
                        <a:ea typeface="Times New Roman"/>
                        <a:cs typeface="Times New Roman"/>
                        <a:sym typeface="Times New Roman"/>
                      </a:endParaRPr>
                    </a:p>
                  </a:txBody>
                  <a:tcPr marT="8500" marB="0" marR="8500" marL="8500" anchor="ctr"/>
                </a:tc>
              </a:tr>
              <a:tr h="416875">
                <a:tc>
                  <a:txBody>
                    <a:bodyPr/>
                    <a:lstStyle/>
                    <a:p>
                      <a:pPr indent="0" lvl="0" marL="0" marR="0" rtl="0" algn="l">
                        <a:spcBef>
                          <a:spcPts val="0"/>
                        </a:spcBef>
                        <a:spcAft>
                          <a:spcPts val="0"/>
                        </a:spcAft>
                        <a:buNone/>
                      </a:pPr>
                      <a:r>
                        <a:rPr lang="es-BO" sz="1400" u="none" strike="noStrike"/>
                        <a:t>H (m)</a:t>
                      </a:r>
                      <a:endParaRPr b="1" i="0" sz="1400" u="none" strike="noStrike">
                        <a:solidFill>
                          <a:srgbClr val="000000"/>
                        </a:solidFill>
                        <a:latin typeface="Times New Roman"/>
                        <a:ea typeface="Times New Roman"/>
                        <a:cs typeface="Times New Roman"/>
                        <a:sym typeface="Times New Roman"/>
                      </a:endParaRPr>
                    </a:p>
                  </a:txBody>
                  <a:tcPr marT="8500" marB="0" marR="8500" marL="8500" anchor="ctr"/>
                </a:tc>
                <a:tc>
                  <a:txBody>
                    <a:bodyPr/>
                    <a:lstStyle/>
                    <a:p>
                      <a:pPr indent="0" lvl="0" marL="0" marR="0" rtl="0" algn="l">
                        <a:spcBef>
                          <a:spcPts val="0"/>
                        </a:spcBef>
                        <a:spcAft>
                          <a:spcPts val="0"/>
                        </a:spcAft>
                        <a:buNone/>
                      </a:pPr>
                      <a:r>
                        <a:rPr lang="es-BO" sz="1400" u="none" strike="noStrike"/>
                        <a:t>Altura de columna de agua (aspiración+expulsión)</a:t>
                      </a:r>
                      <a:endParaRPr b="0" i="0" sz="1400" u="none" strike="noStrike">
                        <a:solidFill>
                          <a:srgbClr val="000000"/>
                        </a:solidFill>
                        <a:latin typeface="Times New Roman"/>
                        <a:ea typeface="Times New Roman"/>
                        <a:cs typeface="Times New Roman"/>
                        <a:sym typeface="Times New Roman"/>
                      </a:endParaRPr>
                    </a:p>
                  </a:txBody>
                  <a:tcPr marT="8500" marB="0" marR="8500" marL="8500" anchor="ctr"/>
                </a:tc>
              </a:tr>
              <a:tr h="178650">
                <a:tc>
                  <a:txBody>
                    <a:bodyPr/>
                    <a:lstStyle/>
                    <a:p>
                      <a:pPr indent="0" lvl="0" marL="0" marR="0" rtl="0" algn="l">
                        <a:spcBef>
                          <a:spcPts val="0"/>
                        </a:spcBef>
                        <a:spcAft>
                          <a:spcPts val="0"/>
                        </a:spcAft>
                        <a:buNone/>
                      </a:pPr>
                      <a:r>
                        <a:rPr lang="es-BO" sz="1400" u="none" strike="noStrike"/>
                        <a:t>HP</a:t>
                      </a:r>
                      <a:endParaRPr b="1" i="0" sz="1400" u="none" strike="noStrike">
                        <a:solidFill>
                          <a:srgbClr val="000000"/>
                        </a:solidFill>
                        <a:latin typeface="Times New Roman"/>
                        <a:ea typeface="Times New Roman"/>
                        <a:cs typeface="Times New Roman"/>
                        <a:sym typeface="Times New Roman"/>
                      </a:endParaRPr>
                    </a:p>
                  </a:txBody>
                  <a:tcPr marT="8500" marB="0" marR="8500" marL="8500" anchor="ctr"/>
                </a:tc>
                <a:tc>
                  <a:txBody>
                    <a:bodyPr/>
                    <a:lstStyle/>
                    <a:p>
                      <a:pPr indent="0" lvl="0" marL="0" marR="0" rtl="0" algn="l">
                        <a:spcBef>
                          <a:spcPts val="0"/>
                        </a:spcBef>
                        <a:spcAft>
                          <a:spcPts val="0"/>
                        </a:spcAft>
                        <a:buNone/>
                      </a:pPr>
                      <a:r>
                        <a:rPr lang="es-BO" sz="1400" u="none" strike="noStrike"/>
                        <a:t>Potencia en HP</a:t>
                      </a:r>
                      <a:endParaRPr b="0" i="0" sz="1400" u="none" strike="noStrike">
                        <a:solidFill>
                          <a:srgbClr val="000000"/>
                        </a:solidFill>
                        <a:latin typeface="Times New Roman"/>
                        <a:ea typeface="Times New Roman"/>
                        <a:cs typeface="Times New Roman"/>
                        <a:sym typeface="Times New Roman"/>
                      </a:endParaRPr>
                    </a:p>
                  </a:txBody>
                  <a:tcPr marT="8500" marB="0" marR="8500" marL="8500" anchor="ctr"/>
                </a:tc>
              </a:tr>
              <a:tr h="178650">
                <a:tc>
                  <a:txBody>
                    <a:bodyPr/>
                    <a:lstStyle/>
                    <a:p>
                      <a:pPr indent="0" lvl="0" marL="0" marR="0" rtl="0" algn="l">
                        <a:spcBef>
                          <a:spcPts val="0"/>
                        </a:spcBef>
                        <a:spcAft>
                          <a:spcPts val="0"/>
                        </a:spcAft>
                        <a:buNone/>
                      </a:pPr>
                      <a:r>
                        <a:rPr lang="es-BO" sz="1400" u="none" strike="noStrike"/>
                        <a:t>kW</a:t>
                      </a:r>
                      <a:endParaRPr b="1" i="0" sz="1400" u="none" strike="noStrike">
                        <a:solidFill>
                          <a:srgbClr val="000000"/>
                        </a:solidFill>
                        <a:latin typeface="Times New Roman"/>
                        <a:ea typeface="Times New Roman"/>
                        <a:cs typeface="Times New Roman"/>
                        <a:sym typeface="Times New Roman"/>
                      </a:endParaRPr>
                    </a:p>
                  </a:txBody>
                  <a:tcPr marT="8500" marB="0" marR="8500" marL="8500" anchor="ctr"/>
                </a:tc>
                <a:tc>
                  <a:txBody>
                    <a:bodyPr/>
                    <a:lstStyle/>
                    <a:p>
                      <a:pPr indent="0" lvl="0" marL="0" marR="0" rtl="0" algn="l">
                        <a:spcBef>
                          <a:spcPts val="0"/>
                        </a:spcBef>
                        <a:spcAft>
                          <a:spcPts val="0"/>
                        </a:spcAft>
                        <a:buNone/>
                      </a:pPr>
                      <a:r>
                        <a:rPr lang="es-BO" sz="1400" u="none" strike="noStrike"/>
                        <a:t>Potencia en kW</a:t>
                      </a:r>
                      <a:endParaRPr b="0" i="0" sz="1400" u="none" strike="noStrike">
                        <a:solidFill>
                          <a:srgbClr val="000000"/>
                        </a:solidFill>
                        <a:latin typeface="Times New Roman"/>
                        <a:ea typeface="Times New Roman"/>
                        <a:cs typeface="Times New Roman"/>
                        <a:sym typeface="Times New Roman"/>
                      </a:endParaRPr>
                    </a:p>
                  </a:txBody>
                  <a:tcPr marT="8500" marB="0" marR="8500" marL="8500" anchor="ctr"/>
                </a:tc>
              </a:tr>
              <a:tr h="357325">
                <a:tc>
                  <a:txBody>
                    <a:bodyPr/>
                    <a:lstStyle/>
                    <a:p>
                      <a:pPr indent="0" lvl="0" marL="0" marR="0" rtl="0" algn="l">
                        <a:spcBef>
                          <a:spcPts val="0"/>
                        </a:spcBef>
                        <a:spcAft>
                          <a:spcPts val="0"/>
                        </a:spcAft>
                        <a:buNone/>
                      </a:pPr>
                      <a:r>
                        <a:rPr lang="es-BO" sz="1400" u="none" strike="noStrike"/>
                        <a:t>kWAbs</a:t>
                      </a:r>
                      <a:endParaRPr b="1" i="0" sz="1400" u="none" strike="noStrike">
                        <a:solidFill>
                          <a:srgbClr val="000000"/>
                        </a:solidFill>
                        <a:latin typeface="Times New Roman"/>
                        <a:ea typeface="Times New Roman"/>
                        <a:cs typeface="Times New Roman"/>
                        <a:sym typeface="Times New Roman"/>
                      </a:endParaRPr>
                    </a:p>
                  </a:txBody>
                  <a:tcPr marT="8500" marB="0" marR="8500" marL="8500" anchor="ctr"/>
                </a:tc>
                <a:tc>
                  <a:txBody>
                    <a:bodyPr/>
                    <a:lstStyle/>
                    <a:p>
                      <a:pPr indent="0" lvl="0" marL="0" marR="0" rtl="0" algn="l">
                        <a:spcBef>
                          <a:spcPts val="0"/>
                        </a:spcBef>
                        <a:spcAft>
                          <a:spcPts val="0"/>
                        </a:spcAft>
                        <a:buNone/>
                      </a:pPr>
                      <a:r>
                        <a:rPr lang="es-BO" sz="1400" u="none" strike="noStrike"/>
                        <a:t>Potencia Total consumida por la bomba de agua</a:t>
                      </a:r>
                      <a:endParaRPr b="0" i="0" sz="1400" u="none" strike="noStrike">
                        <a:solidFill>
                          <a:srgbClr val="000000"/>
                        </a:solidFill>
                        <a:latin typeface="Times New Roman"/>
                        <a:ea typeface="Times New Roman"/>
                        <a:cs typeface="Times New Roman"/>
                        <a:sym typeface="Times New Roman"/>
                      </a:endParaRPr>
                    </a:p>
                  </a:txBody>
                  <a:tcPr marT="8500" marB="0" marR="8500" marL="8500" anchor="ctr"/>
                </a:tc>
              </a:tr>
              <a:tr h="178650">
                <a:tc>
                  <a:txBody>
                    <a:bodyPr/>
                    <a:lstStyle/>
                    <a:p>
                      <a:pPr indent="0" lvl="0" marL="0" marR="0" rtl="0" algn="l">
                        <a:spcBef>
                          <a:spcPts val="0"/>
                        </a:spcBef>
                        <a:spcAft>
                          <a:spcPts val="0"/>
                        </a:spcAft>
                        <a:buNone/>
                      </a:pPr>
                      <a:r>
                        <a:rPr lang="es-BO" sz="1400" u="none" strike="noStrike"/>
                        <a:t>V∆</a:t>
                      </a:r>
                      <a:endParaRPr b="1" i="0" sz="1400" u="none" strike="noStrike">
                        <a:solidFill>
                          <a:srgbClr val="000000"/>
                        </a:solidFill>
                        <a:latin typeface="Times New Roman"/>
                        <a:ea typeface="Times New Roman"/>
                        <a:cs typeface="Times New Roman"/>
                        <a:sym typeface="Times New Roman"/>
                      </a:endParaRPr>
                    </a:p>
                  </a:txBody>
                  <a:tcPr marT="8500" marB="0" marR="8500" marL="8500" anchor="ctr"/>
                </a:tc>
                <a:tc>
                  <a:txBody>
                    <a:bodyPr/>
                    <a:lstStyle/>
                    <a:p>
                      <a:pPr indent="0" lvl="0" marL="0" marR="0" rtl="0" algn="l">
                        <a:spcBef>
                          <a:spcPts val="0"/>
                        </a:spcBef>
                        <a:spcAft>
                          <a:spcPts val="0"/>
                        </a:spcAft>
                        <a:buNone/>
                      </a:pPr>
                      <a:r>
                        <a:rPr lang="es-BO" sz="1400" u="none" strike="noStrike"/>
                        <a:t>Voltaje en config. Delta</a:t>
                      </a:r>
                      <a:endParaRPr b="0" i="0" sz="1400" u="none" strike="noStrike">
                        <a:solidFill>
                          <a:srgbClr val="000000"/>
                        </a:solidFill>
                        <a:latin typeface="Times New Roman"/>
                        <a:ea typeface="Times New Roman"/>
                        <a:cs typeface="Times New Roman"/>
                        <a:sym typeface="Times New Roman"/>
                      </a:endParaRPr>
                    </a:p>
                  </a:txBody>
                  <a:tcPr marT="8500" marB="0" marR="8500" marL="8500" anchor="ctr"/>
                </a:tc>
              </a:tr>
              <a:tr h="178650">
                <a:tc>
                  <a:txBody>
                    <a:bodyPr/>
                    <a:lstStyle/>
                    <a:p>
                      <a:pPr indent="0" lvl="0" marL="0" marR="0" rtl="0" algn="l">
                        <a:spcBef>
                          <a:spcPts val="0"/>
                        </a:spcBef>
                        <a:spcAft>
                          <a:spcPts val="0"/>
                        </a:spcAft>
                        <a:buNone/>
                      </a:pPr>
                      <a:r>
                        <a:rPr lang="es-BO" sz="1400" u="none" strike="noStrike"/>
                        <a:t>Vℷ</a:t>
                      </a:r>
                      <a:endParaRPr b="1" i="0" sz="1400" u="none" strike="noStrike">
                        <a:solidFill>
                          <a:srgbClr val="000000"/>
                        </a:solidFill>
                        <a:latin typeface="Times New Roman"/>
                        <a:ea typeface="Times New Roman"/>
                        <a:cs typeface="Times New Roman"/>
                        <a:sym typeface="Times New Roman"/>
                      </a:endParaRPr>
                    </a:p>
                  </a:txBody>
                  <a:tcPr marT="8500" marB="0" marR="8500" marL="8500" anchor="ctr"/>
                </a:tc>
                <a:tc>
                  <a:txBody>
                    <a:bodyPr/>
                    <a:lstStyle/>
                    <a:p>
                      <a:pPr indent="0" lvl="0" marL="0" marR="0" rtl="0" algn="l">
                        <a:spcBef>
                          <a:spcPts val="0"/>
                        </a:spcBef>
                        <a:spcAft>
                          <a:spcPts val="0"/>
                        </a:spcAft>
                        <a:buNone/>
                      </a:pPr>
                      <a:r>
                        <a:rPr lang="es-BO" sz="1400" u="none" strike="noStrike"/>
                        <a:t>Voltaje en config. Estrella</a:t>
                      </a:r>
                      <a:endParaRPr b="0" i="0" sz="1400" u="none" strike="noStrike">
                        <a:solidFill>
                          <a:srgbClr val="000000"/>
                        </a:solidFill>
                        <a:latin typeface="Times New Roman"/>
                        <a:ea typeface="Times New Roman"/>
                        <a:cs typeface="Times New Roman"/>
                        <a:sym typeface="Times New Roman"/>
                      </a:endParaRPr>
                    </a:p>
                  </a:txBody>
                  <a:tcPr marT="8500" marB="0" marR="8500" marL="8500" anchor="ctr"/>
                </a:tc>
              </a:tr>
              <a:tr h="357325">
                <a:tc>
                  <a:txBody>
                    <a:bodyPr/>
                    <a:lstStyle/>
                    <a:p>
                      <a:pPr indent="0" lvl="0" marL="0" marR="0" rtl="0" algn="l">
                        <a:spcBef>
                          <a:spcPts val="0"/>
                        </a:spcBef>
                        <a:spcAft>
                          <a:spcPts val="0"/>
                        </a:spcAft>
                        <a:buNone/>
                      </a:pPr>
                      <a:r>
                        <a:rPr lang="es-BO" sz="1400" u="none" strike="noStrike"/>
                        <a:t>CL</a:t>
                      </a:r>
                      <a:endParaRPr b="1" i="0" sz="1400" u="none" strike="noStrike">
                        <a:solidFill>
                          <a:srgbClr val="000000"/>
                        </a:solidFill>
                        <a:latin typeface="Times New Roman"/>
                        <a:ea typeface="Times New Roman"/>
                        <a:cs typeface="Times New Roman"/>
                        <a:sym typeface="Times New Roman"/>
                      </a:endParaRPr>
                    </a:p>
                  </a:txBody>
                  <a:tcPr marT="8500" marB="0" marR="8500" marL="8500" anchor="ctr"/>
                </a:tc>
                <a:tc>
                  <a:txBody>
                    <a:bodyPr/>
                    <a:lstStyle/>
                    <a:p>
                      <a:pPr indent="0" lvl="0" marL="0" marR="0" rtl="0" algn="l">
                        <a:spcBef>
                          <a:spcPts val="0"/>
                        </a:spcBef>
                        <a:spcAft>
                          <a:spcPts val="0"/>
                        </a:spcAft>
                        <a:buNone/>
                      </a:pPr>
                      <a:r>
                        <a:rPr lang="es-BO" sz="1400" u="none" strike="noStrike"/>
                        <a:t>Máxima temperatura de operación °F = 155°C</a:t>
                      </a:r>
                      <a:endParaRPr b="0" i="0" sz="1400" u="none" strike="noStrike">
                        <a:solidFill>
                          <a:srgbClr val="000000"/>
                        </a:solidFill>
                        <a:latin typeface="Times New Roman"/>
                        <a:ea typeface="Times New Roman"/>
                        <a:cs typeface="Times New Roman"/>
                        <a:sym typeface="Times New Roman"/>
                      </a:endParaRPr>
                    </a:p>
                  </a:txBody>
                  <a:tcPr marT="8500" marB="0" marR="8500" marL="8500" anchor="ctr"/>
                </a:tc>
              </a:tr>
              <a:tr h="178650">
                <a:tc>
                  <a:txBody>
                    <a:bodyPr/>
                    <a:lstStyle/>
                    <a:p>
                      <a:pPr indent="0" lvl="0" marL="0" marR="0" rtl="0" algn="l">
                        <a:spcBef>
                          <a:spcPts val="0"/>
                        </a:spcBef>
                        <a:spcAft>
                          <a:spcPts val="0"/>
                        </a:spcAft>
                        <a:buNone/>
                      </a:pPr>
                      <a:r>
                        <a:rPr lang="es-BO" sz="1400" u="none" strike="noStrike"/>
                        <a:t>A</a:t>
                      </a:r>
                      <a:endParaRPr b="1" i="0" sz="1400" u="none" strike="noStrike">
                        <a:solidFill>
                          <a:srgbClr val="000000"/>
                        </a:solidFill>
                        <a:latin typeface="Times New Roman"/>
                        <a:ea typeface="Times New Roman"/>
                        <a:cs typeface="Times New Roman"/>
                        <a:sym typeface="Times New Roman"/>
                      </a:endParaRPr>
                    </a:p>
                  </a:txBody>
                  <a:tcPr marT="8500" marB="0" marR="8500" marL="8500" anchor="ctr"/>
                </a:tc>
                <a:tc>
                  <a:txBody>
                    <a:bodyPr/>
                    <a:lstStyle/>
                    <a:p>
                      <a:pPr indent="0" lvl="0" marL="0" marR="0" rtl="0" algn="l">
                        <a:spcBef>
                          <a:spcPts val="0"/>
                        </a:spcBef>
                        <a:spcAft>
                          <a:spcPts val="0"/>
                        </a:spcAft>
                        <a:buNone/>
                      </a:pPr>
                      <a:r>
                        <a:rPr lang="es-BO" sz="1400" u="none" strike="noStrike"/>
                        <a:t>Corriente de operación</a:t>
                      </a:r>
                      <a:endParaRPr b="0" i="0" sz="1400" u="none" strike="noStrike">
                        <a:solidFill>
                          <a:srgbClr val="000000"/>
                        </a:solidFill>
                        <a:latin typeface="Times New Roman"/>
                        <a:ea typeface="Times New Roman"/>
                        <a:cs typeface="Times New Roman"/>
                        <a:sym typeface="Times New Roman"/>
                      </a:endParaRPr>
                    </a:p>
                  </a:txBody>
                  <a:tcPr marT="8500" marB="0" marR="8500" marL="8500" anchor="ctr"/>
                </a:tc>
              </a:tr>
              <a:tr h="357325">
                <a:tc>
                  <a:txBody>
                    <a:bodyPr/>
                    <a:lstStyle/>
                    <a:p>
                      <a:pPr indent="0" lvl="0" marL="0" marR="0" rtl="0" algn="l">
                        <a:spcBef>
                          <a:spcPts val="0"/>
                        </a:spcBef>
                        <a:spcAft>
                          <a:spcPts val="0"/>
                        </a:spcAft>
                        <a:buNone/>
                      </a:pPr>
                      <a:r>
                        <a:rPr lang="es-BO" sz="1400" u="none" strike="noStrike"/>
                        <a:t>Hz</a:t>
                      </a:r>
                      <a:endParaRPr b="1" i="0" sz="1400" u="none" strike="noStrike">
                        <a:solidFill>
                          <a:srgbClr val="000000"/>
                        </a:solidFill>
                        <a:latin typeface="Times New Roman"/>
                        <a:ea typeface="Times New Roman"/>
                        <a:cs typeface="Times New Roman"/>
                        <a:sym typeface="Times New Roman"/>
                      </a:endParaRPr>
                    </a:p>
                  </a:txBody>
                  <a:tcPr marT="8500" marB="0" marR="8500" marL="8500" anchor="ctr"/>
                </a:tc>
                <a:tc>
                  <a:txBody>
                    <a:bodyPr/>
                    <a:lstStyle/>
                    <a:p>
                      <a:pPr indent="0" lvl="0" marL="0" marR="0" rtl="0" algn="l">
                        <a:spcBef>
                          <a:spcPts val="0"/>
                        </a:spcBef>
                        <a:spcAft>
                          <a:spcPts val="0"/>
                        </a:spcAft>
                        <a:buNone/>
                      </a:pPr>
                      <a:r>
                        <a:rPr lang="es-BO" sz="1400" u="none" strike="noStrike"/>
                        <a:t>Frec. de operación (alimentación)</a:t>
                      </a:r>
                      <a:endParaRPr b="0" i="0" sz="1400" u="none" strike="noStrike">
                        <a:solidFill>
                          <a:srgbClr val="000000"/>
                        </a:solidFill>
                        <a:latin typeface="Times New Roman"/>
                        <a:ea typeface="Times New Roman"/>
                        <a:cs typeface="Times New Roman"/>
                        <a:sym typeface="Times New Roman"/>
                      </a:endParaRPr>
                    </a:p>
                  </a:txBody>
                  <a:tcPr marT="8500" marB="0" marR="8500" marL="8500" anchor="ctr"/>
                </a:tc>
              </a:tr>
              <a:tr h="178650">
                <a:tc>
                  <a:txBody>
                    <a:bodyPr/>
                    <a:lstStyle/>
                    <a:p>
                      <a:pPr indent="0" lvl="0" marL="0" marR="0" rtl="0" algn="l">
                        <a:spcBef>
                          <a:spcPts val="0"/>
                        </a:spcBef>
                        <a:spcAft>
                          <a:spcPts val="0"/>
                        </a:spcAft>
                        <a:buNone/>
                      </a:pPr>
                      <a:r>
                        <a:rPr lang="es-BO" sz="1400" u="none" strike="noStrike"/>
                        <a:t>min-1</a:t>
                      </a:r>
                      <a:endParaRPr b="1" i="0" sz="1400" u="none" strike="noStrike">
                        <a:solidFill>
                          <a:srgbClr val="000000"/>
                        </a:solidFill>
                        <a:latin typeface="Times New Roman"/>
                        <a:ea typeface="Times New Roman"/>
                        <a:cs typeface="Times New Roman"/>
                        <a:sym typeface="Times New Roman"/>
                      </a:endParaRPr>
                    </a:p>
                  </a:txBody>
                  <a:tcPr marT="8500" marB="0" marR="8500" marL="8500" anchor="ctr"/>
                </a:tc>
                <a:tc>
                  <a:txBody>
                    <a:bodyPr/>
                    <a:lstStyle/>
                    <a:p>
                      <a:pPr indent="0" lvl="0" marL="0" marR="0" rtl="0" algn="l">
                        <a:spcBef>
                          <a:spcPts val="0"/>
                        </a:spcBef>
                        <a:spcAft>
                          <a:spcPts val="0"/>
                        </a:spcAft>
                        <a:buNone/>
                      </a:pPr>
                      <a:r>
                        <a:rPr lang="es-BO" sz="1400" u="none" strike="noStrike"/>
                        <a:t>RPM del motor</a:t>
                      </a:r>
                      <a:endParaRPr b="0" i="0" sz="1400" u="none" strike="noStrike">
                        <a:solidFill>
                          <a:srgbClr val="000000"/>
                        </a:solidFill>
                        <a:latin typeface="Times New Roman"/>
                        <a:ea typeface="Times New Roman"/>
                        <a:cs typeface="Times New Roman"/>
                        <a:sym typeface="Times New Roman"/>
                      </a:endParaRPr>
                    </a:p>
                  </a:txBody>
                  <a:tcPr marT="8500" marB="0" marR="8500" marL="8500" anchor="ctr"/>
                </a:tc>
              </a:tr>
              <a:tr h="178650">
                <a:tc>
                  <a:txBody>
                    <a:bodyPr/>
                    <a:lstStyle/>
                    <a:p>
                      <a:pPr indent="0" lvl="0" marL="0" marR="0" rtl="0" algn="l">
                        <a:spcBef>
                          <a:spcPts val="0"/>
                        </a:spcBef>
                        <a:spcAft>
                          <a:spcPts val="0"/>
                        </a:spcAft>
                        <a:buNone/>
                      </a:pPr>
                      <a:r>
                        <a:rPr lang="es-BO" sz="1400" u="none" strike="noStrike"/>
                        <a:t>IP</a:t>
                      </a:r>
                      <a:endParaRPr b="1" i="0" sz="1400" u="none" strike="noStrike">
                        <a:solidFill>
                          <a:srgbClr val="000000"/>
                        </a:solidFill>
                        <a:latin typeface="Times New Roman"/>
                        <a:ea typeface="Times New Roman"/>
                        <a:cs typeface="Times New Roman"/>
                        <a:sym typeface="Times New Roman"/>
                      </a:endParaRPr>
                    </a:p>
                  </a:txBody>
                  <a:tcPr marT="8500" marB="0" marR="8500" marL="8500" anchor="ctr"/>
                </a:tc>
                <a:tc>
                  <a:txBody>
                    <a:bodyPr/>
                    <a:lstStyle/>
                    <a:p>
                      <a:pPr indent="0" lvl="0" marL="0" marR="0" rtl="0" algn="l">
                        <a:spcBef>
                          <a:spcPts val="0"/>
                        </a:spcBef>
                        <a:spcAft>
                          <a:spcPts val="0"/>
                        </a:spcAft>
                        <a:buNone/>
                      </a:pPr>
                      <a:r>
                        <a:rPr lang="es-BO" sz="1400" u="none" strike="noStrike"/>
                        <a:t>Protección IP44, resistente al agua</a:t>
                      </a:r>
                      <a:endParaRPr b="0" i="0" sz="1400" u="none" strike="noStrike">
                        <a:solidFill>
                          <a:srgbClr val="000000"/>
                        </a:solidFill>
                        <a:latin typeface="Times New Roman"/>
                        <a:ea typeface="Times New Roman"/>
                        <a:cs typeface="Times New Roman"/>
                        <a:sym typeface="Times New Roman"/>
                      </a:endParaRPr>
                    </a:p>
                  </a:txBody>
                  <a:tcPr marT="8500" marB="0" marR="8500" marL="8500" anchor="ctr"/>
                </a:tc>
              </a:tr>
              <a:tr h="178650">
                <a:tc>
                  <a:txBody>
                    <a:bodyPr/>
                    <a:lstStyle/>
                    <a:p>
                      <a:pPr indent="0" lvl="0" marL="0" marR="0" rtl="0" algn="l">
                        <a:spcBef>
                          <a:spcPts val="0"/>
                        </a:spcBef>
                        <a:spcAft>
                          <a:spcPts val="0"/>
                        </a:spcAft>
                        <a:buNone/>
                      </a:pPr>
                      <a:r>
                        <a:rPr lang="es-BO" sz="1400" u="none" strike="noStrike"/>
                        <a:t>N°</a:t>
                      </a:r>
                      <a:endParaRPr b="1" i="0" sz="1400" u="none" strike="noStrike">
                        <a:solidFill>
                          <a:srgbClr val="000000"/>
                        </a:solidFill>
                        <a:latin typeface="Times New Roman"/>
                        <a:ea typeface="Times New Roman"/>
                        <a:cs typeface="Times New Roman"/>
                        <a:sym typeface="Times New Roman"/>
                      </a:endParaRPr>
                    </a:p>
                  </a:txBody>
                  <a:tcPr marT="8500" marB="0" marR="8500" marL="8500" anchor="ctr"/>
                </a:tc>
                <a:tc>
                  <a:txBody>
                    <a:bodyPr/>
                    <a:lstStyle/>
                    <a:p>
                      <a:pPr indent="0" lvl="0" marL="0" marR="0" rtl="0" algn="l">
                        <a:spcBef>
                          <a:spcPts val="0"/>
                        </a:spcBef>
                        <a:spcAft>
                          <a:spcPts val="0"/>
                        </a:spcAft>
                        <a:buNone/>
                      </a:pPr>
                      <a:r>
                        <a:rPr lang="es-BO" sz="1400" u="none" strike="noStrike"/>
                        <a:t>Número de Serie</a:t>
                      </a:r>
                      <a:endParaRPr b="0" i="0" sz="1400" u="none" strike="noStrike">
                        <a:solidFill>
                          <a:srgbClr val="000000"/>
                        </a:solidFill>
                        <a:latin typeface="Times New Roman"/>
                        <a:ea typeface="Times New Roman"/>
                        <a:cs typeface="Times New Roman"/>
                        <a:sym typeface="Times New Roman"/>
                      </a:endParaRPr>
                    </a:p>
                  </a:txBody>
                  <a:tcPr marT="8500" marB="0" marR="8500" marL="8500" anchor="ctr"/>
                </a:tc>
              </a:tr>
              <a:tr h="357325">
                <a:tc>
                  <a:txBody>
                    <a:bodyPr/>
                    <a:lstStyle/>
                    <a:p>
                      <a:pPr indent="0" lvl="0" marL="0" marR="0" rtl="0" algn="l">
                        <a:spcBef>
                          <a:spcPts val="0"/>
                        </a:spcBef>
                        <a:spcAft>
                          <a:spcPts val="0"/>
                        </a:spcAft>
                        <a:buNone/>
                      </a:pPr>
                      <a:r>
                        <a:rPr lang="es-BO" sz="1400" u="none" strike="noStrike"/>
                        <a:t>Continuous Duty</a:t>
                      </a:r>
                      <a:endParaRPr b="1" i="0" sz="1400" u="none" strike="noStrike">
                        <a:solidFill>
                          <a:srgbClr val="000000"/>
                        </a:solidFill>
                        <a:latin typeface="Times New Roman"/>
                        <a:ea typeface="Times New Roman"/>
                        <a:cs typeface="Times New Roman"/>
                        <a:sym typeface="Times New Roman"/>
                      </a:endParaRPr>
                    </a:p>
                  </a:txBody>
                  <a:tcPr marT="8500" marB="0" marR="8500" marL="8500" anchor="ctr"/>
                </a:tc>
                <a:tc>
                  <a:txBody>
                    <a:bodyPr/>
                    <a:lstStyle/>
                    <a:p>
                      <a:pPr indent="0" lvl="0" marL="0" marR="0" rtl="0" algn="l">
                        <a:spcBef>
                          <a:spcPts val="0"/>
                        </a:spcBef>
                        <a:spcAft>
                          <a:spcPts val="0"/>
                        </a:spcAft>
                        <a:buNone/>
                      </a:pPr>
                      <a:r>
                        <a:rPr lang="es-BO" sz="1400" u="none" strike="noStrike"/>
                        <a:t>Funcionamiento de motor de forma continua</a:t>
                      </a:r>
                      <a:endParaRPr b="0" i="0" sz="1400" u="none" strike="noStrike">
                        <a:solidFill>
                          <a:srgbClr val="000000"/>
                        </a:solidFill>
                        <a:latin typeface="Times New Roman"/>
                        <a:ea typeface="Times New Roman"/>
                        <a:cs typeface="Times New Roman"/>
                        <a:sym typeface="Times New Roman"/>
                      </a:endParaRPr>
                    </a:p>
                  </a:txBody>
                  <a:tcPr marT="8500" marB="0" marR="8500" marL="8500" anchor="ctr"/>
                </a:tc>
              </a:tr>
              <a:tr h="178650">
                <a:tc>
                  <a:txBody>
                    <a:bodyPr/>
                    <a:lstStyle/>
                    <a:p>
                      <a:pPr indent="0" lvl="0" marL="0" marR="0" rtl="0" algn="l">
                        <a:spcBef>
                          <a:spcPts val="0"/>
                        </a:spcBef>
                        <a:spcAft>
                          <a:spcPts val="0"/>
                        </a:spcAft>
                        <a:buNone/>
                      </a:pPr>
                      <a:r>
                        <a:rPr lang="es-BO" sz="1400" u="none" strike="noStrike"/>
                        <a:t>3 phase</a:t>
                      </a:r>
                      <a:endParaRPr b="1" i="0" sz="1400" u="none" strike="noStrike">
                        <a:solidFill>
                          <a:srgbClr val="000000"/>
                        </a:solidFill>
                        <a:latin typeface="Times New Roman"/>
                        <a:ea typeface="Times New Roman"/>
                        <a:cs typeface="Times New Roman"/>
                        <a:sym typeface="Times New Roman"/>
                      </a:endParaRPr>
                    </a:p>
                  </a:txBody>
                  <a:tcPr marT="8500" marB="0" marR="8500" marL="8500" anchor="ctr"/>
                </a:tc>
                <a:tc>
                  <a:txBody>
                    <a:bodyPr/>
                    <a:lstStyle/>
                    <a:p>
                      <a:pPr indent="0" lvl="0" marL="0" marR="0" rtl="0" algn="l">
                        <a:spcBef>
                          <a:spcPts val="0"/>
                        </a:spcBef>
                        <a:spcAft>
                          <a:spcPts val="0"/>
                        </a:spcAft>
                        <a:buNone/>
                      </a:pPr>
                      <a:r>
                        <a:rPr lang="es-BO" sz="1400" u="none" strike="noStrike"/>
                        <a:t>Motor trifásico para CA</a:t>
                      </a:r>
                      <a:endParaRPr b="0" i="0" sz="1400" u="none" strike="noStrike">
                        <a:solidFill>
                          <a:srgbClr val="000000"/>
                        </a:solidFill>
                        <a:latin typeface="Times New Roman"/>
                        <a:ea typeface="Times New Roman"/>
                        <a:cs typeface="Times New Roman"/>
                        <a:sym typeface="Times New Roman"/>
                      </a:endParaRPr>
                    </a:p>
                  </a:txBody>
                  <a:tcPr marT="8500" marB="0" marR="8500" marL="8500" anchor="ctr"/>
                </a:tc>
              </a:tr>
              <a:tr h="357325">
                <a:tc>
                  <a:txBody>
                    <a:bodyPr/>
                    <a:lstStyle/>
                    <a:p>
                      <a:pPr indent="0" lvl="0" marL="0" marR="0" rtl="0" algn="l">
                        <a:spcBef>
                          <a:spcPts val="0"/>
                        </a:spcBef>
                        <a:spcAft>
                          <a:spcPts val="0"/>
                        </a:spcAft>
                        <a:buNone/>
                      </a:pPr>
                      <a:r>
                        <a:rPr lang="es-BO" sz="1400" u="none" strike="noStrike"/>
                        <a:t>CMT</a:t>
                      </a:r>
                      <a:endParaRPr b="1" i="0" sz="1400" u="none" strike="noStrike">
                        <a:solidFill>
                          <a:srgbClr val="000000"/>
                        </a:solidFill>
                        <a:latin typeface="Times New Roman"/>
                        <a:ea typeface="Times New Roman"/>
                        <a:cs typeface="Times New Roman"/>
                        <a:sym typeface="Times New Roman"/>
                      </a:endParaRPr>
                    </a:p>
                  </a:txBody>
                  <a:tcPr marT="8500" marB="0" marR="8500" marL="8500" anchor="ctr"/>
                </a:tc>
                <a:tc>
                  <a:txBody>
                    <a:bodyPr/>
                    <a:lstStyle/>
                    <a:p>
                      <a:pPr indent="0" lvl="0" marL="0" marR="0" rtl="0" algn="l">
                        <a:spcBef>
                          <a:spcPts val="0"/>
                        </a:spcBef>
                        <a:spcAft>
                          <a:spcPts val="0"/>
                        </a:spcAft>
                        <a:buNone/>
                      </a:pPr>
                      <a:r>
                        <a:rPr lang="es-BO" sz="1400" u="none" strike="noStrike"/>
                        <a:t>Motor Centrífugo - Monorotor - Trifásico</a:t>
                      </a:r>
                      <a:endParaRPr b="0" i="0" sz="1400" u="none" strike="noStrike">
                        <a:solidFill>
                          <a:srgbClr val="000000"/>
                        </a:solidFill>
                        <a:latin typeface="Times New Roman"/>
                        <a:ea typeface="Times New Roman"/>
                        <a:cs typeface="Times New Roman"/>
                        <a:sym typeface="Times New Roman"/>
                      </a:endParaRPr>
                    </a:p>
                  </a:txBody>
                  <a:tcPr marT="8500" marB="0" marR="8500" marL="8500" anchor="ctr"/>
                </a:tc>
              </a:tr>
              <a:tr h="178650">
                <a:tc>
                  <a:txBody>
                    <a:bodyPr/>
                    <a:lstStyle/>
                    <a:p>
                      <a:pPr indent="0" lvl="0" marL="0" marR="0" rtl="0" algn="l">
                        <a:spcBef>
                          <a:spcPts val="0"/>
                        </a:spcBef>
                        <a:spcAft>
                          <a:spcPts val="0"/>
                        </a:spcAft>
                        <a:buNone/>
                      </a:pPr>
                      <a:r>
                        <a:rPr lang="es-BO" sz="1400" u="none" strike="noStrike"/>
                        <a:t>100</a:t>
                      </a:r>
                      <a:endParaRPr b="1" i="0" sz="1400" u="none" strike="noStrike">
                        <a:solidFill>
                          <a:srgbClr val="000000"/>
                        </a:solidFill>
                        <a:latin typeface="Times New Roman"/>
                        <a:ea typeface="Times New Roman"/>
                        <a:cs typeface="Times New Roman"/>
                        <a:sym typeface="Times New Roman"/>
                      </a:endParaRPr>
                    </a:p>
                  </a:txBody>
                  <a:tcPr marT="8500" marB="0" marR="8500" marL="8500" anchor="ctr"/>
                </a:tc>
                <a:tc>
                  <a:txBody>
                    <a:bodyPr/>
                    <a:lstStyle/>
                    <a:p>
                      <a:pPr indent="0" lvl="0" marL="0" marR="0" rtl="0" algn="l">
                        <a:spcBef>
                          <a:spcPts val="0"/>
                        </a:spcBef>
                        <a:spcAft>
                          <a:spcPts val="0"/>
                        </a:spcAft>
                        <a:buNone/>
                      </a:pPr>
                      <a:r>
                        <a:rPr lang="es-BO" sz="1400" u="none" strike="noStrike"/>
                        <a:t>HP*100</a:t>
                      </a:r>
                      <a:endParaRPr b="0" i="0" sz="1400" u="none" strike="noStrike">
                        <a:solidFill>
                          <a:srgbClr val="000000"/>
                        </a:solidFill>
                        <a:latin typeface="Times New Roman"/>
                        <a:ea typeface="Times New Roman"/>
                        <a:cs typeface="Times New Roman"/>
                        <a:sym typeface="Times New Roman"/>
                      </a:endParaRPr>
                    </a:p>
                  </a:txBody>
                  <a:tcPr marT="8500" marB="0" marR="8500" marL="8500" anchor="ctr"/>
                </a:tc>
              </a:tr>
              <a:tr h="178650">
                <a:tc>
                  <a:txBody>
                    <a:bodyPr/>
                    <a:lstStyle/>
                    <a:p>
                      <a:pPr indent="0" lvl="0" marL="0" marR="0" rtl="0" algn="l">
                        <a:spcBef>
                          <a:spcPts val="0"/>
                        </a:spcBef>
                        <a:spcAft>
                          <a:spcPts val="0"/>
                        </a:spcAft>
                        <a:buNone/>
                      </a:pPr>
                      <a:r>
                        <a:rPr lang="es-BO" sz="1400" u="none" strike="noStrike"/>
                        <a:t>00</a:t>
                      </a:r>
                      <a:endParaRPr b="1" i="0" sz="1400" u="none" strike="noStrike">
                        <a:solidFill>
                          <a:srgbClr val="000000"/>
                        </a:solidFill>
                        <a:latin typeface="Times New Roman"/>
                        <a:ea typeface="Times New Roman"/>
                        <a:cs typeface="Times New Roman"/>
                        <a:sym typeface="Times New Roman"/>
                      </a:endParaRPr>
                    </a:p>
                  </a:txBody>
                  <a:tcPr marT="8500" marB="0" marR="8500" marL="8500" anchor="ctr"/>
                </a:tc>
                <a:tc>
                  <a:txBody>
                    <a:bodyPr/>
                    <a:lstStyle/>
                    <a:p>
                      <a:pPr indent="0" lvl="0" marL="0" marR="0" rtl="0" algn="l">
                        <a:spcBef>
                          <a:spcPts val="0"/>
                        </a:spcBef>
                        <a:spcAft>
                          <a:spcPts val="0"/>
                        </a:spcAft>
                        <a:buNone/>
                      </a:pPr>
                      <a:r>
                        <a:rPr lang="es-BO" sz="1400" u="none" strike="noStrike"/>
                        <a:t>Cantidad de Impulsores</a:t>
                      </a:r>
                      <a:endParaRPr b="0" i="0" sz="1400" u="none" strike="noStrike">
                        <a:solidFill>
                          <a:srgbClr val="000000"/>
                        </a:solidFill>
                        <a:latin typeface="Times New Roman"/>
                        <a:ea typeface="Times New Roman"/>
                        <a:cs typeface="Times New Roman"/>
                        <a:sym typeface="Times New Roman"/>
                      </a:endParaRPr>
                    </a:p>
                  </a:txBody>
                  <a:tcPr marT="8500" marB="0" marR="8500" marL="8500" anchor="ctr"/>
                </a:tc>
              </a:tr>
            </a:tbl>
          </a:graphicData>
        </a:graphic>
      </p:graphicFrame>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97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7" name="Shape 977"/>
        <p:cNvGrpSpPr/>
        <p:nvPr/>
      </p:nvGrpSpPr>
      <p:grpSpPr>
        <a:xfrm>
          <a:off x="0" y="0"/>
          <a:ext cx="0" cy="0"/>
          <a:chOff x="0" y="0"/>
          <a:chExt cx="0" cy="0"/>
        </a:xfrm>
      </p:grpSpPr>
      <p:sp>
        <p:nvSpPr>
          <p:cNvPr id="978" name="Google Shape;978;p67"/>
          <p:cNvSpPr txBox="1"/>
          <p:nvPr>
            <p:ph type="title"/>
          </p:nvPr>
        </p:nvSpPr>
        <p:spPr>
          <a:xfrm>
            <a:off x="1623060" y="606726"/>
            <a:ext cx="5692140" cy="502433"/>
          </a:xfrm>
          <a:prstGeom prst="rect">
            <a:avLst/>
          </a:prstGeom>
          <a:noFill/>
          <a:ln>
            <a:noFill/>
          </a:ln>
        </p:spPr>
        <p:txBody>
          <a:bodyPr anchorCtr="0" anchor="t" bIns="121900" lIns="121900" spcFirstLastPara="1" rIns="121900" wrap="square" tIns="121900">
            <a:noAutofit/>
          </a:bodyPr>
          <a:lstStyle/>
          <a:p>
            <a:pPr indent="0" lvl="0" marL="0" rtl="0" algn="ctr">
              <a:spcBef>
                <a:spcPts val="0"/>
              </a:spcBef>
              <a:spcAft>
                <a:spcPts val="0"/>
              </a:spcAft>
              <a:buClr>
                <a:schemeClr val="dk1"/>
              </a:buClr>
              <a:buSzPts val="990"/>
              <a:buFont typeface="Calibri"/>
              <a:buNone/>
            </a:pPr>
            <a:r>
              <a:rPr b="1" lang="es-BO" sz="1800">
                <a:latin typeface="Calibri"/>
                <a:ea typeface="Calibri"/>
                <a:cs typeface="Calibri"/>
                <a:sym typeface="Calibri"/>
              </a:rPr>
              <a:t>Medición de las resistencias de los devanados del motor</a:t>
            </a:r>
            <a:endParaRPr sz="1200">
              <a:latin typeface="Calibri"/>
              <a:ea typeface="Calibri"/>
              <a:cs typeface="Calibri"/>
              <a:sym typeface="Calibri"/>
            </a:endParaRPr>
          </a:p>
        </p:txBody>
      </p:sp>
      <p:sp>
        <p:nvSpPr>
          <p:cNvPr id="979" name="Google Shape;979;p67"/>
          <p:cNvSpPr txBox="1"/>
          <p:nvPr>
            <p:ph idx="1" type="body"/>
          </p:nvPr>
        </p:nvSpPr>
        <p:spPr>
          <a:xfrm>
            <a:off x="1623060" y="1233968"/>
            <a:ext cx="9945548" cy="1335814"/>
          </a:xfrm>
          <a:prstGeom prst="rect">
            <a:avLst/>
          </a:prstGeom>
          <a:noFill/>
          <a:ln>
            <a:noFill/>
          </a:ln>
        </p:spPr>
        <p:txBody>
          <a:bodyPr anchorCtr="0" anchor="t" bIns="121900" lIns="121900" spcFirstLastPara="1" rIns="121900" wrap="square" tIns="121900">
            <a:normAutofit/>
          </a:bodyPr>
          <a:lstStyle/>
          <a:p>
            <a:pPr indent="0" lvl="0" marL="0" rtl="0" algn="just">
              <a:spcBef>
                <a:spcPts val="1333"/>
              </a:spcBef>
              <a:spcAft>
                <a:spcPts val="0"/>
              </a:spcAft>
              <a:buClr>
                <a:schemeClr val="dk1"/>
              </a:buClr>
              <a:buSzPts val="1300"/>
              <a:buNone/>
            </a:pPr>
            <a:r>
              <a:rPr b="1" lang="es-BO" sz="1600"/>
              <a:t>Carga equilibrada</a:t>
            </a:r>
            <a:r>
              <a:rPr lang="es-BO" sz="1600"/>
              <a:t>: significa que las bobinas tienen misma resistencia, lo que implica misma longitud y misma inductancia, lo que es necesario para un motor trifásico</a:t>
            </a:r>
            <a:endParaRPr/>
          </a:p>
          <a:p>
            <a:pPr indent="0" lvl="0" marL="0" rtl="0" algn="just">
              <a:spcBef>
                <a:spcPts val="1333"/>
              </a:spcBef>
              <a:spcAft>
                <a:spcPts val="0"/>
              </a:spcAft>
              <a:buClr>
                <a:schemeClr val="dk1"/>
              </a:buClr>
              <a:buSzPts val="1300"/>
              <a:buNone/>
            </a:pPr>
            <a:r>
              <a:rPr lang="es-BO" sz="1600"/>
              <a:t>La medición de las resistencias se realiza en paralelo, para cada una de las bobinas de forma individual.</a:t>
            </a:r>
            <a:endParaRPr sz="1600"/>
          </a:p>
          <a:p>
            <a:pPr indent="0" lvl="0" marL="0" rtl="0" algn="l">
              <a:spcBef>
                <a:spcPts val="0"/>
              </a:spcBef>
              <a:spcAft>
                <a:spcPts val="1600"/>
              </a:spcAft>
              <a:buClr>
                <a:schemeClr val="dk1"/>
              </a:buClr>
              <a:buSzPts val="1300"/>
              <a:buNone/>
            </a:pPr>
            <a:r>
              <a:t/>
            </a:r>
            <a:endParaRPr/>
          </a:p>
        </p:txBody>
      </p:sp>
      <p:pic>
        <p:nvPicPr>
          <p:cNvPr id="980" name="Google Shape;980;p67"/>
          <p:cNvPicPr preferRelativeResize="0"/>
          <p:nvPr/>
        </p:nvPicPr>
        <p:blipFill rotWithShape="1">
          <a:blip r:embed="rId3">
            <a:alphaModFix/>
          </a:blip>
          <a:srcRect b="0" l="0" r="0" t="0"/>
          <a:stretch/>
        </p:blipFill>
        <p:spPr>
          <a:xfrm>
            <a:off x="1332217" y="2819400"/>
            <a:ext cx="4628047" cy="2555014"/>
          </a:xfrm>
          <a:prstGeom prst="rect">
            <a:avLst/>
          </a:prstGeom>
          <a:noFill/>
          <a:ln>
            <a:noFill/>
          </a:ln>
        </p:spPr>
      </p:pic>
      <p:sp>
        <p:nvSpPr>
          <p:cNvPr id="981" name="Google Shape;981;p67"/>
          <p:cNvSpPr txBox="1"/>
          <p:nvPr/>
        </p:nvSpPr>
        <p:spPr>
          <a:xfrm>
            <a:off x="2351584" y="5624032"/>
            <a:ext cx="2870075" cy="493941"/>
          </a:xfrm>
          <a:prstGeom prst="rect">
            <a:avLst/>
          </a:prstGeom>
          <a:noFill/>
          <a:ln>
            <a:noFill/>
          </a:ln>
        </p:spPr>
        <p:txBody>
          <a:bodyPr anchorCtr="0" anchor="t" bIns="121900" lIns="121900" spcFirstLastPara="1" rIns="121900" wrap="square" tIns="121900">
            <a:spAutoFit/>
          </a:bodyPr>
          <a:lstStyle/>
          <a:p>
            <a:pPr indent="0" lvl="0" marL="0" marR="0" rtl="0" algn="ctr">
              <a:lnSpc>
                <a:spcPct val="115000"/>
              </a:lnSpc>
              <a:spcBef>
                <a:spcPts val="0"/>
              </a:spcBef>
              <a:spcAft>
                <a:spcPts val="0"/>
              </a:spcAft>
              <a:buNone/>
            </a:pPr>
            <a:r>
              <a:rPr b="1" i="1" lang="es-BO" sz="1400">
                <a:solidFill>
                  <a:schemeClr val="dk1"/>
                </a:solidFill>
                <a:latin typeface="Calibri"/>
                <a:ea typeface="Calibri"/>
                <a:cs typeface="Calibri"/>
                <a:sym typeface="Calibri"/>
              </a:rPr>
              <a:t>Bomba de Agua PentaxCMT 100/00</a:t>
            </a:r>
            <a:endParaRPr sz="2400">
              <a:solidFill>
                <a:schemeClr val="lt1"/>
              </a:solidFill>
              <a:latin typeface="Lato"/>
              <a:ea typeface="Lato"/>
              <a:cs typeface="Lato"/>
              <a:sym typeface="Lato"/>
            </a:endParaRPr>
          </a:p>
        </p:txBody>
      </p:sp>
      <p:pic>
        <p:nvPicPr>
          <p:cNvPr id="982" name="Google Shape;982;p67"/>
          <p:cNvPicPr preferRelativeResize="0"/>
          <p:nvPr/>
        </p:nvPicPr>
        <p:blipFill rotWithShape="1">
          <a:blip r:embed="rId4">
            <a:alphaModFix/>
          </a:blip>
          <a:srcRect b="9864" l="0" r="62456" t="43670"/>
          <a:stretch/>
        </p:blipFill>
        <p:spPr>
          <a:xfrm>
            <a:off x="6656421" y="2852936"/>
            <a:ext cx="1636649" cy="2160240"/>
          </a:xfrm>
          <a:prstGeom prst="rect">
            <a:avLst/>
          </a:prstGeom>
          <a:noFill/>
          <a:ln>
            <a:noFill/>
          </a:ln>
        </p:spPr>
      </p:pic>
      <p:pic>
        <p:nvPicPr>
          <p:cNvPr id="983" name="Google Shape;983;p67"/>
          <p:cNvPicPr preferRelativeResize="0"/>
          <p:nvPr/>
        </p:nvPicPr>
        <p:blipFill rotWithShape="1">
          <a:blip r:embed="rId4">
            <a:alphaModFix/>
          </a:blip>
          <a:srcRect b="64991" l="34405" r="0" t="0"/>
          <a:stretch/>
        </p:blipFill>
        <p:spPr>
          <a:xfrm>
            <a:off x="8545760" y="3241199"/>
            <a:ext cx="3235778" cy="1953523"/>
          </a:xfrm>
          <a:prstGeom prst="rect">
            <a:avLst/>
          </a:prstGeom>
          <a:noFill/>
          <a:ln>
            <a:noFill/>
          </a:ln>
        </p:spPr>
      </p:pic>
      <p:sp>
        <p:nvSpPr>
          <p:cNvPr id="984" name="Google Shape;984;p67"/>
          <p:cNvSpPr txBox="1"/>
          <p:nvPr/>
        </p:nvSpPr>
        <p:spPr>
          <a:xfrm>
            <a:off x="6287416" y="5624031"/>
            <a:ext cx="2374658" cy="493941"/>
          </a:xfrm>
          <a:prstGeom prst="rect">
            <a:avLst/>
          </a:prstGeom>
          <a:noFill/>
          <a:ln>
            <a:noFill/>
          </a:ln>
        </p:spPr>
        <p:txBody>
          <a:bodyPr anchorCtr="0" anchor="t" bIns="121900" lIns="121900" spcFirstLastPara="1" rIns="121900" wrap="square" tIns="121900">
            <a:spAutoFit/>
          </a:bodyPr>
          <a:lstStyle/>
          <a:p>
            <a:pPr indent="0" lvl="0" marL="0" marR="0" rtl="0" algn="ctr">
              <a:lnSpc>
                <a:spcPct val="115000"/>
              </a:lnSpc>
              <a:spcBef>
                <a:spcPts val="0"/>
              </a:spcBef>
              <a:spcAft>
                <a:spcPts val="0"/>
              </a:spcAft>
              <a:buNone/>
            </a:pPr>
            <a:r>
              <a:rPr b="1" i="1" lang="es-BO" sz="1400">
                <a:solidFill>
                  <a:schemeClr val="dk1"/>
                </a:solidFill>
                <a:latin typeface="Calibri"/>
                <a:ea typeface="Calibri"/>
                <a:cs typeface="Calibri"/>
                <a:sym typeface="Calibri"/>
              </a:rPr>
              <a:t>Bornes de un motor trifásico</a:t>
            </a:r>
            <a:endParaRPr sz="2400">
              <a:solidFill>
                <a:schemeClr val="lt1"/>
              </a:solidFill>
              <a:latin typeface="Lato"/>
              <a:ea typeface="Lato"/>
              <a:cs typeface="Lato"/>
              <a:sym typeface="Lato"/>
            </a:endParaRPr>
          </a:p>
        </p:txBody>
      </p:sp>
      <p:sp>
        <p:nvSpPr>
          <p:cNvPr id="985" name="Google Shape;985;p67"/>
          <p:cNvSpPr txBox="1"/>
          <p:nvPr/>
        </p:nvSpPr>
        <p:spPr>
          <a:xfrm>
            <a:off x="8832304" y="5500150"/>
            <a:ext cx="2662690" cy="741701"/>
          </a:xfrm>
          <a:prstGeom prst="rect">
            <a:avLst/>
          </a:prstGeom>
          <a:noFill/>
          <a:ln>
            <a:noFill/>
          </a:ln>
        </p:spPr>
        <p:txBody>
          <a:bodyPr anchorCtr="0" anchor="t" bIns="121900" lIns="121900" spcFirstLastPara="1" rIns="121900" wrap="square" tIns="121900">
            <a:spAutoFit/>
          </a:bodyPr>
          <a:lstStyle/>
          <a:p>
            <a:pPr indent="0" lvl="0" marL="0" marR="0" rtl="0" algn="ctr">
              <a:lnSpc>
                <a:spcPct val="115000"/>
              </a:lnSpc>
              <a:spcBef>
                <a:spcPts val="0"/>
              </a:spcBef>
              <a:spcAft>
                <a:spcPts val="0"/>
              </a:spcAft>
              <a:buNone/>
            </a:pPr>
            <a:r>
              <a:rPr b="1" i="1" lang="es-BO" sz="1400">
                <a:solidFill>
                  <a:schemeClr val="dk1"/>
                </a:solidFill>
                <a:latin typeface="Calibri"/>
                <a:ea typeface="Calibri"/>
                <a:cs typeface="Calibri"/>
                <a:sym typeface="Calibri"/>
              </a:rPr>
              <a:t>Configuraciones Estrella y Delta</a:t>
            </a:r>
            <a:endParaRPr/>
          </a:p>
          <a:p>
            <a:pPr indent="0" lvl="0" marL="0" marR="0" rtl="0" algn="ctr">
              <a:lnSpc>
                <a:spcPct val="115000"/>
              </a:lnSpc>
              <a:spcBef>
                <a:spcPts val="0"/>
              </a:spcBef>
              <a:spcAft>
                <a:spcPts val="0"/>
              </a:spcAft>
              <a:buNone/>
            </a:pPr>
            <a:r>
              <a:rPr b="1" i="1" lang="es-BO" sz="1400">
                <a:solidFill>
                  <a:schemeClr val="dk1"/>
                </a:solidFill>
                <a:latin typeface="Calibri"/>
                <a:ea typeface="Calibri"/>
                <a:cs typeface="Calibri"/>
                <a:sym typeface="Calibri"/>
              </a:rPr>
              <a:t>Respectivamente</a:t>
            </a:r>
            <a:endParaRPr sz="2400">
              <a:solidFill>
                <a:schemeClr val="lt1"/>
              </a:solidFill>
              <a:latin typeface="Lato"/>
              <a:ea typeface="Lato"/>
              <a:cs typeface="Lato"/>
              <a:sym typeface="Lato"/>
            </a:endParaRPr>
          </a:p>
        </p:txBody>
      </p:sp>
    </p:spTree>
  </p:cSld>
  <p:clrMapOvr>
    <a:masterClrMapping/>
  </p:clrMapOvr>
  <p:transition spd="slow">
    <p:push/>
  </p:transition>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9" name="Shape 989"/>
        <p:cNvGrpSpPr/>
        <p:nvPr/>
      </p:nvGrpSpPr>
      <p:grpSpPr>
        <a:xfrm>
          <a:off x="0" y="0"/>
          <a:ext cx="0" cy="0"/>
          <a:chOff x="0" y="0"/>
          <a:chExt cx="0" cy="0"/>
        </a:xfrm>
      </p:grpSpPr>
      <p:grpSp>
        <p:nvGrpSpPr>
          <p:cNvPr id="990" name="Google Shape;990;p68"/>
          <p:cNvGrpSpPr/>
          <p:nvPr/>
        </p:nvGrpSpPr>
        <p:grpSpPr>
          <a:xfrm>
            <a:off x="1415480" y="1268760"/>
            <a:ext cx="9505056" cy="4320480"/>
            <a:chOff x="0" y="0"/>
            <a:chExt cx="5112620" cy="2163765"/>
          </a:xfrm>
        </p:grpSpPr>
        <p:grpSp>
          <p:nvGrpSpPr>
            <p:cNvPr id="991" name="Google Shape;991;p68"/>
            <p:cNvGrpSpPr/>
            <p:nvPr/>
          </p:nvGrpSpPr>
          <p:grpSpPr>
            <a:xfrm>
              <a:off x="0" y="0"/>
              <a:ext cx="3017558" cy="2099310"/>
              <a:chOff x="0" y="0"/>
              <a:chExt cx="3017558" cy="2099310"/>
            </a:xfrm>
          </p:grpSpPr>
          <p:cxnSp>
            <p:nvCxnSpPr>
              <p:cNvPr id="992" name="Google Shape;992;p68"/>
              <p:cNvCxnSpPr/>
              <p:nvPr/>
            </p:nvCxnSpPr>
            <p:spPr>
              <a:xfrm>
                <a:off x="1903583" y="2032755"/>
                <a:ext cx="1078230" cy="0"/>
              </a:xfrm>
              <a:prstGeom prst="straightConnector1">
                <a:avLst/>
              </a:prstGeom>
              <a:noFill/>
              <a:ln cap="flat" cmpd="sng" w="38100">
                <a:solidFill>
                  <a:srgbClr val="FF0000"/>
                </a:solidFill>
                <a:prstDash val="solid"/>
                <a:round/>
                <a:headEnd len="sm" w="sm" type="none"/>
                <a:tailEnd len="sm" w="sm" type="none"/>
              </a:ln>
              <a:effectLst>
                <a:outerShdw blurRad="40000" rotWithShape="0" dir="5400000" dist="23000">
                  <a:srgbClr val="000000">
                    <a:alpha val="34901"/>
                  </a:srgbClr>
                </a:outerShdw>
              </a:effectLst>
            </p:spPr>
          </p:cxnSp>
          <p:cxnSp>
            <p:nvCxnSpPr>
              <p:cNvPr id="993" name="Google Shape;993;p68"/>
              <p:cNvCxnSpPr/>
              <p:nvPr/>
            </p:nvCxnSpPr>
            <p:spPr>
              <a:xfrm>
                <a:off x="1838998" y="2087143"/>
                <a:ext cx="1178560" cy="0"/>
              </a:xfrm>
              <a:prstGeom prst="straightConnector1">
                <a:avLst/>
              </a:prstGeom>
              <a:noFill/>
              <a:ln cap="flat" cmpd="sng" w="38100">
                <a:solidFill>
                  <a:srgbClr val="FF0000"/>
                </a:solidFill>
                <a:prstDash val="solid"/>
                <a:round/>
                <a:headEnd len="sm" w="sm" type="none"/>
                <a:tailEnd len="sm" w="sm" type="none"/>
              </a:ln>
              <a:effectLst>
                <a:outerShdw blurRad="40000" rotWithShape="0" dir="5400000" dist="23000">
                  <a:srgbClr val="000000">
                    <a:alpha val="34901"/>
                  </a:srgbClr>
                </a:outerShdw>
              </a:effectLst>
            </p:spPr>
          </p:cxnSp>
          <p:grpSp>
            <p:nvGrpSpPr>
              <p:cNvPr id="994" name="Google Shape;994;p68"/>
              <p:cNvGrpSpPr/>
              <p:nvPr/>
            </p:nvGrpSpPr>
            <p:grpSpPr>
              <a:xfrm>
                <a:off x="0" y="0"/>
                <a:ext cx="3017520" cy="2099310"/>
                <a:chOff x="0" y="0"/>
                <a:chExt cx="3017520" cy="2099310"/>
              </a:xfrm>
            </p:grpSpPr>
            <p:cxnSp>
              <p:nvCxnSpPr>
                <p:cNvPr id="995" name="Google Shape;995;p68"/>
                <p:cNvCxnSpPr/>
                <p:nvPr/>
              </p:nvCxnSpPr>
              <p:spPr>
                <a:xfrm>
                  <a:off x="1985166" y="1985165"/>
                  <a:ext cx="956310" cy="0"/>
                </a:xfrm>
                <a:prstGeom prst="straightConnector1">
                  <a:avLst/>
                </a:prstGeom>
                <a:noFill/>
                <a:ln cap="flat" cmpd="sng" w="38100">
                  <a:solidFill>
                    <a:srgbClr val="FF0000"/>
                  </a:solidFill>
                  <a:prstDash val="solid"/>
                  <a:round/>
                  <a:headEnd len="sm" w="sm" type="none"/>
                  <a:tailEnd len="sm" w="sm" type="none"/>
                </a:ln>
                <a:effectLst>
                  <a:outerShdw blurRad="40000" rotWithShape="0" dir="5400000" dist="23000">
                    <a:srgbClr val="000000">
                      <a:alpha val="34901"/>
                    </a:srgbClr>
                  </a:outerShdw>
                </a:effectLst>
              </p:spPr>
            </p:cxnSp>
            <p:grpSp>
              <p:nvGrpSpPr>
                <p:cNvPr id="996" name="Google Shape;996;p68"/>
                <p:cNvGrpSpPr/>
                <p:nvPr/>
              </p:nvGrpSpPr>
              <p:grpSpPr>
                <a:xfrm>
                  <a:off x="0" y="0"/>
                  <a:ext cx="3017520" cy="2099310"/>
                  <a:chOff x="0" y="0"/>
                  <a:chExt cx="3017520" cy="2099310"/>
                </a:xfrm>
              </p:grpSpPr>
              <p:grpSp>
                <p:nvGrpSpPr>
                  <p:cNvPr id="997" name="Google Shape;997;p68"/>
                  <p:cNvGrpSpPr/>
                  <p:nvPr/>
                </p:nvGrpSpPr>
                <p:grpSpPr>
                  <a:xfrm>
                    <a:off x="0" y="0"/>
                    <a:ext cx="2582972" cy="2099310"/>
                    <a:chOff x="0" y="0"/>
                    <a:chExt cx="2582972" cy="2099310"/>
                  </a:xfrm>
                </p:grpSpPr>
                <p:grpSp>
                  <p:nvGrpSpPr>
                    <p:cNvPr id="998" name="Google Shape;998;p68"/>
                    <p:cNvGrpSpPr/>
                    <p:nvPr/>
                  </p:nvGrpSpPr>
                  <p:grpSpPr>
                    <a:xfrm>
                      <a:off x="0" y="0"/>
                      <a:ext cx="2582972" cy="1919096"/>
                      <a:chOff x="0" y="0"/>
                      <a:chExt cx="2582972" cy="1919096"/>
                    </a:xfrm>
                  </p:grpSpPr>
                  <p:sp>
                    <p:nvSpPr>
                      <p:cNvPr id="999" name="Google Shape;999;p68"/>
                      <p:cNvSpPr/>
                      <p:nvPr/>
                    </p:nvSpPr>
                    <p:spPr>
                      <a:xfrm>
                        <a:off x="0" y="0"/>
                        <a:ext cx="467360" cy="21907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s-BO" sz="1600">
                            <a:solidFill>
                              <a:schemeClr val="dk1"/>
                            </a:solidFill>
                            <a:latin typeface="Times New Roman"/>
                            <a:ea typeface="Times New Roman"/>
                            <a:cs typeface="Times New Roman"/>
                            <a:sym typeface="Times New Roman"/>
                          </a:rPr>
                          <a:t>220 AC</a:t>
                        </a:r>
                        <a:endParaRPr sz="2800">
                          <a:solidFill>
                            <a:schemeClr val="dk1"/>
                          </a:solidFill>
                          <a:latin typeface="Times New Roman"/>
                          <a:ea typeface="Times New Roman"/>
                          <a:cs typeface="Times New Roman"/>
                          <a:sym typeface="Times New Roman"/>
                        </a:endParaRPr>
                      </a:p>
                    </p:txBody>
                  </p:sp>
                  <p:grpSp>
                    <p:nvGrpSpPr>
                      <p:cNvPr id="1000" name="Google Shape;1000;p68"/>
                      <p:cNvGrpSpPr/>
                      <p:nvPr/>
                    </p:nvGrpSpPr>
                    <p:grpSpPr>
                      <a:xfrm>
                        <a:off x="140329" y="126748"/>
                        <a:ext cx="2442643" cy="1792348"/>
                        <a:chOff x="0" y="0"/>
                        <a:chExt cx="2442643" cy="1792348"/>
                      </a:xfrm>
                    </p:grpSpPr>
                    <p:pic>
                      <p:nvPicPr>
                        <p:cNvPr descr="Ver las imágenes de origen" id="1001" name="Google Shape;1001;p68"/>
                        <p:cNvPicPr preferRelativeResize="0"/>
                        <p:nvPr/>
                      </p:nvPicPr>
                      <p:blipFill rotWithShape="1">
                        <a:blip r:embed="rId3">
                          <a:alphaModFix/>
                        </a:blip>
                        <a:srcRect b="0" l="23750" r="19583" t="0"/>
                        <a:stretch/>
                      </p:blipFill>
                      <p:spPr>
                        <a:xfrm>
                          <a:off x="1290118" y="267078"/>
                          <a:ext cx="1152525" cy="1525270"/>
                        </a:xfrm>
                        <a:prstGeom prst="rect">
                          <a:avLst/>
                        </a:prstGeom>
                        <a:noFill/>
                        <a:ln>
                          <a:noFill/>
                        </a:ln>
                      </p:spPr>
                    </p:pic>
                    <p:cxnSp>
                      <p:nvCxnSpPr>
                        <p:cNvPr id="1002" name="Google Shape;1002;p68"/>
                        <p:cNvCxnSpPr/>
                        <p:nvPr/>
                      </p:nvCxnSpPr>
                      <p:spPr>
                        <a:xfrm>
                          <a:off x="280657" y="9054"/>
                          <a:ext cx="1514475" cy="0"/>
                        </a:xfrm>
                        <a:prstGeom prst="straightConnector1">
                          <a:avLst/>
                        </a:prstGeom>
                        <a:noFill/>
                        <a:ln cap="flat" cmpd="sng" w="38100">
                          <a:solidFill>
                            <a:srgbClr val="FF0000"/>
                          </a:solidFill>
                          <a:prstDash val="solid"/>
                          <a:round/>
                          <a:headEnd len="sm" w="sm" type="none"/>
                          <a:tailEnd len="sm" w="sm" type="none"/>
                        </a:ln>
                        <a:effectLst>
                          <a:outerShdw blurRad="40000" rotWithShape="0" dir="5400000" dist="23000">
                            <a:srgbClr val="000000">
                              <a:alpha val="34901"/>
                            </a:srgbClr>
                          </a:outerShdw>
                        </a:effectLst>
                      </p:spPr>
                    </p:cxnSp>
                    <p:cxnSp>
                      <p:nvCxnSpPr>
                        <p:cNvPr id="1003" name="Google Shape;1003;p68"/>
                        <p:cNvCxnSpPr/>
                        <p:nvPr/>
                      </p:nvCxnSpPr>
                      <p:spPr>
                        <a:xfrm>
                          <a:off x="312344" y="131276"/>
                          <a:ext cx="1419225" cy="0"/>
                        </a:xfrm>
                        <a:prstGeom prst="straightConnector1">
                          <a:avLst/>
                        </a:prstGeom>
                        <a:noFill/>
                        <a:ln cap="flat" cmpd="sng" w="38100">
                          <a:solidFill>
                            <a:srgbClr val="FF0000"/>
                          </a:solidFill>
                          <a:prstDash val="solid"/>
                          <a:round/>
                          <a:headEnd len="sm" w="sm" type="none"/>
                          <a:tailEnd len="sm" w="sm" type="none"/>
                        </a:ln>
                        <a:effectLst>
                          <a:outerShdw blurRad="40000" rotWithShape="0" dir="5400000" dist="23000">
                            <a:srgbClr val="000000">
                              <a:alpha val="34901"/>
                            </a:srgbClr>
                          </a:outerShdw>
                        </a:effectLst>
                      </p:spPr>
                    </p:cxnSp>
                    <p:cxnSp>
                      <p:nvCxnSpPr>
                        <p:cNvPr id="1004" name="Google Shape;1004;p68"/>
                        <p:cNvCxnSpPr/>
                        <p:nvPr/>
                      </p:nvCxnSpPr>
                      <p:spPr>
                        <a:xfrm rot="10800000">
                          <a:off x="1720158" y="131276"/>
                          <a:ext cx="0" cy="371475"/>
                        </a:xfrm>
                        <a:prstGeom prst="straightConnector1">
                          <a:avLst/>
                        </a:prstGeom>
                        <a:noFill/>
                        <a:ln cap="flat" cmpd="sng" w="38100">
                          <a:solidFill>
                            <a:srgbClr val="FF0000"/>
                          </a:solidFill>
                          <a:prstDash val="solid"/>
                          <a:round/>
                          <a:headEnd len="sm" w="sm" type="none"/>
                          <a:tailEnd len="sm" w="sm" type="none"/>
                        </a:ln>
                        <a:effectLst>
                          <a:outerShdw blurRad="40000" rotWithShape="0" dir="5400000" dist="23000">
                            <a:srgbClr val="000000">
                              <a:alpha val="34901"/>
                            </a:srgbClr>
                          </a:outerShdw>
                        </a:effectLst>
                      </p:spPr>
                    </p:cxnSp>
                    <p:cxnSp>
                      <p:nvCxnSpPr>
                        <p:cNvPr id="1005" name="Google Shape;1005;p68"/>
                        <p:cNvCxnSpPr/>
                        <p:nvPr/>
                      </p:nvCxnSpPr>
                      <p:spPr>
                        <a:xfrm rot="10800000">
                          <a:off x="1792586" y="0"/>
                          <a:ext cx="0" cy="485775"/>
                        </a:xfrm>
                        <a:prstGeom prst="straightConnector1">
                          <a:avLst/>
                        </a:prstGeom>
                        <a:noFill/>
                        <a:ln cap="flat" cmpd="sng" w="38100">
                          <a:solidFill>
                            <a:srgbClr val="FF0000"/>
                          </a:solidFill>
                          <a:prstDash val="solid"/>
                          <a:round/>
                          <a:headEnd len="sm" w="sm" type="none"/>
                          <a:tailEnd len="sm" w="sm" type="none"/>
                        </a:ln>
                        <a:effectLst>
                          <a:outerShdw blurRad="40000" rotWithShape="0" dir="5400000" dist="23000">
                            <a:srgbClr val="000000">
                              <a:alpha val="34901"/>
                            </a:srgbClr>
                          </a:outerShdw>
                        </a:effectLst>
                      </p:spPr>
                    </p:cxnSp>
                    <p:sp>
                      <p:nvSpPr>
                        <p:cNvPr id="1006" name="Google Shape;1006;p68"/>
                        <p:cNvSpPr/>
                        <p:nvPr/>
                      </p:nvSpPr>
                      <p:spPr>
                        <a:xfrm>
                          <a:off x="0" y="40741"/>
                          <a:ext cx="467360" cy="21907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s-BO" sz="1600">
                              <a:solidFill>
                                <a:schemeClr val="dk1"/>
                              </a:solidFill>
                              <a:latin typeface="Times New Roman"/>
                              <a:ea typeface="Times New Roman"/>
                              <a:cs typeface="Times New Roman"/>
                              <a:sym typeface="Times New Roman"/>
                            </a:rPr>
                            <a:t>N</a:t>
                          </a:r>
                          <a:endParaRPr sz="2800">
                            <a:solidFill>
                              <a:schemeClr val="dk1"/>
                            </a:solidFill>
                            <a:latin typeface="Times New Roman"/>
                            <a:ea typeface="Times New Roman"/>
                            <a:cs typeface="Times New Roman"/>
                            <a:sym typeface="Times New Roman"/>
                          </a:endParaRPr>
                        </a:p>
                      </p:txBody>
                    </p:sp>
                  </p:grpSp>
                </p:grpSp>
                <p:cxnSp>
                  <p:nvCxnSpPr>
                    <p:cNvPr id="1007" name="Google Shape;1007;p68"/>
                    <p:cNvCxnSpPr/>
                    <p:nvPr/>
                  </p:nvCxnSpPr>
                  <p:spPr>
                    <a:xfrm rot="10800000">
                      <a:off x="1851025" y="1733550"/>
                      <a:ext cx="0" cy="365760"/>
                    </a:xfrm>
                    <a:prstGeom prst="straightConnector1">
                      <a:avLst/>
                    </a:prstGeom>
                    <a:noFill/>
                    <a:ln cap="flat" cmpd="sng" w="38100">
                      <a:solidFill>
                        <a:srgbClr val="FF0000"/>
                      </a:solidFill>
                      <a:prstDash val="solid"/>
                      <a:round/>
                      <a:headEnd len="sm" w="sm" type="none"/>
                      <a:tailEnd len="sm" w="sm" type="none"/>
                    </a:ln>
                    <a:effectLst>
                      <a:outerShdw blurRad="40000" rotWithShape="0" dir="5400000" dist="23000">
                        <a:srgbClr val="000000">
                          <a:alpha val="34901"/>
                        </a:srgbClr>
                      </a:outerShdw>
                    </a:effectLst>
                  </p:spPr>
                </p:cxnSp>
                <p:cxnSp>
                  <p:nvCxnSpPr>
                    <p:cNvPr id="1008" name="Google Shape;1008;p68"/>
                    <p:cNvCxnSpPr/>
                    <p:nvPr/>
                  </p:nvCxnSpPr>
                  <p:spPr>
                    <a:xfrm rot="10800000">
                      <a:off x="1917700" y="1727200"/>
                      <a:ext cx="0" cy="320040"/>
                    </a:xfrm>
                    <a:prstGeom prst="straightConnector1">
                      <a:avLst/>
                    </a:prstGeom>
                    <a:noFill/>
                    <a:ln cap="flat" cmpd="sng" w="38100">
                      <a:solidFill>
                        <a:srgbClr val="FF0000"/>
                      </a:solidFill>
                      <a:prstDash val="solid"/>
                      <a:round/>
                      <a:headEnd len="sm" w="sm" type="none"/>
                      <a:tailEnd len="sm" w="sm" type="none"/>
                    </a:ln>
                    <a:effectLst>
                      <a:outerShdw blurRad="40000" rotWithShape="0" dir="5400000" dist="23000">
                        <a:srgbClr val="000000">
                          <a:alpha val="34901"/>
                        </a:srgbClr>
                      </a:outerShdw>
                    </a:effectLst>
                  </p:spPr>
                </p:cxnSp>
                <p:cxnSp>
                  <p:nvCxnSpPr>
                    <p:cNvPr id="1009" name="Google Shape;1009;p68"/>
                    <p:cNvCxnSpPr/>
                    <p:nvPr/>
                  </p:nvCxnSpPr>
                  <p:spPr>
                    <a:xfrm rot="10800000">
                      <a:off x="1987550" y="1720850"/>
                      <a:ext cx="0" cy="274320"/>
                    </a:xfrm>
                    <a:prstGeom prst="straightConnector1">
                      <a:avLst/>
                    </a:prstGeom>
                    <a:noFill/>
                    <a:ln cap="flat" cmpd="sng" w="38100">
                      <a:solidFill>
                        <a:srgbClr val="FF0000"/>
                      </a:solidFill>
                      <a:prstDash val="solid"/>
                      <a:round/>
                      <a:headEnd len="sm" w="sm" type="none"/>
                      <a:tailEnd len="sm" w="sm" type="none"/>
                    </a:ln>
                    <a:effectLst>
                      <a:outerShdw blurRad="40000" rotWithShape="0" dir="5400000" dist="23000">
                        <a:srgbClr val="000000">
                          <a:alpha val="34901"/>
                        </a:srgbClr>
                      </a:outerShdw>
                    </a:effectLst>
                  </p:spPr>
                </p:cxnSp>
              </p:grpSp>
              <p:cxnSp>
                <p:nvCxnSpPr>
                  <p:cNvPr id="1010" name="Google Shape;1010;p68"/>
                  <p:cNvCxnSpPr/>
                  <p:nvPr/>
                </p:nvCxnSpPr>
                <p:spPr>
                  <a:xfrm rot="10800000">
                    <a:off x="2941320" y="1078230"/>
                    <a:ext cx="0" cy="914400"/>
                  </a:xfrm>
                  <a:prstGeom prst="straightConnector1">
                    <a:avLst/>
                  </a:prstGeom>
                  <a:noFill/>
                  <a:ln cap="flat" cmpd="sng" w="38100">
                    <a:solidFill>
                      <a:srgbClr val="FF0000"/>
                    </a:solidFill>
                    <a:prstDash val="solid"/>
                    <a:round/>
                    <a:headEnd len="sm" w="sm" type="none"/>
                    <a:tailEnd len="sm" w="sm" type="none"/>
                  </a:ln>
                  <a:effectLst>
                    <a:outerShdw blurRad="40000" rotWithShape="0" dir="5400000" dist="23000">
                      <a:srgbClr val="000000">
                        <a:alpha val="34901"/>
                      </a:srgbClr>
                    </a:outerShdw>
                  </a:effectLst>
                </p:spPr>
              </p:cxnSp>
              <p:cxnSp>
                <p:nvCxnSpPr>
                  <p:cNvPr id="1011" name="Google Shape;1011;p68"/>
                  <p:cNvCxnSpPr/>
                  <p:nvPr/>
                </p:nvCxnSpPr>
                <p:spPr>
                  <a:xfrm rot="10800000">
                    <a:off x="2975610" y="1127760"/>
                    <a:ext cx="0" cy="914400"/>
                  </a:xfrm>
                  <a:prstGeom prst="straightConnector1">
                    <a:avLst/>
                  </a:prstGeom>
                  <a:noFill/>
                  <a:ln cap="flat" cmpd="sng" w="38100">
                    <a:solidFill>
                      <a:srgbClr val="FF0000"/>
                    </a:solidFill>
                    <a:prstDash val="solid"/>
                    <a:round/>
                    <a:headEnd len="sm" w="sm" type="none"/>
                    <a:tailEnd len="sm" w="sm" type="none"/>
                  </a:ln>
                  <a:effectLst>
                    <a:outerShdw blurRad="40000" rotWithShape="0" dir="5400000" dist="23000">
                      <a:srgbClr val="000000">
                        <a:alpha val="34901"/>
                      </a:srgbClr>
                    </a:outerShdw>
                  </a:effectLst>
                </p:spPr>
              </p:cxnSp>
              <p:cxnSp>
                <p:nvCxnSpPr>
                  <p:cNvPr id="1012" name="Google Shape;1012;p68"/>
                  <p:cNvCxnSpPr/>
                  <p:nvPr/>
                </p:nvCxnSpPr>
                <p:spPr>
                  <a:xfrm rot="10800000">
                    <a:off x="3017520" y="1177290"/>
                    <a:ext cx="0" cy="914400"/>
                  </a:xfrm>
                  <a:prstGeom prst="straightConnector1">
                    <a:avLst/>
                  </a:prstGeom>
                  <a:noFill/>
                  <a:ln cap="flat" cmpd="sng" w="38100">
                    <a:solidFill>
                      <a:srgbClr val="FF0000"/>
                    </a:solidFill>
                    <a:prstDash val="solid"/>
                    <a:round/>
                    <a:headEnd len="sm" w="sm" type="none"/>
                    <a:tailEnd len="sm" w="sm" type="none"/>
                  </a:ln>
                  <a:effectLst>
                    <a:outerShdw blurRad="40000" rotWithShape="0" dir="5400000" dist="23000">
                      <a:srgbClr val="000000">
                        <a:alpha val="34901"/>
                      </a:srgbClr>
                    </a:outerShdw>
                  </a:effectLst>
                </p:spPr>
              </p:cxnSp>
            </p:grpSp>
          </p:grpSp>
        </p:grpSp>
        <p:grpSp>
          <p:nvGrpSpPr>
            <p:cNvPr id="1013" name="Google Shape;1013;p68"/>
            <p:cNvGrpSpPr/>
            <p:nvPr/>
          </p:nvGrpSpPr>
          <p:grpSpPr>
            <a:xfrm>
              <a:off x="2738176" y="743578"/>
              <a:ext cx="2374444" cy="1420187"/>
              <a:chOff x="0" y="0"/>
              <a:chExt cx="2374444" cy="1420187"/>
            </a:xfrm>
          </p:grpSpPr>
          <p:grpSp>
            <p:nvGrpSpPr>
              <p:cNvPr id="1014" name="Google Shape;1014;p68"/>
              <p:cNvGrpSpPr/>
              <p:nvPr/>
            </p:nvGrpSpPr>
            <p:grpSpPr>
              <a:xfrm>
                <a:off x="0" y="0"/>
                <a:ext cx="2374444" cy="1420187"/>
                <a:chOff x="-48939" y="-28333"/>
                <a:chExt cx="2374444" cy="1420187"/>
              </a:xfrm>
            </p:grpSpPr>
            <p:grpSp>
              <p:nvGrpSpPr>
                <p:cNvPr id="1015" name="Google Shape;1015;p68"/>
                <p:cNvGrpSpPr/>
                <p:nvPr/>
              </p:nvGrpSpPr>
              <p:grpSpPr>
                <a:xfrm>
                  <a:off x="-48939" y="-28333"/>
                  <a:ext cx="2374444" cy="1420187"/>
                  <a:chOff x="-48939" y="-28333"/>
                  <a:chExt cx="2374444" cy="1420187"/>
                </a:xfrm>
              </p:grpSpPr>
              <p:pic>
                <p:nvPicPr>
                  <p:cNvPr id="1016" name="Google Shape;1016;p68"/>
                  <p:cNvPicPr preferRelativeResize="0"/>
                  <p:nvPr/>
                </p:nvPicPr>
                <p:blipFill rotWithShape="1">
                  <a:blip r:embed="rId4">
                    <a:alphaModFix/>
                  </a:blip>
                  <a:srcRect b="0" l="0" r="0" t="0"/>
                  <a:stretch/>
                </p:blipFill>
                <p:spPr>
                  <a:xfrm flipH="1">
                    <a:off x="550680" y="210754"/>
                    <a:ext cx="1774825" cy="1181100"/>
                  </a:xfrm>
                  <a:prstGeom prst="rect">
                    <a:avLst/>
                  </a:prstGeom>
                  <a:noFill/>
                  <a:ln>
                    <a:noFill/>
                  </a:ln>
                </p:spPr>
              </p:pic>
              <p:cxnSp>
                <p:nvCxnSpPr>
                  <p:cNvPr id="1017" name="Google Shape;1017;p68"/>
                  <p:cNvCxnSpPr/>
                  <p:nvPr/>
                </p:nvCxnSpPr>
                <p:spPr>
                  <a:xfrm>
                    <a:off x="146168" y="316131"/>
                    <a:ext cx="956310" cy="0"/>
                  </a:xfrm>
                  <a:prstGeom prst="straightConnector1">
                    <a:avLst/>
                  </a:prstGeom>
                  <a:noFill/>
                  <a:ln cap="flat" cmpd="sng" w="38100">
                    <a:solidFill>
                      <a:srgbClr val="FF0000"/>
                    </a:solidFill>
                    <a:prstDash val="solid"/>
                    <a:round/>
                    <a:headEnd len="sm" w="sm" type="none"/>
                    <a:tailEnd len="sm" w="sm" type="none"/>
                  </a:ln>
                  <a:effectLst>
                    <a:outerShdw blurRad="40000" rotWithShape="0" dir="5400000" dist="23000">
                      <a:srgbClr val="000000">
                        <a:alpha val="34901"/>
                      </a:srgbClr>
                    </a:outerShdw>
                  </a:effectLst>
                </p:spPr>
              </p:cxnSp>
              <p:sp>
                <p:nvSpPr>
                  <p:cNvPr id="1018" name="Google Shape;1018;p68"/>
                  <p:cNvSpPr/>
                  <p:nvPr/>
                </p:nvSpPr>
                <p:spPr>
                  <a:xfrm>
                    <a:off x="-48939" y="-28333"/>
                    <a:ext cx="549275" cy="37211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s-BO" sz="1600">
                        <a:solidFill>
                          <a:schemeClr val="dk1"/>
                        </a:solidFill>
                        <a:latin typeface="Times New Roman"/>
                        <a:ea typeface="Times New Roman"/>
                        <a:cs typeface="Times New Roman"/>
                        <a:sym typeface="Times New Roman"/>
                      </a:rPr>
                      <a:t>Conexión delta</a:t>
                    </a:r>
                    <a:endParaRPr sz="2800">
                      <a:solidFill>
                        <a:schemeClr val="dk1"/>
                      </a:solidFill>
                      <a:latin typeface="Times New Roman"/>
                      <a:ea typeface="Times New Roman"/>
                      <a:cs typeface="Times New Roman"/>
                      <a:sym typeface="Times New Roman"/>
                    </a:endParaRPr>
                  </a:p>
                </p:txBody>
              </p:sp>
            </p:grpSp>
            <p:cxnSp>
              <p:nvCxnSpPr>
                <p:cNvPr id="1019" name="Google Shape;1019;p68"/>
                <p:cNvCxnSpPr/>
                <p:nvPr/>
              </p:nvCxnSpPr>
              <p:spPr>
                <a:xfrm>
                  <a:off x="213173" y="395492"/>
                  <a:ext cx="956310" cy="0"/>
                </a:xfrm>
                <a:prstGeom prst="straightConnector1">
                  <a:avLst/>
                </a:prstGeom>
                <a:noFill/>
                <a:ln cap="flat" cmpd="sng" w="38100">
                  <a:solidFill>
                    <a:srgbClr val="FF0000"/>
                  </a:solidFill>
                  <a:prstDash val="solid"/>
                  <a:round/>
                  <a:headEnd len="sm" w="sm" type="none"/>
                  <a:tailEnd len="sm" w="sm" type="none"/>
                </a:ln>
                <a:effectLst>
                  <a:outerShdw blurRad="40000" rotWithShape="0" dir="5400000" dist="23000">
                    <a:srgbClr val="000000">
                      <a:alpha val="34901"/>
                    </a:srgbClr>
                  </a:outerShdw>
                </a:effectLst>
              </p:spPr>
            </p:cxnSp>
          </p:grpSp>
          <p:cxnSp>
            <p:nvCxnSpPr>
              <p:cNvPr id="1020" name="Google Shape;1020;p68"/>
              <p:cNvCxnSpPr/>
              <p:nvPr/>
            </p:nvCxnSpPr>
            <p:spPr>
              <a:xfrm>
                <a:off x="229244" y="381215"/>
                <a:ext cx="956310" cy="0"/>
              </a:xfrm>
              <a:prstGeom prst="straightConnector1">
                <a:avLst/>
              </a:prstGeom>
              <a:noFill/>
              <a:ln cap="flat" cmpd="sng" w="38100">
                <a:solidFill>
                  <a:srgbClr val="FF0000"/>
                </a:solidFill>
                <a:prstDash val="solid"/>
                <a:round/>
                <a:headEnd len="sm" w="sm" type="none"/>
                <a:tailEnd len="sm" w="sm" type="none"/>
              </a:ln>
              <a:effectLst>
                <a:outerShdw blurRad="40000" rotWithShape="0" dir="5400000" dist="23000">
                  <a:srgbClr val="000000">
                    <a:alpha val="34901"/>
                  </a:srgbClr>
                </a:outerShdw>
              </a:effectLst>
            </p:spPr>
          </p:cxnSp>
        </p:grpSp>
      </p:grpSp>
      <p:sp>
        <p:nvSpPr>
          <p:cNvPr id="1021" name="Google Shape;1021;p68"/>
          <p:cNvSpPr txBox="1"/>
          <p:nvPr>
            <p:ph type="title"/>
          </p:nvPr>
        </p:nvSpPr>
        <p:spPr>
          <a:xfrm>
            <a:off x="1415480" y="411526"/>
            <a:ext cx="9385200" cy="599744"/>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2400"/>
              <a:buFont typeface="Calibri"/>
              <a:buNone/>
            </a:pPr>
            <a:r>
              <a:rPr b="1" i="1" lang="es-BO" sz="1800" u="sng"/>
              <a:t>Conexión de la Bomba de agua al Variador de frecuencia</a:t>
            </a:r>
            <a:endParaRPr b="1" i="1" sz="1800" u="sng"/>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5" name="Shape 1025"/>
        <p:cNvGrpSpPr/>
        <p:nvPr/>
      </p:nvGrpSpPr>
      <p:grpSpPr>
        <a:xfrm>
          <a:off x="0" y="0"/>
          <a:ext cx="0" cy="0"/>
          <a:chOff x="0" y="0"/>
          <a:chExt cx="0" cy="0"/>
        </a:xfrm>
      </p:grpSpPr>
      <p:sp>
        <p:nvSpPr>
          <p:cNvPr id="1026" name="Google Shape;1026;p69"/>
          <p:cNvSpPr txBox="1"/>
          <p:nvPr>
            <p:ph type="title"/>
          </p:nvPr>
        </p:nvSpPr>
        <p:spPr>
          <a:xfrm>
            <a:off x="1623060" y="769290"/>
            <a:ext cx="9385200" cy="698000"/>
          </a:xfrm>
          <a:prstGeom prst="rect">
            <a:avLst/>
          </a:prstGeom>
          <a:noFill/>
          <a:ln>
            <a:noFill/>
          </a:ln>
        </p:spPr>
        <p:txBody>
          <a:bodyPr anchorCtr="0" anchor="t" bIns="121900" lIns="121900" spcFirstLastPara="1" rIns="121900" wrap="square" tIns="121900">
            <a:normAutofit/>
          </a:bodyPr>
          <a:lstStyle/>
          <a:p>
            <a:pPr indent="0" lvl="0" marL="0" rtl="0" algn="l">
              <a:spcBef>
                <a:spcPts val="0"/>
              </a:spcBef>
              <a:spcAft>
                <a:spcPts val="0"/>
              </a:spcAft>
              <a:buClr>
                <a:schemeClr val="dk1"/>
              </a:buClr>
              <a:buSzPts val="2400"/>
              <a:buFont typeface="Calibri"/>
              <a:buNone/>
            </a:pPr>
            <a:r>
              <a:rPr b="1" lang="es-BO" sz="1800">
                <a:latin typeface="Calibri"/>
                <a:ea typeface="Calibri"/>
                <a:cs typeface="Calibri"/>
                <a:sym typeface="Calibri"/>
              </a:rPr>
              <a:t>PRUEBAS EN LABORATORIO</a:t>
            </a:r>
            <a:endParaRPr sz="1050">
              <a:latin typeface="Calibri"/>
              <a:ea typeface="Calibri"/>
              <a:cs typeface="Calibri"/>
              <a:sym typeface="Calibri"/>
            </a:endParaRPr>
          </a:p>
        </p:txBody>
      </p:sp>
      <p:pic>
        <p:nvPicPr>
          <p:cNvPr id="1027" name="Google Shape;1027;p69"/>
          <p:cNvPicPr preferRelativeResize="0"/>
          <p:nvPr/>
        </p:nvPicPr>
        <p:blipFill rotWithShape="1">
          <a:blip r:embed="rId3">
            <a:alphaModFix/>
          </a:blip>
          <a:srcRect b="0" l="32693" r="0" t="0"/>
          <a:stretch/>
        </p:blipFill>
        <p:spPr>
          <a:xfrm>
            <a:off x="4888314" y="1472606"/>
            <a:ext cx="6136396" cy="3629580"/>
          </a:xfrm>
          <a:prstGeom prst="rect">
            <a:avLst/>
          </a:prstGeom>
          <a:noFill/>
          <a:ln>
            <a:noFill/>
          </a:ln>
        </p:spPr>
      </p:pic>
      <p:sp>
        <p:nvSpPr>
          <p:cNvPr id="1028" name="Google Shape;1028;p69"/>
          <p:cNvSpPr txBox="1"/>
          <p:nvPr/>
        </p:nvSpPr>
        <p:spPr>
          <a:xfrm>
            <a:off x="1919536" y="5410652"/>
            <a:ext cx="9504511"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s-BO" sz="1800">
                <a:solidFill>
                  <a:schemeClr val="dk1"/>
                </a:solidFill>
                <a:latin typeface="Calibri"/>
                <a:ea typeface="Calibri"/>
                <a:cs typeface="Calibri"/>
                <a:sym typeface="Calibri"/>
              </a:rPr>
              <a:t>El variador de frecuencia será encargado de poder regular la tensión suministrada al motor bomba, debido a esto se puede crear una gráfica comparativa entre ambas variables, observando y tomando registro del estado de tensión de salida del motor al variar la frecuencia de entrada al mismo.</a:t>
            </a:r>
            <a:endParaRPr i="1" sz="1800">
              <a:solidFill>
                <a:schemeClr val="dk1"/>
              </a:solidFill>
              <a:latin typeface="Calibri"/>
              <a:ea typeface="Calibri"/>
              <a:cs typeface="Calibri"/>
              <a:sym typeface="Calibri"/>
            </a:endParaRPr>
          </a:p>
        </p:txBody>
      </p:sp>
      <p:graphicFrame>
        <p:nvGraphicFramePr>
          <p:cNvPr id="1029" name="Google Shape;1029;p69"/>
          <p:cNvGraphicFramePr/>
          <p:nvPr/>
        </p:nvGraphicFramePr>
        <p:xfrm>
          <a:off x="1672043" y="1628151"/>
          <a:ext cx="3000000" cy="3000000"/>
        </p:xfrm>
        <a:graphic>
          <a:graphicData uri="http://schemas.openxmlformats.org/drawingml/2006/table">
            <a:tbl>
              <a:tblPr bandRow="1" firstCol="1" firstRow="1">
                <a:noFill/>
                <a:tableStyleId>{222A7E54-5182-43F9-A65E-7F61A87368E1}</a:tableStyleId>
              </a:tblPr>
              <a:tblGrid>
                <a:gridCol w="1624400"/>
                <a:gridCol w="1624400"/>
              </a:tblGrid>
              <a:tr h="569800">
                <a:tc>
                  <a:txBody>
                    <a:bodyPr/>
                    <a:lstStyle/>
                    <a:p>
                      <a:pPr indent="0" lvl="0" marL="0" marR="0" rtl="0" algn="ctr">
                        <a:spcBef>
                          <a:spcPts val="0"/>
                        </a:spcBef>
                        <a:spcAft>
                          <a:spcPts val="0"/>
                        </a:spcAft>
                        <a:buNone/>
                      </a:pPr>
                      <a:r>
                        <a:rPr lang="es-BO" sz="1800">
                          <a:solidFill>
                            <a:schemeClr val="dk1"/>
                          </a:solidFill>
                        </a:rPr>
                        <a:t>Frecuencia [Hz]</a:t>
                      </a:r>
                      <a:endParaRPr sz="14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AE5F1"/>
                    </a:solidFill>
                  </a:tcPr>
                </a:tc>
                <a:tc>
                  <a:txBody>
                    <a:bodyPr/>
                    <a:lstStyle/>
                    <a:p>
                      <a:pPr indent="0" lvl="0" marL="0" marR="0" rtl="0" algn="ctr">
                        <a:spcBef>
                          <a:spcPts val="0"/>
                        </a:spcBef>
                        <a:spcAft>
                          <a:spcPts val="0"/>
                        </a:spcAft>
                        <a:buNone/>
                      </a:pPr>
                      <a:r>
                        <a:rPr lang="es-BO" sz="1800">
                          <a:solidFill>
                            <a:schemeClr val="dk1"/>
                          </a:solidFill>
                        </a:rPr>
                        <a:t>Voltaje [VAC]</a:t>
                      </a:r>
                      <a:endParaRPr sz="14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AE5F1"/>
                    </a:solidFill>
                  </a:tcPr>
                </a:tc>
              </a:tr>
              <a:tr h="305400">
                <a:tc>
                  <a:txBody>
                    <a:bodyPr/>
                    <a:lstStyle/>
                    <a:p>
                      <a:pPr indent="0" lvl="0" marL="0" marR="0" rtl="0" algn="ctr">
                        <a:spcBef>
                          <a:spcPts val="0"/>
                        </a:spcBef>
                        <a:spcAft>
                          <a:spcPts val="0"/>
                        </a:spcAft>
                        <a:buNone/>
                      </a:pPr>
                      <a:r>
                        <a:rPr b="0" lang="es-BO" sz="1800">
                          <a:solidFill>
                            <a:schemeClr val="dk1"/>
                          </a:solidFill>
                        </a:rPr>
                        <a:t>0,3</a:t>
                      </a:r>
                      <a:endParaRPr b="0" sz="14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s-BO" sz="1800">
                          <a:solidFill>
                            <a:schemeClr val="dk1"/>
                          </a:solidFill>
                        </a:rPr>
                        <a:t>3</a:t>
                      </a:r>
                      <a:endParaRPr sz="14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05400">
                <a:tc>
                  <a:txBody>
                    <a:bodyPr/>
                    <a:lstStyle/>
                    <a:p>
                      <a:pPr indent="0" lvl="0" marL="0" marR="0" rtl="0" algn="ctr">
                        <a:spcBef>
                          <a:spcPts val="0"/>
                        </a:spcBef>
                        <a:spcAft>
                          <a:spcPts val="0"/>
                        </a:spcAft>
                        <a:buNone/>
                      </a:pPr>
                      <a:r>
                        <a:rPr b="0" lang="es-BO" sz="1800">
                          <a:solidFill>
                            <a:schemeClr val="dk1"/>
                          </a:solidFill>
                        </a:rPr>
                        <a:t>3</a:t>
                      </a:r>
                      <a:endParaRPr b="0" sz="14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s-BO" sz="1800">
                          <a:solidFill>
                            <a:schemeClr val="dk1"/>
                          </a:solidFill>
                        </a:rPr>
                        <a:t>28,6</a:t>
                      </a:r>
                      <a:endParaRPr sz="14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05400">
                <a:tc>
                  <a:txBody>
                    <a:bodyPr/>
                    <a:lstStyle/>
                    <a:p>
                      <a:pPr indent="0" lvl="0" marL="0" marR="0" rtl="0" algn="ctr">
                        <a:spcBef>
                          <a:spcPts val="0"/>
                        </a:spcBef>
                        <a:spcAft>
                          <a:spcPts val="0"/>
                        </a:spcAft>
                        <a:buNone/>
                      </a:pPr>
                      <a:r>
                        <a:rPr b="0" lang="es-BO" sz="1800">
                          <a:solidFill>
                            <a:schemeClr val="dk1"/>
                          </a:solidFill>
                        </a:rPr>
                        <a:t>6</a:t>
                      </a:r>
                      <a:endParaRPr b="0" sz="14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s-BO" sz="1800">
                          <a:solidFill>
                            <a:schemeClr val="dk1"/>
                          </a:solidFill>
                        </a:rPr>
                        <a:t>42,1</a:t>
                      </a:r>
                      <a:endParaRPr sz="14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05400">
                <a:tc>
                  <a:txBody>
                    <a:bodyPr/>
                    <a:lstStyle/>
                    <a:p>
                      <a:pPr indent="0" lvl="0" marL="0" marR="0" rtl="0" algn="ctr">
                        <a:spcBef>
                          <a:spcPts val="0"/>
                        </a:spcBef>
                        <a:spcAft>
                          <a:spcPts val="0"/>
                        </a:spcAft>
                        <a:buNone/>
                      </a:pPr>
                      <a:r>
                        <a:rPr b="0" lang="es-BO" sz="1800">
                          <a:solidFill>
                            <a:schemeClr val="dk1"/>
                          </a:solidFill>
                        </a:rPr>
                        <a:t>9</a:t>
                      </a:r>
                      <a:endParaRPr b="0" sz="14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s-BO" sz="1800">
                          <a:solidFill>
                            <a:schemeClr val="dk1"/>
                          </a:solidFill>
                        </a:rPr>
                        <a:t>53,3</a:t>
                      </a:r>
                      <a:endParaRPr sz="14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05400">
                <a:tc>
                  <a:txBody>
                    <a:bodyPr/>
                    <a:lstStyle/>
                    <a:p>
                      <a:pPr indent="0" lvl="0" marL="0" marR="0" rtl="0" algn="ctr">
                        <a:spcBef>
                          <a:spcPts val="0"/>
                        </a:spcBef>
                        <a:spcAft>
                          <a:spcPts val="0"/>
                        </a:spcAft>
                        <a:buNone/>
                      </a:pPr>
                      <a:r>
                        <a:rPr b="0" lang="es-BO" sz="1800">
                          <a:solidFill>
                            <a:schemeClr val="dk1"/>
                          </a:solidFill>
                        </a:rPr>
                        <a:t>20</a:t>
                      </a:r>
                      <a:endParaRPr b="0" sz="14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s-BO" sz="1800">
                          <a:solidFill>
                            <a:schemeClr val="dk1"/>
                          </a:solidFill>
                        </a:rPr>
                        <a:t>98,4</a:t>
                      </a:r>
                      <a:endParaRPr sz="14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05400">
                <a:tc>
                  <a:txBody>
                    <a:bodyPr/>
                    <a:lstStyle/>
                    <a:p>
                      <a:pPr indent="0" lvl="0" marL="0" marR="0" rtl="0" algn="ctr">
                        <a:spcBef>
                          <a:spcPts val="0"/>
                        </a:spcBef>
                        <a:spcAft>
                          <a:spcPts val="0"/>
                        </a:spcAft>
                        <a:buNone/>
                      </a:pPr>
                      <a:r>
                        <a:rPr b="0" lang="es-BO" sz="1800">
                          <a:solidFill>
                            <a:schemeClr val="dk1"/>
                          </a:solidFill>
                        </a:rPr>
                        <a:t>25</a:t>
                      </a:r>
                      <a:endParaRPr b="0" sz="14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s-BO" sz="1800">
                          <a:solidFill>
                            <a:schemeClr val="dk1"/>
                          </a:solidFill>
                        </a:rPr>
                        <a:t>120,9</a:t>
                      </a:r>
                      <a:endParaRPr sz="14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05400">
                <a:tc>
                  <a:txBody>
                    <a:bodyPr/>
                    <a:lstStyle/>
                    <a:p>
                      <a:pPr indent="0" lvl="0" marL="0" marR="0" rtl="0" algn="ctr">
                        <a:spcBef>
                          <a:spcPts val="0"/>
                        </a:spcBef>
                        <a:spcAft>
                          <a:spcPts val="0"/>
                        </a:spcAft>
                        <a:buNone/>
                      </a:pPr>
                      <a:r>
                        <a:rPr b="0" lang="es-BO" sz="1800">
                          <a:solidFill>
                            <a:schemeClr val="dk1"/>
                          </a:solidFill>
                        </a:rPr>
                        <a:t>30</a:t>
                      </a:r>
                      <a:endParaRPr b="0" sz="14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s-BO" sz="1800">
                          <a:solidFill>
                            <a:schemeClr val="dk1"/>
                          </a:solidFill>
                        </a:rPr>
                        <a:t>147,1</a:t>
                      </a:r>
                      <a:endParaRPr sz="14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05400">
                <a:tc>
                  <a:txBody>
                    <a:bodyPr/>
                    <a:lstStyle/>
                    <a:p>
                      <a:pPr indent="0" lvl="0" marL="0" marR="0" rtl="0" algn="ctr">
                        <a:spcBef>
                          <a:spcPts val="0"/>
                        </a:spcBef>
                        <a:spcAft>
                          <a:spcPts val="0"/>
                        </a:spcAft>
                        <a:buNone/>
                      </a:pPr>
                      <a:r>
                        <a:rPr b="0" lang="es-BO" sz="1800">
                          <a:solidFill>
                            <a:schemeClr val="dk1"/>
                          </a:solidFill>
                        </a:rPr>
                        <a:t>35</a:t>
                      </a:r>
                      <a:endParaRPr b="0" sz="14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s-BO" sz="1800">
                          <a:solidFill>
                            <a:schemeClr val="dk1"/>
                          </a:solidFill>
                        </a:rPr>
                        <a:t>173</a:t>
                      </a:r>
                      <a:endParaRPr sz="14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05400">
                <a:tc>
                  <a:txBody>
                    <a:bodyPr/>
                    <a:lstStyle/>
                    <a:p>
                      <a:pPr indent="0" lvl="0" marL="0" marR="0" rtl="0" algn="ctr">
                        <a:spcBef>
                          <a:spcPts val="0"/>
                        </a:spcBef>
                        <a:spcAft>
                          <a:spcPts val="0"/>
                        </a:spcAft>
                        <a:buNone/>
                      </a:pPr>
                      <a:r>
                        <a:rPr b="0" lang="es-BO" sz="1800">
                          <a:solidFill>
                            <a:schemeClr val="dk1"/>
                          </a:solidFill>
                        </a:rPr>
                        <a:t>40</a:t>
                      </a:r>
                      <a:endParaRPr b="0" sz="14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s-BO" sz="1800">
                          <a:solidFill>
                            <a:schemeClr val="dk1"/>
                          </a:solidFill>
                        </a:rPr>
                        <a:t>199,6</a:t>
                      </a:r>
                      <a:endParaRPr sz="14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Tree>
  </p:cSld>
  <p:clrMapOvr>
    <a:masterClrMapping/>
  </p:clrMapOvr>
  <p:transition spd="slow">
    <p:push/>
  </p:transition>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3" name="Shape 1033"/>
        <p:cNvGrpSpPr/>
        <p:nvPr/>
      </p:nvGrpSpPr>
      <p:grpSpPr>
        <a:xfrm>
          <a:off x="0" y="0"/>
          <a:ext cx="0" cy="0"/>
          <a:chOff x="0" y="0"/>
          <a:chExt cx="0" cy="0"/>
        </a:xfrm>
      </p:grpSpPr>
      <p:sp>
        <p:nvSpPr>
          <p:cNvPr id="1034" name="Google Shape;1034;p70"/>
          <p:cNvSpPr txBox="1"/>
          <p:nvPr>
            <p:ph type="ctrTitle"/>
          </p:nvPr>
        </p:nvSpPr>
        <p:spPr>
          <a:xfrm>
            <a:off x="3791744" y="2708920"/>
            <a:ext cx="5400600" cy="1071563"/>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Calibri"/>
              <a:buNone/>
            </a:pPr>
            <a:r>
              <a:rPr b="1" lang="es-BO" sz="3600">
                <a:latin typeface="Calibri"/>
                <a:ea typeface="Calibri"/>
                <a:cs typeface="Calibri"/>
                <a:sym typeface="Calibri"/>
              </a:rPr>
              <a:t>ADAPTACIÓN DE SEÑALES</a:t>
            </a:r>
            <a:endParaRPr/>
          </a:p>
        </p:txBody>
      </p:sp>
    </p:spTree>
  </p:cSld>
  <p:clrMapOvr>
    <a:masterClrMapping/>
  </p:clrMapOvr>
  <p:transition spd="slow">
    <p:push/>
  </p:transition>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8" name="Shape 1038"/>
        <p:cNvGrpSpPr/>
        <p:nvPr/>
      </p:nvGrpSpPr>
      <p:grpSpPr>
        <a:xfrm>
          <a:off x="0" y="0"/>
          <a:ext cx="0" cy="0"/>
          <a:chOff x="0" y="0"/>
          <a:chExt cx="0" cy="0"/>
        </a:xfrm>
      </p:grpSpPr>
      <p:sp>
        <p:nvSpPr>
          <p:cNvPr id="1039" name="Google Shape;1039;p71"/>
          <p:cNvSpPr txBox="1"/>
          <p:nvPr>
            <p:ph type="title"/>
          </p:nvPr>
        </p:nvSpPr>
        <p:spPr>
          <a:xfrm>
            <a:off x="609600" y="274638"/>
            <a:ext cx="10972800" cy="499802"/>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1800"/>
              <a:buFont typeface="Calibri"/>
              <a:buNone/>
            </a:pPr>
            <a:r>
              <a:rPr b="1" lang="es-BO" sz="1800"/>
              <a:t>Módulo 1762 PLC</a:t>
            </a:r>
            <a:endParaRPr/>
          </a:p>
        </p:txBody>
      </p:sp>
      <p:sp>
        <p:nvSpPr>
          <p:cNvPr id="1040" name="Google Shape;1040;p71"/>
          <p:cNvSpPr txBox="1"/>
          <p:nvPr>
            <p:ph idx="1" type="body"/>
          </p:nvPr>
        </p:nvSpPr>
        <p:spPr>
          <a:xfrm>
            <a:off x="607114" y="862097"/>
            <a:ext cx="10972800" cy="239933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600"/>
              <a:buNone/>
            </a:pPr>
            <a:r>
              <a:rPr lang="es-BO" sz="1600"/>
              <a:t>La adaptación de señales puede constar de diferentes procesos referidos a la manipulación de una señal, tales como:</a:t>
            </a:r>
            <a:endParaRPr/>
          </a:p>
          <a:p>
            <a:pPr indent="-342900" lvl="0" marL="342900" rtl="0" algn="l">
              <a:spcBef>
                <a:spcPts val="320"/>
              </a:spcBef>
              <a:spcAft>
                <a:spcPts val="0"/>
              </a:spcAft>
              <a:buClr>
                <a:schemeClr val="dk1"/>
              </a:buClr>
              <a:buSzPts val="1600"/>
              <a:buChar char="•"/>
            </a:pPr>
            <a:r>
              <a:rPr lang="es-BO" sz="1600"/>
              <a:t>Conversión</a:t>
            </a:r>
            <a:endParaRPr/>
          </a:p>
          <a:p>
            <a:pPr indent="-342900" lvl="0" marL="342900" rtl="0" algn="l">
              <a:spcBef>
                <a:spcPts val="320"/>
              </a:spcBef>
              <a:spcAft>
                <a:spcPts val="0"/>
              </a:spcAft>
              <a:buClr>
                <a:schemeClr val="dk1"/>
              </a:buClr>
              <a:buSzPts val="1600"/>
              <a:buChar char="•"/>
            </a:pPr>
            <a:r>
              <a:rPr lang="es-BO" sz="1600"/>
              <a:t>Linealización</a:t>
            </a:r>
            <a:endParaRPr/>
          </a:p>
          <a:p>
            <a:pPr indent="-342900" lvl="0" marL="342900" rtl="0" algn="l">
              <a:spcBef>
                <a:spcPts val="320"/>
              </a:spcBef>
              <a:spcAft>
                <a:spcPts val="0"/>
              </a:spcAft>
              <a:buClr>
                <a:schemeClr val="dk1"/>
              </a:buClr>
              <a:buSzPts val="1600"/>
              <a:buChar char="•"/>
            </a:pPr>
            <a:r>
              <a:rPr lang="es-BO" sz="1600"/>
              <a:t>Amplificación</a:t>
            </a:r>
            <a:endParaRPr/>
          </a:p>
          <a:p>
            <a:pPr indent="-342900" lvl="0" marL="342900" rtl="0" algn="l">
              <a:spcBef>
                <a:spcPts val="320"/>
              </a:spcBef>
              <a:spcAft>
                <a:spcPts val="0"/>
              </a:spcAft>
              <a:buClr>
                <a:schemeClr val="dk1"/>
              </a:buClr>
              <a:buSzPts val="1600"/>
              <a:buChar char="•"/>
            </a:pPr>
            <a:r>
              <a:rPr lang="es-BO" sz="1600"/>
              <a:t>Filtrado</a:t>
            </a:r>
            <a:endParaRPr/>
          </a:p>
          <a:p>
            <a:pPr indent="-342900" lvl="0" marL="342900" rtl="0" algn="l">
              <a:spcBef>
                <a:spcPts val="320"/>
              </a:spcBef>
              <a:spcAft>
                <a:spcPts val="0"/>
              </a:spcAft>
              <a:buClr>
                <a:schemeClr val="dk1"/>
              </a:buClr>
              <a:buSzPts val="1600"/>
              <a:buChar char="•"/>
            </a:pPr>
            <a:r>
              <a:rPr lang="es-BO" sz="1600"/>
              <a:t>Multiplexación</a:t>
            </a:r>
            <a:endParaRPr/>
          </a:p>
          <a:p>
            <a:pPr indent="0" lvl="0" marL="0" rtl="0" algn="l">
              <a:spcBef>
                <a:spcPts val="320"/>
              </a:spcBef>
              <a:spcAft>
                <a:spcPts val="0"/>
              </a:spcAft>
              <a:buClr>
                <a:schemeClr val="dk1"/>
              </a:buClr>
              <a:buSzPts val="1600"/>
              <a:buNone/>
            </a:pPr>
            <a:r>
              <a:rPr lang="es-BO" sz="1600"/>
              <a:t>Para dos de los sensores utilizados en el módulo de expansión analógica, así como su salida que va dirigida al Variador de Frecuencia, se siguen los siguientes pasos para su adaptación:</a:t>
            </a:r>
            <a:endParaRPr/>
          </a:p>
          <a:p>
            <a:pPr indent="0" lvl="0" marL="0" rtl="0" algn="l">
              <a:spcBef>
                <a:spcPts val="320"/>
              </a:spcBef>
              <a:spcAft>
                <a:spcPts val="0"/>
              </a:spcAft>
              <a:buClr>
                <a:schemeClr val="dk1"/>
              </a:buClr>
              <a:buSzPts val="1600"/>
              <a:buNone/>
            </a:pPr>
            <a:r>
              <a:t/>
            </a:r>
            <a:endParaRPr sz="1600"/>
          </a:p>
        </p:txBody>
      </p:sp>
      <p:sp>
        <p:nvSpPr>
          <p:cNvPr id="1041" name="Google Shape;1041;p71"/>
          <p:cNvSpPr/>
          <p:nvPr/>
        </p:nvSpPr>
        <p:spPr>
          <a:xfrm>
            <a:off x="1793451" y="3848185"/>
            <a:ext cx="2376264" cy="989536"/>
          </a:xfrm>
          <a:prstGeom prst="rect">
            <a:avLst/>
          </a:prstGeom>
          <a:solidFill>
            <a:srgbClr val="FFFF00"/>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BO" sz="1800">
                <a:solidFill>
                  <a:srgbClr val="000000"/>
                </a:solidFill>
                <a:latin typeface="Calibri"/>
                <a:ea typeface="Calibri"/>
                <a:cs typeface="Calibri"/>
                <a:sym typeface="Calibri"/>
              </a:rPr>
              <a:t>PROCESO DE </a:t>
            </a:r>
            <a:r>
              <a:rPr lang="es-BO" sz="1800" u="sng">
                <a:solidFill>
                  <a:srgbClr val="000000"/>
                </a:solidFill>
                <a:latin typeface="Calibri"/>
                <a:ea typeface="Calibri"/>
                <a:cs typeface="Calibri"/>
                <a:sym typeface="Calibri"/>
              </a:rPr>
              <a:t>ADQUISICIÓN</a:t>
            </a:r>
            <a:r>
              <a:rPr lang="es-BO" sz="1800">
                <a:solidFill>
                  <a:srgbClr val="000000"/>
                </a:solidFill>
                <a:latin typeface="Calibri"/>
                <a:ea typeface="Calibri"/>
                <a:cs typeface="Calibri"/>
                <a:sym typeface="Calibri"/>
              </a:rPr>
              <a:t> DE LA SEÑAL ANALÓGICA</a:t>
            </a:r>
            <a:endParaRPr/>
          </a:p>
        </p:txBody>
      </p:sp>
      <p:sp>
        <p:nvSpPr>
          <p:cNvPr id="1042" name="Google Shape;1042;p71"/>
          <p:cNvSpPr/>
          <p:nvPr/>
        </p:nvSpPr>
        <p:spPr>
          <a:xfrm>
            <a:off x="4799856" y="4005064"/>
            <a:ext cx="3888432" cy="611583"/>
          </a:xfrm>
          <a:prstGeom prst="rect">
            <a:avLst/>
          </a:prstGeom>
          <a:solidFill>
            <a:srgbClr val="FBD4B4"/>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BO" sz="1800">
                <a:solidFill>
                  <a:srgbClr val="000000"/>
                </a:solidFill>
                <a:latin typeface="Calibri"/>
                <a:ea typeface="Calibri"/>
                <a:cs typeface="Calibri"/>
                <a:sym typeface="Calibri"/>
              </a:rPr>
              <a:t>Filtrado</a:t>
            </a:r>
            <a:endParaRPr/>
          </a:p>
        </p:txBody>
      </p:sp>
      <p:sp>
        <p:nvSpPr>
          <p:cNvPr id="1043" name="Google Shape;1043;p71"/>
          <p:cNvSpPr/>
          <p:nvPr/>
        </p:nvSpPr>
        <p:spPr>
          <a:xfrm>
            <a:off x="4783982" y="4837721"/>
            <a:ext cx="3888432" cy="611583"/>
          </a:xfrm>
          <a:prstGeom prst="rect">
            <a:avLst/>
          </a:prstGeom>
          <a:solidFill>
            <a:srgbClr val="FBD4B4"/>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BO" sz="1800">
                <a:solidFill>
                  <a:srgbClr val="000000"/>
                </a:solidFill>
                <a:latin typeface="Calibri"/>
                <a:ea typeface="Calibri"/>
                <a:cs typeface="Calibri"/>
                <a:sym typeface="Calibri"/>
              </a:rPr>
              <a:t>Conversión A/D</a:t>
            </a:r>
            <a:endParaRPr/>
          </a:p>
        </p:txBody>
      </p:sp>
      <p:sp>
        <p:nvSpPr>
          <p:cNvPr id="1044" name="Google Shape;1044;p71"/>
          <p:cNvSpPr/>
          <p:nvPr/>
        </p:nvSpPr>
        <p:spPr>
          <a:xfrm>
            <a:off x="4783982" y="5671208"/>
            <a:ext cx="3888432" cy="611583"/>
          </a:xfrm>
          <a:prstGeom prst="rect">
            <a:avLst/>
          </a:prstGeom>
          <a:solidFill>
            <a:srgbClr val="FBD4B4"/>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BO" sz="1800">
                <a:solidFill>
                  <a:srgbClr val="000000"/>
                </a:solidFill>
                <a:latin typeface="Calibri"/>
                <a:ea typeface="Calibri"/>
                <a:cs typeface="Calibri"/>
                <a:sym typeface="Calibri"/>
              </a:rPr>
              <a:t>Memoria interna</a:t>
            </a:r>
            <a:endParaRPr/>
          </a:p>
        </p:txBody>
      </p:sp>
      <p:cxnSp>
        <p:nvCxnSpPr>
          <p:cNvPr id="1045" name="Google Shape;1045;p71"/>
          <p:cNvCxnSpPr>
            <a:endCxn id="1042" idx="1"/>
          </p:cNvCxnSpPr>
          <p:nvPr/>
        </p:nvCxnSpPr>
        <p:spPr>
          <a:xfrm>
            <a:off x="4177956" y="4310856"/>
            <a:ext cx="621900" cy="0"/>
          </a:xfrm>
          <a:prstGeom prst="straightConnector1">
            <a:avLst/>
          </a:prstGeom>
          <a:noFill/>
          <a:ln cap="flat" cmpd="sng" w="9525">
            <a:solidFill>
              <a:schemeClr val="dk1"/>
            </a:solidFill>
            <a:prstDash val="solid"/>
            <a:round/>
            <a:headEnd len="sm" w="sm" type="none"/>
            <a:tailEnd len="med" w="med" type="triangle"/>
          </a:ln>
        </p:spPr>
      </p:cxnSp>
      <p:cxnSp>
        <p:nvCxnSpPr>
          <p:cNvPr id="1046" name="Google Shape;1046;p71"/>
          <p:cNvCxnSpPr>
            <a:endCxn id="1043" idx="1"/>
          </p:cNvCxnSpPr>
          <p:nvPr/>
        </p:nvCxnSpPr>
        <p:spPr>
          <a:xfrm flipH="1" rot="-5400000">
            <a:off x="4219832" y="4579363"/>
            <a:ext cx="833100" cy="295200"/>
          </a:xfrm>
          <a:prstGeom prst="bentConnector2">
            <a:avLst/>
          </a:prstGeom>
          <a:noFill/>
          <a:ln cap="flat" cmpd="sng" w="9525">
            <a:solidFill>
              <a:schemeClr val="dk1"/>
            </a:solidFill>
            <a:prstDash val="solid"/>
            <a:round/>
            <a:headEnd len="sm" w="sm" type="none"/>
            <a:tailEnd len="med" w="med" type="triangle"/>
          </a:ln>
        </p:spPr>
      </p:cxnSp>
      <p:cxnSp>
        <p:nvCxnSpPr>
          <p:cNvPr id="1047" name="Google Shape;1047;p71"/>
          <p:cNvCxnSpPr>
            <a:endCxn id="1044" idx="1"/>
          </p:cNvCxnSpPr>
          <p:nvPr/>
        </p:nvCxnSpPr>
        <p:spPr>
          <a:xfrm flipH="1" rot="-5400000">
            <a:off x="3803282" y="4996300"/>
            <a:ext cx="1666200" cy="295200"/>
          </a:xfrm>
          <a:prstGeom prst="bentConnector2">
            <a:avLst/>
          </a:prstGeom>
          <a:noFill/>
          <a:ln cap="flat" cmpd="sng" w="9525">
            <a:solidFill>
              <a:schemeClr val="dk1"/>
            </a:solidFill>
            <a:prstDash val="solid"/>
            <a:round/>
            <a:headEnd len="sm" w="sm" type="none"/>
            <a:tailEnd len="med" w="med" type="triangle"/>
          </a:ln>
        </p:spPr>
      </p:cxnSp>
      <p:sp>
        <p:nvSpPr>
          <p:cNvPr id="1048" name="Google Shape;1048;p71"/>
          <p:cNvSpPr txBox="1"/>
          <p:nvPr/>
        </p:nvSpPr>
        <p:spPr>
          <a:xfrm>
            <a:off x="607114" y="3261427"/>
            <a:ext cx="108894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s-BO" sz="1800">
                <a:solidFill>
                  <a:schemeClr val="dk1"/>
                </a:solidFill>
                <a:latin typeface="Calibri"/>
                <a:ea typeface="Calibri"/>
                <a:cs typeface="Calibri"/>
                <a:sym typeface="Calibri"/>
              </a:rPr>
              <a:t>MODULO DE EXPANSIÓN 1762- ENTRADAS ANALÓGICAS – ADAPTACIÓN POR HARDWARE </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2" name="Shape 1052"/>
        <p:cNvGrpSpPr/>
        <p:nvPr/>
      </p:nvGrpSpPr>
      <p:grpSpPr>
        <a:xfrm>
          <a:off x="0" y="0"/>
          <a:ext cx="0" cy="0"/>
          <a:chOff x="0" y="0"/>
          <a:chExt cx="0" cy="0"/>
        </a:xfrm>
      </p:grpSpPr>
      <p:sp>
        <p:nvSpPr>
          <p:cNvPr id="1053" name="Google Shape;1053;p72"/>
          <p:cNvSpPr/>
          <p:nvPr/>
        </p:nvSpPr>
        <p:spPr>
          <a:xfrm>
            <a:off x="1343710" y="1367453"/>
            <a:ext cx="2376264" cy="989536"/>
          </a:xfrm>
          <a:prstGeom prst="rect">
            <a:avLst/>
          </a:prstGeom>
          <a:solidFill>
            <a:srgbClr val="FFFF00"/>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BO" sz="1800">
                <a:solidFill>
                  <a:srgbClr val="000000"/>
                </a:solidFill>
                <a:latin typeface="Calibri"/>
                <a:ea typeface="Calibri"/>
                <a:cs typeface="Calibri"/>
                <a:sym typeface="Calibri"/>
              </a:rPr>
              <a:t>PROCESO DE ENVÍO  DE LA SEÑAL ANALÓGICA</a:t>
            </a:r>
            <a:endParaRPr/>
          </a:p>
        </p:txBody>
      </p:sp>
      <p:sp>
        <p:nvSpPr>
          <p:cNvPr id="1054" name="Google Shape;1054;p72"/>
          <p:cNvSpPr/>
          <p:nvPr/>
        </p:nvSpPr>
        <p:spPr>
          <a:xfrm>
            <a:off x="4363078" y="1340768"/>
            <a:ext cx="3888432" cy="611583"/>
          </a:xfrm>
          <a:prstGeom prst="rect">
            <a:avLst/>
          </a:prstGeom>
          <a:solidFill>
            <a:srgbClr val="FBD4B4"/>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BO" sz="1800">
                <a:solidFill>
                  <a:srgbClr val="000000"/>
                </a:solidFill>
                <a:latin typeface="Calibri"/>
                <a:ea typeface="Calibri"/>
                <a:cs typeface="Calibri"/>
                <a:sym typeface="Calibri"/>
              </a:rPr>
              <a:t>Aislamiento Galvánico</a:t>
            </a:r>
            <a:endParaRPr/>
          </a:p>
        </p:txBody>
      </p:sp>
      <p:sp>
        <p:nvSpPr>
          <p:cNvPr id="1055" name="Google Shape;1055;p72"/>
          <p:cNvSpPr/>
          <p:nvPr/>
        </p:nvSpPr>
        <p:spPr>
          <a:xfrm>
            <a:off x="4363078" y="2076543"/>
            <a:ext cx="3888432" cy="611583"/>
          </a:xfrm>
          <a:prstGeom prst="rect">
            <a:avLst/>
          </a:prstGeom>
          <a:solidFill>
            <a:srgbClr val="FBD4B4"/>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BO" sz="1800">
                <a:solidFill>
                  <a:srgbClr val="000000"/>
                </a:solidFill>
                <a:latin typeface="Calibri"/>
                <a:ea typeface="Calibri"/>
                <a:cs typeface="Calibri"/>
                <a:sym typeface="Calibri"/>
              </a:rPr>
              <a:t>Conversión D/A</a:t>
            </a:r>
            <a:endParaRPr/>
          </a:p>
        </p:txBody>
      </p:sp>
      <p:sp>
        <p:nvSpPr>
          <p:cNvPr id="1056" name="Google Shape;1056;p72"/>
          <p:cNvSpPr/>
          <p:nvPr/>
        </p:nvSpPr>
        <p:spPr>
          <a:xfrm>
            <a:off x="4363078" y="2832005"/>
            <a:ext cx="3888432" cy="611583"/>
          </a:xfrm>
          <a:prstGeom prst="rect">
            <a:avLst/>
          </a:prstGeom>
          <a:solidFill>
            <a:srgbClr val="FBD4B4"/>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BO" sz="1800">
                <a:solidFill>
                  <a:srgbClr val="000000"/>
                </a:solidFill>
                <a:latin typeface="Calibri"/>
                <a:ea typeface="Calibri"/>
                <a:cs typeface="Calibri"/>
                <a:sym typeface="Calibri"/>
              </a:rPr>
              <a:t>Amplificación</a:t>
            </a:r>
            <a:endParaRPr/>
          </a:p>
        </p:txBody>
      </p:sp>
      <p:cxnSp>
        <p:nvCxnSpPr>
          <p:cNvPr id="1057" name="Google Shape;1057;p72"/>
          <p:cNvCxnSpPr>
            <a:endCxn id="1054" idx="1"/>
          </p:cNvCxnSpPr>
          <p:nvPr/>
        </p:nvCxnSpPr>
        <p:spPr>
          <a:xfrm>
            <a:off x="3741178" y="1646560"/>
            <a:ext cx="621900" cy="0"/>
          </a:xfrm>
          <a:prstGeom prst="straightConnector1">
            <a:avLst/>
          </a:prstGeom>
          <a:noFill/>
          <a:ln cap="flat" cmpd="sng" w="9525">
            <a:solidFill>
              <a:schemeClr val="dk1"/>
            </a:solidFill>
            <a:prstDash val="solid"/>
            <a:round/>
            <a:headEnd len="sm" w="sm" type="none"/>
            <a:tailEnd len="med" w="med" type="triangle"/>
          </a:ln>
        </p:spPr>
      </p:cxnSp>
      <p:cxnSp>
        <p:nvCxnSpPr>
          <p:cNvPr id="1058" name="Google Shape;1058;p72"/>
          <p:cNvCxnSpPr>
            <a:endCxn id="1055" idx="1"/>
          </p:cNvCxnSpPr>
          <p:nvPr/>
        </p:nvCxnSpPr>
        <p:spPr>
          <a:xfrm flipH="1" rot="-5400000">
            <a:off x="3866728" y="1885985"/>
            <a:ext cx="693300" cy="299400"/>
          </a:xfrm>
          <a:prstGeom prst="bentConnector2">
            <a:avLst/>
          </a:prstGeom>
          <a:noFill/>
          <a:ln cap="flat" cmpd="sng" w="9525">
            <a:solidFill>
              <a:schemeClr val="dk1"/>
            </a:solidFill>
            <a:prstDash val="solid"/>
            <a:round/>
            <a:headEnd len="sm" w="sm" type="none"/>
            <a:tailEnd len="med" w="med" type="triangle"/>
          </a:ln>
        </p:spPr>
      </p:cxnSp>
      <p:cxnSp>
        <p:nvCxnSpPr>
          <p:cNvPr id="1059" name="Google Shape;1059;p72"/>
          <p:cNvCxnSpPr>
            <a:endCxn id="1056" idx="1"/>
          </p:cNvCxnSpPr>
          <p:nvPr/>
        </p:nvCxnSpPr>
        <p:spPr>
          <a:xfrm flipH="1" rot="-5400000">
            <a:off x="3484228" y="2258947"/>
            <a:ext cx="1458300" cy="299400"/>
          </a:xfrm>
          <a:prstGeom prst="bentConnector2">
            <a:avLst/>
          </a:prstGeom>
          <a:noFill/>
          <a:ln cap="flat" cmpd="sng" w="9525">
            <a:solidFill>
              <a:schemeClr val="dk1"/>
            </a:solidFill>
            <a:prstDash val="solid"/>
            <a:round/>
            <a:headEnd len="sm" w="sm" type="none"/>
            <a:tailEnd len="med" w="med" type="triangle"/>
          </a:ln>
        </p:spPr>
      </p:cxnSp>
      <p:sp>
        <p:nvSpPr>
          <p:cNvPr id="1060" name="Google Shape;1060;p72"/>
          <p:cNvSpPr txBox="1"/>
          <p:nvPr/>
        </p:nvSpPr>
        <p:spPr>
          <a:xfrm>
            <a:off x="701862" y="2476075"/>
            <a:ext cx="3161890"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BO" sz="1800">
                <a:solidFill>
                  <a:schemeClr val="dk1"/>
                </a:solidFill>
                <a:latin typeface="Calibri"/>
                <a:ea typeface="Calibri"/>
                <a:cs typeface="Calibri"/>
                <a:sym typeface="Calibri"/>
              </a:rPr>
              <a:t>NOTA: </a:t>
            </a:r>
            <a:r>
              <a:rPr lang="es-BO" sz="1800">
                <a:solidFill>
                  <a:schemeClr val="dk1"/>
                </a:solidFill>
                <a:latin typeface="Calibri"/>
                <a:ea typeface="Calibri"/>
                <a:cs typeface="Calibri"/>
                <a:sym typeface="Calibri"/>
              </a:rPr>
              <a:t>La ventaja de trabajar con señales de corriente, radica en que no se presentan los problemas de ruido eléctrico y de caída de tensión.</a:t>
            </a:r>
            <a:endParaRPr b="1" sz="1800">
              <a:solidFill>
                <a:schemeClr val="dk1"/>
              </a:solidFill>
              <a:latin typeface="Calibri"/>
              <a:ea typeface="Calibri"/>
              <a:cs typeface="Calibri"/>
              <a:sym typeface="Calibri"/>
            </a:endParaRPr>
          </a:p>
        </p:txBody>
      </p:sp>
      <p:sp>
        <p:nvSpPr>
          <p:cNvPr id="1061" name="Google Shape;1061;p72"/>
          <p:cNvSpPr/>
          <p:nvPr/>
        </p:nvSpPr>
        <p:spPr>
          <a:xfrm>
            <a:off x="4379148" y="3582243"/>
            <a:ext cx="3888432" cy="611583"/>
          </a:xfrm>
          <a:prstGeom prst="rect">
            <a:avLst/>
          </a:prstGeom>
          <a:solidFill>
            <a:srgbClr val="FBD4B4"/>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BO" sz="1800">
                <a:solidFill>
                  <a:srgbClr val="000000"/>
                </a:solidFill>
                <a:latin typeface="Calibri"/>
                <a:ea typeface="Calibri"/>
                <a:cs typeface="Calibri"/>
                <a:sym typeface="Calibri"/>
              </a:rPr>
              <a:t>Protección electrónica de salida</a:t>
            </a:r>
            <a:endParaRPr/>
          </a:p>
        </p:txBody>
      </p:sp>
      <p:cxnSp>
        <p:nvCxnSpPr>
          <p:cNvPr id="1062" name="Google Shape;1062;p72"/>
          <p:cNvCxnSpPr>
            <a:endCxn id="1061" idx="1"/>
          </p:cNvCxnSpPr>
          <p:nvPr/>
        </p:nvCxnSpPr>
        <p:spPr>
          <a:xfrm flipH="1" rot="-5400000">
            <a:off x="3098598" y="2607485"/>
            <a:ext cx="2245800" cy="315300"/>
          </a:xfrm>
          <a:prstGeom prst="bentConnector2">
            <a:avLst/>
          </a:prstGeom>
          <a:noFill/>
          <a:ln cap="flat" cmpd="sng" w="9525">
            <a:solidFill>
              <a:schemeClr val="dk1"/>
            </a:solidFill>
            <a:prstDash val="solid"/>
            <a:round/>
            <a:headEnd len="sm" w="sm" type="none"/>
            <a:tailEnd len="med" w="med" type="triangle"/>
          </a:ln>
        </p:spPr>
      </p:cxnSp>
      <p:sp>
        <p:nvSpPr>
          <p:cNvPr id="1063" name="Google Shape;1063;p72"/>
          <p:cNvSpPr/>
          <p:nvPr/>
        </p:nvSpPr>
        <p:spPr>
          <a:xfrm>
            <a:off x="8467534" y="1336559"/>
            <a:ext cx="2814446" cy="611583"/>
          </a:xfrm>
          <a:prstGeom prst="rect">
            <a:avLst/>
          </a:prstGeom>
          <a:solidFill>
            <a:srgbClr val="00B0F0"/>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BO" sz="1800">
                <a:solidFill>
                  <a:srgbClr val="000000"/>
                </a:solidFill>
                <a:latin typeface="Calibri"/>
                <a:ea typeface="Calibri"/>
                <a:cs typeface="Calibri"/>
                <a:sym typeface="Calibri"/>
              </a:rPr>
              <a:t>Acondicionar y aislar señales eléctricas</a:t>
            </a:r>
            <a:endParaRPr b="1" sz="1800">
              <a:solidFill>
                <a:srgbClr val="000000"/>
              </a:solidFill>
              <a:latin typeface="Calibri"/>
              <a:ea typeface="Calibri"/>
              <a:cs typeface="Calibri"/>
              <a:sym typeface="Calibri"/>
            </a:endParaRPr>
          </a:p>
        </p:txBody>
      </p:sp>
      <p:sp>
        <p:nvSpPr>
          <p:cNvPr id="1064" name="Google Shape;1064;p72"/>
          <p:cNvSpPr/>
          <p:nvPr/>
        </p:nvSpPr>
        <p:spPr>
          <a:xfrm>
            <a:off x="8560725" y="3582242"/>
            <a:ext cx="2814446" cy="611583"/>
          </a:xfrm>
          <a:prstGeom prst="rect">
            <a:avLst/>
          </a:prstGeom>
          <a:solidFill>
            <a:srgbClr val="00B0F0"/>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BO" sz="1800">
                <a:solidFill>
                  <a:srgbClr val="000000"/>
                </a:solidFill>
                <a:latin typeface="Calibri"/>
                <a:ea typeface="Calibri"/>
                <a:cs typeface="Calibri"/>
                <a:sym typeface="Calibri"/>
              </a:rPr>
              <a:t>Contra sobrecarga</a:t>
            </a:r>
            <a:endParaRPr b="1" sz="1800">
              <a:solidFill>
                <a:srgbClr val="000000"/>
              </a:solidFill>
              <a:latin typeface="Calibri"/>
              <a:ea typeface="Calibri"/>
              <a:cs typeface="Calibri"/>
              <a:sym typeface="Calibri"/>
            </a:endParaRPr>
          </a:p>
        </p:txBody>
      </p:sp>
      <p:cxnSp>
        <p:nvCxnSpPr>
          <p:cNvPr id="1065" name="Google Shape;1065;p72"/>
          <p:cNvCxnSpPr>
            <a:stCxn id="1063" idx="1"/>
            <a:endCxn id="1054" idx="3"/>
          </p:cNvCxnSpPr>
          <p:nvPr/>
        </p:nvCxnSpPr>
        <p:spPr>
          <a:xfrm flipH="1">
            <a:off x="8251534" y="1642351"/>
            <a:ext cx="216000" cy="4200"/>
          </a:xfrm>
          <a:prstGeom prst="straightConnector1">
            <a:avLst/>
          </a:prstGeom>
          <a:noFill/>
          <a:ln cap="flat" cmpd="sng" w="9525">
            <a:solidFill>
              <a:schemeClr val="dk1"/>
            </a:solidFill>
            <a:prstDash val="solid"/>
            <a:round/>
            <a:headEnd len="sm" w="sm" type="none"/>
            <a:tailEnd len="med" w="med" type="triangle"/>
          </a:ln>
        </p:spPr>
      </p:cxnSp>
      <p:cxnSp>
        <p:nvCxnSpPr>
          <p:cNvPr id="1066" name="Google Shape;1066;p72"/>
          <p:cNvCxnSpPr>
            <a:stCxn id="1064" idx="1"/>
            <a:endCxn id="1061" idx="3"/>
          </p:cNvCxnSpPr>
          <p:nvPr/>
        </p:nvCxnSpPr>
        <p:spPr>
          <a:xfrm rot="10800000">
            <a:off x="8267625" y="3888034"/>
            <a:ext cx="293100" cy="0"/>
          </a:xfrm>
          <a:prstGeom prst="straightConnector1">
            <a:avLst/>
          </a:prstGeom>
          <a:noFill/>
          <a:ln cap="flat" cmpd="sng" w="9525">
            <a:solidFill>
              <a:schemeClr val="dk1"/>
            </a:solidFill>
            <a:prstDash val="solid"/>
            <a:round/>
            <a:headEnd len="sm" w="sm" type="none"/>
            <a:tailEnd len="med" w="med" type="triangle"/>
          </a:ln>
        </p:spPr>
      </p:cxnSp>
      <p:sp>
        <p:nvSpPr>
          <p:cNvPr id="1067" name="Google Shape;1067;p72"/>
          <p:cNvSpPr txBox="1"/>
          <p:nvPr/>
        </p:nvSpPr>
        <p:spPr>
          <a:xfrm>
            <a:off x="705022" y="512769"/>
            <a:ext cx="1028752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s-BO" sz="1800">
                <a:solidFill>
                  <a:schemeClr val="dk1"/>
                </a:solidFill>
                <a:latin typeface="Calibri"/>
                <a:ea typeface="Calibri"/>
                <a:cs typeface="Calibri"/>
                <a:sym typeface="Calibri"/>
              </a:rPr>
              <a:t>MODULO DE EXPANSION 1762 – SALIDAS ANALOGICAS – ADAPTACIÓN POR HARDWARE</a:t>
            </a:r>
            <a:endParaRPr/>
          </a:p>
        </p:txBody>
      </p:sp>
      <p:sp>
        <p:nvSpPr>
          <p:cNvPr id="1068" name="Google Shape;1068;p72"/>
          <p:cNvSpPr txBox="1"/>
          <p:nvPr/>
        </p:nvSpPr>
        <p:spPr>
          <a:xfrm>
            <a:off x="701862" y="4936964"/>
            <a:ext cx="10535755"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chemeClr val="dk1"/>
                </a:solidFill>
                <a:latin typeface="Calibri"/>
                <a:ea typeface="Calibri"/>
                <a:cs typeface="Calibri"/>
                <a:sym typeface="Calibri"/>
              </a:rPr>
              <a:t>Para ambos casos, el tipo de señal a la entrada y a la salida se eligió como 4-20mA, que se discretiza en un rango entre 3277 y 16383, haciendo uso de 14 bits.</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2" name="Shape 1072"/>
        <p:cNvGrpSpPr/>
        <p:nvPr/>
      </p:nvGrpSpPr>
      <p:grpSpPr>
        <a:xfrm>
          <a:off x="0" y="0"/>
          <a:ext cx="0" cy="0"/>
          <a:chOff x="0" y="0"/>
          <a:chExt cx="0" cy="0"/>
        </a:xfrm>
      </p:grpSpPr>
      <p:pic>
        <p:nvPicPr>
          <p:cNvPr id="1073" name="Google Shape;1073;p73"/>
          <p:cNvPicPr preferRelativeResize="0"/>
          <p:nvPr/>
        </p:nvPicPr>
        <p:blipFill rotWithShape="1">
          <a:blip r:embed="rId3">
            <a:alphaModFix/>
          </a:blip>
          <a:srcRect b="0" l="0" r="0" t="0"/>
          <a:stretch/>
        </p:blipFill>
        <p:spPr>
          <a:xfrm>
            <a:off x="5458244" y="3947878"/>
            <a:ext cx="1414463" cy="1912938"/>
          </a:xfrm>
          <a:prstGeom prst="rect">
            <a:avLst/>
          </a:prstGeom>
          <a:noFill/>
          <a:ln>
            <a:noFill/>
          </a:ln>
        </p:spPr>
      </p:pic>
      <p:pic>
        <p:nvPicPr>
          <p:cNvPr id="1074" name="Google Shape;1074;p73"/>
          <p:cNvPicPr preferRelativeResize="0"/>
          <p:nvPr/>
        </p:nvPicPr>
        <p:blipFill rotWithShape="1">
          <a:blip r:embed="rId4">
            <a:alphaModFix/>
          </a:blip>
          <a:srcRect b="0" l="27879" r="0" t="0"/>
          <a:stretch/>
        </p:blipFill>
        <p:spPr>
          <a:xfrm>
            <a:off x="9084240" y="3942268"/>
            <a:ext cx="1755775" cy="1906588"/>
          </a:xfrm>
          <a:prstGeom prst="rect">
            <a:avLst/>
          </a:prstGeom>
          <a:noFill/>
          <a:ln>
            <a:noFill/>
          </a:ln>
        </p:spPr>
      </p:pic>
      <p:sp>
        <p:nvSpPr>
          <p:cNvPr id="1075" name="Google Shape;1075;p73"/>
          <p:cNvSpPr txBox="1"/>
          <p:nvPr/>
        </p:nvSpPr>
        <p:spPr>
          <a:xfrm>
            <a:off x="5357665" y="5893248"/>
            <a:ext cx="1657351" cy="50006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1" lang="es-BO" sz="1000" u="none" cap="none" strike="noStrike">
                <a:solidFill>
                  <a:schemeClr val="dk1"/>
                </a:solidFill>
                <a:latin typeface="Arial"/>
                <a:ea typeface="Arial"/>
                <a:cs typeface="Arial"/>
                <a:sym typeface="Arial"/>
              </a:rPr>
              <a:t>Configuración en Rslogix Micro English</a:t>
            </a:r>
            <a:endParaRPr b="0" i="0" sz="1800" u="none" cap="none" strike="noStrike">
              <a:solidFill>
                <a:schemeClr val="dk1"/>
              </a:solidFill>
              <a:latin typeface="Arial"/>
              <a:ea typeface="Arial"/>
              <a:cs typeface="Arial"/>
              <a:sym typeface="Arial"/>
            </a:endParaRPr>
          </a:p>
        </p:txBody>
      </p:sp>
      <p:pic>
        <p:nvPicPr>
          <p:cNvPr id="1076" name="Google Shape;1076;p73"/>
          <p:cNvPicPr preferRelativeResize="0"/>
          <p:nvPr/>
        </p:nvPicPr>
        <p:blipFill rotWithShape="1">
          <a:blip r:embed="rId5">
            <a:alphaModFix/>
          </a:blip>
          <a:srcRect b="0" l="49849" r="0" t="0"/>
          <a:stretch/>
        </p:blipFill>
        <p:spPr>
          <a:xfrm>
            <a:off x="1589361" y="3947878"/>
            <a:ext cx="1657350" cy="2000250"/>
          </a:xfrm>
          <a:prstGeom prst="rect">
            <a:avLst/>
          </a:prstGeom>
          <a:noFill/>
          <a:ln>
            <a:noFill/>
          </a:ln>
        </p:spPr>
      </p:pic>
      <p:sp>
        <p:nvSpPr>
          <p:cNvPr id="1077" name="Google Shape;1077;p73"/>
          <p:cNvSpPr txBox="1"/>
          <p:nvPr/>
        </p:nvSpPr>
        <p:spPr>
          <a:xfrm>
            <a:off x="1434579" y="5929078"/>
            <a:ext cx="1966913" cy="42227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1" lang="es-BO" sz="1000" u="none" cap="none" strike="noStrike">
                <a:solidFill>
                  <a:schemeClr val="dk1"/>
                </a:solidFill>
                <a:latin typeface="Arial"/>
                <a:ea typeface="Arial"/>
                <a:cs typeface="Arial"/>
                <a:sym typeface="Arial"/>
              </a:rPr>
              <a:t>Adaptación de señales para el sensor de presión</a:t>
            </a:r>
            <a:endParaRPr b="0" i="0" sz="1800" u="none" cap="none" strike="noStrike">
              <a:solidFill>
                <a:schemeClr val="dk1"/>
              </a:solidFill>
              <a:latin typeface="Arial"/>
              <a:ea typeface="Arial"/>
              <a:cs typeface="Arial"/>
              <a:sym typeface="Arial"/>
            </a:endParaRPr>
          </a:p>
        </p:txBody>
      </p:sp>
      <p:sp>
        <p:nvSpPr>
          <p:cNvPr id="1078" name="Google Shape;1078;p73"/>
          <p:cNvSpPr txBox="1"/>
          <p:nvPr/>
        </p:nvSpPr>
        <p:spPr>
          <a:xfrm>
            <a:off x="8971189" y="5884347"/>
            <a:ext cx="1966912" cy="42227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1" lang="es-BO" sz="1000" u="none" cap="none" strike="noStrike">
                <a:solidFill>
                  <a:schemeClr val="dk1"/>
                </a:solidFill>
                <a:latin typeface="Arial"/>
                <a:ea typeface="Arial"/>
                <a:cs typeface="Arial"/>
                <a:sym typeface="Arial"/>
              </a:rPr>
              <a:t>Adaptación de señales para el sensor de ultrasonido</a:t>
            </a:r>
            <a:endParaRPr b="0" i="0" sz="1800" u="none" cap="none" strike="noStrike">
              <a:solidFill>
                <a:schemeClr val="dk1"/>
              </a:solidFill>
              <a:latin typeface="Arial"/>
              <a:ea typeface="Arial"/>
              <a:cs typeface="Arial"/>
              <a:sym typeface="Arial"/>
            </a:endParaRPr>
          </a:p>
        </p:txBody>
      </p:sp>
      <p:sp>
        <p:nvSpPr>
          <p:cNvPr id="1079" name="Google Shape;1079;p73"/>
          <p:cNvSpPr/>
          <p:nvPr/>
        </p:nvSpPr>
        <p:spPr>
          <a:xfrm>
            <a:off x="838200" y="452364"/>
            <a:ext cx="10851776" cy="36933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rPr b="1" lang="es-BO" sz="1800" cap="none" strike="noStrike">
                <a:solidFill>
                  <a:schemeClr val="dk1"/>
                </a:solidFill>
                <a:latin typeface="Calibri"/>
                <a:ea typeface="Calibri"/>
                <a:cs typeface="Calibri"/>
                <a:sym typeface="Calibri"/>
              </a:rPr>
              <a:t>ADAPTACIÓN DE SEÑALES POR SOFTWARE EN EL PLC</a:t>
            </a:r>
            <a:endParaRPr b="1" sz="1800" cap="none" strike="noStrike">
              <a:solidFill>
                <a:schemeClr val="dk1"/>
              </a:solidFill>
              <a:latin typeface="Calibri"/>
              <a:ea typeface="Calibri"/>
              <a:cs typeface="Calibri"/>
              <a:sym typeface="Calibri"/>
            </a:endParaRPr>
          </a:p>
        </p:txBody>
      </p:sp>
      <p:sp>
        <p:nvSpPr>
          <p:cNvPr id="1080" name="Google Shape;1080;p73"/>
          <p:cNvSpPr/>
          <p:nvPr/>
        </p:nvSpPr>
        <p:spPr>
          <a:xfrm>
            <a:off x="838200" y="976055"/>
            <a:ext cx="10654553" cy="830997"/>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Calibri"/>
              <a:buNone/>
            </a:pPr>
            <a:r>
              <a:rPr b="0" i="0" lang="es-BO" sz="1600" u="none" cap="none" strike="noStrike">
                <a:solidFill>
                  <a:schemeClr val="dk1"/>
                </a:solidFill>
                <a:latin typeface="Calibri"/>
                <a:ea typeface="Calibri"/>
                <a:cs typeface="Calibri"/>
                <a:sym typeface="Calibri"/>
              </a:rPr>
              <a:t>Para realizar la adaptación de señales usaremos la función SCP en la programación en Ladder en el software </a:t>
            </a:r>
            <a:r>
              <a:rPr lang="es-BO" sz="1600">
                <a:solidFill>
                  <a:schemeClr val="dk1"/>
                </a:solidFill>
                <a:latin typeface="Calibri"/>
                <a:ea typeface="Calibri"/>
                <a:cs typeface="Calibri"/>
                <a:sym typeface="Calibri"/>
              </a:rPr>
              <a:t>RSL</a:t>
            </a:r>
            <a:r>
              <a:rPr b="0" i="0" lang="es-BO" sz="1600" u="none" cap="none" strike="noStrike">
                <a:solidFill>
                  <a:schemeClr val="dk1"/>
                </a:solidFill>
                <a:latin typeface="Calibri"/>
                <a:ea typeface="Calibri"/>
                <a:cs typeface="Calibri"/>
                <a:sym typeface="Calibri"/>
              </a:rPr>
              <a:t>ogix </a:t>
            </a:r>
            <a:r>
              <a:rPr lang="es-BO" sz="1600">
                <a:solidFill>
                  <a:schemeClr val="dk1"/>
                </a:solidFill>
                <a:latin typeface="Calibri"/>
                <a:ea typeface="Calibri"/>
                <a:cs typeface="Calibri"/>
                <a:sym typeface="Calibri"/>
              </a:rPr>
              <a:t>M</a:t>
            </a:r>
            <a:r>
              <a:rPr b="0" i="0" lang="es-BO" sz="1600" u="none" cap="none" strike="noStrike">
                <a:solidFill>
                  <a:schemeClr val="dk1"/>
                </a:solidFill>
                <a:latin typeface="Calibri"/>
                <a:ea typeface="Calibri"/>
                <a:cs typeface="Calibri"/>
                <a:sym typeface="Calibri"/>
              </a:rPr>
              <a:t>icro </a:t>
            </a:r>
            <a:r>
              <a:rPr lang="es-BO" sz="1600">
                <a:solidFill>
                  <a:schemeClr val="dk1"/>
                </a:solidFill>
                <a:latin typeface="Calibri"/>
                <a:ea typeface="Calibri"/>
                <a:cs typeface="Calibri"/>
                <a:sym typeface="Calibri"/>
              </a:rPr>
              <a:t>E</a:t>
            </a:r>
            <a:r>
              <a:rPr b="0" i="0" lang="es-BO" sz="1600" u="none" cap="none" strike="noStrike">
                <a:solidFill>
                  <a:schemeClr val="dk1"/>
                </a:solidFill>
                <a:latin typeface="Calibri"/>
                <a:ea typeface="Calibri"/>
                <a:cs typeface="Calibri"/>
                <a:sym typeface="Calibri"/>
              </a:rPr>
              <a:t>nglish pues nos permite realizar un escalamiento sencillo delimitando únicamente los valores mínimos y máximos de la representación binaria que tiene el PLC con relación a la señal analógica de salida que nos proporciona nuestro sensor.</a:t>
            </a:r>
            <a:endParaRPr b="0" i="0" sz="1600" u="none" cap="none" strike="noStrike">
              <a:solidFill>
                <a:schemeClr val="dk1"/>
              </a:solidFill>
              <a:latin typeface="Arial"/>
              <a:ea typeface="Arial"/>
              <a:cs typeface="Arial"/>
              <a:sym typeface="Arial"/>
            </a:endParaRPr>
          </a:p>
        </p:txBody>
      </p:sp>
      <p:sp>
        <p:nvSpPr>
          <p:cNvPr id="1081" name="Google Shape;1081;p73"/>
          <p:cNvSpPr/>
          <p:nvPr/>
        </p:nvSpPr>
        <p:spPr>
          <a:xfrm>
            <a:off x="838200" y="1939908"/>
            <a:ext cx="10851776" cy="181588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Calibri"/>
              <a:buNone/>
            </a:pPr>
            <a:r>
              <a:rPr b="0" i="0" lang="es-BO" sz="1600" u="none" cap="none" strike="noStrike">
                <a:solidFill>
                  <a:schemeClr val="dk1"/>
                </a:solidFill>
                <a:latin typeface="Calibri"/>
                <a:ea typeface="Calibri"/>
                <a:cs typeface="Calibri"/>
                <a:sym typeface="Calibri"/>
              </a:rPr>
              <a:t>En la práctica se deberá de utilizar la configuración para 4mA – 20mA (Min: 3277 - Max:16384) pues se utilizará para acondicionar la señal de salida del sensor de presión y de ultrasonido; también, se deberá de elegir si trabajar únicamente con valores enteros o utilizar salidas flotantes para la visualización con decimales.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Calibri"/>
              <a:buNone/>
            </a:pPr>
            <a:r>
              <a:rPr b="0" i="0" lang="es-BO" sz="1600" u="none" cap="none" strike="noStrike">
                <a:solidFill>
                  <a:schemeClr val="dk1"/>
                </a:solidFill>
                <a:latin typeface="Calibri"/>
                <a:ea typeface="Calibri"/>
                <a:cs typeface="Calibri"/>
                <a:sym typeface="Calibri"/>
              </a:rPr>
              <a:t>Para el sensor de ultrasonido se definirá una escala con un mínimo de 0cm y un máximo de 50cm; además, se utilizarán salidas con números enteros para trabajar con una medida redondeada muy próxima a la medida real. Y para el sensor de presión se definirá una escala mínima de 3mbar y un máximo de 200mbar, esto debido a que el sensor se encuentra mal calibrado y entrega medidas negativas, y se decidió trabajar con salidas flotantes.</a:t>
            </a:r>
            <a:endParaRPr b="0" i="0" sz="1600" u="none" cap="none" strike="noStrike">
              <a:solidFill>
                <a:schemeClr val="dk1"/>
              </a:solidFill>
              <a:latin typeface="Arial"/>
              <a:ea typeface="Arial"/>
              <a:cs typeface="Arial"/>
              <a:sym typeface="Arial"/>
            </a:endParaRPr>
          </a:p>
        </p:txBody>
      </p:sp>
      <p:sp>
        <p:nvSpPr>
          <p:cNvPr id="1082" name="Google Shape;1082;p73"/>
          <p:cNvSpPr/>
          <p:nvPr/>
        </p:nvSpPr>
        <p:spPr>
          <a:xfrm>
            <a:off x="838200" y="2904565"/>
            <a:ext cx="12192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transition spd="slow">
    <p:push/>
  </p:transition>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sp>
        <p:nvSpPr>
          <p:cNvPr id="1087" name="Google Shape;1087;p74"/>
          <p:cNvSpPr txBox="1"/>
          <p:nvPr>
            <p:ph type="title"/>
          </p:nvPr>
        </p:nvSpPr>
        <p:spPr>
          <a:xfrm>
            <a:off x="609600" y="274638"/>
            <a:ext cx="10972800" cy="634082"/>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1800"/>
              <a:buFont typeface="Calibri"/>
              <a:buNone/>
            </a:pPr>
            <a:r>
              <a:rPr b="1" lang="es-BO" sz="1800"/>
              <a:t>Escalado por Parámetros (SCP)</a:t>
            </a:r>
            <a:endParaRPr/>
          </a:p>
        </p:txBody>
      </p:sp>
      <p:sp>
        <p:nvSpPr>
          <p:cNvPr id="1088" name="Google Shape;1088;p74"/>
          <p:cNvSpPr txBox="1"/>
          <p:nvPr>
            <p:ph idx="1" type="body"/>
          </p:nvPr>
        </p:nvSpPr>
        <p:spPr>
          <a:xfrm>
            <a:off x="609600" y="1052736"/>
            <a:ext cx="10972800" cy="38863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600"/>
              <a:buNone/>
            </a:pPr>
            <a:r>
              <a:rPr lang="es-BO" sz="1600"/>
              <a:t>El escalado por parámetros proporcionado por el bloque SCP del Ladder de RSLogix Micro English se rige por la siguiente ecuación:</a:t>
            </a:r>
            <a:endParaRPr/>
          </a:p>
          <a:p>
            <a:pPr indent="0" lvl="0" marL="0" rtl="0" algn="l">
              <a:spcBef>
                <a:spcPts val="320"/>
              </a:spcBef>
              <a:spcAft>
                <a:spcPts val="0"/>
              </a:spcAft>
              <a:buClr>
                <a:schemeClr val="dk1"/>
              </a:buClr>
              <a:buSzPts val="1600"/>
              <a:buNone/>
            </a:pPr>
            <a:r>
              <a:t/>
            </a:r>
            <a:endParaRPr sz="1600"/>
          </a:p>
        </p:txBody>
      </p:sp>
      <p:sp>
        <p:nvSpPr>
          <p:cNvPr id="1089" name="Google Shape;1089;p74"/>
          <p:cNvSpPr txBox="1"/>
          <p:nvPr/>
        </p:nvSpPr>
        <p:spPr>
          <a:xfrm>
            <a:off x="4943872" y="1623938"/>
            <a:ext cx="2304256" cy="693844"/>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sp>
        <p:nvSpPr>
          <p:cNvPr id="1090" name="Google Shape;1090;p74"/>
          <p:cNvSpPr txBox="1"/>
          <p:nvPr/>
        </p:nvSpPr>
        <p:spPr>
          <a:xfrm>
            <a:off x="3503712" y="2599212"/>
            <a:ext cx="2880320" cy="233910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600">
                <a:solidFill>
                  <a:schemeClr val="dk1"/>
                </a:solidFill>
                <a:latin typeface="Calibri"/>
                <a:ea typeface="Calibri"/>
                <a:cs typeface="Calibri"/>
                <a:sym typeface="Calibri"/>
              </a:rPr>
              <a:t>Donde:</a:t>
            </a:r>
            <a:endParaRPr/>
          </a:p>
          <a:p>
            <a:pPr indent="0" lvl="0" marL="0" marR="0" rtl="0" algn="l">
              <a:spcBef>
                <a:spcPts val="0"/>
              </a:spcBef>
              <a:spcAft>
                <a:spcPts val="0"/>
              </a:spcAft>
              <a:buNone/>
            </a:pPr>
            <a:r>
              <a:rPr lang="es-BO" sz="1600">
                <a:solidFill>
                  <a:schemeClr val="dk1"/>
                </a:solidFill>
                <a:latin typeface="Calibri"/>
                <a:ea typeface="Calibri"/>
                <a:cs typeface="Calibri"/>
                <a:sym typeface="Calibri"/>
              </a:rPr>
              <a:t>y = Output</a:t>
            </a:r>
            <a:endParaRPr/>
          </a:p>
          <a:p>
            <a:pPr indent="0" lvl="0" marL="0" marR="0" rtl="0" algn="l">
              <a:spcBef>
                <a:spcPts val="0"/>
              </a:spcBef>
              <a:spcAft>
                <a:spcPts val="0"/>
              </a:spcAft>
              <a:buNone/>
            </a:pPr>
            <a:r>
              <a:rPr lang="es-BO" sz="1600">
                <a:solidFill>
                  <a:schemeClr val="dk1"/>
                </a:solidFill>
                <a:latin typeface="Calibri"/>
                <a:ea typeface="Calibri"/>
                <a:cs typeface="Calibri"/>
                <a:sym typeface="Calibri"/>
              </a:rPr>
              <a:t>x = Input</a:t>
            </a:r>
            <a:endParaRPr/>
          </a:p>
          <a:p>
            <a:pPr indent="0" lvl="0" marL="0" marR="0" rtl="0" algn="l">
              <a:spcBef>
                <a:spcPts val="0"/>
              </a:spcBef>
              <a:spcAft>
                <a:spcPts val="0"/>
              </a:spcAft>
              <a:buNone/>
            </a:pPr>
            <a:r>
              <a:rPr lang="es-BO" sz="1600">
                <a:solidFill>
                  <a:schemeClr val="dk1"/>
                </a:solidFill>
                <a:latin typeface="Calibri"/>
                <a:ea typeface="Calibri"/>
                <a:cs typeface="Calibri"/>
                <a:sym typeface="Calibri"/>
              </a:rPr>
              <a:t>D = Scaled Max</a:t>
            </a:r>
            <a:endParaRPr/>
          </a:p>
          <a:p>
            <a:pPr indent="0" lvl="0" marL="0" marR="0" rtl="0" algn="l">
              <a:spcBef>
                <a:spcPts val="0"/>
              </a:spcBef>
              <a:spcAft>
                <a:spcPts val="0"/>
              </a:spcAft>
              <a:buNone/>
            </a:pPr>
            <a:r>
              <a:rPr lang="es-BO" sz="1600">
                <a:solidFill>
                  <a:schemeClr val="dk1"/>
                </a:solidFill>
                <a:latin typeface="Calibri"/>
                <a:ea typeface="Calibri"/>
                <a:cs typeface="Calibri"/>
                <a:sym typeface="Calibri"/>
              </a:rPr>
              <a:t>C = Scaled Min</a:t>
            </a:r>
            <a:endParaRPr/>
          </a:p>
          <a:p>
            <a:pPr indent="0" lvl="0" marL="0" marR="0" rtl="0" algn="l">
              <a:spcBef>
                <a:spcPts val="0"/>
              </a:spcBef>
              <a:spcAft>
                <a:spcPts val="0"/>
              </a:spcAft>
              <a:buNone/>
            </a:pPr>
            <a:r>
              <a:rPr lang="es-BO" sz="1600">
                <a:solidFill>
                  <a:schemeClr val="dk1"/>
                </a:solidFill>
                <a:latin typeface="Calibri"/>
                <a:ea typeface="Calibri"/>
                <a:cs typeface="Calibri"/>
                <a:sym typeface="Calibri"/>
              </a:rPr>
              <a:t>B = Input Max</a:t>
            </a:r>
            <a:endParaRPr/>
          </a:p>
          <a:p>
            <a:pPr indent="0" lvl="0" marL="0" marR="0" rtl="0" algn="l">
              <a:spcBef>
                <a:spcPts val="0"/>
              </a:spcBef>
              <a:spcAft>
                <a:spcPts val="0"/>
              </a:spcAft>
              <a:buNone/>
            </a:pPr>
            <a:r>
              <a:rPr lang="es-BO" sz="1600">
                <a:solidFill>
                  <a:schemeClr val="dk1"/>
                </a:solidFill>
                <a:latin typeface="Calibri"/>
                <a:ea typeface="Calibri"/>
                <a:cs typeface="Calibri"/>
                <a:sym typeface="Calibri"/>
              </a:rPr>
              <a:t>A = Input Min</a:t>
            </a:r>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s-BO" sz="1600">
                <a:solidFill>
                  <a:schemeClr val="dk1"/>
                </a:solidFill>
                <a:latin typeface="Calibri"/>
                <a:ea typeface="Calibri"/>
                <a:cs typeface="Calibri"/>
                <a:sym typeface="Calibri"/>
              </a:rPr>
              <a:t>Correspondientes al bloque SCP.</a:t>
            </a:r>
            <a:endParaRPr sz="1800">
              <a:solidFill>
                <a:schemeClr val="dk1"/>
              </a:solidFill>
              <a:latin typeface="Calibri"/>
              <a:ea typeface="Calibri"/>
              <a:cs typeface="Calibri"/>
              <a:sym typeface="Calibri"/>
            </a:endParaRPr>
          </a:p>
        </p:txBody>
      </p:sp>
      <p:pic>
        <p:nvPicPr>
          <p:cNvPr id="1091" name="Google Shape;1091;p74"/>
          <p:cNvPicPr preferRelativeResize="0"/>
          <p:nvPr/>
        </p:nvPicPr>
        <p:blipFill rotWithShape="1">
          <a:blip r:embed="rId4">
            <a:alphaModFix/>
          </a:blip>
          <a:srcRect b="0" l="0" r="0" t="0"/>
          <a:stretch/>
        </p:blipFill>
        <p:spPr>
          <a:xfrm>
            <a:off x="7104112" y="2497972"/>
            <a:ext cx="1789884" cy="2420662"/>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5" name="Shape 1095"/>
        <p:cNvGrpSpPr/>
        <p:nvPr/>
      </p:nvGrpSpPr>
      <p:grpSpPr>
        <a:xfrm>
          <a:off x="0" y="0"/>
          <a:ext cx="0" cy="0"/>
          <a:chOff x="0" y="0"/>
          <a:chExt cx="0" cy="0"/>
        </a:xfrm>
      </p:grpSpPr>
      <p:sp>
        <p:nvSpPr>
          <p:cNvPr id="1096" name="Google Shape;1096;p75"/>
          <p:cNvSpPr txBox="1"/>
          <p:nvPr/>
        </p:nvSpPr>
        <p:spPr>
          <a:xfrm>
            <a:off x="1713914" y="2767280"/>
            <a:ext cx="8764171" cy="132343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BO" sz="4000">
                <a:solidFill>
                  <a:schemeClr val="dk1"/>
                </a:solidFill>
                <a:latin typeface="Calibri"/>
                <a:ea typeface="Calibri"/>
                <a:cs typeface="Calibri"/>
                <a:sym typeface="Calibri"/>
              </a:rPr>
              <a:t>OBTENCIÓN DE LA FUNCIÓN DE TRANSFERENCIA</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0" name="Shape 1100"/>
        <p:cNvGrpSpPr/>
        <p:nvPr/>
      </p:nvGrpSpPr>
      <p:grpSpPr>
        <a:xfrm>
          <a:off x="0" y="0"/>
          <a:ext cx="0" cy="0"/>
          <a:chOff x="0" y="0"/>
          <a:chExt cx="0" cy="0"/>
        </a:xfrm>
      </p:grpSpPr>
      <p:sp>
        <p:nvSpPr>
          <p:cNvPr id="1101" name="Google Shape;1101;p76"/>
          <p:cNvSpPr txBox="1"/>
          <p:nvPr>
            <p:ph type="ctrTitle"/>
          </p:nvPr>
        </p:nvSpPr>
        <p:spPr>
          <a:xfrm>
            <a:off x="1742089" y="459614"/>
            <a:ext cx="4572000" cy="497822"/>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2000"/>
              <a:buFont typeface="Calibri"/>
              <a:buNone/>
            </a:pPr>
            <a:r>
              <a:rPr b="1" lang="es-BO" sz="2000"/>
              <a:t>Modelo de la planta</a:t>
            </a:r>
            <a:endParaRPr/>
          </a:p>
        </p:txBody>
      </p:sp>
      <p:sp>
        <p:nvSpPr>
          <p:cNvPr id="1102" name="Google Shape;1102;p76"/>
          <p:cNvSpPr txBox="1"/>
          <p:nvPr>
            <p:ph idx="1" type="subTitle"/>
          </p:nvPr>
        </p:nvSpPr>
        <p:spPr>
          <a:xfrm>
            <a:off x="1730326" y="1308295"/>
            <a:ext cx="9228406" cy="1111348"/>
          </a:xfrm>
          <a:prstGeom prst="rect">
            <a:avLst/>
          </a:prstGeom>
          <a:blipFill rotWithShape="1">
            <a:blip r:embed="rId3">
              <a:alphaModFix/>
            </a:blip>
            <a:stretch>
              <a:fillRect b="0" l="-593" r="-527" t="-3295"/>
            </a:stretch>
          </a:blipFill>
          <a:ln>
            <a:noFill/>
          </a:ln>
        </p:spPr>
        <p:txBody>
          <a:bodyPr anchorCtr="0" anchor="t" bIns="45700" lIns="91425" spcFirstLastPara="1" rIns="91425" wrap="square" tIns="45700">
            <a:normAutofit/>
          </a:bodyPr>
          <a:lstStyle/>
          <a:p>
            <a:pPr indent="0" lvl="0" marL="0" rtl="0" algn="ctr">
              <a:spcBef>
                <a:spcPts val="0"/>
              </a:spcBef>
              <a:spcAft>
                <a:spcPts val="0"/>
              </a:spcAft>
              <a:buSzPts val="3200"/>
              <a:buNone/>
            </a:pPr>
            <a:r>
              <a:rPr lang="es-BO"/>
              <a:t> </a:t>
            </a:r>
            <a:endParaRPr/>
          </a:p>
        </p:txBody>
      </p:sp>
      <p:pic>
        <p:nvPicPr>
          <p:cNvPr id="1103" name="Google Shape;1103;p76"/>
          <p:cNvPicPr preferRelativeResize="0"/>
          <p:nvPr/>
        </p:nvPicPr>
        <p:blipFill rotWithShape="1">
          <a:blip r:embed="rId4">
            <a:alphaModFix/>
          </a:blip>
          <a:srcRect b="13867" l="18292" r="38815" t="5399"/>
          <a:stretch/>
        </p:blipFill>
        <p:spPr>
          <a:xfrm>
            <a:off x="1902931" y="2215464"/>
            <a:ext cx="4034117" cy="3934011"/>
          </a:xfrm>
          <a:prstGeom prst="rect">
            <a:avLst/>
          </a:prstGeom>
          <a:noFill/>
          <a:ln>
            <a:noFill/>
          </a:ln>
        </p:spPr>
      </p:pic>
      <p:sp>
        <p:nvSpPr>
          <p:cNvPr id="1104" name="Google Shape;1104;p76"/>
          <p:cNvSpPr txBox="1"/>
          <p:nvPr/>
        </p:nvSpPr>
        <p:spPr>
          <a:xfrm>
            <a:off x="6837656" y="3074475"/>
            <a:ext cx="4874968" cy="2215991"/>
          </a:xfrm>
          <a:prstGeom prst="rect">
            <a:avLst/>
          </a:prstGeom>
          <a:blipFill rotWithShape="1">
            <a:blip r:embed="rId5">
              <a:alphaModFix/>
            </a:blip>
            <a:stretch>
              <a:fillRect b="0" l="-1125" r="0" t="-137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spTree>
  </p:cSld>
  <p:clrMapOvr>
    <a:masterClrMapping/>
  </p:clrMapOvr>
  <p:transition spd="slow">
    <p:push/>
  </p:transition>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8" name="Shape 1108"/>
        <p:cNvGrpSpPr/>
        <p:nvPr/>
      </p:nvGrpSpPr>
      <p:grpSpPr>
        <a:xfrm>
          <a:off x="0" y="0"/>
          <a:ext cx="0" cy="0"/>
          <a:chOff x="0" y="0"/>
          <a:chExt cx="0" cy="0"/>
        </a:xfrm>
      </p:grpSpPr>
      <p:sp>
        <p:nvSpPr>
          <p:cNvPr id="1109" name="Google Shape;1109;p77"/>
          <p:cNvSpPr txBox="1"/>
          <p:nvPr>
            <p:ph type="ctrTitle"/>
          </p:nvPr>
        </p:nvSpPr>
        <p:spPr>
          <a:xfrm>
            <a:off x="1216616" y="116057"/>
            <a:ext cx="4257822" cy="49782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1800"/>
              <a:buFont typeface="Calibri"/>
              <a:buNone/>
            </a:pPr>
            <a:r>
              <a:rPr b="1" lang="es-BO" sz="1800" u="sng"/>
              <a:t>Obtención de la función de transferencia</a:t>
            </a:r>
            <a:endParaRPr/>
          </a:p>
        </p:txBody>
      </p:sp>
      <p:sp>
        <p:nvSpPr>
          <p:cNvPr id="1110" name="Google Shape;1110;p77"/>
          <p:cNvSpPr txBox="1"/>
          <p:nvPr>
            <p:ph idx="1" type="subTitle"/>
          </p:nvPr>
        </p:nvSpPr>
        <p:spPr>
          <a:xfrm>
            <a:off x="1199456" y="1052736"/>
            <a:ext cx="4752528" cy="5689207"/>
          </a:xfrm>
          <a:prstGeom prst="rect">
            <a:avLst/>
          </a:prstGeom>
          <a:blipFill rotWithShape="1">
            <a:blip r:embed="rId3">
              <a:alphaModFix/>
            </a:blip>
            <a:stretch>
              <a:fillRect b="0" l="-897" r="0" t="-535"/>
            </a:stretch>
          </a:blipFill>
          <a:ln>
            <a:noFill/>
          </a:ln>
        </p:spPr>
        <p:txBody>
          <a:bodyPr anchorCtr="0" anchor="t" bIns="45700" lIns="91425" spcFirstLastPara="1" rIns="91425" wrap="square" tIns="45700">
            <a:normAutofit/>
          </a:bodyPr>
          <a:lstStyle/>
          <a:p>
            <a:pPr indent="0" lvl="0" marL="0" rtl="0" algn="ctr">
              <a:spcBef>
                <a:spcPts val="0"/>
              </a:spcBef>
              <a:spcAft>
                <a:spcPts val="0"/>
              </a:spcAft>
              <a:buSzPts val="3200"/>
              <a:buNone/>
            </a:pPr>
            <a:r>
              <a:rPr lang="es-BO"/>
              <a:t> </a:t>
            </a:r>
            <a:endParaRPr/>
          </a:p>
        </p:txBody>
      </p:sp>
      <p:sp>
        <p:nvSpPr>
          <p:cNvPr id="1111" name="Google Shape;1111;p77"/>
          <p:cNvSpPr txBox="1"/>
          <p:nvPr/>
        </p:nvSpPr>
        <p:spPr>
          <a:xfrm>
            <a:off x="6240016" y="1052736"/>
            <a:ext cx="5752907" cy="5689207"/>
          </a:xfrm>
          <a:prstGeom prst="rect">
            <a:avLst/>
          </a:prstGeom>
          <a:blipFill rotWithShape="1">
            <a:blip r:embed="rId4">
              <a:alphaModFix/>
            </a:blip>
            <a:stretch>
              <a:fillRect b="0" l="-740" r="-952" t="-535"/>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sp>
        <p:nvSpPr>
          <p:cNvPr id="1112" name="Google Shape;1112;p77"/>
          <p:cNvSpPr/>
          <p:nvPr/>
        </p:nvSpPr>
        <p:spPr>
          <a:xfrm>
            <a:off x="7680176" y="3573016"/>
            <a:ext cx="2880320" cy="1152128"/>
          </a:xfrm>
          <a:prstGeom prst="rect">
            <a:avLst/>
          </a:prstGeom>
          <a:noFill/>
          <a:ln cap="flat" cmpd="sng" w="381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1113" name="Google Shape;1113;p77"/>
          <p:cNvCxnSpPr/>
          <p:nvPr/>
        </p:nvCxnSpPr>
        <p:spPr>
          <a:xfrm>
            <a:off x="6096000" y="954202"/>
            <a:ext cx="0" cy="5903798"/>
          </a:xfrm>
          <a:prstGeom prst="straightConnector1">
            <a:avLst/>
          </a:prstGeom>
          <a:noFill/>
          <a:ln cap="flat" cmpd="sng" w="28575">
            <a:solidFill>
              <a:schemeClr val="dk1"/>
            </a:solidFill>
            <a:prstDash val="solid"/>
            <a:round/>
            <a:headEnd len="sm" w="sm" type="none"/>
            <a:tailEnd len="sm" w="sm" type="none"/>
          </a:ln>
        </p:spPr>
      </p:cxnSp>
    </p:spTree>
  </p:cSld>
  <p:clrMapOvr>
    <a:masterClrMapping/>
  </p:clrMapOvr>
  <p:transition spd="slow">
    <p:push/>
  </p:transition>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7" name="Shape 1117"/>
        <p:cNvGrpSpPr/>
        <p:nvPr/>
      </p:nvGrpSpPr>
      <p:grpSpPr>
        <a:xfrm>
          <a:off x="0" y="0"/>
          <a:ext cx="0" cy="0"/>
          <a:chOff x="0" y="0"/>
          <a:chExt cx="0" cy="0"/>
        </a:xfrm>
      </p:grpSpPr>
      <p:sp>
        <p:nvSpPr>
          <p:cNvPr id="1118" name="Google Shape;1118;p78"/>
          <p:cNvSpPr txBox="1"/>
          <p:nvPr>
            <p:ph idx="1" type="subTitle"/>
          </p:nvPr>
        </p:nvSpPr>
        <p:spPr>
          <a:xfrm>
            <a:off x="983432" y="532737"/>
            <a:ext cx="5976664" cy="6136623"/>
          </a:xfrm>
          <a:prstGeom prst="rect">
            <a:avLst/>
          </a:prstGeom>
          <a:blipFill rotWithShape="1">
            <a:blip r:embed="rId3">
              <a:alphaModFix/>
            </a:blip>
            <a:stretch>
              <a:fillRect b="0" l="-814" r="0" t="-396"/>
            </a:stretch>
          </a:blipFill>
          <a:ln>
            <a:noFill/>
          </a:ln>
        </p:spPr>
        <p:txBody>
          <a:bodyPr anchorCtr="0" anchor="t" bIns="45700" lIns="91425" spcFirstLastPara="1" rIns="91425" wrap="square" tIns="45700">
            <a:normAutofit/>
          </a:bodyPr>
          <a:lstStyle/>
          <a:p>
            <a:pPr indent="0" lvl="0" marL="0" rtl="0" algn="ctr">
              <a:spcBef>
                <a:spcPts val="0"/>
              </a:spcBef>
              <a:spcAft>
                <a:spcPts val="0"/>
              </a:spcAft>
              <a:buSzPts val="3200"/>
              <a:buNone/>
            </a:pPr>
            <a:r>
              <a:rPr lang="es-BO"/>
              <a:t> </a:t>
            </a:r>
            <a:endParaRPr/>
          </a:p>
        </p:txBody>
      </p:sp>
      <p:sp>
        <p:nvSpPr>
          <p:cNvPr id="1119" name="Google Shape;1119;p78"/>
          <p:cNvSpPr/>
          <p:nvPr/>
        </p:nvSpPr>
        <p:spPr>
          <a:xfrm>
            <a:off x="2135560" y="4716941"/>
            <a:ext cx="2448272" cy="844843"/>
          </a:xfrm>
          <a:prstGeom prst="roundRect">
            <a:avLst>
              <a:gd fmla="val 16667" name="adj"/>
            </a:avLst>
          </a:prstGeom>
          <a:noFill/>
          <a:ln cap="flat" cmpd="sng" w="2857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20" name="Google Shape;1120;p78"/>
          <p:cNvSpPr txBox="1"/>
          <p:nvPr/>
        </p:nvSpPr>
        <p:spPr>
          <a:xfrm>
            <a:off x="1919536" y="5550082"/>
            <a:ext cx="3419061"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600">
                <a:solidFill>
                  <a:schemeClr val="dk1"/>
                </a:solidFill>
                <a:latin typeface="Calibri"/>
                <a:ea typeface="Calibri"/>
                <a:cs typeface="Calibri"/>
                <a:sym typeface="Calibri"/>
              </a:rPr>
              <a:t>Función de transferencia analítica</a:t>
            </a:r>
            <a:endParaRPr sz="1600">
              <a:solidFill>
                <a:schemeClr val="dk1"/>
              </a:solidFill>
              <a:latin typeface="Calibri"/>
              <a:ea typeface="Calibri"/>
              <a:cs typeface="Calibri"/>
              <a:sym typeface="Calibri"/>
            </a:endParaRPr>
          </a:p>
        </p:txBody>
      </p:sp>
      <p:grpSp>
        <p:nvGrpSpPr>
          <p:cNvPr id="1121" name="Google Shape;1121;p78"/>
          <p:cNvGrpSpPr/>
          <p:nvPr/>
        </p:nvGrpSpPr>
        <p:grpSpPr>
          <a:xfrm>
            <a:off x="7392144" y="620688"/>
            <a:ext cx="3312368" cy="4608512"/>
            <a:chOff x="7536160" y="1052736"/>
            <a:chExt cx="2213936" cy="3093525"/>
          </a:xfrm>
        </p:grpSpPr>
        <p:pic>
          <p:nvPicPr>
            <p:cNvPr id="1122" name="Google Shape;1122;p78"/>
            <p:cNvPicPr preferRelativeResize="0"/>
            <p:nvPr/>
          </p:nvPicPr>
          <p:blipFill rotWithShape="1">
            <a:blip r:embed="rId4">
              <a:alphaModFix/>
            </a:blip>
            <a:srcRect b="5503" l="0" r="0" t="5432"/>
            <a:stretch/>
          </p:blipFill>
          <p:spPr>
            <a:xfrm>
              <a:off x="7536160" y="1052736"/>
              <a:ext cx="1882168" cy="3093525"/>
            </a:xfrm>
            <a:prstGeom prst="rect">
              <a:avLst/>
            </a:prstGeom>
            <a:noFill/>
            <a:ln>
              <a:noFill/>
            </a:ln>
          </p:spPr>
        </p:pic>
        <p:grpSp>
          <p:nvGrpSpPr>
            <p:cNvPr id="1123" name="Google Shape;1123;p78"/>
            <p:cNvGrpSpPr/>
            <p:nvPr/>
          </p:nvGrpSpPr>
          <p:grpSpPr>
            <a:xfrm>
              <a:off x="8616280" y="2708920"/>
              <a:ext cx="1133816" cy="1334680"/>
              <a:chOff x="1241653" y="1868258"/>
              <a:chExt cx="1208767" cy="1546442"/>
            </a:xfrm>
          </p:grpSpPr>
          <p:sp>
            <p:nvSpPr>
              <p:cNvPr id="1124" name="Google Shape;1124;p78"/>
              <p:cNvSpPr txBox="1"/>
              <p:nvPr/>
            </p:nvSpPr>
            <p:spPr>
              <a:xfrm>
                <a:off x="1241653" y="2925115"/>
                <a:ext cx="850900" cy="489585"/>
              </a:xfrm>
              <a:prstGeom prst="rect">
                <a:avLst/>
              </a:prstGeom>
              <a:noFill/>
              <a:ln cap="flat" cmpd="sng" w="9525">
                <a:solidFill>
                  <a:srgbClr val="000000">
                    <a:alpha val="0"/>
                  </a:srgb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grpSp>
            <p:nvGrpSpPr>
              <p:cNvPr id="1125" name="Google Shape;1125;p78"/>
              <p:cNvGrpSpPr/>
              <p:nvPr/>
            </p:nvGrpSpPr>
            <p:grpSpPr>
              <a:xfrm>
                <a:off x="1986378" y="1868258"/>
                <a:ext cx="464042" cy="1023354"/>
                <a:chOff x="3818769" y="3183356"/>
                <a:chExt cx="892111" cy="1743710"/>
              </a:xfrm>
            </p:grpSpPr>
            <p:cxnSp>
              <p:nvCxnSpPr>
                <p:cNvPr id="1126" name="Google Shape;1126;p78"/>
                <p:cNvCxnSpPr/>
                <p:nvPr/>
              </p:nvCxnSpPr>
              <p:spPr>
                <a:xfrm>
                  <a:off x="3912260" y="3183356"/>
                  <a:ext cx="20955" cy="1743710"/>
                </a:xfrm>
                <a:prstGeom prst="straightConnector1">
                  <a:avLst/>
                </a:prstGeom>
                <a:noFill/>
                <a:ln cap="flat" cmpd="sng" w="9525">
                  <a:solidFill>
                    <a:srgbClr val="000000"/>
                  </a:solidFill>
                  <a:prstDash val="solid"/>
                  <a:round/>
                  <a:headEnd len="med" w="med" type="triangle"/>
                  <a:tailEnd len="med" w="med" type="triangle"/>
                </a:ln>
              </p:spPr>
            </p:cxnSp>
            <p:sp>
              <p:nvSpPr>
                <p:cNvPr id="1127" name="Google Shape;1127;p78"/>
                <p:cNvSpPr txBox="1"/>
                <p:nvPr/>
              </p:nvSpPr>
              <p:spPr>
                <a:xfrm>
                  <a:off x="3818769" y="3700698"/>
                  <a:ext cx="892111" cy="599554"/>
                </a:xfrm>
                <a:prstGeom prst="rect">
                  <a:avLst/>
                </a:prstGeom>
                <a:noFill/>
                <a:ln cap="flat" cmpd="sng" w="9525">
                  <a:solidFill>
                    <a:srgbClr val="000000">
                      <a:alpha val="0"/>
                    </a:srgb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grpSp>
        </p:grpSp>
      </p:grpSp>
      <p:sp>
        <p:nvSpPr>
          <p:cNvPr id="1128" name="Google Shape;1128;p78"/>
          <p:cNvSpPr txBox="1"/>
          <p:nvPr/>
        </p:nvSpPr>
        <p:spPr>
          <a:xfrm>
            <a:off x="7680176" y="5370602"/>
            <a:ext cx="316835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s-BO" sz="1600">
                <a:solidFill>
                  <a:schemeClr val="dk1"/>
                </a:solidFill>
                <a:latin typeface="Calibri"/>
                <a:ea typeface="Calibri"/>
                <a:cs typeface="Calibri"/>
                <a:sym typeface="Calibri"/>
              </a:rPr>
              <a:t>Vista frontal del tanque superior</a:t>
            </a:r>
            <a:endParaRPr i="1" sz="1600">
              <a:solidFill>
                <a:schemeClr val="dk1"/>
              </a:solidFill>
              <a:latin typeface="Calibri"/>
              <a:ea typeface="Calibri"/>
              <a:cs typeface="Calibri"/>
              <a:sym typeface="Calibri"/>
            </a:endParaRPr>
          </a:p>
        </p:txBody>
      </p:sp>
    </p:spTree>
  </p:cSld>
  <p:clrMapOvr>
    <a:masterClrMapping/>
  </p:clrMapOvr>
  <p:transition spd="slow">
    <p:push/>
  </p:transition>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2" name="Shape 1132"/>
        <p:cNvGrpSpPr/>
        <p:nvPr/>
      </p:nvGrpSpPr>
      <p:grpSpPr>
        <a:xfrm>
          <a:off x="0" y="0"/>
          <a:ext cx="0" cy="0"/>
          <a:chOff x="0" y="0"/>
          <a:chExt cx="0" cy="0"/>
        </a:xfrm>
      </p:grpSpPr>
      <p:sp>
        <p:nvSpPr>
          <p:cNvPr id="1133" name="Google Shape;1133;p79"/>
          <p:cNvSpPr txBox="1"/>
          <p:nvPr>
            <p:ph idx="1" type="subTitle"/>
          </p:nvPr>
        </p:nvSpPr>
        <p:spPr>
          <a:xfrm>
            <a:off x="1055440" y="341905"/>
            <a:ext cx="4824536" cy="5907819"/>
          </a:xfrm>
          <a:prstGeom prst="rect">
            <a:avLst/>
          </a:prstGeom>
          <a:blipFill rotWithShape="1">
            <a:blip r:embed="rId3">
              <a:alphaModFix/>
            </a:blip>
            <a:stretch>
              <a:fillRect b="0" l="-1009" r="-1008" t="-412"/>
            </a:stretch>
          </a:blipFill>
          <a:ln>
            <a:noFill/>
          </a:ln>
        </p:spPr>
        <p:txBody>
          <a:bodyPr anchorCtr="0" anchor="t" bIns="45700" lIns="91425" spcFirstLastPara="1" rIns="91425" wrap="square" tIns="45700">
            <a:normAutofit/>
          </a:bodyPr>
          <a:lstStyle/>
          <a:p>
            <a:pPr indent="0" lvl="0" marL="0" rtl="0" algn="ctr">
              <a:spcBef>
                <a:spcPts val="0"/>
              </a:spcBef>
              <a:spcAft>
                <a:spcPts val="0"/>
              </a:spcAft>
              <a:buSzPts val="3200"/>
              <a:buNone/>
            </a:pPr>
            <a:r>
              <a:rPr lang="es-BO"/>
              <a:t> </a:t>
            </a:r>
            <a:endParaRPr/>
          </a:p>
        </p:txBody>
      </p:sp>
      <p:graphicFrame>
        <p:nvGraphicFramePr>
          <p:cNvPr id="1134" name="Google Shape;1134;p79"/>
          <p:cNvGraphicFramePr/>
          <p:nvPr/>
        </p:nvGraphicFramePr>
        <p:xfrm>
          <a:off x="6527224" y="332656"/>
          <a:ext cx="5234904" cy="2949387"/>
        </p:xfrm>
        <a:graphic>
          <a:graphicData uri="http://schemas.openxmlformats.org/drawingml/2006/chart">
            <c:chart r:id="rId4"/>
          </a:graphicData>
        </a:graphic>
      </p:graphicFrame>
      <p:sp>
        <p:nvSpPr>
          <p:cNvPr id="1135" name="Google Shape;1135;p79"/>
          <p:cNvSpPr txBox="1"/>
          <p:nvPr/>
        </p:nvSpPr>
        <p:spPr>
          <a:xfrm>
            <a:off x="1919536" y="3360121"/>
            <a:ext cx="2952328" cy="733149"/>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sp>
        <p:nvSpPr>
          <p:cNvPr id="1136" name="Google Shape;1136;p79"/>
          <p:cNvSpPr/>
          <p:nvPr/>
        </p:nvSpPr>
        <p:spPr>
          <a:xfrm>
            <a:off x="1919536" y="3284984"/>
            <a:ext cx="2880320" cy="864095"/>
          </a:xfrm>
          <a:prstGeom prst="roundRect">
            <a:avLst>
              <a:gd fmla="val 16667" name="adj"/>
            </a:avLst>
          </a:prstGeom>
          <a:noFill/>
          <a:ln cap="flat" cmpd="sng" w="2857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id="1137" name="Google Shape;1137;p79"/>
          <p:cNvPicPr preferRelativeResize="0"/>
          <p:nvPr/>
        </p:nvPicPr>
        <p:blipFill rotWithShape="1">
          <a:blip r:embed="rId6">
            <a:alphaModFix/>
          </a:blip>
          <a:srcRect b="0" l="6387" r="6002" t="0"/>
          <a:stretch/>
        </p:blipFill>
        <p:spPr>
          <a:xfrm>
            <a:off x="6528048" y="3360121"/>
            <a:ext cx="5234904" cy="3165223"/>
          </a:xfrm>
          <a:prstGeom prst="rect">
            <a:avLst/>
          </a:prstGeom>
          <a:noFill/>
          <a:ln cap="flat" cmpd="sng" w="9525">
            <a:solidFill>
              <a:schemeClr val="dk1"/>
            </a:solidFill>
            <a:prstDash val="solid"/>
            <a:round/>
            <a:headEnd len="sm" w="sm" type="none"/>
            <a:tailEnd len="sm" w="sm" type="none"/>
          </a:ln>
        </p:spPr>
      </p:pic>
    </p:spTree>
  </p:cSld>
  <p:clrMapOvr>
    <a:masterClrMapping/>
  </p:clrMapOvr>
  <p:transition spd="slow">
    <p:push/>
  </p:transition>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2" name="Shape 1142"/>
        <p:cNvGrpSpPr/>
        <p:nvPr/>
      </p:nvGrpSpPr>
      <p:grpSpPr>
        <a:xfrm>
          <a:off x="0" y="0"/>
          <a:ext cx="0" cy="0"/>
          <a:chOff x="0" y="0"/>
          <a:chExt cx="0" cy="0"/>
        </a:xfrm>
      </p:grpSpPr>
      <p:cxnSp>
        <p:nvCxnSpPr>
          <p:cNvPr id="1143" name="Google Shape;1143;p80"/>
          <p:cNvCxnSpPr/>
          <p:nvPr/>
        </p:nvCxnSpPr>
        <p:spPr>
          <a:xfrm rot="10800000">
            <a:off x="9624392" y="4577960"/>
            <a:ext cx="0" cy="761367"/>
          </a:xfrm>
          <a:prstGeom prst="straightConnector1">
            <a:avLst/>
          </a:prstGeom>
          <a:noFill/>
          <a:ln cap="flat" cmpd="sng" w="28575">
            <a:solidFill>
              <a:srgbClr val="FF0000"/>
            </a:solidFill>
            <a:prstDash val="solid"/>
            <a:round/>
            <a:headEnd len="sm" w="sm" type="none"/>
            <a:tailEnd len="sm" w="sm" type="none"/>
          </a:ln>
          <a:effectLst>
            <a:outerShdw blurRad="40000" rotWithShape="0" dir="5400000" dist="23000">
              <a:srgbClr val="000000">
                <a:alpha val="34901"/>
              </a:srgbClr>
            </a:outerShdw>
          </a:effectLst>
        </p:spPr>
      </p:cxnSp>
      <p:cxnSp>
        <p:nvCxnSpPr>
          <p:cNvPr id="1144" name="Google Shape;1144;p80"/>
          <p:cNvCxnSpPr/>
          <p:nvPr/>
        </p:nvCxnSpPr>
        <p:spPr>
          <a:xfrm rot="10800000">
            <a:off x="9552384" y="4578472"/>
            <a:ext cx="0" cy="761367"/>
          </a:xfrm>
          <a:prstGeom prst="straightConnector1">
            <a:avLst/>
          </a:prstGeom>
          <a:noFill/>
          <a:ln cap="flat" cmpd="sng" w="28575">
            <a:solidFill>
              <a:srgbClr val="FF0000"/>
            </a:solidFill>
            <a:prstDash val="solid"/>
            <a:round/>
            <a:headEnd len="sm" w="sm" type="none"/>
            <a:tailEnd len="sm" w="sm" type="none"/>
          </a:ln>
          <a:effectLst>
            <a:outerShdw blurRad="40000" rotWithShape="0" dir="5400000" dist="23000">
              <a:srgbClr val="000000">
                <a:alpha val="34901"/>
              </a:srgbClr>
            </a:outerShdw>
          </a:effectLst>
        </p:spPr>
      </p:cxnSp>
      <p:cxnSp>
        <p:nvCxnSpPr>
          <p:cNvPr id="1145" name="Google Shape;1145;p80"/>
          <p:cNvCxnSpPr/>
          <p:nvPr/>
        </p:nvCxnSpPr>
        <p:spPr>
          <a:xfrm rot="10800000">
            <a:off x="9468219" y="4578488"/>
            <a:ext cx="0" cy="761367"/>
          </a:xfrm>
          <a:prstGeom prst="straightConnector1">
            <a:avLst/>
          </a:prstGeom>
          <a:noFill/>
          <a:ln cap="flat" cmpd="sng" w="28575">
            <a:solidFill>
              <a:srgbClr val="FF0000"/>
            </a:solidFill>
            <a:prstDash val="solid"/>
            <a:round/>
            <a:headEnd len="sm" w="sm" type="none"/>
            <a:tailEnd len="sm" w="sm" type="none"/>
          </a:ln>
          <a:effectLst>
            <a:outerShdw blurRad="40000" rotWithShape="0" dir="5400000" dist="23000">
              <a:srgbClr val="000000">
                <a:alpha val="34901"/>
              </a:srgbClr>
            </a:outerShdw>
          </a:effectLst>
        </p:spPr>
      </p:cxnSp>
      <p:cxnSp>
        <p:nvCxnSpPr>
          <p:cNvPr id="1146" name="Google Shape;1146;p80"/>
          <p:cNvCxnSpPr/>
          <p:nvPr/>
        </p:nvCxnSpPr>
        <p:spPr>
          <a:xfrm rot="10800000">
            <a:off x="6096001" y="3695863"/>
            <a:ext cx="3168351" cy="0"/>
          </a:xfrm>
          <a:prstGeom prst="straightConnector1">
            <a:avLst/>
          </a:prstGeom>
          <a:noFill/>
          <a:ln cap="flat" cmpd="sng" w="38100">
            <a:solidFill>
              <a:srgbClr val="FF0000"/>
            </a:solidFill>
            <a:prstDash val="solid"/>
            <a:round/>
            <a:headEnd len="sm" w="sm" type="none"/>
            <a:tailEnd len="sm" w="sm" type="none"/>
          </a:ln>
          <a:effectLst>
            <a:outerShdw blurRad="40000" rotWithShape="0" dir="5400000" dist="23000">
              <a:srgbClr val="000000">
                <a:alpha val="34901"/>
              </a:srgbClr>
            </a:outerShdw>
          </a:effectLst>
        </p:spPr>
      </p:cxnSp>
      <p:cxnSp>
        <p:nvCxnSpPr>
          <p:cNvPr id="1147" name="Google Shape;1147;p80"/>
          <p:cNvCxnSpPr/>
          <p:nvPr/>
        </p:nvCxnSpPr>
        <p:spPr>
          <a:xfrm rot="10800000">
            <a:off x="5995864" y="3789040"/>
            <a:ext cx="3268488" cy="0"/>
          </a:xfrm>
          <a:prstGeom prst="straightConnector1">
            <a:avLst/>
          </a:prstGeom>
          <a:noFill/>
          <a:ln cap="flat" cmpd="sng" w="38100">
            <a:solidFill>
              <a:srgbClr val="FF0000"/>
            </a:solidFill>
            <a:prstDash val="solid"/>
            <a:round/>
            <a:headEnd len="sm" w="sm" type="none"/>
            <a:tailEnd len="sm" w="sm" type="none"/>
          </a:ln>
          <a:effectLst>
            <a:outerShdw blurRad="40000" rotWithShape="0" dir="5400000" dist="23000">
              <a:srgbClr val="000000">
                <a:alpha val="34901"/>
              </a:srgbClr>
            </a:outerShdw>
          </a:effectLst>
        </p:spPr>
      </p:cxnSp>
      <p:pic>
        <p:nvPicPr>
          <p:cNvPr descr="Ver las imágenes de origen" id="1148" name="Google Shape;1148;p80"/>
          <p:cNvPicPr preferRelativeResize="0"/>
          <p:nvPr/>
        </p:nvPicPr>
        <p:blipFill rotWithShape="1">
          <a:blip r:embed="rId3">
            <a:alphaModFix/>
          </a:blip>
          <a:srcRect b="0" l="23750" r="19583" t="0"/>
          <a:stretch/>
        </p:blipFill>
        <p:spPr>
          <a:xfrm>
            <a:off x="9123951" y="3426683"/>
            <a:ext cx="814798" cy="1246587"/>
          </a:xfrm>
          <a:prstGeom prst="rect">
            <a:avLst/>
          </a:prstGeom>
          <a:noFill/>
          <a:ln>
            <a:noFill/>
          </a:ln>
        </p:spPr>
      </p:pic>
      <p:pic>
        <p:nvPicPr>
          <p:cNvPr descr="Electrobomba Centrifuga CM 100 1HP Marca Pentax" id="1149" name="Google Shape;1149;p80"/>
          <p:cNvPicPr preferRelativeResize="0"/>
          <p:nvPr/>
        </p:nvPicPr>
        <p:blipFill rotWithShape="1">
          <a:blip r:embed="rId4">
            <a:alphaModFix/>
          </a:blip>
          <a:srcRect b="0" l="0" r="0" t="0"/>
          <a:stretch/>
        </p:blipFill>
        <p:spPr>
          <a:xfrm>
            <a:off x="7915261" y="4918621"/>
            <a:ext cx="2448272" cy="2054800"/>
          </a:xfrm>
          <a:prstGeom prst="rect">
            <a:avLst/>
          </a:prstGeom>
          <a:noFill/>
          <a:ln>
            <a:noFill/>
          </a:ln>
        </p:spPr>
      </p:pic>
      <p:pic>
        <p:nvPicPr>
          <p:cNvPr id="1150" name="Google Shape;1150;p80"/>
          <p:cNvPicPr preferRelativeResize="0"/>
          <p:nvPr/>
        </p:nvPicPr>
        <p:blipFill rotWithShape="1">
          <a:blip r:embed="rId5">
            <a:alphaModFix/>
          </a:blip>
          <a:srcRect b="22700" l="37155" r="37124" t="21231"/>
          <a:stretch/>
        </p:blipFill>
        <p:spPr>
          <a:xfrm>
            <a:off x="5638350" y="4211579"/>
            <a:ext cx="569411" cy="698191"/>
          </a:xfrm>
          <a:prstGeom prst="rect">
            <a:avLst/>
          </a:prstGeom>
          <a:noFill/>
          <a:ln>
            <a:noFill/>
          </a:ln>
        </p:spPr>
      </p:pic>
      <p:pic>
        <p:nvPicPr>
          <p:cNvPr id="1151" name="Google Shape;1151;p80"/>
          <p:cNvPicPr preferRelativeResize="0"/>
          <p:nvPr/>
        </p:nvPicPr>
        <p:blipFill rotWithShape="1">
          <a:blip r:embed="rId6">
            <a:alphaModFix/>
          </a:blip>
          <a:srcRect b="34201" l="46097" r="3269" t="5917"/>
          <a:stretch/>
        </p:blipFill>
        <p:spPr>
          <a:xfrm>
            <a:off x="5689014" y="1362882"/>
            <a:ext cx="2538491" cy="1492371"/>
          </a:xfrm>
          <a:prstGeom prst="rect">
            <a:avLst/>
          </a:prstGeom>
          <a:noFill/>
          <a:ln>
            <a:noFill/>
          </a:ln>
        </p:spPr>
      </p:pic>
      <p:grpSp>
        <p:nvGrpSpPr>
          <p:cNvPr id="1152" name="Google Shape;1152;p80"/>
          <p:cNvGrpSpPr/>
          <p:nvPr/>
        </p:nvGrpSpPr>
        <p:grpSpPr>
          <a:xfrm>
            <a:off x="2513809" y="1056868"/>
            <a:ext cx="5246919" cy="615132"/>
            <a:chOff x="2513809" y="1227578"/>
            <a:chExt cx="5246919" cy="444421"/>
          </a:xfrm>
        </p:grpSpPr>
        <p:cxnSp>
          <p:nvCxnSpPr>
            <p:cNvPr id="1153" name="Google Shape;1153;p80"/>
            <p:cNvCxnSpPr/>
            <p:nvPr/>
          </p:nvCxnSpPr>
          <p:spPr>
            <a:xfrm>
              <a:off x="2513809" y="1227578"/>
              <a:ext cx="5238375" cy="0"/>
            </a:xfrm>
            <a:prstGeom prst="straightConnector1">
              <a:avLst/>
            </a:prstGeom>
            <a:noFill/>
            <a:ln cap="flat" cmpd="sng" w="12700">
              <a:solidFill>
                <a:srgbClr val="00B050"/>
              </a:solidFill>
              <a:prstDash val="solid"/>
              <a:round/>
              <a:headEnd len="sm" w="sm" type="none"/>
              <a:tailEnd len="sm" w="sm" type="none"/>
            </a:ln>
            <a:effectLst>
              <a:outerShdw blurRad="40000" rotWithShape="0" dir="5400000" dist="23000">
                <a:srgbClr val="000000">
                  <a:alpha val="34901"/>
                </a:srgbClr>
              </a:outerShdw>
            </a:effectLst>
          </p:spPr>
        </p:cxnSp>
        <p:cxnSp>
          <p:nvCxnSpPr>
            <p:cNvPr id="1154" name="Google Shape;1154;p80"/>
            <p:cNvCxnSpPr/>
            <p:nvPr/>
          </p:nvCxnSpPr>
          <p:spPr>
            <a:xfrm>
              <a:off x="2513809" y="1227578"/>
              <a:ext cx="0" cy="444421"/>
            </a:xfrm>
            <a:prstGeom prst="straightConnector1">
              <a:avLst/>
            </a:prstGeom>
            <a:noFill/>
            <a:ln cap="flat" cmpd="sng" w="12700">
              <a:solidFill>
                <a:srgbClr val="00B050"/>
              </a:solidFill>
              <a:prstDash val="solid"/>
              <a:round/>
              <a:headEnd len="sm" w="sm" type="none"/>
              <a:tailEnd len="sm" w="sm" type="none"/>
            </a:ln>
            <a:effectLst>
              <a:outerShdw blurRad="40000" rotWithShape="0" dir="5400000" dist="23000">
                <a:srgbClr val="000000">
                  <a:alpha val="34901"/>
                </a:srgbClr>
              </a:outerShdw>
            </a:effectLst>
          </p:spPr>
        </p:cxnSp>
        <p:cxnSp>
          <p:nvCxnSpPr>
            <p:cNvPr id="1155" name="Google Shape;1155;p80"/>
            <p:cNvCxnSpPr/>
            <p:nvPr/>
          </p:nvCxnSpPr>
          <p:spPr>
            <a:xfrm>
              <a:off x="7760728" y="1231661"/>
              <a:ext cx="0" cy="355211"/>
            </a:xfrm>
            <a:prstGeom prst="straightConnector1">
              <a:avLst/>
            </a:prstGeom>
            <a:noFill/>
            <a:ln cap="flat" cmpd="sng" w="12700">
              <a:solidFill>
                <a:srgbClr val="00B050"/>
              </a:solidFill>
              <a:prstDash val="solid"/>
              <a:round/>
              <a:headEnd len="sm" w="sm" type="none"/>
              <a:tailEnd len="sm" w="sm" type="none"/>
            </a:ln>
            <a:effectLst>
              <a:outerShdw blurRad="40000" rotWithShape="0" dir="5400000" dist="23000">
                <a:srgbClr val="000000">
                  <a:alpha val="34901"/>
                </a:srgbClr>
              </a:outerShdw>
            </a:effectLst>
          </p:spPr>
        </p:cxnSp>
      </p:grpSp>
      <p:cxnSp>
        <p:nvCxnSpPr>
          <p:cNvPr id="1156" name="Google Shape;1156;p80"/>
          <p:cNvCxnSpPr/>
          <p:nvPr/>
        </p:nvCxnSpPr>
        <p:spPr>
          <a:xfrm rot="10800000">
            <a:off x="3040877" y="3933056"/>
            <a:ext cx="360040" cy="1"/>
          </a:xfrm>
          <a:prstGeom prst="straightConnector1">
            <a:avLst/>
          </a:prstGeom>
          <a:noFill/>
          <a:ln cap="flat" cmpd="sng" w="92075">
            <a:solidFill>
              <a:srgbClr val="DDD9C3"/>
            </a:solidFill>
            <a:prstDash val="solid"/>
            <a:round/>
            <a:headEnd len="sm" w="sm" type="none"/>
            <a:tailEnd len="sm" w="sm" type="none"/>
          </a:ln>
          <a:effectLst>
            <a:outerShdw blurRad="40000" rotWithShape="0" dir="5400000" dist="23000">
              <a:srgbClr val="000000">
                <a:alpha val="34901"/>
              </a:srgbClr>
            </a:outerShdw>
          </a:effectLst>
        </p:spPr>
      </p:cxnSp>
      <p:sp>
        <p:nvSpPr>
          <p:cNvPr id="1157" name="Google Shape;1157;p80"/>
          <p:cNvSpPr txBox="1"/>
          <p:nvPr/>
        </p:nvSpPr>
        <p:spPr>
          <a:xfrm>
            <a:off x="587388" y="260648"/>
            <a:ext cx="756084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BO" sz="2800">
                <a:solidFill>
                  <a:schemeClr val="dk1"/>
                </a:solidFill>
                <a:latin typeface="Calibri"/>
                <a:ea typeface="Calibri"/>
                <a:cs typeface="Calibri"/>
                <a:sym typeface="Calibri"/>
              </a:rPr>
              <a:t>Elementos a utilizar para el control de nivel</a:t>
            </a:r>
            <a:endParaRPr sz="2800">
              <a:solidFill>
                <a:schemeClr val="dk1"/>
              </a:solidFill>
              <a:latin typeface="Calibri"/>
              <a:ea typeface="Calibri"/>
              <a:cs typeface="Calibri"/>
              <a:sym typeface="Calibri"/>
            </a:endParaRPr>
          </a:p>
        </p:txBody>
      </p:sp>
      <p:cxnSp>
        <p:nvCxnSpPr>
          <p:cNvPr id="1158" name="Google Shape;1158;p80"/>
          <p:cNvCxnSpPr/>
          <p:nvPr/>
        </p:nvCxnSpPr>
        <p:spPr>
          <a:xfrm rot="10800000">
            <a:off x="6212325" y="2708920"/>
            <a:ext cx="0" cy="432049"/>
          </a:xfrm>
          <a:prstGeom prst="straightConnector1">
            <a:avLst/>
          </a:prstGeom>
          <a:noFill/>
          <a:ln cap="flat" cmpd="sng" w="28575">
            <a:solidFill>
              <a:srgbClr val="538CD5"/>
            </a:solidFill>
            <a:prstDash val="solid"/>
            <a:round/>
            <a:headEnd len="sm" w="sm" type="none"/>
            <a:tailEnd len="sm" w="sm" type="none"/>
          </a:ln>
          <a:effectLst>
            <a:outerShdw blurRad="40000" rotWithShape="0" dir="5400000" dist="23000">
              <a:srgbClr val="000000">
                <a:alpha val="34901"/>
              </a:srgbClr>
            </a:outerShdw>
          </a:effectLst>
        </p:spPr>
      </p:cxnSp>
      <p:pic>
        <p:nvPicPr>
          <p:cNvPr descr="Ver las imágenes de origen" id="1159" name="Google Shape;1159;p80"/>
          <p:cNvPicPr preferRelativeResize="0"/>
          <p:nvPr/>
        </p:nvPicPr>
        <p:blipFill rotWithShape="1">
          <a:blip r:embed="rId3">
            <a:alphaModFix/>
          </a:blip>
          <a:srcRect b="0" l="23750" r="19583" t="0"/>
          <a:stretch/>
        </p:blipFill>
        <p:spPr>
          <a:xfrm>
            <a:off x="9123951" y="3413459"/>
            <a:ext cx="814798" cy="1246587"/>
          </a:xfrm>
          <a:prstGeom prst="rect">
            <a:avLst/>
          </a:prstGeom>
          <a:noFill/>
          <a:ln>
            <a:noFill/>
          </a:ln>
        </p:spPr>
      </p:pic>
      <p:pic>
        <p:nvPicPr>
          <p:cNvPr id="1160" name="Google Shape;1160;p80"/>
          <p:cNvPicPr preferRelativeResize="0"/>
          <p:nvPr/>
        </p:nvPicPr>
        <p:blipFill rotWithShape="1">
          <a:blip r:embed="rId7">
            <a:alphaModFix/>
          </a:blip>
          <a:srcRect b="0" l="0" r="0" t="0"/>
          <a:stretch/>
        </p:blipFill>
        <p:spPr>
          <a:xfrm>
            <a:off x="8949202" y="95432"/>
            <a:ext cx="781168" cy="1696654"/>
          </a:xfrm>
          <a:prstGeom prst="rect">
            <a:avLst/>
          </a:prstGeom>
          <a:noFill/>
          <a:ln>
            <a:noFill/>
          </a:ln>
        </p:spPr>
      </p:pic>
      <p:cxnSp>
        <p:nvCxnSpPr>
          <p:cNvPr id="1161" name="Google Shape;1161;p80"/>
          <p:cNvCxnSpPr/>
          <p:nvPr/>
        </p:nvCxnSpPr>
        <p:spPr>
          <a:xfrm>
            <a:off x="3101304" y="6093296"/>
            <a:ext cx="5302901" cy="0"/>
          </a:xfrm>
          <a:prstGeom prst="straightConnector1">
            <a:avLst/>
          </a:prstGeom>
          <a:noFill/>
          <a:ln cap="flat" cmpd="sng" w="92075">
            <a:solidFill>
              <a:srgbClr val="DDD9C3"/>
            </a:solidFill>
            <a:prstDash val="solid"/>
            <a:round/>
            <a:headEnd len="sm" w="sm" type="none"/>
            <a:tailEnd len="sm" w="sm" type="none"/>
          </a:ln>
          <a:effectLst>
            <a:outerShdw blurRad="40000" rotWithShape="0" dir="5400000" dist="23000">
              <a:srgbClr val="000000">
                <a:alpha val="34901"/>
              </a:srgbClr>
            </a:outerShdw>
          </a:effectLst>
        </p:spPr>
      </p:cxnSp>
      <p:grpSp>
        <p:nvGrpSpPr>
          <p:cNvPr id="1162" name="Google Shape;1162;p80"/>
          <p:cNvGrpSpPr/>
          <p:nvPr/>
        </p:nvGrpSpPr>
        <p:grpSpPr>
          <a:xfrm>
            <a:off x="6187376" y="4775797"/>
            <a:ext cx="2468250" cy="439475"/>
            <a:chOff x="6192459" y="4797152"/>
            <a:chExt cx="2468250" cy="439475"/>
          </a:xfrm>
        </p:grpSpPr>
        <p:cxnSp>
          <p:nvCxnSpPr>
            <p:cNvPr id="1163" name="Google Shape;1163;p80"/>
            <p:cNvCxnSpPr/>
            <p:nvPr/>
          </p:nvCxnSpPr>
          <p:spPr>
            <a:xfrm>
              <a:off x="8616280" y="4797152"/>
              <a:ext cx="0" cy="439475"/>
            </a:xfrm>
            <a:prstGeom prst="straightConnector1">
              <a:avLst/>
            </a:prstGeom>
            <a:noFill/>
            <a:ln cap="flat" cmpd="sng" w="92075">
              <a:solidFill>
                <a:srgbClr val="DDD9C3"/>
              </a:solidFill>
              <a:prstDash val="solid"/>
              <a:round/>
              <a:headEnd len="sm" w="sm" type="none"/>
              <a:tailEnd len="sm" w="sm" type="none"/>
            </a:ln>
            <a:effectLst>
              <a:outerShdw blurRad="40000" rotWithShape="0" dir="5400000" dist="23000">
                <a:srgbClr val="000000">
                  <a:alpha val="34901"/>
                </a:srgbClr>
              </a:outerShdw>
            </a:effectLst>
          </p:spPr>
        </p:cxnSp>
        <p:cxnSp>
          <p:nvCxnSpPr>
            <p:cNvPr id="1164" name="Google Shape;1164;p80"/>
            <p:cNvCxnSpPr/>
            <p:nvPr/>
          </p:nvCxnSpPr>
          <p:spPr>
            <a:xfrm flipH="1" rot="10800000">
              <a:off x="6192459" y="4831170"/>
              <a:ext cx="2468250" cy="3338"/>
            </a:xfrm>
            <a:prstGeom prst="straightConnector1">
              <a:avLst/>
            </a:prstGeom>
            <a:noFill/>
            <a:ln cap="flat" cmpd="sng" w="92075">
              <a:solidFill>
                <a:srgbClr val="DDD9C3"/>
              </a:solidFill>
              <a:prstDash val="solid"/>
              <a:round/>
              <a:headEnd len="sm" w="sm" type="none"/>
              <a:tailEnd len="sm" w="sm" type="none"/>
            </a:ln>
            <a:effectLst>
              <a:outerShdw blurRad="40000" rotWithShape="0" dir="5400000" dist="23000">
                <a:srgbClr val="000000">
                  <a:alpha val="34901"/>
                </a:srgbClr>
              </a:outerShdw>
            </a:effectLst>
          </p:spPr>
        </p:cxnSp>
      </p:grpSp>
      <p:cxnSp>
        <p:nvCxnSpPr>
          <p:cNvPr id="1165" name="Google Shape;1165;p80"/>
          <p:cNvCxnSpPr/>
          <p:nvPr/>
        </p:nvCxnSpPr>
        <p:spPr>
          <a:xfrm>
            <a:off x="3316674" y="4797152"/>
            <a:ext cx="2402413" cy="2"/>
          </a:xfrm>
          <a:prstGeom prst="straightConnector1">
            <a:avLst/>
          </a:prstGeom>
          <a:noFill/>
          <a:ln cap="flat" cmpd="sng" w="92075">
            <a:solidFill>
              <a:srgbClr val="DDD9C3"/>
            </a:solidFill>
            <a:prstDash val="solid"/>
            <a:round/>
            <a:headEnd len="sm" w="sm" type="none"/>
            <a:tailEnd len="sm" w="sm" type="none"/>
          </a:ln>
          <a:effectLst>
            <a:outerShdw blurRad="40000" rotWithShape="0" dir="5400000" dist="23000">
              <a:srgbClr val="000000">
                <a:alpha val="34901"/>
              </a:srgbClr>
            </a:outerShdw>
          </a:effectLst>
        </p:spPr>
      </p:cxnSp>
      <p:cxnSp>
        <p:nvCxnSpPr>
          <p:cNvPr id="1166" name="Google Shape;1166;p80"/>
          <p:cNvCxnSpPr/>
          <p:nvPr/>
        </p:nvCxnSpPr>
        <p:spPr>
          <a:xfrm rot="10800000">
            <a:off x="3359696" y="3933056"/>
            <a:ext cx="0" cy="841109"/>
          </a:xfrm>
          <a:prstGeom prst="straightConnector1">
            <a:avLst/>
          </a:prstGeom>
          <a:noFill/>
          <a:ln cap="flat" cmpd="sng" w="92075">
            <a:solidFill>
              <a:srgbClr val="DDD9C3"/>
            </a:solidFill>
            <a:prstDash val="solid"/>
            <a:round/>
            <a:headEnd len="sm" w="sm" type="none"/>
            <a:tailEnd len="sm" w="sm" type="none"/>
          </a:ln>
          <a:effectLst>
            <a:outerShdw blurRad="40000" rotWithShape="0" dir="5400000" dist="23000">
              <a:srgbClr val="000000">
                <a:alpha val="34901"/>
              </a:srgbClr>
            </a:outerShdw>
          </a:effectLst>
        </p:spPr>
      </p:cxnSp>
      <p:cxnSp>
        <p:nvCxnSpPr>
          <p:cNvPr id="1167" name="Google Shape;1167;p80"/>
          <p:cNvCxnSpPr/>
          <p:nvPr/>
        </p:nvCxnSpPr>
        <p:spPr>
          <a:xfrm rot="10800000">
            <a:off x="6096000" y="2752523"/>
            <a:ext cx="0" cy="943340"/>
          </a:xfrm>
          <a:prstGeom prst="straightConnector1">
            <a:avLst/>
          </a:prstGeom>
          <a:noFill/>
          <a:ln cap="flat" cmpd="sng" w="38100">
            <a:solidFill>
              <a:srgbClr val="FF0000"/>
            </a:solidFill>
            <a:prstDash val="solid"/>
            <a:round/>
            <a:headEnd len="sm" w="sm" type="none"/>
            <a:tailEnd len="sm" w="sm" type="none"/>
          </a:ln>
          <a:effectLst>
            <a:outerShdw blurRad="40000" rotWithShape="0" dir="5400000" dist="23000">
              <a:srgbClr val="000000">
                <a:alpha val="34901"/>
              </a:srgbClr>
            </a:outerShdw>
          </a:effectLst>
        </p:spPr>
      </p:cxnSp>
      <p:cxnSp>
        <p:nvCxnSpPr>
          <p:cNvPr id="1168" name="Google Shape;1168;p80"/>
          <p:cNvCxnSpPr/>
          <p:nvPr/>
        </p:nvCxnSpPr>
        <p:spPr>
          <a:xfrm rot="10800000">
            <a:off x="9264352" y="1672000"/>
            <a:ext cx="0" cy="1396960"/>
          </a:xfrm>
          <a:prstGeom prst="straightConnector1">
            <a:avLst/>
          </a:prstGeom>
          <a:noFill/>
          <a:ln cap="flat" cmpd="sng" w="28575">
            <a:solidFill>
              <a:srgbClr val="538CD5"/>
            </a:solidFill>
            <a:prstDash val="solid"/>
            <a:round/>
            <a:headEnd len="sm" w="sm" type="none"/>
            <a:tailEnd len="sm" w="sm" type="none"/>
          </a:ln>
          <a:effectLst>
            <a:outerShdw blurRad="40000" rotWithShape="0" dir="5400000" dist="23000">
              <a:srgbClr val="000000">
                <a:alpha val="34901"/>
              </a:srgbClr>
            </a:outerShdw>
          </a:effectLst>
        </p:spPr>
      </p:cxnSp>
      <p:cxnSp>
        <p:nvCxnSpPr>
          <p:cNvPr id="1169" name="Google Shape;1169;p80"/>
          <p:cNvCxnSpPr/>
          <p:nvPr/>
        </p:nvCxnSpPr>
        <p:spPr>
          <a:xfrm rot="10800000">
            <a:off x="9408368" y="1672000"/>
            <a:ext cx="0" cy="1468968"/>
          </a:xfrm>
          <a:prstGeom prst="straightConnector1">
            <a:avLst/>
          </a:prstGeom>
          <a:noFill/>
          <a:ln cap="flat" cmpd="sng" w="28575">
            <a:solidFill>
              <a:srgbClr val="538CD5"/>
            </a:solidFill>
            <a:prstDash val="solid"/>
            <a:round/>
            <a:headEnd len="sm" w="sm" type="none"/>
            <a:tailEnd len="sm" w="sm" type="none"/>
          </a:ln>
          <a:effectLst>
            <a:outerShdw blurRad="40000" rotWithShape="0" dir="5400000" dist="23000">
              <a:srgbClr val="000000">
                <a:alpha val="34901"/>
              </a:srgbClr>
            </a:outerShdw>
          </a:effectLst>
        </p:spPr>
      </p:cxnSp>
      <p:cxnSp>
        <p:nvCxnSpPr>
          <p:cNvPr id="1170" name="Google Shape;1170;p80"/>
          <p:cNvCxnSpPr/>
          <p:nvPr/>
        </p:nvCxnSpPr>
        <p:spPr>
          <a:xfrm rot="10800000">
            <a:off x="6207762" y="3140968"/>
            <a:ext cx="3200606" cy="0"/>
          </a:xfrm>
          <a:prstGeom prst="straightConnector1">
            <a:avLst/>
          </a:prstGeom>
          <a:noFill/>
          <a:ln cap="flat" cmpd="sng" w="28575">
            <a:solidFill>
              <a:srgbClr val="538CD5"/>
            </a:solidFill>
            <a:prstDash val="solid"/>
            <a:round/>
            <a:headEnd len="sm" w="sm" type="none"/>
            <a:tailEnd len="sm" w="sm" type="none"/>
          </a:ln>
          <a:effectLst>
            <a:outerShdw blurRad="40000" rotWithShape="0" dir="5400000" dist="23000">
              <a:srgbClr val="000000">
                <a:alpha val="34901"/>
              </a:srgbClr>
            </a:outerShdw>
          </a:effectLst>
        </p:spPr>
      </p:cxnSp>
      <p:cxnSp>
        <p:nvCxnSpPr>
          <p:cNvPr id="1171" name="Google Shape;1171;p80"/>
          <p:cNvCxnSpPr/>
          <p:nvPr/>
        </p:nvCxnSpPr>
        <p:spPr>
          <a:xfrm rot="10800000">
            <a:off x="6384032" y="2708920"/>
            <a:ext cx="0" cy="360041"/>
          </a:xfrm>
          <a:prstGeom prst="straightConnector1">
            <a:avLst/>
          </a:prstGeom>
          <a:noFill/>
          <a:ln cap="flat" cmpd="sng" w="28575">
            <a:solidFill>
              <a:srgbClr val="538CD5"/>
            </a:solidFill>
            <a:prstDash val="solid"/>
            <a:round/>
            <a:headEnd len="sm" w="sm" type="none"/>
            <a:tailEnd len="sm" w="sm" type="none"/>
          </a:ln>
          <a:effectLst>
            <a:outerShdw blurRad="40000" rotWithShape="0" dir="5400000" dist="23000">
              <a:srgbClr val="000000">
                <a:alpha val="34901"/>
              </a:srgbClr>
            </a:outerShdw>
          </a:effectLst>
        </p:spPr>
      </p:cxnSp>
      <p:cxnSp>
        <p:nvCxnSpPr>
          <p:cNvPr id="1172" name="Google Shape;1172;p80"/>
          <p:cNvCxnSpPr/>
          <p:nvPr/>
        </p:nvCxnSpPr>
        <p:spPr>
          <a:xfrm rot="10800000">
            <a:off x="6384032" y="3068960"/>
            <a:ext cx="2880320" cy="0"/>
          </a:xfrm>
          <a:prstGeom prst="straightConnector1">
            <a:avLst/>
          </a:prstGeom>
          <a:noFill/>
          <a:ln cap="flat" cmpd="sng" w="28575">
            <a:solidFill>
              <a:srgbClr val="538CD5"/>
            </a:solidFill>
            <a:prstDash val="solid"/>
            <a:round/>
            <a:headEnd len="sm" w="sm" type="none"/>
            <a:tailEnd len="sm" w="sm" type="none"/>
          </a:ln>
          <a:effectLst>
            <a:outerShdw blurRad="40000" rotWithShape="0" dir="5400000" dist="23000">
              <a:srgbClr val="000000">
                <a:alpha val="34901"/>
              </a:srgbClr>
            </a:outerShdw>
          </a:effectLst>
        </p:spPr>
      </p:cxnSp>
      <p:grpSp>
        <p:nvGrpSpPr>
          <p:cNvPr id="1173" name="Google Shape;1173;p80"/>
          <p:cNvGrpSpPr/>
          <p:nvPr/>
        </p:nvGrpSpPr>
        <p:grpSpPr>
          <a:xfrm>
            <a:off x="2471318" y="975859"/>
            <a:ext cx="5401034" cy="615132"/>
            <a:chOff x="2513809" y="1227578"/>
            <a:chExt cx="5401034" cy="444421"/>
          </a:xfrm>
        </p:grpSpPr>
        <p:cxnSp>
          <p:nvCxnSpPr>
            <p:cNvPr id="1174" name="Google Shape;1174;p80"/>
            <p:cNvCxnSpPr/>
            <p:nvPr/>
          </p:nvCxnSpPr>
          <p:spPr>
            <a:xfrm>
              <a:off x="2513809" y="1227578"/>
              <a:ext cx="5401034" cy="0"/>
            </a:xfrm>
            <a:prstGeom prst="straightConnector1">
              <a:avLst/>
            </a:prstGeom>
            <a:noFill/>
            <a:ln cap="flat" cmpd="sng" w="12700">
              <a:solidFill>
                <a:schemeClr val="dk1"/>
              </a:solidFill>
              <a:prstDash val="solid"/>
              <a:round/>
              <a:headEnd len="sm" w="sm" type="none"/>
              <a:tailEnd len="sm" w="sm" type="none"/>
            </a:ln>
            <a:effectLst>
              <a:outerShdw blurRad="40000" rotWithShape="0" dir="5400000" dist="23000">
                <a:srgbClr val="000000">
                  <a:alpha val="34901"/>
                </a:srgbClr>
              </a:outerShdw>
            </a:effectLst>
          </p:spPr>
        </p:cxnSp>
        <p:cxnSp>
          <p:nvCxnSpPr>
            <p:cNvPr id="1175" name="Google Shape;1175;p80"/>
            <p:cNvCxnSpPr/>
            <p:nvPr/>
          </p:nvCxnSpPr>
          <p:spPr>
            <a:xfrm>
              <a:off x="2513809" y="1227578"/>
              <a:ext cx="0" cy="444421"/>
            </a:xfrm>
            <a:prstGeom prst="straightConnector1">
              <a:avLst/>
            </a:prstGeom>
            <a:noFill/>
            <a:ln cap="flat" cmpd="sng" w="12700">
              <a:solidFill>
                <a:schemeClr val="dk1"/>
              </a:solidFill>
              <a:prstDash val="solid"/>
              <a:round/>
              <a:headEnd len="sm" w="sm" type="none"/>
              <a:tailEnd len="sm" w="sm" type="none"/>
            </a:ln>
            <a:effectLst>
              <a:outerShdw blurRad="40000" rotWithShape="0" dir="5400000" dist="23000">
                <a:srgbClr val="000000">
                  <a:alpha val="34901"/>
                </a:srgbClr>
              </a:outerShdw>
            </a:effectLst>
          </p:spPr>
        </p:cxnSp>
        <p:cxnSp>
          <p:nvCxnSpPr>
            <p:cNvPr id="1176" name="Google Shape;1176;p80"/>
            <p:cNvCxnSpPr/>
            <p:nvPr/>
          </p:nvCxnSpPr>
          <p:spPr>
            <a:xfrm>
              <a:off x="7914843" y="1227578"/>
              <a:ext cx="0" cy="355211"/>
            </a:xfrm>
            <a:prstGeom prst="straightConnector1">
              <a:avLst/>
            </a:prstGeom>
            <a:noFill/>
            <a:ln cap="flat" cmpd="sng" w="12700">
              <a:solidFill>
                <a:schemeClr val="dk1"/>
              </a:solidFill>
              <a:prstDash val="solid"/>
              <a:round/>
              <a:headEnd len="sm" w="sm" type="none"/>
              <a:tailEnd len="sm" w="sm" type="none"/>
            </a:ln>
            <a:effectLst>
              <a:outerShdw blurRad="40000" rotWithShape="0" dir="5400000" dist="23000">
                <a:srgbClr val="000000">
                  <a:alpha val="34901"/>
                </a:srgbClr>
              </a:outerShdw>
            </a:effectLst>
          </p:spPr>
        </p:cxnSp>
      </p:grpSp>
      <p:cxnSp>
        <p:nvCxnSpPr>
          <p:cNvPr id="1177" name="Google Shape;1177;p80"/>
          <p:cNvCxnSpPr/>
          <p:nvPr/>
        </p:nvCxnSpPr>
        <p:spPr>
          <a:xfrm rot="10800000">
            <a:off x="5995863" y="2763129"/>
            <a:ext cx="0" cy="1025911"/>
          </a:xfrm>
          <a:prstGeom prst="straightConnector1">
            <a:avLst/>
          </a:prstGeom>
          <a:noFill/>
          <a:ln cap="flat" cmpd="sng" w="38100">
            <a:solidFill>
              <a:srgbClr val="FF0000"/>
            </a:solidFill>
            <a:prstDash val="solid"/>
            <a:round/>
            <a:headEnd len="sm" w="sm" type="none"/>
            <a:tailEnd len="sm" w="sm" type="none"/>
          </a:ln>
          <a:effectLst>
            <a:outerShdw blurRad="40000" rotWithShape="0" dir="5400000" dist="23000">
              <a:srgbClr val="000000">
                <a:alpha val="34901"/>
              </a:srgbClr>
            </a:outerShdw>
          </a:effectLst>
        </p:spPr>
      </p:cxnSp>
      <p:pic>
        <p:nvPicPr>
          <p:cNvPr id="1178" name="Google Shape;1178;p80"/>
          <p:cNvPicPr preferRelativeResize="0"/>
          <p:nvPr/>
        </p:nvPicPr>
        <p:blipFill rotWithShape="1">
          <a:blip r:embed="rId6">
            <a:alphaModFix/>
          </a:blip>
          <a:srcRect b="34201" l="46097" r="3269" t="5917"/>
          <a:stretch/>
        </p:blipFill>
        <p:spPr>
          <a:xfrm>
            <a:off x="5689014" y="1342766"/>
            <a:ext cx="2538491" cy="1492371"/>
          </a:xfrm>
          <a:prstGeom prst="rect">
            <a:avLst/>
          </a:prstGeom>
          <a:noFill/>
          <a:ln>
            <a:noFill/>
          </a:ln>
        </p:spPr>
      </p:pic>
      <p:pic>
        <p:nvPicPr>
          <p:cNvPr id="1179" name="Google Shape;1179;p80"/>
          <p:cNvPicPr preferRelativeResize="0"/>
          <p:nvPr/>
        </p:nvPicPr>
        <p:blipFill rotWithShape="1">
          <a:blip r:embed="rId8">
            <a:alphaModFix/>
          </a:blip>
          <a:srcRect b="8165" l="40575" r="36131" t="29956"/>
          <a:stretch/>
        </p:blipFill>
        <p:spPr>
          <a:xfrm>
            <a:off x="1734136" y="4353610"/>
            <a:ext cx="1612773" cy="2409909"/>
          </a:xfrm>
          <a:prstGeom prst="rect">
            <a:avLst/>
          </a:prstGeom>
          <a:noFill/>
          <a:ln>
            <a:noFill/>
          </a:ln>
        </p:spPr>
      </p:pic>
      <p:pic>
        <p:nvPicPr>
          <p:cNvPr id="1180" name="Google Shape;1180;p80"/>
          <p:cNvPicPr preferRelativeResize="0"/>
          <p:nvPr/>
        </p:nvPicPr>
        <p:blipFill rotWithShape="1">
          <a:blip r:embed="rId9">
            <a:alphaModFix/>
          </a:blip>
          <a:srcRect b="5504" l="0" r="0" t="19958"/>
          <a:stretch/>
        </p:blipFill>
        <p:spPr>
          <a:xfrm>
            <a:off x="1614629" y="2451123"/>
            <a:ext cx="1612772" cy="2208923"/>
          </a:xfrm>
          <a:prstGeom prst="rect">
            <a:avLst/>
          </a:prstGeom>
          <a:noFill/>
          <a:ln>
            <a:noFill/>
          </a:ln>
        </p:spPr>
      </p:pic>
      <p:pic>
        <p:nvPicPr>
          <p:cNvPr id="1181" name="Google Shape;1181;p80"/>
          <p:cNvPicPr preferRelativeResize="0"/>
          <p:nvPr/>
        </p:nvPicPr>
        <p:blipFill rotWithShape="1">
          <a:blip r:embed="rId6">
            <a:alphaModFix/>
          </a:blip>
          <a:srcRect b="5150" l="9429" r="76392" t="23434"/>
          <a:stretch/>
        </p:blipFill>
        <p:spPr>
          <a:xfrm>
            <a:off x="2309834" y="1601466"/>
            <a:ext cx="335161" cy="839180"/>
          </a:xfrm>
          <a:prstGeom prst="rect">
            <a:avLst/>
          </a:prstGeom>
          <a:noFill/>
          <a:ln>
            <a:noFill/>
          </a:ln>
        </p:spPr>
      </p:pic>
      <p:pic>
        <p:nvPicPr>
          <p:cNvPr id="1182" name="Google Shape;1182;p80"/>
          <p:cNvPicPr preferRelativeResize="0"/>
          <p:nvPr/>
        </p:nvPicPr>
        <p:blipFill rotWithShape="1">
          <a:blip r:embed="rId6">
            <a:alphaModFix/>
          </a:blip>
          <a:srcRect b="5150" l="9429" r="76392" t="23434"/>
          <a:stretch/>
        </p:blipFill>
        <p:spPr>
          <a:xfrm>
            <a:off x="2314004" y="1615945"/>
            <a:ext cx="335161" cy="839180"/>
          </a:xfrm>
          <a:prstGeom prst="rect">
            <a:avLst/>
          </a:prstGeom>
          <a:noFill/>
          <a:ln>
            <a:noFill/>
          </a:ln>
        </p:spPr>
      </p:pic>
      <p:pic>
        <p:nvPicPr>
          <p:cNvPr id="1183" name="Google Shape;1183;p80"/>
          <p:cNvPicPr preferRelativeResize="0"/>
          <p:nvPr/>
        </p:nvPicPr>
        <p:blipFill rotWithShape="1">
          <a:blip r:embed="rId9">
            <a:alphaModFix/>
          </a:blip>
          <a:srcRect b="5504" l="0" r="0" t="19958"/>
          <a:stretch/>
        </p:blipFill>
        <p:spPr>
          <a:xfrm>
            <a:off x="1614628" y="2451122"/>
            <a:ext cx="1612772" cy="2208923"/>
          </a:xfrm>
          <a:prstGeom prst="rect">
            <a:avLst/>
          </a:prstGeom>
          <a:noFill/>
          <a:ln>
            <a:noFill/>
          </a:ln>
        </p:spPr>
      </p:pic>
      <p:pic>
        <p:nvPicPr>
          <p:cNvPr id="1184" name="Google Shape;1184;p80"/>
          <p:cNvPicPr preferRelativeResize="0"/>
          <p:nvPr/>
        </p:nvPicPr>
        <p:blipFill rotWithShape="1">
          <a:blip r:embed="rId8">
            <a:alphaModFix/>
          </a:blip>
          <a:srcRect b="8165" l="40575" r="36131" t="29956"/>
          <a:stretch/>
        </p:blipFill>
        <p:spPr>
          <a:xfrm>
            <a:off x="1742218" y="4353610"/>
            <a:ext cx="1612773" cy="2409909"/>
          </a:xfrm>
          <a:prstGeom prst="rect">
            <a:avLst/>
          </a:prstGeom>
          <a:noFill/>
          <a:ln>
            <a:noFill/>
          </a:ln>
        </p:spPr>
      </p:pic>
      <p:pic>
        <p:nvPicPr>
          <p:cNvPr id="1185" name="Google Shape;1185;p80"/>
          <p:cNvPicPr preferRelativeResize="0"/>
          <p:nvPr/>
        </p:nvPicPr>
        <p:blipFill rotWithShape="1">
          <a:blip r:embed="rId10">
            <a:alphaModFix/>
          </a:blip>
          <a:srcRect b="22700" l="37155" r="37124" t="21231"/>
          <a:stretch/>
        </p:blipFill>
        <p:spPr>
          <a:xfrm>
            <a:off x="5638351" y="4216791"/>
            <a:ext cx="569411" cy="698191"/>
          </a:xfrm>
          <a:prstGeom prst="rect">
            <a:avLst/>
          </a:prstGeom>
          <a:noFill/>
          <a:ln>
            <a:noFill/>
          </a:ln>
        </p:spPr>
      </p:pic>
      <p:pic>
        <p:nvPicPr>
          <p:cNvPr descr="Electrobomba Centrifuga CM 100 1HP Marca Pentax" id="1186" name="Google Shape;1186;p80"/>
          <p:cNvPicPr preferRelativeResize="0"/>
          <p:nvPr/>
        </p:nvPicPr>
        <p:blipFill rotWithShape="1">
          <a:blip r:embed="rId4">
            <a:alphaModFix/>
          </a:blip>
          <a:srcRect b="0" l="0" r="0" t="0"/>
          <a:stretch/>
        </p:blipFill>
        <p:spPr>
          <a:xfrm>
            <a:off x="7923343" y="4918621"/>
            <a:ext cx="2448272" cy="2054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178"/>
                                        </p:tgtEl>
                                      </p:cBhvr>
                                    </p:animEffect>
                                    <p:set>
                                      <p:cBhvr>
                                        <p:cTn dur="1" fill="hold">
                                          <p:stCondLst>
                                            <p:cond delay="500"/>
                                          </p:stCondLst>
                                        </p:cTn>
                                        <p:tgtEl>
                                          <p:spTgt spid="117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183"/>
                                        </p:tgtEl>
                                      </p:cBhvr>
                                    </p:animEffect>
                                    <p:set>
                                      <p:cBhvr>
                                        <p:cTn dur="1" fill="hold">
                                          <p:stCondLst>
                                            <p:cond delay="500"/>
                                          </p:stCondLst>
                                        </p:cTn>
                                        <p:tgtEl>
                                          <p:spTgt spid="118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182"/>
                                        </p:tgtEl>
                                      </p:cBhvr>
                                    </p:animEffect>
                                    <p:set>
                                      <p:cBhvr>
                                        <p:cTn dur="1" fill="hold">
                                          <p:stCondLst>
                                            <p:cond delay="500"/>
                                          </p:stCondLst>
                                        </p:cTn>
                                        <p:tgtEl>
                                          <p:spTgt spid="118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184"/>
                                        </p:tgtEl>
                                      </p:cBhvr>
                                    </p:animEffect>
                                    <p:set>
                                      <p:cBhvr>
                                        <p:cTn dur="1" fill="hold">
                                          <p:stCondLst>
                                            <p:cond delay="500"/>
                                          </p:stCondLst>
                                        </p:cTn>
                                        <p:tgtEl>
                                          <p:spTgt spid="118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185"/>
                                        </p:tgtEl>
                                      </p:cBhvr>
                                    </p:animEffect>
                                    <p:set>
                                      <p:cBhvr>
                                        <p:cTn dur="1" fill="hold">
                                          <p:stCondLst>
                                            <p:cond delay="500"/>
                                          </p:stCondLst>
                                        </p:cTn>
                                        <p:tgtEl>
                                          <p:spTgt spid="118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186"/>
                                        </p:tgtEl>
                                      </p:cBhvr>
                                    </p:animEffect>
                                    <p:set>
                                      <p:cBhvr>
                                        <p:cTn dur="1" fill="hold">
                                          <p:stCondLst>
                                            <p:cond delay="500"/>
                                          </p:stCondLst>
                                        </p:cTn>
                                        <p:tgtEl>
                                          <p:spTgt spid="118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159"/>
                                        </p:tgtEl>
                                      </p:cBhvr>
                                    </p:animEffect>
                                    <p:set>
                                      <p:cBhvr>
                                        <p:cTn dur="1" fill="hold">
                                          <p:stCondLst>
                                            <p:cond delay="500"/>
                                          </p:stCondLst>
                                        </p:cTn>
                                        <p:tgtEl>
                                          <p:spTgt spid="115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0" name="Shape 1190"/>
        <p:cNvGrpSpPr/>
        <p:nvPr/>
      </p:nvGrpSpPr>
      <p:grpSpPr>
        <a:xfrm>
          <a:off x="0" y="0"/>
          <a:ext cx="0" cy="0"/>
          <a:chOff x="0" y="0"/>
          <a:chExt cx="0" cy="0"/>
        </a:xfrm>
      </p:grpSpPr>
      <p:sp>
        <p:nvSpPr>
          <p:cNvPr id="1191" name="Google Shape;1191;p81"/>
          <p:cNvSpPr txBox="1"/>
          <p:nvPr/>
        </p:nvSpPr>
        <p:spPr>
          <a:xfrm>
            <a:off x="4511824" y="2996952"/>
            <a:ext cx="432048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BO" sz="3600">
                <a:solidFill>
                  <a:schemeClr val="dk1"/>
                </a:solidFill>
                <a:latin typeface="Calibri"/>
                <a:ea typeface="Calibri"/>
                <a:cs typeface="Calibri"/>
                <a:sym typeface="Calibri"/>
              </a:rPr>
              <a:t>CONTROLADOR PI</a:t>
            </a:r>
            <a:endParaRPr sz="3600">
              <a:solidFill>
                <a:schemeClr val="dk1"/>
              </a:solidFill>
              <a:latin typeface="Calibri"/>
              <a:ea typeface="Calibri"/>
              <a:cs typeface="Calibri"/>
              <a:sym typeface="Calibri"/>
            </a:endParaRPr>
          </a:p>
        </p:txBody>
      </p:sp>
    </p:spTree>
  </p:cSld>
  <p:clrMapOvr>
    <a:masterClrMapping/>
  </p:clrMapOvr>
  <p:transition spd="slow">
    <p:push/>
  </p:transition>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5" name="Shape 1195"/>
        <p:cNvGrpSpPr/>
        <p:nvPr/>
      </p:nvGrpSpPr>
      <p:grpSpPr>
        <a:xfrm>
          <a:off x="0" y="0"/>
          <a:ext cx="0" cy="0"/>
          <a:chOff x="0" y="0"/>
          <a:chExt cx="0" cy="0"/>
        </a:xfrm>
      </p:grpSpPr>
      <p:sp>
        <p:nvSpPr>
          <p:cNvPr id="1196" name="Google Shape;1196;p82"/>
          <p:cNvSpPr txBox="1"/>
          <p:nvPr/>
        </p:nvSpPr>
        <p:spPr>
          <a:xfrm>
            <a:off x="2639616" y="692696"/>
            <a:ext cx="756084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BO" sz="3600">
                <a:solidFill>
                  <a:schemeClr val="dk1"/>
                </a:solidFill>
                <a:latin typeface="Calibri"/>
                <a:ea typeface="Calibri"/>
                <a:cs typeface="Calibri"/>
                <a:sym typeface="Calibri"/>
              </a:rPr>
              <a:t>OBTENCIÓN DEL CONTROLADOR </a:t>
            </a:r>
            <a:endParaRPr sz="3600">
              <a:solidFill>
                <a:schemeClr val="dk1"/>
              </a:solidFill>
              <a:latin typeface="Calibri"/>
              <a:ea typeface="Calibri"/>
              <a:cs typeface="Calibri"/>
              <a:sym typeface="Calibri"/>
            </a:endParaRPr>
          </a:p>
        </p:txBody>
      </p:sp>
      <p:sp>
        <p:nvSpPr>
          <p:cNvPr id="1197" name="Google Shape;1197;p82"/>
          <p:cNvSpPr txBox="1"/>
          <p:nvPr/>
        </p:nvSpPr>
        <p:spPr>
          <a:xfrm>
            <a:off x="1703512" y="2060848"/>
            <a:ext cx="7725436" cy="523220"/>
          </a:xfrm>
          <a:prstGeom prst="rect">
            <a:avLst/>
          </a:prstGeom>
          <a:noFill/>
          <a:ln>
            <a:noFill/>
          </a:ln>
        </p:spPr>
        <p:txBody>
          <a:bodyPr anchorCtr="0" anchor="t" bIns="45700" lIns="91425" spcFirstLastPara="1" rIns="91425" wrap="square" tIns="45700">
            <a:spAutoFit/>
          </a:bodyPr>
          <a:lstStyle/>
          <a:p>
            <a:pPr indent="-571500" lvl="0" marL="571500" marR="0" rtl="0" algn="l">
              <a:spcBef>
                <a:spcPts val="0"/>
              </a:spcBef>
              <a:spcAft>
                <a:spcPts val="0"/>
              </a:spcAft>
              <a:buClr>
                <a:schemeClr val="dk1"/>
              </a:buClr>
              <a:buSzPts val="2800"/>
              <a:buFont typeface="Noto Sans Symbols"/>
              <a:buChar char="▪"/>
            </a:pPr>
            <a:r>
              <a:rPr lang="es-BO" sz="2800">
                <a:solidFill>
                  <a:schemeClr val="dk1"/>
                </a:solidFill>
                <a:latin typeface="Calibri"/>
                <a:ea typeface="Calibri"/>
                <a:cs typeface="Calibri"/>
                <a:sym typeface="Calibri"/>
              </a:rPr>
              <a:t>Diseño y simulación del controlador (Analítico)</a:t>
            </a:r>
            <a:endParaRPr/>
          </a:p>
        </p:txBody>
      </p:sp>
      <p:sp>
        <p:nvSpPr>
          <p:cNvPr id="1198" name="Google Shape;1198;p82"/>
          <p:cNvSpPr txBox="1"/>
          <p:nvPr/>
        </p:nvSpPr>
        <p:spPr>
          <a:xfrm>
            <a:off x="1735359" y="3602242"/>
            <a:ext cx="6075638" cy="523220"/>
          </a:xfrm>
          <a:prstGeom prst="rect">
            <a:avLst/>
          </a:prstGeom>
          <a:noFill/>
          <a:ln>
            <a:noFill/>
          </a:ln>
        </p:spPr>
        <p:txBody>
          <a:bodyPr anchorCtr="0" anchor="t" bIns="45700" lIns="91425" spcFirstLastPara="1" rIns="91425" wrap="square" tIns="45700">
            <a:spAutoFit/>
          </a:bodyPr>
          <a:lstStyle/>
          <a:p>
            <a:pPr indent="-571500" lvl="0" marL="571500" marR="0" rtl="0" algn="l">
              <a:spcBef>
                <a:spcPts val="0"/>
              </a:spcBef>
              <a:spcAft>
                <a:spcPts val="0"/>
              </a:spcAft>
              <a:buClr>
                <a:schemeClr val="dk1"/>
              </a:buClr>
              <a:buSzPts val="2800"/>
              <a:buFont typeface="Noto Sans Symbols"/>
              <a:buChar char="▪"/>
            </a:pPr>
            <a:r>
              <a:rPr lang="es-BO" sz="2800">
                <a:solidFill>
                  <a:schemeClr val="dk1"/>
                </a:solidFill>
                <a:latin typeface="Calibri"/>
                <a:ea typeface="Calibri"/>
                <a:cs typeface="Calibri"/>
                <a:sym typeface="Calibri"/>
              </a:rPr>
              <a:t>Implementación del controlador</a:t>
            </a:r>
            <a:endParaRPr sz="2800">
              <a:solidFill>
                <a:schemeClr val="dk1"/>
              </a:solidFill>
              <a:latin typeface="Calibri"/>
              <a:ea typeface="Calibri"/>
              <a:cs typeface="Calibri"/>
              <a:sym typeface="Calibri"/>
            </a:endParaRPr>
          </a:p>
        </p:txBody>
      </p:sp>
      <p:sp>
        <p:nvSpPr>
          <p:cNvPr id="1199" name="Google Shape;1199;p82"/>
          <p:cNvSpPr txBox="1"/>
          <p:nvPr/>
        </p:nvSpPr>
        <p:spPr>
          <a:xfrm>
            <a:off x="1735359" y="4373700"/>
            <a:ext cx="6075638" cy="523220"/>
          </a:xfrm>
          <a:prstGeom prst="rect">
            <a:avLst/>
          </a:prstGeom>
          <a:noFill/>
          <a:ln>
            <a:noFill/>
          </a:ln>
        </p:spPr>
        <p:txBody>
          <a:bodyPr anchorCtr="0" anchor="t" bIns="45700" lIns="91425" spcFirstLastPara="1" rIns="91425" wrap="square" tIns="45700">
            <a:spAutoFit/>
          </a:bodyPr>
          <a:lstStyle/>
          <a:p>
            <a:pPr indent="-571500" lvl="0" marL="571500" marR="0" rtl="0" algn="l">
              <a:spcBef>
                <a:spcPts val="0"/>
              </a:spcBef>
              <a:spcAft>
                <a:spcPts val="0"/>
              </a:spcAft>
              <a:buClr>
                <a:schemeClr val="dk1"/>
              </a:buClr>
              <a:buSzPts val="2800"/>
              <a:buFont typeface="Noto Sans Symbols"/>
              <a:buChar char="▪"/>
            </a:pPr>
            <a:r>
              <a:rPr lang="es-BO" sz="2800">
                <a:solidFill>
                  <a:schemeClr val="dk1"/>
                </a:solidFill>
                <a:latin typeface="Calibri"/>
                <a:ea typeface="Calibri"/>
                <a:cs typeface="Calibri"/>
                <a:sym typeface="Calibri"/>
              </a:rPr>
              <a:t>Pruebas del controlador</a:t>
            </a:r>
            <a:endParaRPr sz="2800">
              <a:solidFill>
                <a:schemeClr val="dk1"/>
              </a:solidFill>
              <a:latin typeface="Calibri"/>
              <a:ea typeface="Calibri"/>
              <a:cs typeface="Calibri"/>
              <a:sym typeface="Calibri"/>
            </a:endParaRPr>
          </a:p>
        </p:txBody>
      </p:sp>
      <p:sp>
        <p:nvSpPr>
          <p:cNvPr id="1200" name="Google Shape;1200;p82"/>
          <p:cNvSpPr txBox="1"/>
          <p:nvPr/>
        </p:nvSpPr>
        <p:spPr>
          <a:xfrm>
            <a:off x="1703511" y="2830784"/>
            <a:ext cx="9238277" cy="523220"/>
          </a:xfrm>
          <a:prstGeom prst="rect">
            <a:avLst/>
          </a:prstGeom>
          <a:noFill/>
          <a:ln>
            <a:noFill/>
          </a:ln>
        </p:spPr>
        <p:txBody>
          <a:bodyPr anchorCtr="0" anchor="t" bIns="45700" lIns="91425" spcFirstLastPara="1" rIns="91425" wrap="square" tIns="45700">
            <a:spAutoFit/>
          </a:bodyPr>
          <a:lstStyle/>
          <a:p>
            <a:pPr indent="-571500" lvl="0" marL="571500" marR="0" rtl="0" algn="l">
              <a:spcBef>
                <a:spcPts val="0"/>
              </a:spcBef>
              <a:spcAft>
                <a:spcPts val="0"/>
              </a:spcAft>
              <a:buClr>
                <a:schemeClr val="dk1"/>
              </a:buClr>
              <a:buSzPts val="2800"/>
              <a:buFont typeface="Noto Sans Symbols"/>
              <a:buChar char="▪"/>
            </a:pPr>
            <a:r>
              <a:rPr lang="es-BO" sz="2800">
                <a:solidFill>
                  <a:schemeClr val="dk1"/>
                </a:solidFill>
                <a:latin typeface="Calibri"/>
                <a:ea typeface="Calibri"/>
                <a:cs typeface="Calibri"/>
                <a:sym typeface="Calibri"/>
              </a:rPr>
              <a:t>Consideraciones a tomar para la implementación</a:t>
            </a:r>
            <a:endParaRPr sz="2800">
              <a:solidFill>
                <a:schemeClr val="dk1"/>
              </a:solidFill>
              <a:latin typeface="Calibri"/>
              <a:ea typeface="Calibri"/>
              <a:cs typeface="Calibri"/>
              <a:sym typeface="Calibri"/>
            </a:endParaRPr>
          </a:p>
        </p:txBody>
      </p:sp>
    </p:spTree>
  </p:cSld>
  <p:clrMapOvr>
    <a:masterClrMapping/>
  </p:clrMapOvr>
  <p:transition spd="slow">
    <p:push/>
  </p:transition>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4" name="Shape 1204"/>
        <p:cNvGrpSpPr/>
        <p:nvPr/>
      </p:nvGrpSpPr>
      <p:grpSpPr>
        <a:xfrm>
          <a:off x="0" y="0"/>
          <a:ext cx="0" cy="0"/>
          <a:chOff x="0" y="0"/>
          <a:chExt cx="0" cy="0"/>
        </a:xfrm>
      </p:grpSpPr>
      <p:sp>
        <p:nvSpPr>
          <p:cNvPr id="1205" name="Google Shape;1205;p83"/>
          <p:cNvSpPr txBox="1"/>
          <p:nvPr/>
        </p:nvSpPr>
        <p:spPr>
          <a:xfrm>
            <a:off x="587388" y="936348"/>
            <a:ext cx="763284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s-BO" sz="1800">
                <a:solidFill>
                  <a:schemeClr val="dk1"/>
                </a:solidFill>
                <a:latin typeface="Calibri"/>
                <a:ea typeface="Calibri"/>
                <a:cs typeface="Calibri"/>
                <a:sym typeface="Calibri"/>
              </a:rPr>
              <a:t>Tiempos de establecimiento a diferentes alturas sin controlador</a:t>
            </a:r>
            <a:endParaRPr/>
          </a:p>
        </p:txBody>
      </p:sp>
      <p:sp>
        <p:nvSpPr>
          <p:cNvPr id="1206" name="Google Shape;1206;p83"/>
          <p:cNvSpPr txBox="1"/>
          <p:nvPr/>
        </p:nvSpPr>
        <p:spPr>
          <a:xfrm>
            <a:off x="587388" y="260648"/>
            <a:ext cx="756084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BO" sz="3600">
                <a:solidFill>
                  <a:schemeClr val="dk1"/>
                </a:solidFill>
                <a:latin typeface="Calibri"/>
                <a:ea typeface="Calibri"/>
                <a:cs typeface="Calibri"/>
                <a:sym typeface="Calibri"/>
              </a:rPr>
              <a:t>OBTENCIÓN DEL CONTROLADOR </a:t>
            </a:r>
            <a:endParaRPr sz="3600">
              <a:solidFill>
                <a:schemeClr val="dk1"/>
              </a:solidFill>
              <a:latin typeface="Calibri"/>
              <a:ea typeface="Calibri"/>
              <a:cs typeface="Calibri"/>
              <a:sym typeface="Calibri"/>
            </a:endParaRPr>
          </a:p>
        </p:txBody>
      </p:sp>
      <p:sp>
        <p:nvSpPr>
          <p:cNvPr id="1207" name="Google Shape;1207;p83"/>
          <p:cNvSpPr txBox="1"/>
          <p:nvPr/>
        </p:nvSpPr>
        <p:spPr>
          <a:xfrm>
            <a:off x="6414736" y="1989789"/>
            <a:ext cx="5205697" cy="923330"/>
          </a:xfrm>
          <a:prstGeom prst="rect">
            <a:avLst/>
          </a:prstGeom>
          <a:blipFill rotWithShape="1">
            <a:blip r:embed="rId3">
              <a:alphaModFix/>
            </a:blip>
            <a:stretch>
              <a:fillRect b="-4604" l="-935" r="0" t="-3288"/>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sp>
        <p:nvSpPr>
          <p:cNvPr id="1208" name="Google Shape;1208;p83"/>
          <p:cNvSpPr txBox="1"/>
          <p:nvPr/>
        </p:nvSpPr>
        <p:spPr>
          <a:xfrm>
            <a:off x="6528048" y="4221088"/>
            <a:ext cx="520569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rgbClr val="FF0000"/>
                </a:solidFill>
                <a:latin typeface="Calibri"/>
                <a:ea typeface="Calibri"/>
                <a:cs typeface="Calibri"/>
                <a:sym typeface="Calibri"/>
              </a:rPr>
              <a:t>Como </a:t>
            </a:r>
            <a:r>
              <a:rPr b="1" lang="es-BO" sz="1800">
                <a:solidFill>
                  <a:srgbClr val="FF0000"/>
                </a:solidFill>
                <a:latin typeface="Calibri"/>
                <a:ea typeface="Calibri"/>
                <a:cs typeface="Calibri"/>
                <a:sym typeface="Calibri"/>
              </a:rPr>
              <a:t>tiempo máximo </a:t>
            </a:r>
            <a:r>
              <a:rPr lang="es-BO" sz="1800">
                <a:solidFill>
                  <a:srgbClr val="FF0000"/>
                </a:solidFill>
                <a:latin typeface="Calibri"/>
                <a:ea typeface="Calibri"/>
                <a:cs typeface="Calibri"/>
                <a:sym typeface="Calibri"/>
              </a:rPr>
              <a:t>sin limites.</a:t>
            </a:r>
            <a:endParaRPr/>
          </a:p>
        </p:txBody>
      </p:sp>
      <p:sp>
        <p:nvSpPr>
          <p:cNvPr id="1209" name="Google Shape;1209;p83"/>
          <p:cNvSpPr txBox="1"/>
          <p:nvPr/>
        </p:nvSpPr>
        <p:spPr>
          <a:xfrm>
            <a:off x="6384032" y="3311820"/>
            <a:ext cx="4824536"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rgbClr val="0000FF"/>
                </a:solidFill>
                <a:latin typeface="Calibri"/>
                <a:ea typeface="Calibri"/>
                <a:cs typeface="Calibri"/>
                <a:sym typeface="Calibri"/>
              </a:rPr>
              <a:t>Para el diseño del controlador se tomara en un intermedio  de las mediciones</a:t>
            </a:r>
            <a:endParaRPr/>
          </a:p>
        </p:txBody>
      </p:sp>
      <p:graphicFrame>
        <p:nvGraphicFramePr>
          <p:cNvPr id="1210" name="Google Shape;1210;p83"/>
          <p:cNvGraphicFramePr/>
          <p:nvPr/>
        </p:nvGraphicFramePr>
        <p:xfrm>
          <a:off x="695400" y="2276872"/>
          <a:ext cx="3000000" cy="3000000"/>
        </p:xfrm>
        <a:graphic>
          <a:graphicData uri="http://schemas.openxmlformats.org/drawingml/2006/table">
            <a:tbl>
              <a:tblPr>
                <a:noFill/>
                <a:tableStyleId>{B09D4672-51D9-4354-869B-AB4F12D6FB4A}</a:tableStyleId>
              </a:tblPr>
              <a:tblGrid>
                <a:gridCol w="802475"/>
                <a:gridCol w="2065375"/>
                <a:gridCol w="1236600"/>
                <a:gridCol w="1368150"/>
              </a:tblGrid>
              <a:tr h="597525">
                <a:tc>
                  <a:txBody>
                    <a:bodyPr/>
                    <a:lstStyle/>
                    <a:p>
                      <a:pPr indent="0" lvl="0" marL="0" marR="0" rtl="0" algn="ctr">
                        <a:spcBef>
                          <a:spcPts val="0"/>
                        </a:spcBef>
                        <a:spcAft>
                          <a:spcPts val="0"/>
                        </a:spcAft>
                        <a:buNone/>
                      </a:pPr>
                      <a:r>
                        <a:rPr b="1" i="0" lang="es-BO" sz="1400" u="none" strike="noStrike">
                          <a:solidFill>
                            <a:srgbClr val="000000"/>
                          </a:solidFill>
                          <a:latin typeface="Calibri"/>
                          <a:ea typeface="Calibri"/>
                          <a:cs typeface="Calibri"/>
                          <a:sym typeface="Calibri"/>
                        </a:rPr>
                        <a:t>Altura [cm]</a:t>
                      </a:r>
                      <a:endParaRPr/>
                    </a:p>
                  </a:txBody>
                  <a:tcPr marT="7625" marB="0" marR="7625" marL="76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9BC2E6"/>
                    </a:solidFill>
                  </a:tcPr>
                </a:tc>
                <a:tc>
                  <a:txBody>
                    <a:bodyPr/>
                    <a:lstStyle/>
                    <a:p>
                      <a:pPr indent="0" lvl="0" marL="0" marR="0" rtl="0" algn="ctr">
                        <a:spcBef>
                          <a:spcPts val="0"/>
                        </a:spcBef>
                        <a:spcAft>
                          <a:spcPts val="0"/>
                        </a:spcAft>
                        <a:buNone/>
                      </a:pPr>
                      <a:r>
                        <a:rPr b="1" i="0" lang="es-BO" sz="1400" u="none" strike="noStrike">
                          <a:solidFill>
                            <a:srgbClr val="000000"/>
                          </a:solidFill>
                          <a:latin typeface="Calibri"/>
                          <a:ea typeface="Calibri"/>
                          <a:cs typeface="Calibri"/>
                          <a:sym typeface="Calibri"/>
                        </a:rPr>
                        <a:t>Tiempo de establecimiento [minutos: segundos]</a:t>
                      </a:r>
                      <a:endParaRPr/>
                    </a:p>
                  </a:txBody>
                  <a:tcPr marT="7625" marB="0" marR="7625" marL="76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9BC2E6"/>
                    </a:solidFill>
                  </a:tcPr>
                </a:tc>
                <a:tc>
                  <a:txBody>
                    <a:bodyPr/>
                    <a:lstStyle/>
                    <a:p>
                      <a:pPr indent="0" lvl="0" marL="0" marR="0" rtl="0" algn="ctr">
                        <a:spcBef>
                          <a:spcPts val="0"/>
                        </a:spcBef>
                        <a:spcAft>
                          <a:spcPts val="0"/>
                        </a:spcAft>
                        <a:buNone/>
                      </a:pPr>
                      <a:r>
                        <a:rPr b="1" i="0" lang="es-BO" sz="1400" u="none" strike="noStrike">
                          <a:solidFill>
                            <a:srgbClr val="000000"/>
                          </a:solidFill>
                          <a:latin typeface="Calibri"/>
                          <a:ea typeface="Calibri"/>
                          <a:cs typeface="Calibri"/>
                          <a:sym typeface="Calibri"/>
                        </a:rPr>
                        <a:t>Frecuencia (Hz)</a:t>
                      </a:r>
                      <a:endParaRPr/>
                    </a:p>
                  </a:txBody>
                  <a:tcPr marT="7625" marB="0" marR="7625" marL="76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9BC2E6"/>
                    </a:solidFill>
                  </a:tcPr>
                </a:tc>
                <a:tc>
                  <a:txBody>
                    <a:bodyPr/>
                    <a:lstStyle/>
                    <a:p>
                      <a:pPr indent="0" lvl="0" marL="0" marR="0" rtl="0" algn="ctr">
                        <a:spcBef>
                          <a:spcPts val="0"/>
                        </a:spcBef>
                        <a:spcAft>
                          <a:spcPts val="0"/>
                        </a:spcAft>
                        <a:buNone/>
                      </a:pPr>
                      <a:r>
                        <a:rPr b="1" i="0" lang="es-BO" sz="1400" u="none" strike="noStrike">
                          <a:solidFill>
                            <a:srgbClr val="000000"/>
                          </a:solidFill>
                          <a:latin typeface="Calibri"/>
                          <a:ea typeface="Calibri"/>
                          <a:cs typeface="Calibri"/>
                          <a:sym typeface="Calibri"/>
                        </a:rPr>
                        <a:t>Caudal de entrada (litros/min)</a:t>
                      </a:r>
                      <a:endParaRPr/>
                    </a:p>
                  </a:txBody>
                  <a:tcPr marT="7625" marB="0" marR="7625" marL="76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9BC2E6"/>
                    </a:solidFill>
                  </a:tcPr>
                </a:tc>
              </a:tr>
              <a:tr h="326950">
                <a:tc>
                  <a:txBody>
                    <a:bodyPr/>
                    <a:lstStyle/>
                    <a:p>
                      <a:pPr indent="0" lvl="0" marL="0" marR="0" rtl="0" algn="ctr">
                        <a:spcBef>
                          <a:spcPts val="0"/>
                        </a:spcBef>
                        <a:spcAft>
                          <a:spcPts val="0"/>
                        </a:spcAft>
                        <a:buNone/>
                      </a:pPr>
                      <a:r>
                        <a:rPr b="0" i="0" lang="es-BO" sz="1600" u="none" strike="noStrike">
                          <a:solidFill>
                            <a:srgbClr val="000000"/>
                          </a:solidFill>
                          <a:latin typeface="Calibri"/>
                          <a:ea typeface="Calibri"/>
                          <a:cs typeface="Calibri"/>
                          <a:sym typeface="Calibri"/>
                        </a:rPr>
                        <a:t>39,6</a:t>
                      </a:r>
                      <a:endParaRPr/>
                    </a:p>
                  </a:txBody>
                  <a:tcPr marT="7625" marB="0" marR="7625" marL="76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DEBF7"/>
                    </a:solidFill>
                  </a:tcPr>
                </a:tc>
                <a:tc>
                  <a:txBody>
                    <a:bodyPr/>
                    <a:lstStyle/>
                    <a:p>
                      <a:pPr indent="0" lvl="0" marL="0" marR="0" rtl="0" algn="ctr">
                        <a:spcBef>
                          <a:spcPts val="0"/>
                        </a:spcBef>
                        <a:spcAft>
                          <a:spcPts val="0"/>
                        </a:spcAft>
                        <a:buNone/>
                      </a:pPr>
                      <a:r>
                        <a:rPr b="0" i="0" lang="es-BO" sz="1600" u="none" strike="noStrike">
                          <a:solidFill>
                            <a:srgbClr val="000000"/>
                          </a:solidFill>
                          <a:latin typeface="Calibri"/>
                          <a:ea typeface="Calibri"/>
                          <a:cs typeface="Calibri"/>
                          <a:sym typeface="Calibri"/>
                        </a:rPr>
                        <a:t>6:40</a:t>
                      </a:r>
                      <a:endParaRPr/>
                    </a:p>
                  </a:txBody>
                  <a:tcPr marT="7625" marB="0" marR="7625" marL="76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DEBF7"/>
                    </a:solidFill>
                  </a:tcPr>
                </a:tc>
                <a:tc>
                  <a:txBody>
                    <a:bodyPr/>
                    <a:lstStyle/>
                    <a:p>
                      <a:pPr indent="0" lvl="0" marL="0" marR="0" rtl="0" algn="ctr">
                        <a:spcBef>
                          <a:spcPts val="0"/>
                        </a:spcBef>
                        <a:spcAft>
                          <a:spcPts val="0"/>
                        </a:spcAft>
                        <a:buNone/>
                      </a:pPr>
                      <a:r>
                        <a:rPr b="0" i="0" lang="es-BO" sz="1600" u="none" strike="noStrike">
                          <a:solidFill>
                            <a:srgbClr val="000000"/>
                          </a:solidFill>
                          <a:latin typeface="Calibri"/>
                          <a:ea typeface="Calibri"/>
                          <a:cs typeface="Calibri"/>
                          <a:sym typeface="Calibri"/>
                        </a:rPr>
                        <a:t>40</a:t>
                      </a:r>
                      <a:endParaRPr/>
                    </a:p>
                  </a:txBody>
                  <a:tcPr marT="7625" marB="0" marR="7625" marL="76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DEBF7"/>
                    </a:solidFill>
                  </a:tcPr>
                </a:tc>
                <a:tc>
                  <a:txBody>
                    <a:bodyPr/>
                    <a:lstStyle/>
                    <a:p>
                      <a:pPr indent="0" lvl="0" marL="0" marR="0" rtl="0" algn="ctr">
                        <a:spcBef>
                          <a:spcPts val="0"/>
                        </a:spcBef>
                        <a:spcAft>
                          <a:spcPts val="0"/>
                        </a:spcAft>
                        <a:buNone/>
                      </a:pPr>
                      <a:r>
                        <a:rPr b="0" i="0" lang="es-BO" sz="1600" u="none" strike="noStrike">
                          <a:solidFill>
                            <a:srgbClr val="000000"/>
                          </a:solidFill>
                          <a:latin typeface="Calibri"/>
                          <a:ea typeface="Calibri"/>
                          <a:cs typeface="Calibri"/>
                          <a:sym typeface="Calibri"/>
                        </a:rPr>
                        <a:t>20</a:t>
                      </a:r>
                      <a:endParaRPr/>
                    </a:p>
                  </a:txBody>
                  <a:tcPr marT="7625" marB="0" marR="7625" marL="76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DEBF7"/>
                    </a:solidFill>
                  </a:tcPr>
                </a:tc>
              </a:tr>
              <a:tr h="326950">
                <a:tc>
                  <a:txBody>
                    <a:bodyPr/>
                    <a:lstStyle/>
                    <a:p>
                      <a:pPr indent="0" lvl="0" marL="0" marR="0" rtl="0" algn="ctr">
                        <a:spcBef>
                          <a:spcPts val="0"/>
                        </a:spcBef>
                        <a:spcAft>
                          <a:spcPts val="0"/>
                        </a:spcAft>
                        <a:buNone/>
                      </a:pPr>
                      <a:r>
                        <a:rPr b="0" i="0" lang="es-BO" sz="1600" u="none" strike="noStrike">
                          <a:solidFill>
                            <a:srgbClr val="000000"/>
                          </a:solidFill>
                          <a:latin typeface="Calibri"/>
                          <a:ea typeface="Calibri"/>
                          <a:cs typeface="Calibri"/>
                          <a:sym typeface="Calibri"/>
                        </a:rPr>
                        <a:t>37,3</a:t>
                      </a:r>
                      <a:endParaRPr/>
                    </a:p>
                  </a:txBody>
                  <a:tcPr marT="7625" marB="0" marR="7625" marL="76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DEBF7"/>
                    </a:solidFill>
                  </a:tcPr>
                </a:tc>
                <a:tc>
                  <a:txBody>
                    <a:bodyPr/>
                    <a:lstStyle/>
                    <a:p>
                      <a:pPr indent="0" lvl="0" marL="0" marR="0" rtl="0" algn="ctr">
                        <a:spcBef>
                          <a:spcPts val="0"/>
                        </a:spcBef>
                        <a:spcAft>
                          <a:spcPts val="0"/>
                        </a:spcAft>
                        <a:buNone/>
                      </a:pPr>
                      <a:r>
                        <a:rPr b="0" i="0" lang="es-BO" sz="1600" u="none" strike="noStrike">
                          <a:solidFill>
                            <a:srgbClr val="000000"/>
                          </a:solidFill>
                          <a:latin typeface="Calibri"/>
                          <a:ea typeface="Calibri"/>
                          <a:cs typeface="Calibri"/>
                          <a:sym typeface="Calibri"/>
                        </a:rPr>
                        <a:t>12:20</a:t>
                      </a:r>
                      <a:endParaRPr/>
                    </a:p>
                  </a:txBody>
                  <a:tcPr marT="7625" marB="0" marR="7625" marL="76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DEBF7"/>
                    </a:solidFill>
                  </a:tcPr>
                </a:tc>
                <a:tc>
                  <a:txBody>
                    <a:bodyPr/>
                    <a:lstStyle/>
                    <a:p>
                      <a:pPr indent="0" lvl="0" marL="0" marR="0" rtl="0" algn="ctr">
                        <a:spcBef>
                          <a:spcPts val="0"/>
                        </a:spcBef>
                        <a:spcAft>
                          <a:spcPts val="0"/>
                        </a:spcAft>
                        <a:buNone/>
                      </a:pPr>
                      <a:r>
                        <a:rPr b="0" i="0" lang="es-BO" sz="1600" u="none" strike="noStrike">
                          <a:solidFill>
                            <a:srgbClr val="000000"/>
                          </a:solidFill>
                          <a:latin typeface="Calibri"/>
                          <a:ea typeface="Calibri"/>
                          <a:cs typeface="Calibri"/>
                          <a:sym typeface="Calibri"/>
                        </a:rPr>
                        <a:t>33,1</a:t>
                      </a:r>
                      <a:endParaRPr/>
                    </a:p>
                  </a:txBody>
                  <a:tcPr marT="7625" marB="0" marR="7625" marL="76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DEBF7"/>
                    </a:solidFill>
                  </a:tcPr>
                </a:tc>
                <a:tc>
                  <a:txBody>
                    <a:bodyPr/>
                    <a:lstStyle/>
                    <a:p>
                      <a:pPr indent="0" lvl="0" marL="0" marR="0" rtl="0" algn="ctr">
                        <a:spcBef>
                          <a:spcPts val="0"/>
                        </a:spcBef>
                        <a:spcAft>
                          <a:spcPts val="0"/>
                        </a:spcAft>
                        <a:buNone/>
                      </a:pPr>
                      <a:r>
                        <a:rPr b="0" i="0" lang="es-BO" sz="1600" u="none" strike="noStrike">
                          <a:solidFill>
                            <a:srgbClr val="000000"/>
                          </a:solidFill>
                          <a:latin typeface="Calibri"/>
                          <a:ea typeface="Calibri"/>
                          <a:cs typeface="Calibri"/>
                          <a:sym typeface="Calibri"/>
                        </a:rPr>
                        <a:t>19,4</a:t>
                      </a:r>
                      <a:endParaRPr/>
                    </a:p>
                  </a:txBody>
                  <a:tcPr marT="7625" marB="0" marR="7625" marL="76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DEBF7"/>
                    </a:solidFill>
                  </a:tcPr>
                </a:tc>
              </a:tr>
              <a:tr h="326950">
                <a:tc>
                  <a:txBody>
                    <a:bodyPr/>
                    <a:lstStyle/>
                    <a:p>
                      <a:pPr indent="0" lvl="0" marL="0" marR="0" rtl="0" algn="ctr">
                        <a:spcBef>
                          <a:spcPts val="0"/>
                        </a:spcBef>
                        <a:spcAft>
                          <a:spcPts val="0"/>
                        </a:spcAft>
                        <a:buNone/>
                      </a:pPr>
                      <a:r>
                        <a:rPr b="0" i="0" lang="es-BO" sz="1600" u="none" strike="noStrike">
                          <a:solidFill>
                            <a:srgbClr val="000000"/>
                          </a:solidFill>
                          <a:latin typeface="Calibri"/>
                          <a:ea typeface="Calibri"/>
                          <a:cs typeface="Calibri"/>
                          <a:sym typeface="Calibri"/>
                        </a:rPr>
                        <a:t>16,7</a:t>
                      </a:r>
                      <a:endParaRPr/>
                    </a:p>
                  </a:txBody>
                  <a:tcPr marT="7625" marB="0" marR="7625" marL="76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DEBF7"/>
                    </a:solidFill>
                  </a:tcPr>
                </a:tc>
                <a:tc>
                  <a:txBody>
                    <a:bodyPr/>
                    <a:lstStyle/>
                    <a:p>
                      <a:pPr indent="0" lvl="0" marL="0" marR="0" rtl="0" algn="ctr">
                        <a:spcBef>
                          <a:spcPts val="0"/>
                        </a:spcBef>
                        <a:spcAft>
                          <a:spcPts val="0"/>
                        </a:spcAft>
                        <a:buNone/>
                      </a:pPr>
                      <a:r>
                        <a:rPr b="0" i="0" lang="es-BO" sz="1600" u="none" strike="noStrike">
                          <a:solidFill>
                            <a:srgbClr val="000000"/>
                          </a:solidFill>
                          <a:latin typeface="Calibri"/>
                          <a:ea typeface="Calibri"/>
                          <a:cs typeface="Calibri"/>
                          <a:sym typeface="Calibri"/>
                        </a:rPr>
                        <a:t>16:00</a:t>
                      </a:r>
                      <a:endParaRPr/>
                    </a:p>
                  </a:txBody>
                  <a:tcPr marT="7625" marB="0" marR="7625" marL="76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DEBF7"/>
                    </a:solidFill>
                  </a:tcPr>
                </a:tc>
                <a:tc>
                  <a:txBody>
                    <a:bodyPr/>
                    <a:lstStyle/>
                    <a:p>
                      <a:pPr indent="0" lvl="0" marL="0" marR="0" rtl="0" algn="ctr">
                        <a:spcBef>
                          <a:spcPts val="0"/>
                        </a:spcBef>
                        <a:spcAft>
                          <a:spcPts val="0"/>
                        </a:spcAft>
                        <a:buNone/>
                      </a:pPr>
                      <a:r>
                        <a:rPr b="0" i="0" lang="es-BO" sz="1600" u="none" strike="noStrike">
                          <a:solidFill>
                            <a:srgbClr val="000000"/>
                          </a:solidFill>
                          <a:latin typeface="Calibri"/>
                          <a:ea typeface="Calibri"/>
                          <a:cs typeface="Calibri"/>
                          <a:sym typeface="Calibri"/>
                        </a:rPr>
                        <a:t>25</a:t>
                      </a:r>
                      <a:endParaRPr/>
                    </a:p>
                  </a:txBody>
                  <a:tcPr marT="7625" marB="0" marR="7625" marL="76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DEBF7"/>
                    </a:solidFill>
                  </a:tcPr>
                </a:tc>
                <a:tc>
                  <a:txBody>
                    <a:bodyPr/>
                    <a:lstStyle/>
                    <a:p>
                      <a:pPr indent="0" lvl="0" marL="0" marR="0" rtl="0" algn="ctr">
                        <a:spcBef>
                          <a:spcPts val="0"/>
                        </a:spcBef>
                        <a:spcAft>
                          <a:spcPts val="0"/>
                        </a:spcAft>
                        <a:buNone/>
                      </a:pPr>
                      <a:r>
                        <a:rPr b="0" i="0" lang="es-BO" sz="1600" u="none" strike="noStrike">
                          <a:solidFill>
                            <a:srgbClr val="000000"/>
                          </a:solidFill>
                          <a:latin typeface="Calibri"/>
                          <a:ea typeface="Calibri"/>
                          <a:cs typeface="Calibri"/>
                          <a:sym typeface="Calibri"/>
                        </a:rPr>
                        <a:t>13,5</a:t>
                      </a:r>
                      <a:endParaRPr/>
                    </a:p>
                  </a:txBody>
                  <a:tcPr marT="7625" marB="0" marR="7625" marL="76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DEBF7"/>
                    </a:solidFill>
                  </a:tcPr>
                </a:tc>
              </a:tr>
              <a:tr h="326950">
                <a:tc>
                  <a:txBody>
                    <a:bodyPr/>
                    <a:lstStyle/>
                    <a:p>
                      <a:pPr indent="0" lvl="0" marL="0" marR="0" rtl="0" algn="ctr">
                        <a:spcBef>
                          <a:spcPts val="0"/>
                        </a:spcBef>
                        <a:spcAft>
                          <a:spcPts val="0"/>
                        </a:spcAft>
                        <a:buNone/>
                      </a:pPr>
                      <a:r>
                        <a:rPr b="0" i="0" lang="es-BO" sz="1600" u="none" strike="noStrike">
                          <a:solidFill>
                            <a:srgbClr val="000000"/>
                          </a:solidFill>
                          <a:latin typeface="Calibri"/>
                          <a:ea typeface="Calibri"/>
                          <a:cs typeface="Calibri"/>
                          <a:sym typeface="Calibri"/>
                        </a:rPr>
                        <a:t>12,3</a:t>
                      </a:r>
                      <a:endParaRPr/>
                    </a:p>
                  </a:txBody>
                  <a:tcPr marT="7625" marB="0" marR="7625" marL="76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DEBF7"/>
                    </a:solidFill>
                  </a:tcPr>
                </a:tc>
                <a:tc>
                  <a:txBody>
                    <a:bodyPr/>
                    <a:lstStyle/>
                    <a:p>
                      <a:pPr indent="0" lvl="0" marL="0" marR="0" rtl="0" algn="ctr">
                        <a:spcBef>
                          <a:spcPts val="0"/>
                        </a:spcBef>
                        <a:spcAft>
                          <a:spcPts val="0"/>
                        </a:spcAft>
                        <a:buNone/>
                      </a:pPr>
                      <a:r>
                        <a:rPr b="0" i="0" lang="es-BO" sz="1600" u="none" strike="noStrike">
                          <a:solidFill>
                            <a:srgbClr val="000000"/>
                          </a:solidFill>
                          <a:latin typeface="Calibri"/>
                          <a:ea typeface="Calibri"/>
                          <a:cs typeface="Calibri"/>
                          <a:sym typeface="Calibri"/>
                        </a:rPr>
                        <a:t>21:20</a:t>
                      </a:r>
                      <a:endParaRPr/>
                    </a:p>
                  </a:txBody>
                  <a:tcPr marT="7625" marB="0" marR="7625" marL="76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DEBF7"/>
                    </a:solidFill>
                  </a:tcPr>
                </a:tc>
                <a:tc>
                  <a:txBody>
                    <a:bodyPr/>
                    <a:lstStyle/>
                    <a:p>
                      <a:pPr indent="0" lvl="0" marL="0" marR="0" rtl="0" algn="ctr">
                        <a:spcBef>
                          <a:spcPts val="0"/>
                        </a:spcBef>
                        <a:spcAft>
                          <a:spcPts val="0"/>
                        </a:spcAft>
                        <a:buNone/>
                      </a:pPr>
                      <a:r>
                        <a:rPr b="0" i="0" lang="es-BO" sz="1600" u="none" strike="noStrike">
                          <a:solidFill>
                            <a:srgbClr val="000000"/>
                          </a:solidFill>
                          <a:latin typeface="Calibri"/>
                          <a:ea typeface="Calibri"/>
                          <a:cs typeface="Calibri"/>
                          <a:sym typeface="Calibri"/>
                        </a:rPr>
                        <a:t>20</a:t>
                      </a:r>
                      <a:endParaRPr/>
                    </a:p>
                  </a:txBody>
                  <a:tcPr marT="7625" marB="0" marR="7625" marL="76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DEBF7"/>
                    </a:solidFill>
                  </a:tcPr>
                </a:tc>
                <a:tc>
                  <a:txBody>
                    <a:bodyPr/>
                    <a:lstStyle/>
                    <a:p>
                      <a:pPr indent="0" lvl="0" marL="0" marR="0" rtl="0" algn="ctr">
                        <a:spcBef>
                          <a:spcPts val="0"/>
                        </a:spcBef>
                        <a:spcAft>
                          <a:spcPts val="0"/>
                        </a:spcAft>
                        <a:buNone/>
                      </a:pPr>
                      <a:r>
                        <a:rPr b="0" i="0" lang="es-BO" sz="1600" u="none" strike="noStrike">
                          <a:solidFill>
                            <a:srgbClr val="000000"/>
                          </a:solidFill>
                          <a:latin typeface="Calibri"/>
                          <a:ea typeface="Calibri"/>
                          <a:cs typeface="Calibri"/>
                          <a:sym typeface="Calibri"/>
                        </a:rPr>
                        <a:t>8,6</a:t>
                      </a:r>
                      <a:endParaRPr/>
                    </a:p>
                  </a:txBody>
                  <a:tcPr marT="7625" marB="0" marR="7625" marL="76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DEBF7"/>
                    </a:solidFill>
                  </a:tcPr>
                </a:tc>
              </a:tr>
              <a:tr h="326950">
                <a:tc>
                  <a:txBody>
                    <a:bodyPr/>
                    <a:lstStyle/>
                    <a:p>
                      <a:pPr indent="0" lvl="0" marL="0" marR="0" rtl="0" algn="ctr">
                        <a:spcBef>
                          <a:spcPts val="0"/>
                        </a:spcBef>
                        <a:spcAft>
                          <a:spcPts val="0"/>
                        </a:spcAft>
                        <a:buNone/>
                      </a:pPr>
                      <a:r>
                        <a:rPr b="0" i="0" lang="es-BO" sz="1600" u="none" strike="noStrike">
                          <a:solidFill>
                            <a:srgbClr val="000000"/>
                          </a:solidFill>
                          <a:latin typeface="Calibri"/>
                          <a:ea typeface="Calibri"/>
                          <a:cs typeface="Calibri"/>
                          <a:sym typeface="Calibri"/>
                        </a:rPr>
                        <a:t>8,6</a:t>
                      </a:r>
                      <a:endParaRPr/>
                    </a:p>
                  </a:txBody>
                  <a:tcPr marT="7625" marB="0" marR="7625" marL="76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DEBF7"/>
                    </a:solidFill>
                  </a:tcPr>
                </a:tc>
                <a:tc>
                  <a:txBody>
                    <a:bodyPr/>
                    <a:lstStyle/>
                    <a:p>
                      <a:pPr indent="0" lvl="0" marL="0" marR="0" rtl="0" algn="ctr">
                        <a:spcBef>
                          <a:spcPts val="0"/>
                        </a:spcBef>
                        <a:spcAft>
                          <a:spcPts val="0"/>
                        </a:spcAft>
                        <a:buNone/>
                      </a:pPr>
                      <a:r>
                        <a:rPr b="0" i="0" lang="es-BO" sz="1600" u="none" strike="noStrike">
                          <a:solidFill>
                            <a:srgbClr val="000000"/>
                          </a:solidFill>
                          <a:latin typeface="Calibri"/>
                          <a:ea typeface="Calibri"/>
                          <a:cs typeface="Calibri"/>
                          <a:sym typeface="Calibri"/>
                        </a:rPr>
                        <a:t>28:30</a:t>
                      </a:r>
                      <a:endParaRPr/>
                    </a:p>
                  </a:txBody>
                  <a:tcPr marT="7625" marB="0" marR="7625" marL="76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DEBF7"/>
                    </a:solidFill>
                  </a:tcPr>
                </a:tc>
                <a:tc>
                  <a:txBody>
                    <a:bodyPr/>
                    <a:lstStyle/>
                    <a:p>
                      <a:pPr indent="0" lvl="0" marL="0" marR="0" rtl="0" algn="ctr">
                        <a:spcBef>
                          <a:spcPts val="0"/>
                        </a:spcBef>
                        <a:spcAft>
                          <a:spcPts val="0"/>
                        </a:spcAft>
                        <a:buNone/>
                      </a:pPr>
                      <a:r>
                        <a:rPr b="0" i="0" lang="es-BO" sz="1600" u="none" strike="noStrike">
                          <a:solidFill>
                            <a:srgbClr val="000000"/>
                          </a:solidFill>
                          <a:latin typeface="Calibri"/>
                          <a:ea typeface="Calibri"/>
                          <a:cs typeface="Calibri"/>
                          <a:sym typeface="Calibri"/>
                        </a:rPr>
                        <a:t>17</a:t>
                      </a:r>
                      <a:endParaRPr/>
                    </a:p>
                  </a:txBody>
                  <a:tcPr marT="7625" marB="0" marR="7625" marL="76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DEBF7"/>
                    </a:solidFill>
                  </a:tcPr>
                </a:tc>
                <a:tc>
                  <a:txBody>
                    <a:bodyPr/>
                    <a:lstStyle/>
                    <a:p>
                      <a:pPr indent="0" lvl="0" marL="0" marR="0" rtl="0" algn="ctr">
                        <a:spcBef>
                          <a:spcPts val="0"/>
                        </a:spcBef>
                        <a:spcAft>
                          <a:spcPts val="0"/>
                        </a:spcAft>
                        <a:buNone/>
                      </a:pPr>
                      <a:r>
                        <a:rPr b="0" i="0" lang="es-BO" sz="1600" u="none" strike="noStrike">
                          <a:solidFill>
                            <a:srgbClr val="000000"/>
                          </a:solidFill>
                          <a:latin typeface="Calibri"/>
                          <a:ea typeface="Calibri"/>
                          <a:cs typeface="Calibri"/>
                          <a:sym typeface="Calibri"/>
                        </a:rPr>
                        <a:t>6,4</a:t>
                      </a:r>
                      <a:endParaRPr/>
                    </a:p>
                  </a:txBody>
                  <a:tcPr marT="7625" marB="0" marR="7625" marL="76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DEBF7"/>
                    </a:solidFill>
                  </a:tcPr>
                </a:tc>
              </a:tr>
            </a:tbl>
          </a:graphicData>
        </a:graphic>
      </p:graphicFrame>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5" name="Shape 1215"/>
        <p:cNvGrpSpPr/>
        <p:nvPr/>
      </p:nvGrpSpPr>
      <p:grpSpPr>
        <a:xfrm>
          <a:off x="0" y="0"/>
          <a:ext cx="0" cy="0"/>
          <a:chOff x="0" y="0"/>
          <a:chExt cx="0" cy="0"/>
        </a:xfrm>
      </p:grpSpPr>
      <p:sp>
        <p:nvSpPr>
          <p:cNvPr id="1216" name="Google Shape;1216;p84"/>
          <p:cNvSpPr txBox="1"/>
          <p:nvPr>
            <p:ph type="title"/>
          </p:nvPr>
        </p:nvSpPr>
        <p:spPr>
          <a:xfrm>
            <a:off x="414494" y="778975"/>
            <a:ext cx="10515600" cy="5838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1800"/>
              <a:buFont typeface="Calibri"/>
              <a:buNone/>
            </a:pPr>
            <a:r>
              <a:rPr b="1" lang="es-BO" sz="1800">
                <a:latin typeface="Calibri"/>
                <a:ea typeface="Calibri"/>
                <a:cs typeface="Calibri"/>
                <a:sym typeface="Calibri"/>
              </a:rPr>
              <a:t>REALIZANDO CÁLCULOS</a:t>
            </a:r>
            <a:endParaRPr/>
          </a:p>
        </p:txBody>
      </p:sp>
      <p:sp>
        <p:nvSpPr>
          <p:cNvPr id="1217" name="Google Shape;1217;p84"/>
          <p:cNvSpPr txBox="1"/>
          <p:nvPr>
            <p:ph idx="1" type="body"/>
          </p:nvPr>
        </p:nvSpPr>
        <p:spPr>
          <a:xfrm>
            <a:off x="656897" y="2174061"/>
            <a:ext cx="4810246" cy="4351338"/>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3200"/>
              <a:buChar char="•"/>
            </a:pPr>
            <a:r>
              <a:rPr lang="es-BO"/>
              <a:t> </a:t>
            </a:r>
            <a:endParaRPr/>
          </a:p>
        </p:txBody>
      </p:sp>
      <p:sp>
        <p:nvSpPr>
          <p:cNvPr id="1218" name="Google Shape;1218;p84"/>
          <p:cNvSpPr txBox="1"/>
          <p:nvPr/>
        </p:nvSpPr>
        <p:spPr>
          <a:xfrm>
            <a:off x="7182059" y="5376854"/>
            <a:ext cx="3748035" cy="906145"/>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sp>
        <p:nvSpPr>
          <p:cNvPr id="1219" name="Google Shape;1219;p84"/>
          <p:cNvSpPr txBox="1"/>
          <p:nvPr/>
        </p:nvSpPr>
        <p:spPr>
          <a:xfrm>
            <a:off x="6765889" y="2174061"/>
            <a:ext cx="3881175" cy="846194"/>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sp>
        <p:nvSpPr>
          <p:cNvPr id="1220" name="Google Shape;1220;p84"/>
          <p:cNvSpPr txBox="1"/>
          <p:nvPr/>
        </p:nvSpPr>
        <p:spPr>
          <a:xfrm>
            <a:off x="6765889" y="4911515"/>
            <a:ext cx="4373545" cy="369332"/>
          </a:xfrm>
          <a:prstGeom prst="rect">
            <a:avLst/>
          </a:prstGeom>
          <a:blipFill rotWithShape="1">
            <a:blip r:embed="rId6">
              <a:alphaModFix/>
            </a:blip>
            <a:stretch>
              <a:fillRect b="-13332"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sp>
        <p:nvSpPr>
          <p:cNvPr id="1221" name="Google Shape;1221;p84"/>
          <p:cNvSpPr txBox="1"/>
          <p:nvPr/>
        </p:nvSpPr>
        <p:spPr>
          <a:xfrm>
            <a:off x="6724857" y="3461907"/>
            <a:ext cx="2841171" cy="369332"/>
          </a:xfrm>
          <a:prstGeom prst="rect">
            <a:avLst/>
          </a:prstGeom>
          <a:blipFill rotWithShape="1">
            <a:blip r:embed="rId7">
              <a:alphaModFix/>
            </a:blip>
            <a:stretch>
              <a:fillRect b="-13332"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sp>
        <p:nvSpPr>
          <p:cNvPr id="1222" name="Google Shape;1222;p84"/>
          <p:cNvSpPr txBox="1"/>
          <p:nvPr/>
        </p:nvSpPr>
        <p:spPr>
          <a:xfrm>
            <a:off x="6724858" y="1667227"/>
            <a:ext cx="2841171" cy="369332"/>
          </a:xfrm>
          <a:prstGeom prst="rect">
            <a:avLst/>
          </a:pr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sp>
        <p:nvSpPr>
          <p:cNvPr id="1223" name="Google Shape;1223;p84"/>
          <p:cNvSpPr txBox="1"/>
          <p:nvPr/>
        </p:nvSpPr>
        <p:spPr>
          <a:xfrm>
            <a:off x="6724858" y="4100531"/>
            <a:ext cx="5076929" cy="461665"/>
          </a:xfrm>
          <a:prstGeom prst="rect">
            <a:avLst/>
          </a:prstGeom>
          <a:blipFill rotWithShape="1">
            <a:blip r:embed="rId9">
              <a:alphaModFix/>
            </a:blip>
            <a:stretch>
              <a:fillRect b="-1331" l="-239"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sp>
        <p:nvSpPr>
          <p:cNvPr id="1224" name="Google Shape;1224;p84"/>
          <p:cNvSpPr txBox="1"/>
          <p:nvPr/>
        </p:nvSpPr>
        <p:spPr>
          <a:xfrm>
            <a:off x="414494" y="186517"/>
            <a:ext cx="11444761"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BO" sz="3600">
                <a:solidFill>
                  <a:schemeClr val="dk1"/>
                </a:solidFill>
                <a:latin typeface="Calibri"/>
                <a:ea typeface="Calibri"/>
                <a:cs typeface="Calibri"/>
                <a:sym typeface="Calibri"/>
              </a:rPr>
              <a:t>OBTENCIÓN FUNCION DE TRANSFERENCIA EXPERIMENTAL</a:t>
            </a:r>
            <a:endParaRPr sz="3600">
              <a:solidFill>
                <a:schemeClr val="dk1"/>
              </a:solidFill>
              <a:latin typeface="Calibri"/>
              <a:ea typeface="Calibri"/>
              <a:cs typeface="Calibri"/>
              <a:sym typeface="Calibri"/>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8" name="Shape 1228"/>
        <p:cNvGrpSpPr/>
        <p:nvPr/>
      </p:nvGrpSpPr>
      <p:grpSpPr>
        <a:xfrm>
          <a:off x="0" y="0"/>
          <a:ext cx="0" cy="0"/>
          <a:chOff x="0" y="0"/>
          <a:chExt cx="0" cy="0"/>
        </a:xfrm>
      </p:grpSpPr>
      <p:sp>
        <p:nvSpPr>
          <p:cNvPr id="1229" name="Google Shape;1229;p85"/>
          <p:cNvSpPr txBox="1"/>
          <p:nvPr/>
        </p:nvSpPr>
        <p:spPr>
          <a:xfrm>
            <a:off x="382760" y="1755407"/>
            <a:ext cx="5364480" cy="1191673"/>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sp>
        <p:nvSpPr>
          <p:cNvPr id="1230" name="Google Shape;1230;p85"/>
          <p:cNvSpPr txBox="1"/>
          <p:nvPr/>
        </p:nvSpPr>
        <p:spPr>
          <a:xfrm>
            <a:off x="838200" y="1209187"/>
            <a:ext cx="10515600" cy="426574"/>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000"/>
              <a:buFont typeface="Calibri"/>
              <a:buNone/>
            </a:pPr>
            <a:r>
              <a:rPr lang="es-BO" sz="2000">
                <a:solidFill>
                  <a:schemeClr val="dk1"/>
                </a:solidFill>
                <a:latin typeface="Calibri"/>
                <a:ea typeface="Calibri"/>
                <a:cs typeface="Calibri"/>
                <a:sym typeface="Calibri"/>
              </a:rPr>
              <a:t>Tomando en cuenta el caudal de entrada</a:t>
            </a:r>
            <a:endParaRPr/>
          </a:p>
        </p:txBody>
      </p:sp>
      <p:pic>
        <p:nvPicPr>
          <p:cNvPr id="1231" name="Google Shape;1231;p85"/>
          <p:cNvPicPr preferRelativeResize="0"/>
          <p:nvPr/>
        </p:nvPicPr>
        <p:blipFill rotWithShape="1">
          <a:blip r:embed="rId4">
            <a:alphaModFix/>
          </a:blip>
          <a:srcRect b="0" l="0" r="0" t="0"/>
          <a:stretch/>
        </p:blipFill>
        <p:spPr>
          <a:xfrm>
            <a:off x="5456870" y="1209187"/>
            <a:ext cx="6352370" cy="4764277"/>
          </a:xfrm>
          <a:prstGeom prst="rect">
            <a:avLst/>
          </a:prstGeom>
          <a:noFill/>
          <a:ln>
            <a:noFill/>
          </a:ln>
        </p:spPr>
      </p:pic>
      <p:pic>
        <p:nvPicPr>
          <p:cNvPr id="1232" name="Google Shape;1232;p85"/>
          <p:cNvPicPr preferRelativeResize="0"/>
          <p:nvPr/>
        </p:nvPicPr>
        <p:blipFill rotWithShape="1">
          <a:blip r:embed="rId5">
            <a:alphaModFix/>
          </a:blip>
          <a:srcRect b="7408" l="23736" r="59533" t="68982"/>
          <a:stretch/>
        </p:blipFill>
        <p:spPr>
          <a:xfrm>
            <a:off x="1921641" y="3136133"/>
            <a:ext cx="2861435" cy="2187137"/>
          </a:xfrm>
          <a:prstGeom prst="rect">
            <a:avLst/>
          </a:prstGeom>
          <a:noFill/>
          <a:ln>
            <a:noFill/>
          </a:ln>
        </p:spPr>
      </p:pic>
      <p:sp>
        <p:nvSpPr>
          <p:cNvPr id="1233" name="Google Shape;1233;p85"/>
          <p:cNvSpPr txBox="1"/>
          <p:nvPr/>
        </p:nvSpPr>
        <p:spPr>
          <a:xfrm>
            <a:off x="332745" y="219999"/>
            <a:ext cx="11774374"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BO" sz="3600">
                <a:solidFill>
                  <a:schemeClr val="dk1"/>
                </a:solidFill>
                <a:latin typeface="Calibri"/>
                <a:ea typeface="Calibri"/>
                <a:cs typeface="Calibri"/>
                <a:sym typeface="Calibri"/>
              </a:rPr>
              <a:t>OBTENCIÓN FUNCION DE TRANSFERENCIA EXPERIMENTAL</a:t>
            </a:r>
            <a:endParaRPr sz="3600">
              <a:solidFill>
                <a:schemeClr val="dk1"/>
              </a:solidFill>
              <a:latin typeface="Calibri"/>
              <a:ea typeface="Calibri"/>
              <a:cs typeface="Calibri"/>
              <a:sym typeface="Calibri"/>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7" name="Shape 1237"/>
        <p:cNvGrpSpPr/>
        <p:nvPr/>
      </p:nvGrpSpPr>
      <p:grpSpPr>
        <a:xfrm>
          <a:off x="0" y="0"/>
          <a:ext cx="0" cy="0"/>
          <a:chOff x="0" y="0"/>
          <a:chExt cx="0" cy="0"/>
        </a:xfrm>
      </p:grpSpPr>
      <p:sp>
        <p:nvSpPr>
          <p:cNvPr id="1238" name="Google Shape;1238;p86"/>
          <p:cNvSpPr txBox="1"/>
          <p:nvPr/>
        </p:nvSpPr>
        <p:spPr>
          <a:xfrm>
            <a:off x="1641004" y="1527140"/>
            <a:ext cx="2952328" cy="729623"/>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sp>
        <p:nvSpPr>
          <p:cNvPr id="1239" name="Google Shape;1239;p86"/>
          <p:cNvSpPr/>
          <p:nvPr/>
        </p:nvSpPr>
        <p:spPr>
          <a:xfrm>
            <a:off x="2021620" y="1489571"/>
            <a:ext cx="2286768" cy="808286"/>
          </a:xfrm>
          <a:prstGeom prst="roundRect">
            <a:avLst>
              <a:gd fmla="val 16667" name="adj"/>
            </a:avLst>
          </a:prstGeom>
          <a:noFill/>
          <a:ln cap="flat" cmpd="sng" w="2857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40" name="Google Shape;1240;p86"/>
          <p:cNvSpPr txBox="1"/>
          <p:nvPr/>
        </p:nvSpPr>
        <p:spPr>
          <a:xfrm>
            <a:off x="3493539" y="-1045"/>
            <a:ext cx="5772653"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BO" sz="3600">
                <a:solidFill>
                  <a:schemeClr val="dk1"/>
                </a:solidFill>
                <a:latin typeface="Calibri"/>
                <a:ea typeface="Calibri"/>
                <a:cs typeface="Calibri"/>
                <a:sym typeface="Calibri"/>
              </a:rPr>
              <a:t>DISEÑO DEL CONTROLADOR</a:t>
            </a:r>
            <a:endParaRPr sz="3600">
              <a:solidFill>
                <a:schemeClr val="dk1"/>
              </a:solidFill>
              <a:latin typeface="Calibri"/>
              <a:ea typeface="Calibri"/>
              <a:cs typeface="Calibri"/>
              <a:sym typeface="Calibri"/>
            </a:endParaRPr>
          </a:p>
        </p:txBody>
      </p:sp>
      <p:sp>
        <p:nvSpPr>
          <p:cNvPr id="1241" name="Google Shape;1241;p86"/>
          <p:cNvSpPr txBox="1"/>
          <p:nvPr/>
        </p:nvSpPr>
        <p:spPr>
          <a:xfrm>
            <a:off x="5301757" y="456783"/>
            <a:ext cx="229691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s-BO" sz="1800">
                <a:solidFill>
                  <a:schemeClr val="dk1"/>
                </a:solidFill>
                <a:latin typeface="Calibri"/>
                <a:ea typeface="Calibri"/>
                <a:cs typeface="Calibri"/>
                <a:sym typeface="Calibri"/>
              </a:rPr>
              <a:t>(Método truxal)</a:t>
            </a:r>
            <a:endParaRPr/>
          </a:p>
        </p:txBody>
      </p:sp>
      <p:sp>
        <p:nvSpPr>
          <p:cNvPr id="1242" name="Google Shape;1242;p86"/>
          <p:cNvSpPr txBox="1"/>
          <p:nvPr/>
        </p:nvSpPr>
        <p:spPr>
          <a:xfrm>
            <a:off x="7218052" y="1407261"/>
            <a:ext cx="2952328" cy="675698"/>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sp>
        <p:nvSpPr>
          <p:cNvPr id="1243" name="Google Shape;1243;p86"/>
          <p:cNvSpPr/>
          <p:nvPr/>
        </p:nvSpPr>
        <p:spPr>
          <a:xfrm>
            <a:off x="7598670" y="1369692"/>
            <a:ext cx="2137419" cy="808286"/>
          </a:xfrm>
          <a:prstGeom prst="roundRect">
            <a:avLst>
              <a:gd fmla="val 16667" name="adj"/>
            </a:avLst>
          </a:prstGeom>
          <a:noFill/>
          <a:ln cap="flat" cmpd="sng" w="2857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44" name="Google Shape;1244;p86"/>
          <p:cNvSpPr txBox="1"/>
          <p:nvPr/>
        </p:nvSpPr>
        <p:spPr>
          <a:xfrm>
            <a:off x="892468" y="933660"/>
            <a:ext cx="485608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s-BO" sz="1800">
                <a:solidFill>
                  <a:schemeClr val="dk1"/>
                </a:solidFill>
                <a:latin typeface="Calibri"/>
                <a:ea typeface="Calibri"/>
                <a:cs typeface="Calibri"/>
                <a:sym typeface="Calibri"/>
              </a:rPr>
              <a:t>Función de transferencia a lazo abierto</a:t>
            </a:r>
            <a:endParaRPr/>
          </a:p>
        </p:txBody>
      </p:sp>
      <p:sp>
        <p:nvSpPr>
          <p:cNvPr id="1245" name="Google Shape;1245;p86"/>
          <p:cNvSpPr txBox="1"/>
          <p:nvPr/>
        </p:nvSpPr>
        <p:spPr>
          <a:xfrm>
            <a:off x="4272384" y="2980759"/>
            <a:ext cx="2952328" cy="760144"/>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sp>
        <p:nvSpPr>
          <p:cNvPr id="1246" name="Google Shape;1246;p86"/>
          <p:cNvSpPr/>
          <p:nvPr/>
        </p:nvSpPr>
        <p:spPr>
          <a:xfrm>
            <a:off x="4308388" y="2943190"/>
            <a:ext cx="2880320" cy="808286"/>
          </a:xfrm>
          <a:prstGeom prst="roundRect">
            <a:avLst>
              <a:gd fmla="val 16667" name="adj"/>
            </a:avLst>
          </a:prstGeom>
          <a:noFill/>
          <a:ln cap="flat" cmpd="sng" w="2857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1247" name="Google Shape;1247;p86"/>
          <p:cNvCxnSpPr>
            <a:stCxn id="1243" idx="2"/>
            <a:endCxn id="1246" idx="0"/>
          </p:cNvCxnSpPr>
          <p:nvPr/>
        </p:nvCxnSpPr>
        <p:spPr>
          <a:xfrm flipH="1">
            <a:off x="5748680" y="2177978"/>
            <a:ext cx="2918700" cy="765300"/>
          </a:xfrm>
          <a:prstGeom prst="straightConnector1">
            <a:avLst/>
          </a:prstGeom>
          <a:noFill/>
          <a:ln cap="flat" cmpd="sng" w="38100">
            <a:solidFill>
              <a:schemeClr val="dk1"/>
            </a:solidFill>
            <a:prstDash val="solid"/>
            <a:round/>
            <a:headEnd len="sm" w="sm" type="none"/>
            <a:tailEnd len="med" w="med" type="triangle"/>
          </a:ln>
        </p:spPr>
      </p:cxnSp>
      <p:cxnSp>
        <p:nvCxnSpPr>
          <p:cNvPr id="1248" name="Google Shape;1248;p86"/>
          <p:cNvCxnSpPr>
            <a:stCxn id="1239" idx="2"/>
            <a:endCxn id="1246" idx="0"/>
          </p:cNvCxnSpPr>
          <p:nvPr/>
        </p:nvCxnSpPr>
        <p:spPr>
          <a:xfrm>
            <a:off x="3165004" y="2297857"/>
            <a:ext cx="2583600" cy="645300"/>
          </a:xfrm>
          <a:prstGeom prst="straightConnector1">
            <a:avLst/>
          </a:prstGeom>
          <a:noFill/>
          <a:ln cap="flat" cmpd="sng" w="38100">
            <a:solidFill>
              <a:schemeClr val="dk1"/>
            </a:solidFill>
            <a:prstDash val="solid"/>
            <a:round/>
            <a:headEnd len="sm" w="sm" type="none"/>
            <a:tailEnd len="med" w="med" type="triangle"/>
          </a:ln>
        </p:spPr>
      </p:cxnSp>
      <p:sp>
        <p:nvSpPr>
          <p:cNvPr id="1249" name="Google Shape;1249;p86"/>
          <p:cNvSpPr txBox="1"/>
          <p:nvPr/>
        </p:nvSpPr>
        <p:spPr>
          <a:xfrm>
            <a:off x="4073332" y="4187161"/>
            <a:ext cx="2952328" cy="703078"/>
          </a:xfrm>
          <a:prstGeom prst="rect">
            <a:avLst/>
          </a:pr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sp>
        <p:nvSpPr>
          <p:cNvPr id="1250" name="Google Shape;1250;p86"/>
          <p:cNvSpPr txBox="1"/>
          <p:nvPr/>
        </p:nvSpPr>
        <p:spPr>
          <a:xfrm>
            <a:off x="4369458" y="5308276"/>
            <a:ext cx="4228966" cy="536942"/>
          </a:xfrm>
          <a:prstGeom prst="rect">
            <a:avLst/>
          </a:pr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sp>
        <p:nvSpPr>
          <p:cNvPr id="1251" name="Google Shape;1251;p86"/>
          <p:cNvSpPr txBox="1"/>
          <p:nvPr/>
        </p:nvSpPr>
        <p:spPr>
          <a:xfrm>
            <a:off x="3986373" y="5637675"/>
            <a:ext cx="2952328" cy="394210"/>
          </a:xfrm>
          <a:prstGeom prst="rect">
            <a:avLst/>
          </a:prstGeom>
          <a:blipFill rotWithShape="1">
            <a:blip r:embed="rId8">
              <a:alphaModFix/>
            </a:blip>
            <a:stretch>
              <a:fillRect b="-6249"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sp>
        <p:nvSpPr>
          <p:cNvPr id="1252" name="Google Shape;1252;p86"/>
          <p:cNvSpPr txBox="1"/>
          <p:nvPr/>
        </p:nvSpPr>
        <p:spPr>
          <a:xfrm>
            <a:off x="4903702" y="5662553"/>
            <a:ext cx="2952328" cy="369332"/>
          </a:xfrm>
          <a:prstGeom prst="rect">
            <a:avLst/>
          </a:prstGeom>
          <a:blipFill rotWithShape="1">
            <a:blip r:embed="rId9">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sp>
        <p:nvSpPr>
          <p:cNvPr id="1253" name="Google Shape;1253;p86"/>
          <p:cNvSpPr txBox="1"/>
          <p:nvPr/>
        </p:nvSpPr>
        <p:spPr>
          <a:xfrm>
            <a:off x="7058468" y="941107"/>
            <a:ext cx="359418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s-BO" sz="1800">
                <a:solidFill>
                  <a:schemeClr val="dk1"/>
                </a:solidFill>
                <a:latin typeface="Calibri"/>
                <a:ea typeface="Calibri"/>
                <a:cs typeface="Calibri"/>
                <a:sym typeface="Calibri"/>
              </a:rPr>
              <a:t>Función de transferencia Objetivo</a:t>
            </a:r>
            <a:endParaRPr/>
          </a:p>
        </p:txBody>
      </p:sp>
      <p:sp>
        <p:nvSpPr>
          <p:cNvPr id="1254" name="Google Shape;1254;p86"/>
          <p:cNvSpPr/>
          <p:nvPr/>
        </p:nvSpPr>
        <p:spPr>
          <a:xfrm>
            <a:off x="4439082" y="5255324"/>
            <a:ext cx="3002360" cy="885211"/>
          </a:xfrm>
          <a:prstGeom prst="roundRect">
            <a:avLst>
              <a:gd fmla="val 16667" name="adj"/>
            </a:avLst>
          </a:prstGeom>
          <a:noFill/>
          <a:ln cap="flat" cmpd="sng" w="2857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id="1255" name="Google Shape;1255;p86"/>
          <p:cNvPicPr preferRelativeResize="0"/>
          <p:nvPr/>
        </p:nvPicPr>
        <p:blipFill rotWithShape="1">
          <a:blip r:embed="rId10">
            <a:alphaModFix/>
          </a:blip>
          <a:srcRect b="0" l="6250" r="4735" t="5239"/>
          <a:stretch/>
        </p:blipFill>
        <p:spPr>
          <a:xfrm>
            <a:off x="7788523" y="2441839"/>
            <a:ext cx="4068145" cy="3248131"/>
          </a:xfrm>
          <a:prstGeom prst="rect">
            <a:avLst/>
          </a:prstGeom>
          <a:noFill/>
          <a:ln>
            <a:noFill/>
          </a:ln>
        </p:spPr>
      </p:pic>
      <p:sp>
        <p:nvSpPr>
          <p:cNvPr id="1256" name="Google Shape;1256;p86"/>
          <p:cNvSpPr txBox="1"/>
          <p:nvPr/>
        </p:nvSpPr>
        <p:spPr>
          <a:xfrm>
            <a:off x="802972" y="5745380"/>
            <a:ext cx="2658429"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s-BO" sz="1800">
                <a:solidFill>
                  <a:schemeClr val="dk1"/>
                </a:solidFill>
                <a:latin typeface="Calibri"/>
                <a:ea typeface="Calibri"/>
                <a:cs typeface="Calibri"/>
                <a:sym typeface="Calibri"/>
              </a:rPr>
              <a:t>Tiempo de asentamiento </a:t>
            </a:r>
            <a:endParaRPr/>
          </a:p>
          <a:p>
            <a:pPr indent="0" lvl="0" marL="0" marR="0" rtl="0" algn="ctr">
              <a:spcBef>
                <a:spcPts val="0"/>
              </a:spcBef>
              <a:spcAft>
                <a:spcPts val="0"/>
              </a:spcAft>
              <a:buNone/>
            </a:pPr>
            <a:r>
              <a:rPr b="1" i="1" lang="es-BO" sz="1800">
                <a:solidFill>
                  <a:schemeClr val="dk1"/>
                </a:solidFill>
                <a:latin typeface="Calibri"/>
                <a:ea typeface="Calibri"/>
                <a:cs typeface="Calibri"/>
                <a:sym typeface="Calibri"/>
              </a:rPr>
              <a:t>ts =465 = seg = 7,7 min </a:t>
            </a:r>
            <a:endParaRPr/>
          </a:p>
        </p:txBody>
      </p:sp>
      <p:sp>
        <p:nvSpPr>
          <p:cNvPr id="1257" name="Google Shape;1257;p86"/>
          <p:cNvSpPr txBox="1"/>
          <p:nvPr/>
        </p:nvSpPr>
        <p:spPr>
          <a:xfrm>
            <a:off x="8456083" y="5685148"/>
            <a:ext cx="3068380" cy="646331"/>
          </a:xfrm>
          <a:prstGeom prst="rect">
            <a:avLst/>
          </a:prstGeom>
          <a:blipFill rotWithShape="1">
            <a:blip r:embed="rId11">
              <a:alphaModFix/>
            </a:blip>
            <a:stretch>
              <a:fillRect b="-14150" l="-1589" r="0" t="-565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sp>
        <p:nvSpPr>
          <p:cNvPr id="1258" name="Google Shape;1258;p86"/>
          <p:cNvSpPr txBox="1"/>
          <p:nvPr/>
        </p:nvSpPr>
        <p:spPr>
          <a:xfrm>
            <a:off x="4223306" y="1516071"/>
            <a:ext cx="1824858" cy="691600"/>
          </a:xfrm>
          <a:prstGeom prst="rect">
            <a:avLst/>
          </a:prstGeom>
          <a:blipFill rotWithShape="1">
            <a:blip r:embed="rId1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sp>
        <p:nvSpPr>
          <p:cNvPr id="1259" name="Google Shape;1259;p86"/>
          <p:cNvSpPr txBox="1"/>
          <p:nvPr/>
        </p:nvSpPr>
        <p:spPr>
          <a:xfrm>
            <a:off x="9740226" y="1372120"/>
            <a:ext cx="1824858" cy="659348"/>
          </a:xfrm>
          <a:prstGeom prst="rect">
            <a:avLst/>
          </a:prstGeom>
          <a:blipFill rotWithShape="1">
            <a:blip r:embed="rId1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sp>
        <p:nvSpPr>
          <p:cNvPr id="1260" name="Google Shape;1260;p86"/>
          <p:cNvSpPr txBox="1"/>
          <p:nvPr/>
        </p:nvSpPr>
        <p:spPr>
          <a:xfrm>
            <a:off x="4749079" y="6162891"/>
            <a:ext cx="2129632" cy="369332"/>
          </a:xfrm>
          <a:prstGeom prst="rect">
            <a:avLst/>
          </a:prstGeom>
          <a:blipFill rotWithShape="1">
            <a:blip r:embed="rId1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pic>
        <p:nvPicPr>
          <p:cNvPr id="1261" name="Google Shape;1261;p86"/>
          <p:cNvPicPr preferRelativeResize="0"/>
          <p:nvPr/>
        </p:nvPicPr>
        <p:blipFill rotWithShape="1">
          <a:blip r:embed="rId15">
            <a:alphaModFix/>
          </a:blip>
          <a:srcRect b="0" l="5698" r="0" t="0"/>
          <a:stretch/>
        </p:blipFill>
        <p:spPr>
          <a:xfrm>
            <a:off x="407368" y="2723627"/>
            <a:ext cx="3799404" cy="3021753"/>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5" name="Shape 1265"/>
        <p:cNvGrpSpPr/>
        <p:nvPr/>
      </p:nvGrpSpPr>
      <p:grpSpPr>
        <a:xfrm>
          <a:off x="0" y="0"/>
          <a:ext cx="0" cy="0"/>
          <a:chOff x="0" y="0"/>
          <a:chExt cx="0" cy="0"/>
        </a:xfrm>
      </p:grpSpPr>
      <p:sp>
        <p:nvSpPr>
          <p:cNvPr id="1266" name="Google Shape;1266;p87"/>
          <p:cNvSpPr txBox="1"/>
          <p:nvPr/>
        </p:nvSpPr>
        <p:spPr>
          <a:xfrm>
            <a:off x="551384" y="116632"/>
            <a:ext cx="1123324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BO" sz="2800">
                <a:solidFill>
                  <a:schemeClr val="dk1"/>
                </a:solidFill>
                <a:latin typeface="Calibri"/>
                <a:ea typeface="Calibri"/>
                <a:cs typeface="Calibri"/>
                <a:sym typeface="Calibri"/>
              </a:rPr>
              <a:t>DISEÑO DEL CONTROLADOR – ENFOQUE CONTINUO</a:t>
            </a:r>
            <a:endParaRPr sz="2800">
              <a:solidFill>
                <a:schemeClr val="dk1"/>
              </a:solidFill>
              <a:latin typeface="Calibri"/>
              <a:ea typeface="Calibri"/>
              <a:cs typeface="Calibri"/>
              <a:sym typeface="Calibri"/>
            </a:endParaRPr>
          </a:p>
        </p:txBody>
      </p:sp>
      <p:sp>
        <p:nvSpPr>
          <p:cNvPr id="1267" name="Google Shape;1267;p87"/>
          <p:cNvSpPr txBox="1"/>
          <p:nvPr/>
        </p:nvSpPr>
        <p:spPr>
          <a:xfrm>
            <a:off x="1055440" y="760211"/>
            <a:ext cx="2448272" cy="703078"/>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sp>
        <p:nvSpPr>
          <p:cNvPr id="1268" name="Google Shape;1268;p87"/>
          <p:cNvSpPr txBox="1"/>
          <p:nvPr/>
        </p:nvSpPr>
        <p:spPr>
          <a:xfrm>
            <a:off x="560014" y="1493867"/>
            <a:ext cx="3910001" cy="646331"/>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1" lang="es-BO" sz="1800">
                <a:solidFill>
                  <a:schemeClr val="dk1"/>
                </a:solidFill>
                <a:latin typeface="Calibri"/>
                <a:ea typeface="Calibri"/>
                <a:cs typeface="Calibri"/>
                <a:sym typeface="Calibri"/>
              </a:rPr>
              <a:t>Si consideramos que pose </a:t>
            </a:r>
            <a:r>
              <a:rPr b="1" i="1" lang="es-BO" sz="1800">
                <a:solidFill>
                  <a:srgbClr val="0000FF"/>
                </a:solidFill>
                <a:latin typeface="Calibri"/>
                <a:ea typeface="Calibri"/>
                <a:cs typeface="Calibri"/>
                <a:sym typeface="Calibri"/>
              </a:rPr>
              <a:t>10 muestras </a:t>
            </a:r>
            <a:r>
              <a:rPr b="1" i="1" lang="es-BO" sz="1800">
                <a:solidFill>
                  <a:schemeClr val="dk1"/>
                </a:solidFill>
                <a:latin typeface="Calibri"/>
                <a:ea typeface="Calibri"/>
                <a:cs typeface="Calibri"/>
                <a:sym typeface="Calibri"/>
              </a:rPr>
              <a:t>por constante de tiempo</a:t>
            </a:r>
            <a:endParaRPr/>
          </a:p>
        </p:txBody>
      </p:sp>
      <p:sp>
        <p:nvSpPr>
          <p:cNvPr id="1269" name="Google Shape;1269;p87"/>
          <p:cNvSpPr txBox="1"/>
          <p:nvPr/>
        </p:nvSpPr>
        <p:spPr>
          <a:xfrm>
            <a:off x="623778" y="2140198"/>
            <a:ext cx="2952328" cy="627031"/>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sp>
        <p:nvSpPr>
          <p:cNvPr id="1270" name="Google Shape;1270;p87"/>
          <p:cNvSpPr txBox="1"/>
          <p:nvPr/>
        </p:nvSpPr>
        <p:spPr>
          <a:xfrm>
            <a:off x="623778" y="2850325"/>
            <a:ext cx="2952328" cy="697114"/>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sp>
        <p:nvSpPr>
          <p:cNvPr id="1271" name="Google Shape;1271;p87"/>
          <p:cNvSpPr txBox="1"/>
          <p:nvPr/>
        </p:nvSpPr>
        <p:spPr>
          <a:xfrm>
            <a:off x="902017" y="4295261"/>
            <a:ext cx="3060989" cy="400110"/>
          </a:xfrm>
          <a:prstGeom prst="rect">
            <a:avLst/>
          </a:prstGeom>
          <a:blipFill rotWithShape="1">
            <a:blip r:embed="rId6">
              <a:alphaModFix/>
            </a:blip>
            <a:stretch>
              <a:fillRect b="-9229"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sp>
        <p:nvSpPr>
          <p:cNvPr id="1272" name="Google Shape;1272;p87"/>
          <p:cNvSpPr txBox="1"/>
          <p:nvPr/>
        </p:nvSpPr>
        <p:spPr>
          <a:xfrm>
            <a:off x="551384" y="3648930"/>
            <a:ext cx="39100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s-BO" sz="1800">
                <a:solidFill>
                  <a:schemeClr val="dk1"/>
                </a:solidFill>
                <a:latin typeface="Calibri"/>
                <a:ea typeface="Calibri"/>
                <a:cs typeface="Calibri"/>
                <a:sym typeface="Calibri"/>
              </a:rPr>
              <a:t>Periodo de muestreo máximo para que la señal no quede desvirtuada</a:t>
            </a:r>
            <a:endParaRPr sz="1800">
              <a:solidFill>
                <a:schemeClr val="dk1"/>
              </a:solidFill>
              <a:latin typeface="Calibri"/>
              <a:ea typeface="Calibri"/>
              <a:cs typeface="Calibri"/>
              <a:sym typeface="Calibri"/>
            </a:endParaRPr>
          </a:p>
        </p:txBody>
      </p:sp>
      <p:sp>
        <p:nvSpPr>
          <p:cNvPr id="1273" name="Google Shape;1273;p87"/>
          <p:cNvSpPr txBox="1"/>
          <p:nvPr/>
        </p:nvSpPr>
        <p:spPr>
          <a:xfrm>
            <a:off x="477511" y="4826110"/>
            <a:ext cx="39100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s-BO" sz="1800">
                <a:solidFill>
                  <a:schemeClr val="dk1"/>
                </a:solidFill>
                <a:latin typeface="Calibri"/>
                <a:ea typeface="Calibri"/>
                <a:cs typeface="Calibri"/>
                <a:sym typeface="Calibri"/>
              </a:rPr>
              <a:t>Periodo mínimo que podemos tomar en base al modulo de expansión </a:t>
            </a:r>
            <a:endParaRPr sz="1800">
              <a:solidFill>
                <a:schemeClr val="dk1"/>
              </a:solidFill>
              <a:latin typeface="Calibri"/>
              <a:ea typeface="Calibri"/>
              <a:cs typeface="Calibri"/>
              <a:sym typeface="Calibri"/>
            </a:endParaRPr>
          </a:p>
        </p:txBody>
      </p:sp>
      <p:sp>
        <p:nvSpPr>
          <p:cNvPr id="1274" name="Google Shape;1274;p87"/>
          <p:cNvSpPr txBox="1"/>
          <p:nvPr/>
        </p:nvSpPr>
        <p:spPr>
          <a:xfrm>
            <a:off x="573872" y="5649547"/>
            <a:ext cx="3411408" cy="400110"/>
          </a:xfrm>
          <a:prstGeom prst="rect">
            <a:avLst/>
          </a:prstGeom>
          <a:blipFill rotWithShape="1">
            <a:blip r:embed="rId7">
              <a:alphaModFix/>
            </a:blip>
            <a:stretch>
              <a:fillRect b="-1537"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sp>
        <p:nvSpPr>
          <p:cNvPr id="1275" name="Google Shape;1275;p87"/>
          <p:cNvSpPr txBox="1"/>
          <p:nvPr/>
        </p:nvSpPr>
        <p:spPr>
          <a:xfrm>
            <a:off x="5659110" y="1001624"/>
            <a:ext cx="5689609"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s-BO" sz="1800">
                <a:solidFill>
                  <a:schemeClr val="dk1"/>
                </a:solidFill>
                <a:latin typeface="Calibri"/>
                <a:ea typeface="Calibri"/>
                <a:cs typeface="Calibri"/>
                <a:sym typeface="Calibri"/>
              </a:rPr>
              <a:t>Si consideramos que el periodo es suficientemente pequeño como para aproximar que la señal discreta es equivalente al continuo</a:t>
            </a:r>
            <a:endParaRPr sz="1800">
              <a:solidFill>
                <a:schemeClr val="dk1"/>
              </a:solidFill>
              <a:latin typeface="Calibri"/>
              <a:ea typeface="Calibri"/>
              <a:cs typeface="Calibri"/>
              <a:sym typeface="Calibri"/>
            </a:endParaRPr>
          </a:p>
        </p:txBody>
      </p:sp>
      <p:sp>
        <p:nvSpPr>
          <p:cNvPr id="1276" name="Google Shape;1276;p87"/>
          <p:cNvSpPr txBox="1"/>
          <p:nvPr/>
        </p:nvSpPr>
        <p:spPr>
          <a:xfrm>
            <a:off x="5659109" y="2140198"/>
            <a:ext cx="5689609"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s-BO" sz="1800">
                <a:solidFill>
                  <a:schemeClr val="dk1"/>
                </a:solidFill>
                <a:latin typeface="Calibri"/>
                <a:ea typeface="Calibri"/>
                <a:cs typeface="Calibri"/>
                <a:sym typeface="Calibri"/>
              </a:rPr>
              <a:t>Entonces podemos decir que, la ecuación a utilizar es la siguiente</a:t>
            </a:r>
            <a:endParaRPr sz="1800">
              <a:solidFill>
                <a:schemeClr val="dk1"/>
              </a:solidFill>
              <a:latin typeface="Calibri"/>
              <a:ea typeface="Calibri"/>
              <a:cs typeface="Calibri"/>
              <a:sym typeface="Calibri"/>
            </a:endParaRPr>
          </a:p>
        </p:txBody>
      </p:sp>
      <p:sp>
        <p:nvSpPr>
          <p:cNvPr id="1277" name="Google Shape;1277;p87"/>
          <p:cNvSpPr txBox="1"/>
          <p:nvPr/>
        </p:nvSpPr>
        <p:spPr>
          <a:xfrm>
            <a:off x="5374511" y="3070940"/>
            <a:ext cx="6096000" cy="708720"/>
          </a:xfrm>
          <a:prstGeom prst="rect">
            <a:avLst/>
          </a:pr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sp>
        <p:nvSpPr>
          <p:cNvPr id="1278" name="Google Shape;1278;p87"/>
          <p:cNvSpPr txBox="1"/>
          <p:nvPr/>
        </p:nvSpPr>
        <p:spPr>
          <a:xfrm>
            <a:off x="5659109" y="3879405"/>
            <a:ext cx="5689609"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s-BO" sz="1800">
                <a:solidFill>
                  <a:schemeClr val="dk1"/>
                </a:solidFill>
                <a:latin typeface="Calibri"/>
                <a:ea typeface="Calibri"/>
                <a:cs typeface="Calibri"/>
                <a:sym typeface="Calibri"/>
              </a:rPr>
              <a:t>Por lo tanto podemos usar el bloque PID , del PLC micrologix 1100</a:t>
            </a:r>
            <a:endParaRPr sz="1800">
              <a:solidFill>
                <a:schemeClr val="dk1"/>
              </a:solidFill>
              <a:latin typeface="Calibri"/>
              <a:ea typeface="Calibri"/>
              <a:cs typeface="Calibri"/>
              <a:sym typeface="Calibri"/>
            </a:endParaRPr>
          </a:p>
        </p:txBody>
      </p:sp>
      <p:pic>
        <p:nvPicPr>
          <p:cNvPr id="1279" name="Google Shape;1279;p87"/>
          <p:cNvPicPr preferRelativeResize="0"/>
          <p:nvPr/>
        </p:nvPicPr>
        <p:blipFill rotWithShape="1">
          <a:blip r:embed="rId9">
            <a:alphaModFix/>
          </a:blip>
          <a:srcRect b="17214" l="22641" r="57347" t="62244"/>
          <a:stretch/>
        </p:blipFill>
        <p:spPr>
          <a:xfrm>
            <a:off x="6754048" y="4495316"/>
            <a:ext cx="3336925" cy="1819910"/>
          </a:xfrm>
          <a:prstGeom prst="rect">
            <a:avLst/>
          </a:prstGeom>
          <a:noFill/>
          <a:ln>
            <a:noFill/>
          </a:ln>
        </p:spPr>
      </p:pic>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3" name="Shape 1283"/>
        <p:cNvGrpSpPr/>
        <p:nvPr/>
      </p:nvGrpSpPr>
      <p:grpSpPr>
        <a:xfrm>
          <a:off x="0" y="0"/>
          <a:ext cx="0" cy="0"/>
          <a:chOff x="0" y="0"/>
          <a:chExt cx="0" cy="0"/>
        </a:xfrm>
      </p:grpSpPr>
      <p:sp>
        <p:nvSpPr>
          <p:cNvPr id="1284" name="Google Shape;1284;p88"/>
          <p:cNvSpPr txBox="1"/>
          <p:nvPr/>
        </p:nvSpPr>
        <p:spPr>
          <a:xfrm>
            <a:off x="551384" y="116632"/>
            <a:ext cx="11233248"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BO" sz="2800">
                <a:solidFill>
                  <a:schemeClr val="dk1"/>
                </a:solidFill>
                <a:latin typeface="Calibri"/>
                <a:ea typeface="Calibri"/>
                <a:cs typeface="Calibri"/>
                <a:sym typeface="Calibri"/>
              </a:rPr>
              <a:t>Tomando las siguientes consideraciones en base al tiempo de muestreo y el bucle de actualización del bloque PID.</a:t>
            </a:r>
            <a:endParaRPr sz="2800">
              <a:solidFill>
                <a:schemeClr val="dk1"/>
              </a:solidFill>
              <a:latin typeface="Calibri"/>
              <a:ea typeface="Calibri"/>
              <a:cs typeface="Calibri"/>
              <a:sym typeface="Calibri"/>
            </a:endParaRPr>
          </a:p>
        </p:txBody>
      </p:sp>
      <p:sp>
        <p:nvSpPr>
          <p:cNvPr id="1285" name="Google Shape;1285;p88"/>
          <p:cNvSpPr txBox="1"/>
          <p:nvPr/>
        </p:nvSpPr>
        <p:spPr>
          <a:xfrm>
            <a:off x="551384" y="1316289"/>
            <a:ext cx="609407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s-BO" sz="1800">
                <a:solidFill>
                  <a:schemeClr val="dk1"/>
                </a:solidFill>
                <a:latin typeface="Calibri"/>
                <a:ea typeface="Calibri"/>
                <a:cs typeface="Calibri"/>
                <a:sym typeface="Calibri"/>
              </a:rPr>
              <a:t>Notas del manual (Micrologix 1100)	</a:t>
            </a:r>
            <a:endParaRPr sz="1800">
              <a:solidFill>
                <a:schemeClr val="dk1"/>
              </a:solidFill>
              <a:latin typeface="Calibri"/>
              <a:ea typeface="Calibri"/>
              <a:cs typeface="Calibri"/>
              <a:sym typeface="Calibri"/>
            </a:endParaRPr>
          </a:p>
        </p:txBody>
      </p:sp>
      <p:sp>
        <p:nvSpPr>
          <p:cNvPr id="1286" name="Google Shape;1286;p88"/>
          <p:cNvSpPr txBox="1"/>
          <p:nvPr/>
        </p:nvSpPr>
        <p:spPr>
          <a:xfrm>
            <a:off x="551384" y="1931171"/>
            <a:ext cx="4813096" cy="4085157"/>
          </a:xfrm>
          <a:prstGeom prst="rect">
            <a:avLst/>
          </a:prstGeom>
          <a:blipFill rotWithShape="1">
            <a:blip r:embed="rId3">
              <a:alphaModFix/>
            </a:blip>
            <a:stretch>
              <a:fillRect b="0" l="-1012" r="-1012" t="-895"/>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sp>
        <p:nvSpPr>
          <p:cNvPr id="1287" name="Google Shape;1287;p88"/>
          <p:cNvSpPr txBox="1"/>
          <p:nvPr/>
        </p:nvSpPr>
        <p:spPr>
          <a:xfrm>
            <a:off x="5804104" y="1174601"/>
            <a:ext cx="609407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s-BO" sz="1800">
                <a:solidFill>
                  <a:schemeClr val="dk1"/>
                </a:solidFill>
                <a:latin typeface="Calibri"/>
                <a:ea typeface="Calibri"/>
                <a:cs typeface="Calibri"/>
                <a:sym typeface="Calibri"/>
              </a:rPr>
              <a:t>Entonces	</a:t>
            </a:r>
            <a:endParaRPr sz="1800">
              <a:solidFill>
                <a:schemeClr val="dk1"/>
              </a:solidFill>
              <a:latin typeface="Calibri"/>
              <a:ea typeface="Calibri"/>
              <a:cs typeface="Calibri"/>
              <a:sym typeface="Calibri"/>
            </a:endParaRPr>
          </a:p>
        </p:txBody>
      </p:sp>
      <p:sp>
        <p:nvSpPr>
          <p:cNvPr id="1288" name="Google Shape;1288;p88"/>
          <p:cNvSpPr txBox="1"/>
          <p:nvPr/>
        </p:nvSpPr>
        <p:spPr>
          <a:xfrm>
            <a:off x="5740404" y="1623730"/>
            <a:ext cx="1960876" cy="369332"/>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sp>
        <p:nvSpPr>
          <p:cNvPr id="1289" name="Google Shape;1289;p88"/>
          <p:cNvSpPr txBox="1"/>
          <p:nvPr/>
        </p:nvSpPr>
        <p:spPr>
          <a:xfrm>
            <a:off x="5740403" y="2092098"/>
            <a:ext cx="5192204" cy="369332"/>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pic>
        <p:nvPicPr>
          <p:cNvPr id="1290" name="Google Shape;1290;p88"/>
          <p:cNvPicPr preferRelativeResize="0"/>
          <p:nvPr/>
        </p:nvPicPr>
        <p:blipFill rotWithShape="1">
          <a:blip r:embed="rId6">
            <a:alphaModFix/>
          </a:blip>
          <a:srcRect b="30667" l="37417" r="38667" t="37054"/>
          <a:stretch/>
        </p:blipFill>
        <p:spPr>
          <a:xfrm>
            <a:off x="5673207" y="2659502"/>
            <a:ext cx="5259400" cy="3992734"/>
          </a:xfrm>
          <a:prstGeom prst="rect">
            <a:avLst/>
          </a:prstGeom>
          <a:noFill/>
          <a:ln>
            <a:noFill/>
          </a:ln>
        </p:spPr>
      </p:pic>
      <p:sp>
        <p:nvSpPr>
          <p:cNvPr id="1291" name="Google Shape;1291;p88"/>
          <p:cNvSpPr/>
          <p:nvPr/>
        </p:nvSpPr>
        <p:spPr>
          <a:xfrm>
            <a:off x="6969760" y="4053840"/>
            <a:ext cx="822960" cy="284480"/>
          </a:xfrm>
          <a:prstGeom prst="rect">
            <a:avLst/>
          </a:prstGeom>
          <a:noFill/>
          <a:ln cap="flat" cmpd="sng" w="381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5" name="Shape 1295"/>
        <p:cNvGrpSpPr/>
        <p:nvPr/>
      </p:nvGrpSpPr>
      <p:grpSpPr>
        <a:xfrm>
          <a:off x="0" y="0"/>
          <a:ext cx="0" cy="0"/>
          <a:chOff x="0" y="0"/>
          <a:chExt cx="0" cy="0"/>
        </a:xfrm>
      </p:grpSpPr>
      <p:sp>
        <p:nvSpPr>
          <p:cNvPr id="1296" name="Google Shape;1296;p89"/>
          <p:cNvSpPr txBox="1"/>
          <p:nvPr/>
        </p:nvSpPr>
        <p:spPr>
          <a:xfrm>
            <a:off x="424547" y="239667"/>
            <a:ext cx="1123324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BO" sz="2800">
                <a:solidFill>
                  <a:schemeClr val="dk1"/>
                </a:solidFill>
                <a:latin typeface="Calibri"/>
                <a:ea typeface="Calibri"/>
                <a:cs typeface="Calibri"/>
                <a:sym typeface="Calibri"/>
              </a:rPr>
              <a:t>La ecuación PI  a implementarse es.</a:t>
            </a:r>
            <a:endParaRPr sz="2800">
              <a:solidFill>
                <a:schemeClr val="dk1"/>
              </a:solidFill>
              <a:latin typeface="Calibri"/>
              <a:ea typeface="Calibri"/>
              <a:cs typeface="Calibri"/>
              <a:sym typeface="Calibri"/>
            </a:endParaRPr>
          </a:p>
        </p:txBody>
      </p:sp>
      <p:sp>
        <p:nvSpPr>
          <p:cNvPr id="1297" name="Google Shape;1297;p89"/>
          <p:cNvSpPr txBox="1"/>
          <p:nvPr/>
        </p:nvSpPr>
        <p:spPr>
          <a:xfrm>
            <a:off x="-168696" y="808666"/>
            <a:ext cx="6634610" cy="777264"/>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sp>
        <p:nvSpPr>
          <p:cNvPr id="1298" name="Google Shape;1298;p89"/>
          <p:cNvSpPr txBox="1"/>
          <p:nvPr/>
        </p:nvSpPr>
        <p:spPr>
          <a:xfrm>
            <a:off x="417031" y="1473478"/>
            <a:ext cx="11752115"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BO" sz="2800">
                <a:solidFill>
                  <a:schemeClr val="dk1"/>
                </a:solidFill>
                <a:latin typeface="Calibri"/>
                <a:ea typeface="Calibri"/>
                <a:cs typeface="Calibri"/>
                <a:sym typeface="Calibri"/>
              </a:rPr>
              <a:t>Consideraciones para la adaptación de señales por Hardware entrada y salida</a:t>
            </a:r>
            <a:endParaRPr/>
          </a:p>
        </p:txBody>
      </p:sp>
      <p:sp>
        <p:nvSpPr>
          <p:cNvPr id="1299" name="Google Shape;1299;p89"/>
          <p:cNvSpPr txBox="1"/>
          <p:nvPr/>
        </p:nvSpPr>
        <p:spPr>
          <a:xfrm>
            <a:off x="608438" y="3788253"/>
            <a:ext cx="4241270" cy="1477328"/>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BO" sz="1800">
                <a:solidFill>
                  <a:schemeClr val="dk1"/>
                </a:solidFill>
                <a:latin typeface="Calibri"/>
                <a:ea typeface="Calibri"/>
                <a:cs typeface="Calibri"/>
                <a:sym typeface="Calibri"/>
              </a:rPr>
              <a:t>Puesto que el Controlador Lógico Programable (PLC), Trabaja con señales digitales, Esta adaptación se realiza con una resolución determinada (</a:t>
            </a:r>
            <a:r>
              <a:rPr b="1" lang="es-BO" sz="1800">
                <a:solidFill>
                  <a:schemeClr val="dk1"/>
                </a:solidFill>
                <a:latin typeface="Calibri"/>
                <a:ea typeface="Calibri"/>
                <a:cs typeface="Calibri"/>
                <a:sym typeface="Calibri"/>
              </a:rPr>
              <a:t>ver adaptación de señales)</a:t>
            </a:r>
            <a:endParaRPr sz="1800">
              <a:solidFill>
                <a:schemeClr val="dk1"/>
              </a:solidFill>
              <a:latin typeface="Calibri"/>
              <a:ea typeface="Calibri"/>
              <a:cs typeface="Calibri"/>
              <a:sym typeface="Calibri"/>
            </a:endParaRPr>
          </a:p>
        </p:txBody>
      </p:sp>
      <p:sp>
        <p:nvSpPr>
          <p:cNvPr id="1300" name="Google Shape;1300;p89"/>
          <p:cNvSpPr txBox="1"/>
          <p:nvPr/>
        </p:nvSpPr>
        <p:spPr>
          <a:xfrm>
            <a:off x="511282" y="2307995"/>
            <a:ext cx="4241270" cy="92333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BO" sz="1800">
                <a:solidFill>
                  <a:schemeClr val="dk1"/>
                </a:solidFill>
                <a:latin typeface="Calibri"/>
                <a:ea typeface="Calibri"/>
                <a:cs typeface="Calibri"/>
                <a:sym typeface="Calibri"/>
              </a:rPr>
              <a:t>Se define la entrada analógica y salida analógica del modulo de expansión 1762, además de los elementos conectados.</a:t>
            </a:r>
            <a:endParaRPr/>
          </a:p>
        </p:txBody>
      </p:sp>
      <p:grpSp>
        <p:nvGrpSpPr>
          <p:cNvPr id="1301" name="Google Shape;1301;p89"/>
          <p:cNvGrpSpPr/>
          <p:nvPr/>
        </p:nvGrpSpPr>
        <p:grpSpPr>
          <a:xfrm>
            <a:off x="4849708" y="2055633"/>
            <a:ext cx="6354204" cy="3802556"/>
            <a:chOff x="4784422" y="1924525"/>
            <a:chExt cx="6185560" cy="3945553"/>
          </a:xfrm>
        </p:grpSpPr>
        <p:pic>
          <p:nvPicPr>
            <p:cNvPr id="1302" name="Google Shape;1302;p89"/>
            <p:cNvPicPr preferRelativeResize="0"/>
            <p:nvPr/>
          </p:nvPicPr>
          <p:blipFill rotWithShape="1">
            <a:blip r:embed="rId4">
              <a:alphaModFix/>
            </a:blip>
            <a:srcRect b="6608" l="29234" r="17248" t="39068"/>
            <a:stretch/>
          </p:blipFill>
          <p:spPr>
            <a:xfrm>
              <a:off x="4941536" y="1924525"/>
              <a:ext cx="6028446" cy="3281551"/>
            </a:xfrm>
            <a:prstGeom prst="rect">
              <a:avLst/>
            </a:prstGeom>
            <a:noFill/>
            <a:ln>
              <a:noFill/>
            </a:ln>
          </p:spPr>
        </p:pic>
        <p:pic>
          <p:nvPicPr>
            <p:cNvPr id="1303" name="Google Shape;1303;p89"/>
            <p:cNvPicPr preferRelativeResize="0"/>
            <p:nvPr/>
          </p:nvPicPr>
          <p:blipFill rotWithShape="1">
            <a:blip r:embed="rId5">
              <a:alphaModFix/>
            </a:blip>
            <a:srcRect b="0" l="28990" r="29112" t="8244"/>
            <a:stretch/>
          </p:blipFill>
          <p:spPr>
            <a:xfrm rot="5400000">
              <a:off x="5605159" y="4483555"/>
              <a:ext cx="565785" cy="2207260"/>
            </a:xfrm>
            <a:prstGeom prst="rect">
              <a:avLst/>
            </a:prstGeom>
            <a:noFill/>
            <a:ln>
              <a:noFill/>
            </a:ln>
          </p:spPr>
        </p:pic>
        <p:pic>
          <p:nvPicPr>
            <p:cNvPr descr="Ver las imágenes de origen" id="1304" name="Google Shape;1304;p89"/>
            <p:cNvPicPr preferRelativeResize="0"/>
            <p:nvPr/>
          </p:nvPicPr>
          <p:blipFill rotWithShape="1">
            <a:blip r:embed="rId6">
              <a:alphaModFix/>
            </a:blip>
            <a:srcRect b="0" l="23750" r="19583" t="0"/>
            <a:stretch/>
          </p:blipFill>
          <p:spPr>
            <a:xfrm>
              <a:off x="9478598" y="3861256"/>
              <a:ext cx="1304290" cy="1725930"/>
            </a:xfrm>
            <a:prstGeom prst="rect">
              <a:avLst/>
            </a:prstGeom>
            <a:noFill/>
            <a:ln>
              <a:noFill/>
            </a:ln>
          </p:spPr>
        </p:pic>
      </p:grpSp>
      <p:grpSp>
        <p:nvGrpSpPr>
          <p:cNvPr id="1305" name="Google Shape;1305;p89"/>
          <p:cNvGrpSpPr/>
          <p:nvPr/>
        </p:nvGrpSpPr>
        <p:grpSpPr>
          <a:xfrm>
            <a:off x="5011107" y="2135697"/>
            <a:ext cx="6646688" cy="3688590"/>
            <a:chOff x="3275015" y="2221037"/>
            <a:chExt cx="5631282" cy="3182787"/>
          </a:xfrm>
        </p:grpSpPr>
        <p:grpSp>
          <p:nvGrpSpPr>
            <p:cNvPr id="1306" name="Google Shape;1306;p89"/>
            <p:cNvGrpSpPr/>
            <p:nvPr/>
          </p:nvGrpSpPr>
          <p:grpSpPr>
            <a:xfrm>
              <a:off x="4926846" y="3030953"/>
              <a:ext cx="3979451" cy="2372871"/>
              <a:chOff x="4926846" y="3030953"/>
              <a:chExt cx="3979451" cy="2372871"/>
            </a:xfrm>
          </p:grpSpPr>
          <p:sp>
            <p:nvSpPr>
              <p:cNvPr id="1307" name="Google Shape;1307;p89"/>
              <p:cNvSpPr txBox="1"/>
              <p:nvPr/>
            </p:nvSpPr>
            <p:spPr>
              <a:xfrm>
                <a:off x="4926846" y="4962569"/>
                <a:ext cx="1806575" cy="441255"/>
              </a:xfrm>
              <a:prstGeom prst="rect">
                <a:avLst/>
              </a:prstGeom>
              <a:gradFill>
                <a:gsLst>
                  <a:gs pos="0">
                    <a:srgbClr val="81D2FF"/>
                  </a:gs>
                  <a:gs pos="50000">
                    <a:srgbClr val="B3E1FF"/>
                  </a:gs>
                  <a:gs pos="100000">
                    <a:srgbClr val="DAEFFF"/>
                  </a:gs>
                </a:gsLst>
                <a:lin ang="16200000" scaled="0"/>
              </a:gradFill>
              <a:ln cap="flat" cmpd="sng" w="9525">
                <a:solidFill>
                  <a:srgbClr val="E5DFE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7000"/>
                  </a:lnSpc>
                  <a:spcBef>
                    <a:spcPts val="0"/>
                  </a:spcBef>
                  <a:spcAft>
                    <a:spcPts val="0"/>
                  </a:spcAft>
                  <a:buNone/>
                </a:pPr>
                <a:r>
                  <a:rPr lang="es-BO" sz="1100">
                    <a:solidFill>
                      <a:schemeClr val="dk1"/>
                    </a:solidFill>
                    <a:latin typeface="Calibri"/>
                    <a:ea typeface="Calibri"/>
                    <a:cs typeface="Calibri"/>
                    <a:sym typeface="Calibri"/>
                  </a:rPr>
                  <a:t>Sensor ultrasónico</a:t>
                </a:r>
                <a:endParaRPr/>
              </a:p>
              <a:p>
                <a:pPr indent="0" lvl="0" marL="0" marR="0" rtl="0" algn="ctr">
                  <a:lnSpc>
                    <a:spcPct val="107000"/>
                  </a:lnSpc>
                  <a:spcBef>
                    <a:spcPts val="0"/>
                  </a:spcBef>
                  <a:spcAft>
                    <a:spcPts val="0"/>
                  </a:spcAft>
                  <a:buNone/>
                </a:pPr>
                <a:r>
                  <a:rPr lang="es-BO" sz="1100">
                    <a:solidFill>
                      <a:schemeClr val="dk1"/>
                    </a:solidFill>
                    <a:latin typeface="Calibri"/>
                    <a:ea typeface="Calibri"/>
                    <a:cs typeface="Calibri"/>
                    <a:sym typeface="Calibri"/>
                  </a:rPr>
                  <a:t>salida de corriente 4-20 mA</a:t>
                </a:r>
                <a:endParaRPr/>
              </a:p>
            </p:txBody>
          </p:sp>
          <p:sp>
            <p:nvSpPr>
              <p:cNvPr id="1308" name="Google Shape;1308;p89"/>
              <p:cNvSpPr txBox="1"/>
              <p:nvPr/>
            </p:nvSpPr>
            <p:spPr>
              <a:xfrm>
                <a:off x="6853977" y="3030953"/>
                <a:ext cx="2052320" cy="369333"/>
              </a:xfrm>
              <a:prstGeom prst="rect">
                <a:avLst/>
              </a:prstGeom>
              <a:gradFill>
                <a:gsLst>
                  <a:gs pos="0">
                    <a:srgbClr val="F4F8FB"/>
                  </a:gs>
                  <a:gs pos="74000">
                    <a:srgbClr val="AEC5E1"/>
                  </a:gs>
                  <a:gs pos="83000">
                    <a:srgbClr val="AEC5E1"/>
                  </a:gs>
                  <a:gs pos="100000">
                    <a:srgbClr val="C8D8EB"/>
                  </a:gs>
                </a:gsLst>
                <a:lin ang="5400000" scaled="0"/>
              </a:gradFill>
              <a:ln cap="flat" cmpd="sng" w="19050">
                <a:solidFill>
                  <a:srgbClr val="DAE5F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7000"/>
                  </a:lnSpc>
                  <a:spcBef>
                    <a:spcPts val="0"/>
                  </a:spcBef>
                  <a:spcAft>
                    <a:spcPts val="0"/>
                  </a:spcAft>
                  <a:buNone/>
                </a:pPr>
                <a:r>
                  <a:rPr lang="es-BO" sz="1100">
                    <a:solidFill>
                      <a:schemeClr val="dk1"/>
                    </a:solidFill>
                    <a:latin typeface="Calibri"/>
                    <a:ea typeface="Calibri"/>
                    <a:cs typeface="Calibri"/>
                    <a:sym typeface="Calibri"/>
                  </a:rPr>
                  <a:t>Variador de frecuencia</a:t>
                </a:r>
                <a:endParaRPr/>
              </a:p>
              <a:p>
                <a:pPr indent="0" lvl="0" marL="0" marR="0" rtl="0" algn="ctr">
                  <a:lnSpc>
                    <a:spcPct val="107000"/>
                  </a:lnSpc>
                  <a:spcBef>
                    <a:spcPts val="0"/>
                  </a:spcBef>
                  <a:spcAft>
                    <a:spcPts val="0"/>
                  </a:spcAft>
                  <a:buNone/>
                </a:pPr>
                <a:r>
                  <a:rPr lang="es-BO" sz="1100">
                    <a:solidFill>
                      <a:schemeClr val="dk1"/>
                    </a:solidFill>
                    <a:latin typeface="Calibri"/>
                    <a:ea typeface="Calibri"/>
                    <a:cs typeface="Calibri"/>
                    <a:sym typeface="Calibri"/>
                  </a:rPr>
                  <a:t>Entrada de corriente 4-20 mA</a:t>
                </a:r>
                <a:endParaRPr/>
              </a:p>
            </p:txBody>
          </p:sp>
        </p:grpSp>
        <p:sp>
          <p:nvSpPr>
            <p:cNvPr id="1309" name="Google Shape;1309;p89"/>
            <p:cNvSpPr txBox="1"/>
            <p:nvPr/>
          </p:nvSpPr>
          <p:spPr>
            <a:xfrm>
              <a:off x="6774169" y="2221037"/>
              <a:ext cx="2052320" cy="430350"/>
            </a:xfrm>
            <a:prstGeom prst="rect">
              <a:avLst/>
            </a:prstGeom>
            <a:gradFill>
              <a:gsLst>
                <a:gs pos="0">
                  <a:srgbClr val="8CDE9E"/>
                </a:gs>
                <a:gs pos="50000">
                  <a:srgbClr val="BAE8C3"/>
                </a:gs>
                <a:gs pos="100000">
                  <a:srgbClr val="DEF2E1"/>
                </a:gs>
              </a:gsLst>
              <a:lin ang="0" scaled="0"/>
            </a:gradFill>
            <a:ln cap="flat" cmpd="sng" w="19050">
              <a:solidFill>
                <a:srgbClr val="DAE5F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7000"/>
                </a:lnSpc>
                <a:spcBef>
                  <a:spcPts val="0"/>
                </a:spcBef>
                <a:spcAft>
                  <a:spcPts val="0"/>
                </a:spcAft>
                <a:buNone/>
              </a:pPr>
              <a:r>
                <a:rPr lang="es-BO" sz="1100">
                  <a:solidFill>
                    <a:schemeClr val="dk1"/>
                  </a:solidFill>
                  <a:latin typeface="Calibri"/>
                  <a:ea typeface="Calibri"/>
                  <a:cs typeface="Calibri"/>
                  <a:sym typeface="Calibri"/>
                </a:rPr>
                <a:t>Modulo de expansión</a:t>
              </a:r>
              <a:endParaRPr/>
            </a:p>
            <a:p>
              <a:pPr indent="0" lvl="0" marL="0" marR="0" rtl="0" algn="ctr">
                <a:lnSpc>
                  <a:spcPct val="107000"/>
                </a:lnSpc>
                <a:spcBef>
                  <a:spcPts val="0"/>
                </a:spcBef>
                <a:spcAft>
                  <a:spcPts val="0"/>
                </a:spcAft>
                <a:buNone/>
              </a:pPr>
              <a:r>
                <a:rPr lang="es-BO" sz="1100">
                  <a:solidFill>
                    <a:schemeClr val="dk1"/>
                  </a:solidFill>
                  <a:latin typeface="Calibri"/>
                  <a:ea typeface="Calibri"/>
                  <a:cs typeface="Calibri"/>
                  <a:sym typeface="Calibri"/>
                </a:rPr>
                <a:t>Salida de corriente 4-20 mA</a:t>
              </a:r>
              <a:endParaRPr/>
            </a:p>
          </p:txBody>
        </p:sp>
        <p:sp>
          <p:nvSpPr>
            <p:cNvPr id="1310" name="Google Shape;1310;p89"/>
            <p:cNvSpPr txBox="1"/>
            <p:nvPr/>
          </p:nvSpPr>
          <p:spPr>
            <a:xfrm>
              <a:off x="3275015" y="2248952"/>
              <a:ext cx="2052320" cy="402436"/>
            </a:xfrm>
            <a:prstGeom prst="rect">
              <a:avLst/>
            </a:prstGeom>
            <a:gradFill>
              <a:gsLst>
                <a:gs pos="0">
                  <a:srgbClr val="8CDE9E"/>
                </a:gs>
                <a:gs pos="50000">
                  <a:srgbClr val="BAE8C3"/>
                </a:gs>
                <a:gs pos="100000">
                  <a:srgbClr val="DEF2E1"/>
                </a:gs>
              </a:gsLst>
              <a:lin ang="0" scaled="0"/>
            </a:gradFill>
            <a:ln cap="flat" cmpd="sng" w="19050">
              <a:solidFill>
                <a:srgbClr val="DAE5F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7000"/>
                </a:lnSpc>
                <a:spcBef>
                  <a:spcPts val="0"/>
                </a:spcBef>
                <a:spcAft>
                  <a:spcPts val="0"/>
                </a:spcAft>
                <a:buNone/>
              </a:pPr>
              <a:r>
                <a:rPr lang="es-BO" sz="1100">
                  <a:solidFill>
                    <a:schemeClr val="dk1"/>
                  </a:solidFill>
                  <a:latin typeface="Calibri"/>
                  <a:ea typeface="Calibri"/>
                  <a:cs typeface="Calibri"/>
                  <a:sym typeface="Calibri"/>
                </a:rPr>
                <a:t>Modulo de expansión</a:t>
              </a:r>
              <a:endParaRPr/>
            </a:p>
            <a:p>
              <a:pPr indent="0" lvl="0" marL="0" marR="0" rtl="0" algn="ctr">
                <a:lnSpc>
                  <a:spcPct val="107000"/>
                </a:lnSpc>
                <a:spcBef>
                  <a:spcPts val="0"/>
                </a:spcBef>
                <a:spcAft>
                  <a:spcPts val="0"/>
                </a:spcAft>
                <a:buNone/>
              </a:pPr>
              <a:r>
                <a:rPr lang="es-BO" sz="1100">
                  <a:solidFill>
                    <a:schemeClr val="dk1"/>
                  </a:solidFill>
                  <a:latin typeface="Calibri"/>
                  <a:ea typeface="Calibri"/>
                  <a:cs typeface="Calibri"/>
                  <a:sym typeface="Calibri"/>
                </a:rPr>
                <a:t>Entrada de corriente 4-20 mA</a:t>
              </a:r>
              <a:endParaRPr/>
            </a:p>
          </p:txBody>
        </p:sp>
      </p:gr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4" name="Shape 1314"/>
        <p:cNvGrpSpPr/>
        <p:nvPr/>
      </p:nvGrpSpPr>
      <p:grpSpPr>
        <a:xfrm>
          <a:off x="0" y="0"/>
          <a:ext cx="0" cy="0"/>
          <a:chOff x="0" y="0"/>
          <a:chExt cx="0" cy="0"/>
        </a:xfrm>
      </p:grpSpPr>
      <p:grpSp>
        <p:nvGrpSpPr>
          <p:cNvPr id="1315" name="Google Shape;1315;p90"/>
          <p:cNvGrpSpPr/>
          <p:nvPr/>
        </p:nvGrpSpPr>
        <p:grpSpPr>
          <a:xfrm>
            <a:off x="545569" y="1369432"/>
            <a:ext cx="11261522" cy="4736728"/>
            <a:chOff x="491866" y="2140780"/>
            <a:chExt cx="11261522" cy="4362976"/>
          </a:xfrm>
        </p:grpSpPr>
        <p:grpSp>
          <p:nvGrpSpPr>
            <p:cNvPr id="1316" name="Google Shape;1316;p90"/>
            <p:cNvGrpSpPr/>
            <p:nvPr/>
          </p:nvGrpSpPr>
          <p:grpSpPr>
            <a:xfrm>
              <a:off x="769700" y="2191603"/>
              <a:ext cx="9897209" cy="4312153"/>
              <a:chOff x="195971" y="922747"/>
              <a:chExt cx="10831653" cy="5416435"/>
            </a:xfrm>
          </p:grpSpPr>
          <p:pic>
            <p:nvPicPr>
              <p:cNvPr id="1317" name="Google Shape;1317;p90"/>
              <p:cNvPicPr preferRelativeResize="0"/>
              <p:nvPr/>
            </p:nvPicPr>
            <p:blipFill rotWithShape="1">
              <a:blip r:embed="rId3">
                <a:alphaModFix/>
              </a:blip>
              <a:srcRect b="0" l="0" r="0" t="0"/>
              <a:stretch/>
            </p:blipFill>
            <p:spPr>
              <a:xfrm>
                <a:off x="195971" y="922747"/>
                <a:ext cx="10831653" cy="2486622"/>
              </a:xfrm>
              <a:prstGeom prst="rect">
                <a:avLst/>
              </a:prstGeom>
              <a:noFill/>
              <a:ln>
                <a:noFill/>
              </a:ln>
            </p:spPr>
          </p:pic>
          <p:sp>
            <p:nvSpPr>
              <p:cNvPr id="1318" name="Google Shape;1318;p90"/>
              <p:cNvSpPr txBox="1"/>
              <p:nvPr/>
            </p:nvSpPr>
            <p:spPr>
              <a:xfrm>
                <a:off x="3797796" y="4204116"/>
                <a:ext cx="6365920" cy="1507716"/>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i="1" lang="es-BO" sz="1800">
                    <a:solidFill>
                      <a:schemeClr val="dk1"/>
                    </a:solidFill>
                    <a:latin typeface="Calibri"/>
                    <a:ea typeface="Calibri"/>
                    <a:cs typeface="Calibri"/>
                    <a:sym typeface="Calibri"/>
                  </a:rPr>
                  <a:t>Tomar en cuenta que no es la única configuración para la toma de datos en Modulo de expansión, en este caso como se esta utilizando el bloque PID, por lo tanto se usara el </a:t>
                </a:r>
                <a:r>
                  <a:rPr b="1" i="1" lang="es-BO" sz="1800">
                    <a:solidFill>
                      <a:schemeClr val="dk1"/>
                    </a:solidFill>
                    <a:latin typeface="Calibri"/>
                    <a:ea typeface="Calibri"/>
                    <a:cs typeface="Calibri"/>
                    <a:sym typeface="Calibri"/>
                  </a:rPr>
                  <a:t>Escalado for PID</a:t>
                </a:r>
                <a:endParaRPr sz="1800">
                  <a:solidFill>
                    <a:schemeClr val="dk1"/>
                  </a:solidFill>
                  <a:latin typeface="Calibri"/>
                  <a:ea typeface="Calibri"/>
                  <a:cs typeface="Calibri"/>
                  <a:sym typeface="Calibri"/>
                </a:endParaRPr>
              </a:p>
            </p:txBody>
          </p:sp>
          <p:pic>
            <p:nvPicPr>
              <p:cNvPr id="1319" name="Google Shape;1319;p90"/>
              <p:cNvPicPr preferRelativeResize="0"/>
              <p:nvPr/>
            </p:nvPicPr>
            <p:blipFill rotWithShape="1">
              <a:blip r:embed="rId4">
                <a:alphaModFix/>
              </a:blip>
              <a:srcRect b="0" l="0" r="0" t="0"/>
              <a:stretch/>
            </p:blipFill>
            <p:spPr>
              <a:xfrm>
                <a:off x="666997" y="3632476"/>
                <a:ext cx="3130798" cy="2706706"/>
              </a:xfrm>
              <a:prstGeom prst="rect">
                <a:avLst/>
              </a:prstGeom>
              <a:noFill/>
              <a:ln>
                <a:noFill/>
              </a:ln>
            </p:spPr>
          </p:pic>
        </p:grpSp>
        <p:sp>
          <p:nvSpPr>
            <p:cNvPr id="1320" name="Google Shape;1320;p90"/>
            <p:cNvSpPr txBox="1"/>
            <p:nvPr/>
          </p:nvSpPr>
          <p:spPr>
            <a:xfrm>
              <a:off x="9724456" y="2926922"/>
              <a:ext cx="101890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s-BO" sz="1800">
                  <a:solidFill>
                    <a:schemeClr val="dk1"/>
                  </a:solidFill>
                  <a:latin typeface="Calibri"/>
                  <a:ea typeface="Calibri"/>
                  <a:cs typeface="Calibri"/>
                  <a:sym typeface="Calibri"/>
                </a:rPr>
                <a:t>Entrada</a:t>
              </a:r>
              <a:endParaRPr sz="1800">
                <a:solidFill>
                  <a:schemeClr val="dk1"/>
                </a:solidFill>
                <a:latin typeface="Calibri"/>
                <a:ea typeface="Calibri"/>
                <a:cs typeface="Calibri"/>
                <a:sym typeface="Calibri"/>
              </a:endParaRPr>
            </a:p>
          </p:txBody>
        </p:sp>
        <p:pic>
          <p:nvPicPr>
            <p:cNvPr id="1321" name="Google Shape;1321;p90"/>
            <p:cNvPicPr preferRelativeResize="0"/>
            <p:nvPr/>
          </p:nvPicPr>
          <p:blipFill rotWithShape="1">
            <a:blip r:embed="rId3">
              <a:alphaModFix/>
            </a:blip>
            <a:srcRect b="30092" l="0" r="86388" t="29444"/>
            <a:stretch/>
          </p:blipFill>
          <p:spPr>
            <a:xfrm>
              <a:off x="9766324" y="2699929"/>
              <a:ext cx="1347153" cy="801016"/>
            </a:xfrm>
            <a:prstGeom prst="rect">
              <a:avLst/>
            </a:prstGeom>
            <a:noFill/>
            <a:ln>
              <a:noFill/>
            </a:ln>
          </p:spPr>
        </p:pic>
        <p:sp>
          <p:nvSpPr>
            <p:cNvPr id="1322" name="Google Shape;1322;p90"/>
            <p:cNvSpPr txBox="1"/>
            <p:nvPr/>
          </p:nvSpPr>
          <p:spPr>
            <a:xfrm>
              <a:off x="491866" y="2557590"/>
              <a:ext cx="101890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s-BO" sz="1800">
                  <a:solidFill>
                    <a:schemeClr val="dk1"/>
                  </a:solidFill>
                  <a:latin typeface="Calibri"/>
                  <a:ea typeface="Calibri"/>
                  <a:cs typeface="Calibri"/>
                  <a:sym typeface="Calibri"/>
                </a:rPr>
                <a:t>Entrada</a:t>
              </a:r>
              <a:endParaRPr b="1" sz="1800">
                <a:solidFill>
                  <a:schemeClr val="dk1"/>
                </a:solidFill>
                <a:latin typeface="Calibri"/>
                <a:ea typeface="Calibri"/>
                <a:cs typeface="Calibri"/>
                <a:sym typeface="Calibri"/>
              </a:endParaRPr>
            </a:p>
          </p:txBody>
        </p:sp>
        <p:sp>
          <p:nvSpPr>
            <p:cNvPr id="1323" name="Google Shape;1323;p90"/>
            <p:cNvSpPr txBox="1"/>
            <p:nvPr/>
          </p:nvSpPr>
          <p:spPr>
            <a:xfrm>
              <a:off x="10734481" y="2424581"/>
              <a:ext cx="101890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s-BO" sz="1800">
                  <a:solidFill>
                    <a:schemeClr val="dk1"/>
                  </a:solidFill>
                  <a:latin typeface="Calibri"/>
                  <a:ea typeface="Calibri"/>
                  <a:cs typeface="Calibri"/>
                  <a:sym typeface="Calibri"/>
                </a:rPr>
                <a:t>Salida</a:t>
              </a:r>
              <a:endParaRPr b="1" sz="1800">
                <a:solidFill>
                  <a:schemeClr val="dk1"/>
                </a:solidFill>
                <a:latin typeface="Calibri"/>
                <a:ea typeface="Calibri"/>
                <a:cs typeface="Calibri"/>
                <a:sym typeface="Calibri"/>
              </a:endParaRPr>
            </a:p>
          </p:txBody>
        </p:sp>
        <p:sp>
          <p:nvSpPr>
            <p:cNvPr id="1324" name="Google Shape;1324;p90"/>
            <p:cNvSpPr/>
            <p:nvPr/>
          </p:nvSpPr>
          <p:spPr>
            <a:xfrm>
              <a:off x="1355061" y="2140780"/>
              <a:ext cx="9311848" cy="2154873"/>
            </a:xfrm>
            <a:prstGeom prst="rect">
              <a:avLst/>
            </a:prstGeom>
            <a:noFill/>
            <a:ln cap="flat" cmpd="sng" w="25400">
              <a:solidFill>
                <a:schemeClr val="dk1"/>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1325" name="Google Shape;1325;p90"/>
          <p:cNvSpPr txBox="1"/>
          <p:nvPr/>
        </p:nvSpPr>
        <p:spPr>
          <a:xfrm>
            <a:off x="134927" y="330472"/>
            <a:ext cx="11752115"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BO" sz="2800">
                <a:solidFill>
                  <a:schemeClr val="dk1"/>
                </a:solidFill>
                <a:latin typeface="Calibri"/>
                <a:ea typeface="Calibri"/>
                <a:cs typeface="Calibri"/>
                <a:sym typeface="Calibri"/>
              </a:rPr>
              <a:t>Consideraciones para la adaptación de señales por Hardware</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9" name="Shape 1329"/>
        <p:cNvGrpSpPr/>
        <p:nvPr/>
      </p:nvGrpSpPr>
      <p:grpSpPr>
        <a:xfrm>
          <a:off x="0" y="0"/>
          <a:ext cx="0" cy="0"/>
          <a:chOff x="0" y="0"/>
          <a:chExt cx="0" cy="0"/>
        </a:xfrm>
      </p:grpSpPr>
      <p:sp>
        <p:nvSpPr>
          <p:cNvPr id="1330" name="Google Shape;1330;p91"/>
          <p:cNvSpPr txBox="1"/>
          <p:nvPr/>
        </p:nvSpPr>
        <p:spPr>
          <a:xfrm>
            <a:off x="874138" y="825428"/>
            <a:ext cx="4873405"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BO" sz="2000">
                <a:solidFill>
                  <a:schemeClr val="dk1"/>
                </a:solidFill>
                <a:latin typeface="Calibri"/>
                <a:ea typeface="Calibri"/>
                <a:cs typeface="Calibri"/>
                <a:sym typeface="Calibri"/>
              </a:rPr>
              <a:t>Bloque PID – Micrologix 1100 </a:t>
            </a:r>
            <a:endParaRPr/>
          </a:p>
        </p:txBody>
      </p:sp>
      <p:sp>
        <p:nvSpPr>
          <p:cNvPr id="1331" name="Google Shape;1331;p91"/>
          <p:cNvSpPr txBox="1"/>
          <p:nvPr/>
        </p:nvSpPr>
        <p:spPr>
          <a:xfrm>
            <a:off x="943194" y="1323275"/>
            <a:ext cx="10265374" cy="338554"/>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BO" sz="1600">
                <a:solidFill>
                  <a:schemeClr val="dk1"/>
                </a:solidFill>
                <a:latin typeface="Calibri"/>
                <a:ea typeface="Calibri"/>
                <a:cs typeface="Calibri"/>
                <a:sym typeface="Calibri"/>
              </a:rPr>
              <a:t>El software Rslogix 500, cuenta con la instrucción PID, Para facilitar la implementación del control.</a:t>
            </a:r>
            <a:endParaRPr/>
          </a:p>
        </p:txBody>
      </p:sp>
      <p:sp>
        <p:nvSpPr>
          <p:cNvPr id="1332" name="Google Shape;1332;p91"/>
          <p:cNvSpPr txBox="1"/>
          <p:nvPr/>
        </p:nvSpPr>
        <p:spPr>
          <a:xfrm>
            <a:off x="943194" y="1715257"/>
            <a:ext cx="10265374" cy="830997"/>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BO" sz="1600">
                <a:solidFill>
                  <a:schemeClr val="dk1"/>
                </a:solidFill>
                <a:latin typeface="Calibri"/>
                <a:ea typeface="Calibri"/>
                <a:cs typeface="Calibri"/>
                <a:sym typeface="Calibri"/>
              </a:rPr>
              <a:t>La instrucción PID controla un circuito cerrado, utilizando entradas de un modulo de entrada</a:t>
            </a:r>
            <a:r>
              <a:rPr b="1" lang="es-BO" sz="1600">
                <a:solidFill>
                  <a:schemeClr val="dk1"/>
                </a:solidFill>
                <a:latin typeface="Calibri"/>
                <a:ea typeface="Calibri"/>
                <a:cs typeface="Calibri"/>
                <a:sym typeface="Calibri"/>
              </a:rPr>
              <a:t> </a:t>
            </a:r>
            <a:r>
              <a:rPr lang="es-BO" sz="1600">
                <a:solidFill>
                  <a:schemeClr val="dk1"/>
                </a:solidFill>
                <a:latin typeface="Calibri"/>
                <a:ea typeface="Calibri"/>
                <a:cs typeface="Calibri"/>
                <a:sym typeface="Calibri"/>
              </a:rPr>
              <a:t>analógica y proporciona una salida al modulo analógico como respuesta, para mantener efectivamente una variable de proceso en un punto de ajuste deseado.</a:t>
            </a:r>
            <a:endParaRPr/>
          </a:p>
        </p:txBody>
      </p:sp>
      <p:sp>
        <p:nvSpPr>
          <p:cNvPr id="1333" name="Google Shape;1333;p91"/>
          <p:cNvSpPr txBox="1"/>
          <p:nvPr/>
        </p:nvSpPr>
        <p:spPr>
          <a:xfrm>
            <a:off x="551384" y="116632"/>
            <a:ext cx="9238277"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BO" sz="2800">
                <a:solidFill>
                  <a:schemeClr val="dk1"/>
                </a:solidFill>
                <a:latin typeface="Calibri"/>
                <a:ea typeface="Calibri"/>
                <a:cs typeface="Calibri"/>
                <a:sym typeface="Calibri"/>
              </a:rPr>
              <a:t>CONSIDERACIONES A TOMAR PARA LA IMPLEMENTACIÓN</a:t>
            </a:r>
            <a:endParaRPr b="1" sz="2800">
              <a:solidFill>
                <a:schemeClr val="dk1"/>
              </a:solidFill>
              <a:latin typeface="Calibri"/>
              <a:ea typeface="Calibri"/>
              <a:cs typeface="Calibri"/>
              <a:sym typeface="Calibri"/>
            </a:endParaRPr>
          </a:p>
        </p:txBody>
      </p:sp>
      <p:sp>
        <p:nvSpPr>
          <p:cNvPr id="1334" name="Google Shape;1334;p91"/>
          <p:cNvSpPr txBox="1"/>
          <p:nvPr/>
        </p:nvSpPr>
        <p:spPr>
          <a:xfrm>
            <a:off x="1127448" y="3911637"/>
            <a:ext cx="3831020"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BO" sz="2000">
                <a:solidFill>
                  <a:schemeClr val="dk1"/>
                </a:solidFill>
                <a:latin typeface="Calibri"/>
                <a:ea typeface="Calibri"/>
                <a:cs typeface="Calibri"/>
                <a:sym typeface="Calibri"/>
              </a:rPr>
              <a:t>Ecuación PID</a:t>
            </a:r>
            <a:endParaRPr/>
          </a:p>
        </p:txBody>
      </p:sp>
      <p:sp>
        <p:nvSpPr>
          <p:cNvPr id="1335" name="Google Shape;1335;p91"/>
          <p:cNvSpPr txBox="1"/>
          <p:nvPr/>
        </p:nvSpPr>
        <p:spPr>
          <a:xfrm>
            <a:off x="3155255" y="4213395"/>
            <a:ext cx="5184576" cy="708720"/>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sp>
        <p:nvSpPr>
          <p:cNvPr id="1336" name="Google Shape;1336;p91"/>
          <p:cNvSpPr/>
          <p:nvPr/>
        </p:nvSpPr>
        <p:spPr>
          <a:xfrm>
            <a:off x="7426960" y="3911637"/>
            <a:ext cx="1168400" cy="1102277"/>
          </a:xfrm>
          <a:prstGeom prst="ellipse">
            <a:avLst/>
          </a:prstGeom>
          <a:noFill/>
          <a:ln cap="flat" cmpd="sng" w="25400">
            <a:solidFill>
              <a:schemeClr val="dk1"/>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1337" name="Google Shape;1337;p91"/>
          <p:cNvCxnSpPr>
            <a:stCxn id="1336" idx="7"/>
          </p:cNvCxnSpPr>
          <p:nvPr/>
        </p:nvCxnSpPr>
        <p:spPr>
          <a:xfrm flipH="1" rot="10800000">
            <a:off x="8424252" y="3598762"/>
            <a:ext cx="546900" cy="474300"/>
          </a:xfrm>
          <a:prstGeom prst="straightConnector1">
            <a:avLst/>
          </a:prstGeom>
          <a:noFill/>
          <a:ln cap="flat" cmpd="sng" w="9525">
            <a:solidFill>
              <a:schemeClr val="dk1"/>
            </a:solidFill>
            <a:prstDash val="solid"/>
            <a:round/>
            <a:headEnd len="sm" w="sm" type="none"/>
            <a:tailEnd len="med" w="med" type="triangle"/>
          </a:ln>
        </p:spPr>
      </p:cxnSp>
      <p:sp>
        <p:nvSpPr>
          <p:cNvPr id="1338" name="Google Shape;1338;p91"/>
          <p:cNvSpPr txBox="1"/>
          <p:nvPr/>
        </p:nvSpPr>
        <p:spPr>
          <a:xfrm>
            <a:off x="8697766" y="3210547"/>
            <a:ext cx="239904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600">
                <a:solidFill>
                  <a:schemeClr val="dk1"/>
                </a:solidFill>
                <a:latin typeface="Calibri"/>
                <a:ea typeface="Calibri"/>
                <a:cs typeface="Calibri"/>
                <a:sym typeface="Calibri"/>
              </a:rPr>
              <a:t>Ley de control inicial</a:t>
            </a:r>
            <a:endParaRPr/>
          </a:p>
        </p:txBody>
      </p:sp>
      <p:sp>
        <p:nvSpPr>
          <p:cNvPr id="1339" name="Google Shape;1339;p91"/>
          <p:cNvSpPr/>
          <p:nvPr/>
        </p:nvSpPr>
        <p:spPr>
          <a:xfrm>
            <a:off x="6225804" y="4188531"/>
            <a:ext cx="629481" cy="708720"/>
          </a:xfrm>
          <a:prstGeom prst="ellipse">
            <a:avLst/>
          </a:prstGeom>
          <a:noFill/>
          <a:ln cap="flat" cmpd="sng" w="25400">
            <a:solidFill>
              <a:schemeClr val="dk1"/>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1340" name="Google Shape;1340;p91"/>
          <p:cNvCxnSpPr/>
          <p:nvPr/>
        </p:nvCxnSpPr>
        <p:spPr>
          <a:xfrm flipH="1" rot="10800000">
            <a:off x="6684867" y="3799153"/>
            <a:ext cx="547028" cy="474183"/>
          </a:xfrm>
          <a:prstGeom prst="straightConnector1">
            <a:avLst/>
          </a:prstGeom>
          <a:noFill/>
          <a:ln cap="flat" cmpd="sng" w="9525">
            <a:solidFill>
              <a:schemeClr val="dk1"/>
            </a:solidFill>
            <a:prstDash val="solid"/>
            <a:round/>
            <a:headEnd len="sm" w="sm" type="none"/>
            <a:tailEnd len="med" w="med" type="triangle"/>
          </a:ln>
        </p:spPr>
      </p:cxnSp>
      <p:sp>
        <p:nvSpPr>
          <p:cNvPr id="1341" name="Google Shape;1341;p91"/>
          <p:cNvSpPr txBox="1"/>
          <p:nvPr/>
        </p:nvSpPr>
        <p:spPr>
          <a:xfrm>
            <a:off x="7052965" y="3429602"/>
            <a:ext cx="74799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600">
                <a:solidFill>
                  <a:schemeClr val="dk1"/>
                </a:solidFill>
                <a:latin typeface="Calibri"/>
                <a:ea typeface="Calibri"/>
                <a:cs typeface="Calibri"/>
                <a:sym typeface="Calibri"/>
              </a:rPr>
              <a:t>Td=0</a:t>
            </a:r>
            <a:endParaRPr/>
          </a:p>
        </p:txBody>
      </p:sp>
      <p:pic>
        <p:nvPicPr>
          <p:cNvPr id="1342" name="Google Shape;1342;p91"/>
          <p:cNvPicPr preferRelativeResize="0"/>
          <p:nvPr/>
        </p:nvPicPr>
        <p:blipFill rotWithShape="1">
          <a:blip r:embed="rId4">
            <a:alphaModFix/>
          </a:blip>
          <a:srcRect b="15471" l="79698" r="6125" t="69830"/>
          <a:stretch/>
        </p:blipFill>
        <p:spPr>
          <a:xfrm>
            <a:off x="3940983" y="2415408"/>
            <a:ext cx="2626794" cy="1461158"/>
          </a:xfrm>
          <a:prstGeom prst="rect">
            <a:avLst/>
          </a:prstGeom>
          <a:noFill/>
          <a:ln>
            <a:noFill/>
          </a:ln>
        </p:spPr>
      </p:pic>
      <p:pic>
        <p:nvPicPr>
          <p:cNvPr id="1343" name="Google Shape;1343;p91"/>
          <p:cNvPicPr preferRelativeResize="0"/>
          <p:nvPr/>
        </p:nvPicPr>
        <p:blipFill rotWithShape="1">
          <a:blip r:embed="rId5">
            <a:alphaModFix/>
          </a:blip>
          <a:srcRect b="0" l="0" r="0" t="0"/>
          <a:stretch/>
        </p:blipFill>
        <p:spPr>
          <a:xfrm>
            <a:off x="2443861" y="5095826"/>
            <a:ext cx="6527419" cy="1415035"/>
          </a:xfrm>
          <a:prstGeom prst="rect">
            <a:avLst/>
          </a:prstGeom>
          <a:noFill/>
          <a:ln>
            <a:noFill/>
          </a:ln>
        </p:spPr>
      </p:pic>
    </p:spTree>
  </p:cSld>
  <p:clrMapOvr>
    <a:masterClrMapping/>
  </p:clrMapOvr>
  <p:transition spd="slow">
    <p:push/>
  </p:transition>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7" name="Shape 1347"/>
        <p:cNvGrpSpPr/>
        <p:nvPr/>
      </p:nvGrpSpPr>
      <p:grpSpPr>
        <a:xfrm>
          <a:off x="0" y="0"/>
          <a:ext cx="0" cy="0"/>
          <a:chOff x="0" y="0"/>
          <a:chExt cx="0" cy="0"/>
        </a:xfrm>
      </p:grpSpPr>
      <p:pic>
        <p:nvPicPr>
          <p:cNvPr id="1348" name="Google Shape;1348;p92"/>
          <p:cNvPicPr preferRelativeResize="0"/>
          <p:nvPr/>
        </p:nvPicPr>
        <p:blipFill rotWithShape="1">
          <a:blip r:embed="rId3">
            <a:alphaModFix/>
          </a:blip>
          <a:srcRect b="0" l="0" r="0" t="0"/>
          <a:stretch/>
        </p:blipFill>
        <p:spPr>
          <a:xfrm>
            <a:off x="4488929" y="1239717"/>
            <a:ext cx="3753438" cy="2840079"/>
          </a:xfrm>
          <a:prstGeom prst="rect">
            <a:avLst/>
          </a:prstGeom>
          <a:noFill/>
          <a:ln>
            <a:noFill/>
          </a:ln>
        </p:spPr>
      </p:pic>
      <p:sp>
        <p:nvSpPr>
          <p:cNvPr id="1349" name="Google Shape;1349;p92"/>
          <p:cNvSpPr txBox="1"/>
          <p:nvPr/>
        </p:nvSpPr>
        <p:spPr>
          <a:xfrm>
            <a:off x="479376" y="188640"/>
            <a:ext cx="9238277"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BO" sz="2800">
                <a:solidFill>
                  <a:schemeClr val="dk1"/>
                </a:solidFill>
                <a:latin typeface="Calibri"/>
                <a:ea typeface="Calibri"/>
                <a:cs typeface="Calibri"/>
                <a:sym typeface="Calibri"/>
              </a:rPr>
              <a:t>IMPLEMENTACIÓN DEL CONTROLADOR PI</a:t>
            </a:r>
            <a:endParaRPr/>
          </a:p>
        </p:txBody>
      </p:sp>
      <p:sp>
        <p:nvSpPr>
          <p:cNvPr id="1350" name="Google Shape;1350;p92"/>
          <p:cNvSpPr txBox="1"/>
          <p:nvPr/>
        </p:nvSpPr>
        <p:spPr>
          <a:xfrm>
            <a:off x="495152" y="741549"/>
            <a:ext cx="7981824"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BO" sz="2000">
                <a:solidFill>
                  <a:schemeClr val="dk1"/>
                </a:solidFill>
                <a:latin typeface="Calibri"/>
                <a:ea typeface="Calibri"/>
                <a:cs typeface="Calibri"/>
                <a:sym typeface="Calibri"/>
              </a:rPr>
              <a:t>Configuración de parámetros importantes del Bloque PID</a:t>
            </a:r>
            <a:endParaRPr/>
          </a:p>
        </p:txBody>
      </p:sp>
      <p:grpSp>
        <p:nvGrpSpPr>
          <p:cNvPr id="1351" name="Google Shape;1351;p92"/>
          <p:cNvGrpSpPr/>
          <p:nvPr/>
        </p:nvGrpSpPr>
        <p:grpSpPr>
          <a:xfrm>
            <a:off x="1930323" y="1195692"/>
            <a:ext cx="8971532" cy="2165918"/>
            <a:chOff x="1273894" y="1747242"/>
            <a:chExt cx="9799033" cy="2756102"/>
          </a:xfrm>
        </p:grpSpPr>
        <p:sp>
          <p:nvSpPr>
            <p:cNvPr id="1352" name="Google Shape;1352;p92"/>
            <p:cNvSpPr/>
            <p:nvPr/>
          </p:nvSpPr>
          <p:spPr>
            <a:xfrm>
              <a:off x="4105833" y="2313109"/>
              <a:ext cx="1584176" cy="703275"/>
            </a:xfrm>
            <a:prstGeom prst="rect">
              <a:avLst/>
            </a:prstGeom>
            <a:noFill/>
            <a:ln cap="flat" cmpd="sng" w="3810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53" name="Google Shape;1353;p92"/>
            <p:cNvSpPr/>
            <p:nvPr/>
          </p:nvSpPr>
          <p:spPr>
            <a:xfrm>
              <a:off x="5786673" y="2313108"/>
              <a:ext cx="1703536" cy="991307"/>
            </a:xfrm>
            <a:prstGeom prst="rect">
              <a:avLst/>
            </a:prstGeom>
            <a:noFill/>
            <a:ln cap="flat" cmpd="sng" w="38100">
              <a:solidFill>
                <a:srgbClr val="00B0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54" name="Google Shape;1354;p92"/>
            <p:cNvSpPr/>
            <p:nvPr/>
          </p:nvSpPr>
          <p:spPr>
            <a:xfrm>
              <a:off x="5846353" y="3753267"/>
              <a:ext cx="1703536" cy="487254"/>
            </a:xfrm>
            <a:prstGeom prst="rect">
              <a:avLst/>
            </a:prstGeom>
            <a:noFill/>
            <a:ln cap="flat" cmpd="sng" w="381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55" name="Google Shape;1355;p92"/>
            <p:cNvSpPr/>
            <p:nvPr/>
          </p:nvSpPr>
          <p:spPr>
            <a:xfrm>
              <a:off x="4083137" y="3105197"/>
              <a:ext cx="1606872" cy="199218"/>
            </a:xfrm>
            <a:prstGeom prst="rect">
              <a:avLst/>
            </a:prstGeom>
            <a:noFill/>
            <a:ln cap="flat" cmpd="sng" w="38100">
              <a:solidFill>
                <a:srgbClr val="FFC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56" name="Google Shape;1356;p92"/>
            <p:cNvSpPr txBox="1"/>
            <p:nvPr/>
          </p:nvSpPr>
          <p:spPr>
            <a:xfrm>
              <a:off x="1513350" y="1747242"/>
              <a:ext cx="2319470" cy="1214088"/>
            </a:xfrm>
            <a:prstGeom prst="rect">
              <a:avLst/>
            </a:prstGeom>
            <a:solidFill>
              <a:srgbClr val="00B0F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s-BO" sz="1400">
                  <a:solidFill>
                    <a:schemeClr val="dk1"/>
                  </a:solidFill>
                  <a:latin typeface="Calibri"/>
                  <a:ea typeface="Calibri"/>
                  <a:cs typeface="Calibri"/>
                  <a:sym typeface="Calibri"/>
                </a:rPr>
                <a:t>Constantes PID </a:t>
              </a:r>
              <a:endParaRPr/>
            </a:p>
            <a:p>
              <a:pPr indent="0" lvl="0" marL="0" marR="0" rtl="0" algn="just">
                <a:spcBef>
                  <a:spcPts val="0"/>
                </a:spcBef>
                <a:spcAft>
                  <a:spcPts val="0"/>
                </a:spcAft>
                <a:buNone/>
              </a:pPr>
              <a:r>
                <a:rPr b="0" i="0" lang="es-BO" sz="1400">
                  <a:solidFill>
                    <a:schemeClr val="dk1"/>
                  </a:solidFill>
                  <a:latin typeface="Calibri"/>
                  <a:ea typeface="Calibri"/>
                  <a:cs typeface="Calibri"/>
                  <a:sym typeface="Calibri"/>
                </a:rPr>
                <a:t>Kc</a:t>
              </a:r>
              <a:endParaRPr/>
            </a:p>
            <a:p>
              <a:pPr indent="0" lvl="0" marL="0" marR="0" rtl="0" algn="just">
                <a:spcBef>
                  <a:spcPts val="0"/>
                </a:spcBef>
                <a:spcAft>
                  <a:spcPts val="0"/>
                </a:spcAft>
                <a:buNone/>
              </a:pPr>
              <a:r>
                <a:rPr b="0" i="0" lang="es-BO" sz="1400">
                  <a:solidFill>
                    <a:schemeClr val="dk1"/>
                  </a:solidFill>
                  <a:latin typeface="Calibri"/>
                  <a:ea typeface="Calibri"/>
                  <a:cs typeface="Calibri"/>
                  <a:sym typeface="Calibri"/>
                </a:rPr>
                <a:t>Ki=1/Ti </a:t>
              </a:r>
              <a:endParaRPr/>
            </a:p>
            <a:p>
              <a:pPr indent="0" lvl="0" marL="0" marR="0" rtl="0" algn="just">
                <a:spcBef>
                  <a:spcPts val="0"/>
                </a:spcBef>
                <a:spcAft>
                  <a:spcPts val="0"/>
                </a:spcAft>
                <a:buNone/>
              </a:pPr>
              <a:r>
                <a:rPr b="0" i="0" lang="es-BO" sz="1400">
                  <a:solidFill>
                    <a:schemeClr val="dk1"/>
                  </a:solidFill>
                  <a:latin typeface="Calibri"/>
                  <a:ea typeface="Calibri"/>
                  <a:cs typeface="Calibri"/>
                  <a:sym typeface="Calibri"/>
                </a:rPr>
                <a:t>Kd=1/Td</a:t>
              </a:r>
              <a:endParaRPr b="0" i="0" sz="1400">
                <a:solidFill>
                  <a:schemeClr val="dk1"/>
                </a:solidFill>
                <a:latin typeface="Calibri"/>
                <a:ea typeface="Calibri"/>
                <a:cs typeface="Calibri"/>
                <a:sym typeface="Calibri"/>
              </a:endParaRPr>
            </a:p>
          </p:txBody>
        </p:sp>
        <p:cxnSp>
          <p:nvCxnSpPr>
            <p:cNvPr id="1357" name="Google Shape;1357;p92"/>
            <p:cNvCxnSpPr>
              <a:stCxn id="1356" idx="3"/>
              <a:endCxn id="1352" idx="1"/>
            </p:cNvCxnSpPr>
            <p:nvPr/>
          </p:nvCxnSpPr>
          <p:spPr>
            <a:xfrm>
              <a:off x="3832820" y="2354286"/>
              <a:ext cx="273000" cy="310500"/>
            </a:xfrm>
            <a:prstGeom prst="straightConnector1">
              <a:avLst/>
            </a:prstGeom>
            <a:noFill/>
            <a:ln cap="flat" cmpd="sng" w="38100">
              <a:solidFill>
                <a:srgbClr val="00B0F0"/>
              </a:solidFill>
              <a:prstDash val="solid"/>
              <a:round/>
              <a:headEnd len="sm" w="sm" type="none"/>
              <a:tailEnd len="med" w="med" type="triangle"/>
            </a:ln>
          </p:spPr>
        </p:cxnSp>
        <p:sp>
          <p:nvSpPr>
            <p:cNvPr id="1358" name="Google Shape;1358;p92"/>
            <p:cNvSpPr txBox="1"/>
            <p:nvPr/>
          </p:nvSpPr>
          <p:spPr>
            <a:xfrm>
              <a:off x="1273894" y="3097329"/>
              <a:ext cx="2640898" cy="665790"/>
            </a:xfrm>
            <a:prstGeom prst="rect">
              <a:avLst/>
            </a:prstGeom>
            <a:solidFill>
              <a:schemeClr val="accent4"/>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spcBef>
                  <a:spcPts val="0"/>
                </a:spcBef>
                <a:spcAft>
                  <a:spcPts val="0"/>
                </a:spcAft>
                <a:buNone/>
              </a:pPr>
              <a:r>
                <a:rPr lang="es-BO" sz="1400">
                  <a:solidFill>
                    <a:schemeClr val="dk1"/>
                  </a:solidFill>
                  <a:latin typeface="Calibri"/>
                  <a:ea typeface="Calibri"/>
                  <a:cs typeface="Calibri"/>
                  <a:sym typeface="Calibri"/>
                </a:rPr>
                <a:t>Bucle de actualización para la ejecución de la instrucción PID</a:t>
              </a:r>
              <a:endParaRPr b="0" i="0" sz="1400">
                <a:solidFill>
                  <a:schemeClr val="dk1"/>
                </a:solidFill>
                <a:latin typeface="Calibri"/>
                <a:ea typeface="Calibri"/>
                <a:cs typeface="Calibri"/>
                <a:sym typeface="Calibri"/>
              </a:endParaRPr>
            </a:p>
          </p:txBody>
        </p:sp>
        <p:cxnSp>
          <p:nvCxnSpPr>
            <p:cNvPr id="1359" name="Google Shape;1359;p92"/>
            <p:cNvCxnSpPr>
              <a:stCxn id="1358" idx="3"/>
              <a:endCxn id="1355" idx="1"/>
            </p:cNvCxnSpPr>
            <p:nvPr/>
          </p:nvCxnSpPr>
          <p:spPr>
            <a:xfrm flipH="1" rot="10800000">
              <a:off x="3914792" y="3204924"/>
              <a:ext cx="168300" cy="225300"/>
            </a:xfrm>
            <a:prstGeom prst="straightConnector1">
              <a:avLst/>
            </a:prstGeom>
            <a:noFill/>
            <a:ln cap="flat" cmpd="sng" w="38100">
              <a:solidFill>
                <a:srgbClr val="FFC000"/>
              </a:solidFill>
              <a:prstDash val="solid"/>
              <a:round/>
              <a:headEnd len="sm" w="sm" type="none"/>
              <a:tailEnd len="med" w="med" type="triangle"/>
            </a:ln>
          </p:spPr>
        </p:cxnSp>
        <p:sp>
          <p:nvSpPr>
            <p:cNvPr id="1360" name="Google Shape;1360;p92"/>
            <p:cNvSpPr txBox="1"/>
            <p:nvPr/>
          </p:nvSpPr>
          <p:spPr>
            <a:xfrm>
              <a:off x="8359179" y="1803263"/>
              <a:ext cx="2713748" cy="1214088"/>
            </a:xfrm>
            <a:prstGeom prst="rect">
              <a:avLst/>
            </a:prstGeom>
            <a:solidFill>
              <a:srgbClr val="00B05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spcBef>
                  <a:spcPts val="0"/>
                </a:spcBef>
                <a:spcAft>
                  <a:spcPts val="0"/>
                </a:spcAft>
                <a:buNone/>
              </a:pPr>
              <a:r>
                <a:rPr lang="es-BO" sz="1400">
                  <a:solidFill>
                    <a:schemeClr val="dk1"/>
                  </a:solidFill>
                  <a:latin typeface="Calibri"/>
                  <a:ea typeface="Calibri"/>
                  <a:cs typeface="Calibri"/>
                  <a:sym typeface="Calibri"/>
                </a:rPr>
                <a:t>Configuración del punto de referencia. </a:t>
              </a:r>
              <a:endParaRPr/>
            </a:p>
            <a:p>
              <a:pPr indent="0" lvl="0" marL="0" marR="0" rtl="0" algn="just">
                <a:spcBef>
                  <a:spcPts val="0"/>
                </a:spcBef>
                <a:spcAft>
                  <a:spcPts val="0"/>
                </a:spcAft>
                <a:buNone/>
              </a:pPr>
              <a:r>
                <a:rPr lang="es-BO" sz="1400">
                  <a:solidFill>
                    <a:schemeClr val="dk1"/>
                  </a:solidFill>
                  <a:latin typeface="Calibri"/>
                  <a:ea typeface="Calibri"/>
                  <a:cs typeface="Calibri"/>
                  <a:sym typeface="Calibri"/>
                </a:rPr>
                <a:t>Permite el escalamiento</a:t>
              </a:r>
              <a:endParaRPr/>
            </a:p>
            <a:p>
              <a:pPr indent="0" lvl="0" marL="0" marR="0" rtl="0" algn="ctr">
                <a:spcBef>
                  <a:spcPts val="0"/>
                </a:spcBef>
                <a:spcAft>
                  <a:spcPts val="0"/>
                </a:spcAft>
                <a:buNone/>
              </a:pPr>
              <a:r>
                <a:rPr b="0" i="0" lang="es-BO" sz="1400">
                  <a:solidFill>
                    <a:schemeClr val="dk1"/>
                  </a:solidFill>
                  <a:latin typeface="Calibri"/>
                  <a:ea typeface="Calibri"/>
                  <a:cs typeface="Calibri"/>
                  <a:sym typeface="Calibri"/>
                </a:rPr>
                <a:t>(Smax y</a:t>
              </a:r>
              <a:r>
                <a:rPr lang="es-BO" sz="1400">
                  <a:solidFill>
                    <a:schemeClr val="dk1"/>
                  </a:solidFill>
                  <a:latin typeface="Calibri"/>
                  <a:ea typeface="Calibri"/>
                  <a:cs typeface="Calibri"/>
                  <a:sym typeface="Calibri"/>
                </a:rPr>
                <a:t> Smin)</a:t>
              </a:r>
              <a:endParaRPr b="0" i="0" sz="1400">
                <a:solidFill>
                  <a:schemeClr val="dk1"/>
                </a:solidFill>
                <a:latin typeface="Calibri"/>
                <a:ea typeface="Calibri"/>
                <a:cs typeface="Calibri"/>
                <a:sym typeface="Calibri"/>
              </a:endParaRPr>
            </a:p>
          </p:txBody>
        </p:sp>
        <p:cxnSp>
          <p:nvCxnSpPr>
            <p:cNvPr id="1361" name="Google Shape;1361;p92"/>
            <p:cNvCxnSpPr>
              <a:stCxn id="1360" idx="1"/>
              <a:endCxn id="1353" idx="3"/>
            </p:cNvCxnSpPr>
            <p:nvPr/>
          </p:nvCxnSpPr>
          <p:spPr>
            <a:xfrm flipH="1">
              <a:off x="7490079" y="2410307"/>
              <a:ext cx="869100" cy="398400"/>
            </a:xfrm>
            <a:prstGeom prst="straightConnector1">
              <a:avLst/>
            </a:prstGeom>
            <a:noFill/>
            <a:ln cap="flat" cmpd="sng" w="38100">
              <a:solidFill>
                <a:srgbClr val="00B050"/>
              </a:solidFill>
              <a:prstDash val="solid"/>
              <a:round/>
              <a:headEnd len="sm" w="sm" type="none"/>
              <a:tailEnd len="med" w="med" type="triangle"/>
            </a:ln>
          </p:spPr>
        </p:cxnSp>
        <p:cxnSp>
          <p:nvCxnSpPr>
            <p:cNvPr id="1362" name="Google Shape;1362;p92"/>
            <p:cNvCxnSpPr>
              <a:stCxn id="1363" idx="1"/>
              <a:endCxn id="1354" idx="3"/>
            </p:cNvCxnSpPr>
            <p:nvPr/>
          </p:nvCxnSpPr>
          <p:spPr>
            <a:xfrm rot="10800000">
              <a:off x="7549779" y="3996774"/>
              <a:ext cx="809400" cy="36600"/>
            </a:xfrm>
            <a:prstGeom prst="straightConnector1">
              <a:avLst/>
            </a:prstGeom>
            <a:noFill/>
            <a:ln cap="flat" cmpd="sng" w="38100">
              <a:solidFill>
                <a:srgbClr val="FF0000"/>
              </a:solidFill>
              <a:prstDash val="solid"/>
              <a:round/>
              <a:headEnd len="sm" w="sm" type="none"/>
              <a:tailEnd len="med" w="med" type="triangle"/>
            </a:ln>
          </p:spPr>
        </p:cxnSp>
        <p:sp>
          <p:nvSpPr>
            <p:cNvPr id="1363" name="Google Shape;1363;p92"/>
            <p:cNvSpPr txBox="1"/>
            <p:nvPr/>
          </p:nvSpPr>
          <p:spPr>
            <a:xfrm>
              <a:off x="8359179" y="3563404"/>
              <a:ext cx="2136182" cy="939940"/>
            </a:xfrm>
            <a:prstGeom prst="rect">
              <a:avLst/>
            </a:prstGeom>
            <a:solidFill>
              <a:srgbClr val="FF000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s-BO" sz="1400">
                  <a:solidFill>
                    <a:schemeClr val="dk1"/>
                  </a:solidFill>
                  <a:latin typeface="Calibri"/>
                  <a:ea typeface="Calibri"/>
                  <a:cs typeface="Calibri"/>
                  <a:sym typeface="Calibri"/>
                </a:rPr>
                <a:t>Limitación </a:t>
              </a:r>
              <a:r>
                <a:rPr lang="es-BO" sz="1400">
                  <a:solidFill>
                    <a:schemeClr val="dk1"/>
                  </a:solidFill>
                  <a:latin typeface="Calibri"/>
                  <a:ea typeface="Calibri"/>
                  <a:cs typeface="Calibri"/>
                  <a:sym typeface="Calibri"/>
                </a:rPr>
                <a:t>de la variable de control en porcentaje (0 a 100%)</a:t>
              </a:r>
              <a:endParaRPr b="0" i="0" sz="1400">
                <a:solidFill>
                  <a:schemeClr val="dk1"/>
                </a:solidFill>
                <a:latin typeface="Calibri"/>
                <a:ea typeface="Calibri"/>
                <a:cs typeface="Calibri"/>
                <a:sym typeface="Calibri"/>
              </a:endParaRPr>
            </a:p>
          </p:txBody>
        </p:sp>
      </p:grpSp>
      <p:sp>
        <p:nvSpPr>
          <p:cNvPr id="1364" name="Google Shape;1364;p92"/>
          <p:cNvSpPr txBox="1"/>
          <p:nvPr/>
        </p:nvSpPr>
        <p:spPr>
          <a:xfrm>
            <a:off x="542158" y="3623498"/>
            <a:ext cx="3233695" cy="132343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s-BO" sz="1600">
                <a:solidFill>
                  <a:schemeClr val="dk1"/>
                </a:solidFill>
                <a:latin typeface="Calibri"/>
                <a:ea typeface="Calibri"/>
                <a:cs typeface="Calibri"/>
                <a:sym typeface="Calibri"/>
              </a:rPr>
              <a:t>Nota: </a:t>
            </a:r>
            <a:r>
              <a:rPr lang="es-BO" sz="1600">
                <a:solidFill>
                  <a:schemeClr val="dk1"/>
                </a:solidFill>
                <a:latin typeface="Calibri"/>
                <a:ea typeface="Calibri"/>
                <a:cs typeface="Calibri"/>
                <a:sym typeface="Calibri"/>
              </a:rPr>
              <a:t>Tomar en cuenta que las ganancias </a:t>
            </a:r>
            <a:r>
              <a:rPr lang="es-BO" sz="1600">
                <a:solidFill>
                  <a:srgbClr val="0070C0"/>
                </a:solidFill>
                <a:latin typeface="Calibri"/>
                <a:ea typeface="Calibri"/>
                <a:cs typeface="Calibri"/>
                <a:sym typeface="Calibri"/>
              </a:rPr>
              <a:t>Kc, Ti y Td</a:t>
            </a:r>
            <a:r>
              <a:rPr lang="es-BO" sz="1600">
                <a:solidFill>
                  <a:schemeClr val="dk1"/>
                </a:solidFill>
                <a:latin typeface="Calibri"/>
                <a:ea typeface="Calibri"/>
                <a:cs typeface="Calibri"/>
                <a:sym typeface="Calibri"/>
              </a:rPr>
              <a:t>, tiene una resolución de 15 bits con un bit de precisión decimal, además de ser positivos en el rango de 0 a 32767</a:t>
            </a:r>
            <a:endParaRPr/>
          </a:p>
        </p:txBody>
      </p:sp>
      <p:grpSp>
        <p:nvGrpSpPr>
          <p:cNvPr id="1365" name="Google Shape;1365;p92"/>
          <p:cNvGrpSpPr/>
          <p:nvPr/>
        </p:nvGrpSpPr>
        <p:grpSpPr>
          <a:xfrm>
            <a:off x="3957199" y="4295320"/>
            <a:ext cx="7240649" cy="2169100"/>
            <a:chOff x="5120641" y="2924875"/>
            <a:chExt cx="7240649" cy="2169100"/>
          </a:xfrm>
        </p:grpSpPr>
        <p:pic>
          <p:nvPicPr>
            <p:cNvPr id="1366" name="Google Shape;1366;p92"/>
            <p:cNvPicPr preferRelativeResize="0"/>
            <p:nvPr/>
          </p:nvPicPr>
          <p:blipFill rotWithShape="1">
            <a:blip r:embed="rId4">
              <a:alphaModFix/>
            </a:blip>
            <a:srcRect b="0" l="0" r="0" t="0"/>
            <a:stretch/>
          </p:blipFill>
          <p:spPr>
            <a:xfrm>
              <a:off x="5180255" y="2924875"/>
              <a:ext cx="7181035" cy="2169100"/>
            </a:xfrm>
            <a:prstGeom prst="rect">
              <a:avLst/>
            </a:prstGeom>
            <a:noFill/>
            <a:ln>
              <a:noFill/>
            </a:ln>
          </p:spPr>
        </p:pic>
        <p:sp>
          <p:nvSpPr>
            <p:cNvPr id="1367" name="Google Shape;1367;p92"/>
            <p:cNvSpPr/>
            <p:nvPr/>
          </p:nvSpPr>
          <p:spPr>
            <a:xfrm>
              <a:off x="5201921" y="3637280"/>
              <a:ext cx="995680" cy="12192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68" name="Google Shape;1368;p92"/>
            <p:cNvSpPr txBox="1"/>
            <p:nvPr/>
          </p:nvSpPr>
          <p:spPr>
            <a:xfrm>
              <a:off x="5120641" y="3583247"/>
              <a:ext cx="1630679" cy="2308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900">
                  <a:solidFill>
                    <a:schemeClr val="dk1"/>
                  </a:solidFill>
                  <a:latin typeface="Calibri"/>
                  <a:ea typeface="Calibri"/>
                  <a:cs typeface="Calibri"/>
                  <a:sym typeface="Calibri"/>
                </a:rPr>
                <a:t>PV-Variable de proceso</a:t>
              </a:r>
              <a:endParaRPr/>
            </a:p>
          </p:txBody>
        </p:sp>
      </p:grpSp>
      <p:pic>
        <p:nvPicPr>
          <p:cNvPr id="1369" name="Google Shape;1369;p92"/>
          <p:cNvPicPr preferRelativeResize="0"/>
          <p:nvPr/>
        </p:nvPicPr>
        <p:blipFill rotWithShape="1">
          <a:blip r:embed="rId5">
            <a:alphaModFix/>
          </a:blip>
          <a:srcRect b="0" l="0" r="0" t="0"/>
          <a:stretch/>
        </p:blipFill>
        <p:spPr>
          <a:xfrm>
            <a:off x="1036479" y="5006366"/>
            <a:ext cx="1847850" cy="1200150"/>
          </a:xfrm>
          <a:prstGeom prst="rect">
            <a:avLst/>
          </a:prstGeom>
          <a:noFill/>
          <a:ln>
            <a:noFill/>
          </a:ln>
        </p:spPr>
      </p:pic>
      <p:cxnSp>
        <p:nvCxnSpPr>
          <p:cNvPr id="1370" name="Google Shape;1370;p92"/>
          <p:cNvCxnSpPr>
            <a:stCxn id="1356" idx="1"/>
          </p:cNvCxnSpPr>
          <p:nvPr/>
        </p:nvCxnSpPr>
        <p:spPr>
          <a:xfrm flipH="1">
            <a:off x="1798258" y="1672745"/>
            <a:ext cx="351300" cy="1950900"/>
          </a:xfrm>
          <a:prstGeom prst="bentConnector2">
            <a:avLst/>
          </a:prstGeom>
          <a:noFill/>
          <a:ln cap="flat" cmpd="sng" w="9525">
            <a:solidFill>
              <a:srgbClr val="0000FF"/>
            </a:solidFill>
            <a:prstDash val="solid"/>
            <a:round/>
            <a:headEnd len="sm" w="sm" type="none"/>
            <a:tailEnd len="med" w="med" type="triangle"/>
          </a:ln>
        </p:spPr>
      </p:cxn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4" name="Shape 1374"/>
        <p:cNvGrpSpPr/>
        <p:nvPr/>
      </p:nvGrpSpPr>
      <p:grpSpPr>
        <a:xfrm>
          <a:off x="0" y="0"/>
          <a:ext cx="0" cy="0"/>
          <a:chOff x="0" y="0"/>
          <a:chExt cx="0" cy="0"/>
        </a:xfrm>
      </p:grpSpPr>
      <p:pic>
        <p:nvPicPr>
          <p:cNvPr id="1375" name="Google Shape;1375;p93"/>
          <p:cNvPicPr preferRelativeResize="0"/>
          <p:nvPr/>
        </p:nvPicPr>
        <p:blipFill rotWithShape="1">
          <a:blip r:embed="rId3">
            <a:alphaModFix/>
          </a:blip>
          <a:srcRect b="18653" l="11917" r="1832" t="16375"/>
          <a:stretch/>
        </p:blipFill>
        <p:spPr>
          <a:xfrm>
            <a:off x="530416" y="1628800"/>
            <a:ext cx="11228647" cy="4643344"/>
          </a:xfrm>
          <a:prstGeom prst="rect">
            <a:avLst/>
          </a:prstGeom>
          <a:noFill/>
          <a:ln>
            <a:noFill/>
          </a:ln>
        </p:spPr>
      </p:pic>
      <p:sp>
        <p:nvSpPr>
          <p:cNvPr id="1376" name="Google Shape;1376;p93"/>
          <p:cNvSpPr txBox="1"/>
          <p:nvPr/>
        </p:nvSpPr>
        <p:spPr>
          <a:xfrm>
            <a:off x="623392" y="192575"/>
            <a:ext cx="1123324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BO" sz="2800">
                <a:solidFill>
                  <a:schemeClr val="dk1"/>
                </a:solidFill>
                <a:latin typeface="Calibri"/>
                <a:ea typeface="Calibri"/>
                <a:cs typeface="Calibri"/>
                <a:sym typeface="Calibri"/>
              </a:rPr>
              <a:t>PROGRAMA LADDER EN RSLOGIX MICRO ENGLISH</a:t>
            </a:r>
            <a:endParaRPr/>
          </a:p>
        </p:txBody>
      </p:sp>
      <p:sp>
        <p:nvSpPr>
          <p:cNvPr id="1377" name="Google Shape;1377;p93"/>
          <p:cNvSpPr txBox="1"/>
          <p:nvPr/>
        </p:nvSpPr>
        <p:spPr>
          <a:xfrm>
            <a:off x="623392" y="715795"/>
            <a:ext cx="11042696" cy="64038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i="1" lang="es-BO" sz="1800">
                <a:solidFill>
                  <a:schemeClr val="dk1"/>
                </a:solidFill>
                <a:latin typeface="Calibri"/>
                <a:ea typeface="Calibri"/>
                <a:cs typeface="Calibri"/>
                <a:sym typeface="Calibri"/>
              </a:rPr>
              <a:t>El siguiente programa replica las consideraciones necesarias para implementar el PID, añadiendo algunas precauciones de entrada y salida, como se indica en la descripción de cada instrucción usada.</a:t>
            </a:r>
            <a:endParaRPr sz="1800">
              <a:solidFill>
                <a:schemeClr val="dk1"/>
              </a:solidFill>
              <a:latin typeface="Calibri"/>
              <a:ea typeface="Calibri"/>
              <a:cs typeface="Calibri"/>
              <a:sym typeface="Calibri"/>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1" name="Shape 1381"/>
        <p:cNvGrpSpPr/>
        <p:nvPr/>
      </p:nvGrpSpPr>
      <p:grpSpPr>
        <a:xfrm>
          <a:off x="0" y="0"/>
          <a:ext cx="0" cy="0"/>
          <a:chOff x="0" y="0"/>
          <a:chExt cx="0" cy="0"/>
        </a:xfrm>
      </p:grpSpPr>
      <p:pic>
        <p:nvPicPr>
          <p:cNvPr id="1382" name="Google Shape;1382;p94"/>
          <p:cNvPicPr preferRelativeResize="0"/>
          <p:nvPr/>
        </p:nvPicPr>
        <p:blipFill rotWithShape="1">
          <a:blip r:embed="rId3">
            <a:alphaModFix/>
          </a:blip>
          <a:srcRect b="6959" l="8242" r="1757" t="12894"/>
          <a:stretch/>
        </p:blipFill>
        <p:spPr>
          <a:xfrm>
            <a:off x="609598" y="901839"/>
            <a:ext cx="10972801" cy="5496449"/>
          </a:xfrm>
          <a:prstGeom prst="rect">
            <a:avLst/>
          </a:prstGeom>
          <a:noFill/>
          <a:ln>
            <a:noFill/>
          </a:ln>
        </p:spPr>
      </p:pic>
      <p:sp>
        <p:nvSpPr>
          <p:cNvPr id="1383" name="Google Shape;1383;p94"/>
          <p:cNvSpPr txBox="1"/>
          <p:nvPr/>
        </p:nvSpPr>
        <p:spPr>
          <a:xfrm>
            <a:off x="479374" y="198102"/>
            <a:ext cx="1123324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BO" sz="2800">
                <a:solidFill>
                  <a:schemeClr val="dk1"/>
                </a:solidFill>
                <a:latin typeface="Calibri"/>
                <a:ea typeface="Calibri"/>
                <a:cs typeface="Calibri"/>
                <a:sym typeface="Calibri"/>
              </a:rPr>
              <a:t>PROGRAMA LADDER EN RSLOGIX MICRO ENGLISH</a:t>
            </a:r>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7" name="Shape 1387"/>
        <p:cNvGrpSpPr/>
        <p:nvPr/>
      </p:nvGrpSpPr>
      <p:grpSpPr>
        <a:xfrm>
          <a:off x="0" y="0"/>
          <a:ext cx="0" cy="0"/>
          <a:chOff x="0" y="0"/>
          <a:chExt cx="0" cy="0"/>
        </a:xfrm>
      </p:grpSpPr>
      <p:pic>
        <p:nvPicPr>
          <p:cNvPr id="1388" name="Google Shape;1388;p95"/>
          <p:cNvPicPr preferRelativeResize="0"/>
          <p:nvPr/>
        </p:nvPicPr>
        <p:blipFill rotWithShape="1">
          <a:blip r:embed="rId3">
            <a:alphaModFix/>
          </a:blip>
          <a:srcRect b="4909" l="8242" r="0" t="12748"/>
          <a:stretch/>
        </p:blipFill>
        <p:spPr>
          <a:xfrm>
            <a:off x="653142" y="864159"/>
            <a:ext cx="11187165" cy="5647174"/>
          </a:xfrm>
          <a:prstGeom prst="rect">
            <a:avLst/>
          </a:prstGeom>
          <a:noFill/>
          <a:ln>
            <a:noFill/>
          </a:ln>
        </p:spPr>
      </p:pic>
      <p:sp>
        <p:nvSpPr>
          <p:cNvPr id="1389" name="Google Shape;1389;p95"/>
          <p:cNvSpPr txBox="1"/>
          <p:nvPr/>
        </p:nvSpPr>
        <p:spPr>
          <a:xfrm>
            <a:off x="479376" y="208151"/>
            <a:ext cx="1123324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BO" sz="2800">
                <a:solidFill>
                  <a:schemeClr val="dk1"/>
                </a:solidFill>
                <a:latin typeface="Calibri"/>
                <a:ea typeface="Calibri"/>
                <a:cs typeface="Calibri"/>
                <a:sym typeface="Calibri"/>
              </a:rPr>
              <a:t>PROGRAMA LADDER EN RSLOGIX MICRO ENGLISH</a:t>
            </a:r>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4" name="Shape 1394"/>
        <p:cNvGrpSpPr/>
        <p:nvPr/>
      </p:nvGrpSpPr>
      <p:grpSpPr>
        <a:xfrm>
          <a:off x="0" y="0"/>
          <a:ext cx="0" cy="0"/>
          <a:chOff x="0" y="0"/>
          <a:chExt cx="0" cy="0"/>
        </a:xfrm>
      </p:grpSpPr>
      <p:sp>
        <p:nvSpPr>
          <p:cNvPr id="1395" name="Google Shape;1395;p96"/>
          <p:cNvSpPr txBox="1"/>
          <p:nvPr/>
        </p:nvSpPr>
        <p:spPr>
          <a:xfrm>
            <a:off x="623010" y="277901"/>
            <a:ext cx="9383151"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BO" sz="2400">
                <a:solidFill>
                  <a:schemeClr val="dk1"/>
                </a:solidFill>
                <a:latin typeface="Calibri"/>
                <a:ea typeface="Calibri"/>
                <a:cs typeface="Calibri"/>
                <a:sym typeface="Calibri"/>
              </a:rPr>
              <a:t>PRUEBAS DEL CONTROLADOR PI SIN PERTURBACIÓN</a:t>
            </a:r>
            <a:endParaRPr/>
          </a:p>
        </p:txBody>
      </p:sp>
      <p:sp>
        <p:nvSpPr>
          <p:cNvPr id="1396" name="Google Shape;1396;p96"/>
          <p:cNvSpPr txBox="1"/>
          <p:nvPr/>
        </p:nvSpPr>
        <p:spPr>
          <a:xfrm>
            <a:off x="580580" y="729442"/>
            <a:ext cx="10988410" cy="485902"/>
          </a:xfrm>
          <a:prstGeom prst="rect">
            <a:avLst/>
          </a:prstGeom>
          <a:blipFill rotWithShape="1">
            <a:blip r:embed="rId3">
              <a:alphaModFix/>
            </a:blip>
            <a:stretch>
              <a:fillRect b="-8858" l="-443"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grpSp>
        <p:nvGrpSpPr>
          <p:cNvPr id="1397" name="Google Shape;1397;p96"/>
          <p:cNvGrpSpPr/>
          <p:nvPr/>
        </p:nvGrpSpPr>
        <p:grpSpPr>
          <a:xfrm>
            <a:off x="785350" y="1412776"/>
            <a:ext cx="10621300" cy="5272902"/>
            <a:chOff x="773531" y="1519044"/>
            <a:chExt cx="7364314" cy="3718914"/>
          </a:xfrm>
        </p:grpSpPr>
        <p:pic>
          <p:nvPicPr>
            <p:cNvPr id="1398" name="Google Shape;1398;p96"/>
            <p:cNvPicPr preferRelativeResize="0"/>
            <p:nvPr/>
          </p:nvPicPr>
          <p:blipFill rotWithShape="1">
            <a:blip r:embed="rId4">
              <a:alphaModFix/>
            </a:blip>
            <a:srcRect b="6800" l="0" r="10926" t="10237"/>
            <a:stretch/>
          </p:blipFill>
          <p:spPr>
            <a:xfrm>
              <a:off x="773531" y="1519044"/>
              <a:ext cx="7364314" cy="3718914"/>
            </a:xfrm>
            <a:prstGeom prst="rect">
              <a:avLst/>
            </a:prstGeom>
            <a:noFill/>
            <a:ln>
              <a:noFill/>
            </a:ln>
          </p:spPr>
        </p:pic>
        <p:sp>
          <p:nvSpPr>
            <p:cNvPr id="1399" name="Google Shape;1399;p96"/>
            <p:cNvSpPr txBox="1"/>
            <p:nvPr/>
          </p:nvSpPr>
          <p:spPr>
            <a:xfrm>
              <a:off x="3718374" y="2267406"/>
              <a:ext cx="3011984" cy="26048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rgbClr val="FFFF00"/>
                  </a:solidFill>
                  <a:latin typeface="Calibri"/>
                  <a:ea typeface="Calibri"/>
                  <a:cs typeface="Calibri"/>
                  <a:sym typeface="Calibri"/>
                </a:rPr>
                <a:t>Variable de control (salida de control PI)</a:t>
              </a:r>
              <a:endParaRPr/>
            </a:p>
          </p:txBody>
        </p:sp>
        <p:sp>
          <p:nvSpPr>
            <p:cNvPr id="1400" name="Google Shape;1400;p96"/>
            <p:cNvSpPr txBox="1"/>
            <p:nvPr/>
          </p:nvSpPr>
          <p:spPr>
            <a:xfrm>
              <a:off x="3661762" y="4223636"/>
              <a:ext cx="3709565" cy="26048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rgbClr val="FFFF00"/>
                  </a:solidFill>
                  <a:latin typeface="Calibri"/>
                  <a:ea typeface="Calibri"/>
                  <a:cs typeface="Calibri"/>
                  <a:sym typeface="Calibri"/>
                </a:rPr>
                <a:t>Variable de proceso (medición de altura del sensor)</a:t>
              </a:r>
              <a:endParaRPr/>
            </a:p>
          </p:txBody>
        </p:sp>
      </p:grpSp>
    </p:spTree>
  </p:cSld>
  <p:clrMapOvr>
    <a:masterClrMapping/>
  </p:clrMapOvr>
  <p:transition spd="slow">
    <p:push/>
  </p:transition>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4" name="Shape 1404"/>
        <p:cNvGrpSpPr/>
        <p:nvPr/>
      </p:nvGrpSpPr>
      <p:grpSpPr>
        <a:xfrm>
          <a:off x="0" y="0"/>
          <a:ext cx="0" cy="0"/>
          <a:chOff x="0" y="0"/>
          <a:chExt cx="0" cy="0"/>
        </a:xfrm>
      </p:grpSpPr>
      <p:sp>
        <p:nvSpPr>
          <p:cNvPr id="1405" name="Google Shape;1405;p97"/>
          <p:cNvSpPr txBox="1"/>
          <p:nvPr/>
        </p:nvSpPr>
        <p:spPr>
          <a:xfrm>
            <a:off x="581957" y="276563"/>
            <a:ext cx="9784317"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BO" sz="2800">
                <a:solidFill>
                  <a:schemeClr val="dk1"/>
                </a:solidFill>
                <a:latin typeface="Calibri"/>
                <a:ea typeface="Calibri"/>
                <a:cs typeface="Calibri"/>
                <a:sym typeface="Calibri"/>
              </a:rPr>
              <a:t>PRUEBAS DEL CONTROLADOR CON PERTURBACIÓN</a:t>
            </a:r>
            <a:endParaRPr/>
          </a:p>
        </p:txBody>
      </p:sp>
      <p:sp>
        <p:nvSpPr>
          <p:cNvPr id="1406" name="Google Shape;1406;p97"/>
          <p:cNvSpPr txBox="1"/>
          <p:nvPr/>
        </p:nvSpPr>
        <p:spPr>
          <a:xfrm>
            <a:off x="580580" y="729442"/>
            <a:ext cx="1098841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BO" sz="1800">
                <a:solidFill>
                  <a:schemeClr val="dk1"/>
                </a:solidFill>
                <a:latin typeface="Calibri"/>
                <a:ea typeface="Calibri"/>
                <a:cs typeface="Calibri"/>
                <a:sym typeface="Calibri"/>
              </a:rPr>
              <a:t>Perturbación a la salida </a:t>
            </a:r>
            <a:r>
              <a:rPr lang="es-BO" sz="1800">
                <a:solidFill>
                  <a:schemeClr val="dk1"/>
                </a:solidFill>
                <a:latin typeface="Calibri"/>
                <a:ea typeface="Calibri"/>
                <a:cs typeface="Calibri"/>
                <a:sym typeface="Calibri"/>
              </a:rPr>
              <a:t>→ abrir o cerrar la válvula de bola secundaria (</a:t>
            </a:r>
            <a:r>
              <a:rPr b="1" lang="es-BO" sz="1800">
                <a:solidFill>
                  <a:srgbClr val="0000FF"/>
                </a:solidFill>
                <a:latin typeface="Calibri"/>
                <a:ea typeface="Calibri"/>
                <a:cs typeface="Calibri"/>
                <a:sym typeface="Calibri"/>
              </a:rPr>
              <a:t>Perturbación 1</a:t>
            </a:r>
            <a:r>
              <a:rPr lang="es-BO" sz="1800">
                <a:solidFill>
                  <a:schemeClr val="dk1"/>
                </a:solidFill>
                <a:latin typeface="Calibri"/>
                <a:ea typeface="Calibri"/>
                <a:cs typeface="Calibri"/>
                <a:sym typeface="Calibri"/>
              </a:rPr>
              <a:t>)</a:t>
            </a:r>
            <a:endParaRPr/>
          </a:p>
        </p:txBody>
      </p:sp>
      <p:sp>
        <p:nvSpPr>
          <p:cNvPr id="1407" name="Google Shape;1407;p97"/>
          <p:cNvSpPr txBox="1"/>
          <p:nvPr/>
        </p:nvSpPr>
        <p:spPr>
          <a:xfrm>
            <a:off x="601795" y="1089307"/>
            <a:ext cx="1098841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BO" sz="1800">
                <a:solidFill>
                  <a:schemeClr val="dk1"/>
                </a:solidFill>
                <a:latin typeface="Calibri"/>
                <a:ea typeface="Calibri"/>
                <a:cs typeface="Calibri"/>
                <a:sym typeface="Calibri"/>
              </a:rPr>
              <a:t>Ruido de medición </a:t>
            </a:r>
            <a:r>
              <a:rPr lang="es-BO" sz="1800">
                <a:solidFill>
                  <a:schemeClr val="dk1"/>
                </a:solidFill>
                <a:latin typeface="Calibri"/>
                <a:ea typeface="Calibri"/>
                <a:cs typeface="Calibri"/>
                <a:sym typeface="Calibri"/>
              </a:rPr>
              <a:t>→ Pasar un objeto físico en el rango de detección del sensor de nivel (</a:t>
            </a:r>
            <a:r>
              <a:rPr b="1" lang="es-BO" sz="1800">
                <a:solidFill>
                  <a:srgbClr val="0000FF"/>
                </a:solidFill>
                <a:latin typeface="Calibri"/>
                <a:ea typeface="Calibri"/>
                <a:cs typeface="Calibri"/>
                <a:sym typeface="Calibri"/>
              </a:rPr>
              <a:t>Ruido de medición</a:t>
            </a:r>
            <a:r>
              <a:rPr lang="es-BO" sz="1800">
                <a:solidFill>
                  <a:schemeClr val="dk1"/>
                </a:solidFill>
                <a:latin typeface="Calibri"/>
                <a:ea typeface="Calibri"/>
                <a:cs typeface="Calibri"/>
                <a:sym typeface="Calibri"/>
              </a:rPr>
              <a:t>)</a:t>
            </a:r>
            <a:endParaRPr/>
          </a:p>
        </p:txBody>
      </p:sp>
      <p:grpSp>
        <p:nvGrpSpPr>
          <p:cNvPr id="1408" name="Google Shape;1408;p97"/>
          <p:cNvGrpSpPr/>
          <p:nvPr/>
        </p:nvGrpSpPr>
        <p:grpSpPr>
          <a:xfrm>
            <a:off x="918868" y="1651903"/>
            <a:ext cx="10311833" cy="4929534"/>
            <a:chOff x="669575" y="1458638"/>
            <a:chExt cx="8540549" cy="4269061"/>
          </a:xfrm>
        </p:grpSpPr>
        <p:pic>
          <p:nvPicPr>
            <p:cNvPr id="1409" name="Google Shape;1409;p97"/>
            <p:cNvPicPr preferRelativeResize="0"/>
            <p:nvPr/>
          </p:nvPicPr>
          <p:blipFill rotWithShape="1">
            <a:blip r:embed="rId3">
              <a:alphaModFix/>
            </a:blip>
            <a:srcRect b="9833" l="0" r="10727" t="10836"/>
            <a:stretch/>
          </p:blipFill>
          <p:spPr>
            <a:xfrm>
              <a:off x="669575" y="1458638"/>
              <a:ext cx="8540549" cy="4269061"/>
            </a:xfrm>
            <a:prstGeom prst="rect">
              <a:avLst/>
            </a:prstGeom>
            <a:noFill/>
            <a:ln>
              <a:noFill/>
            </a:ln>
          </p:spPr>
        </p:pic>
        <p:sp>
          <p:nvSpPr>
            <p:cNvPr id="1410" name="Google Shape;1410;p97"/>
            <p:cNvSpPr txBox="1"/>
            <p:nvPr/>
          </p:nvSpPr>
          <p:spPr>
            <a:xfrm>
              <a:off x="1105453" y="2279472"/>
              <a:ext cx="25400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rgbClr val="FFFF00"/>
                  </a:solidFill>
                  <a:latin typeface="Calibri"/>
                  <a:ea typeface="Calibri"/>
                  <a:cs typeface="Calibri"/>
                  <a:sym typeface="Calibri"/>
                </a:rPr>
                <a:t>Variable de control</a:t>
              </a:r>
              <a:endParaRPr/>
            </a:p>
          </p:txBody>
        </p:sp>
        <p:sp>
          <p:nvSpPr>
            <p:cNvPr id="1411" name="Google Shape;1411;p97"/>
            <p:cNvSpPr txBox="1"/>
            <p:nvPr/>
          </p:nvSpPr>
          <p:spPr>
            <a:xfrm>
              <a:off x="1013813" y="4550000"/>
              <a:ext cx="25400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rgbClr val="FFFF00"/>
                  </a:solidFill>
                  <a:latin typeface="Calibri"/>
                  <a:ea typeface="Calibri"/>
                  <a:cs typeface="Calibri"/>
                  <a:sym typeface="Calibri"/>
                </a:rPr>
                <a:t>Variable de proceso</a:t>
              </a:r>
              <a:endParaRPr/>
            </a:p>
          </p:txBody>
        </p:sp>
        <p:sp>
          <p:nvSpPr>
            <p:cNvPr id="1412" name="Google Shape;1412;p97"/>
            <p:cNvSpPr/>
            <p:nvPr/>
          </p:nvSpPr>
          <p:spPr>
            <a:xfrm rot="6739015">
              <a:off x="4489935" y="3956036"/>
              <a:ext cx="454225" cy="1187928"/>
            </a:xfrm>
            <a:prstGeom prst="leftBrace">
              <a:avLst>
                <a:gd fmla="val 0" name="adj1"/>
                <a:gd fmla="val 50000" name="adj2"/>
              </a:avLst>
            </a:prstGeom>
            <a:noFill/>
            <a:ln cap="flat" cmpd="sng" w="9525">
              <a:solidFill>
                <a:srgbClr val="7C5F9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13" name="Google Shape;1413;p97"/>
            <p:cNvSpPr txBox="1"/>
            <p:nvPr/>
          </p:nvSpPr>
          <p:spPr>
            <a:xfrm rot="1455683">
              <a:off x="4228326" y="4180537"/>
              <a:ext cx="25400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rgbClr val="FFFF00"/>
                  </a:solidFill>
                  <a:latin typeface="Calibri"/>
                  <a:ea typeface="Calibri"/>
                  <a:cs typeface="Calibri"/>
                  <a:sym typeface="Calibri"/>
                </a:rPr>
                <a:t>Perturbación 1</a:t>
              </a:r>
              <a:endParaRPr/>
            </a:p>
          </p:txBody>
        </p:sp>
        <p:cxnSp>
          <p:nvCxnSpPr>
            <p:cNvPr id="1414" name="Google Shape;1414;p97"/>
            <p:cNvCxnSpPr/>
            <p:nvPr/>
          </p:nvCxnSpPr>
          <p:spPr>
            <a:xfrm flipH="1" rot="10800000">
              <a:off x="6540500" y="4003586"/>
              <a:ext cx="584200" cy="361617"/>
            </a:xfrm>
            <a:prstGeom prst="straightConnector1">
              <a:avLst/>
            </a:prstGeom>
            <a:noFill/>
            <a:ln cap="flat" cmpd="sng" w="38100">
              <a:solidFill>
                <a:schemeClr val="accent4"/>
              </a:solidFill>
              <a:prstDash val="solid"/>
              <a:round/>
              <a:headEnd len="sm" w="sm" type="none"/>
              <a:tailEnd len="med" w="med" type="triangle"/>
            </a:ln>
            <a:effectLst>
              <a:outerShdw blurRad="40000" rotWithShape="0" dir="5400000" dist="23000">
                <a:srgbClr val="000000">
                  <a:alpha val="34901"/>
                </a:srgbClr>
              </a:outerShdw>
            </a:effectLst>
          </p:spPr>
        </p:cxnSp>
        <p:sp>
          <p:nvSpPr>
            <p:cNvPr id="1415" name="Google Shape;1415;p97"/>
            <p:cNvSpPr txBox="1"/>
            <p:nvPr/>
          </p:nvSpPr>
          <p:spPr>
            <a:xfrm>
              <a:off x="6339112" y="3617200"/>
              <a:ext cx="2540000" cy="3198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rgbClr val="FFFF00"/>
                  </a:solidFill>
                  <a:latin typeface="Calibri"/>
                  <a:ea typeface="Calibri"/>
                  <a:cs typeface="Calibri"/>
                  <a:sym typeface="Calibri"/>
                </a:rPr>
                <a:t>Ruido de medición</a:t>
              </a:r>
              <a:endParaRPr/>
            </a:p>
          </p:txBody>
        </p:sp>
      </p:grpSp>
    </p:spTree>
  </p:cSld>
  <p:clrMapOvr>
    <a:masterClrMapping/>
  </p:clrMapOvr>
  <p:transition spd="slow">
    <p:push/>
  </p:transition>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9" name="Shape 1419"/>
        <p:cNvGrpSpPr/>
        <p:nvPr/>
      </p:nvGrpSpPr>
      <p:grpSpPr>
        <a:xfrm>
          <a:off x="0" y="0"/>
          <a:ext cx="0" cy="0"/>
          <a:chOff x="0" y="0"/>
          <a:chExt cx="0" cy="0"/>
        </a:xfrm>
      </p:grpSpPr>
      <p:sp>
        <p:nvSpPr>
          <p:cNvPr id="1420" name="Google Shape;1420;p98"/>
          <p:cNvSpPr txBox="1"/>
          <p:nvPr/>
        </p:nvSpPr>
        <p:spPr>
          <a:xfrm>
            <a:off x="1272744" y="3012232"/>
            <a:ext cx="11233248"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BO" sz="3600">
                <a:solidFill>
                  <a:schemeClr val="dk1"/>
                </a:solidFill>
                <a:latin typeface="Calibri"/>
                <a:ea typeface="Calibri"/>
                <a:cs typeface="Calibri"/>
                <a:sym typeface="Calibri"/>
              </a:rPr>
              <a:t>DISEÑO DEL CONTROLADOR – DISCRETO</a:t>
            </a:r>
            <a:endParaRPr sz="3600">
              <a:solidFill>
                <a:schemeClr val="dk1"/>
              </a:solidFill>
              <a:latin typeface="Calibri"/>
              <a:ea typeface="Calibri"/>
              <a:cs typeface="Calibri"/>
              <a:sym typeface="Calibri"/>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4" name="Shape 1424"/>
        <p:cNvGrpSpPr/>
        <p:nvPr/>
      </p:nvGrpSpPr>
      <p:grpSpPr>
        <a:xfrm>
          <a:off x="0" y="0"/>
          <a:ext cx="0" cy="0"/>
          <a:chOff x="0" y="0"/>
          <a:chExt cx="0" cy="0"/>
        </a:xfrm>
      </p:grpSpPr>
      <p:sp>
        <p:nvSpPr>
          <p:cNvPr id="1425" name="Google Shape;1425;p99"/>
          <p:cNvSpPr txBox="1"/>
          <p:nvPr/>
        </p:nvSpPr>
        <p:spPr>
          <a:xfrm>
            <a:off x="551384" y="116632"/>
            <a:ext cx="1123324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BO" sz="2800">
                <a:solidFill>
                  <a:schemeClr val="dk1"/>
                </a:solidFill>
                <a:latin typeface="Calibri"/>
                <a:ea typeface="Calibri"/>
                <a:cs typeface="Calibri"/>
                <a:sym typeface="Calibri"/>
              </a:rPr>
              <a:t>Diseño del controlador – Función de transferencia a lazo abierto discreto</a:t>
            </a:r>
            <a:endParaRPr sz="2800">
              <a:solidFill>
                <a:schemeClr val="dk1"/>
              </a:solidFill>
              <a:latin typeface="Calibri"/>
              <a:ea typeface="Calibri"/>
              <a:cs typeface="Calibri"/>
              <a:sym typeface="Calibri"/>
            </a:endParaRPr>
          </a:p>
        </p:txBody>
      </p:sp>
      <p:sp>
        <p:nvSpPr>
          <p:cNvPr id="1426" name="Google Shape;1426;p99"/>
          <p:cNvSpPr txBox="1"/>
          <p:nvPr/>
        </p:nvSpPr>
        <p:spPr>
          <a:xfrm>
            <a:off x="1379476" y="872889"/>
            <a:ext cx="2448272" cy="703078"/>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sp>
        <p:nvSpPr>
          <p:cNvPr id="1427" name="Google Shape;1427;p99"/>
          <p:cNvSpPr txBox="1"/>
          <p:nvPr/>
        </p:nvSpPr>
        <p:spPr>
          <a:xfrm>
            <a:off x="491906" y="1843423"/>
            <a:ext cx="3910001" cy="646331"/>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1" lang="es-BO" sz="1800">
                <a:solidFill>
                  <a:schemeClr val="dk1"/>
                </a:solidFill>
                <a:latin typeface="Calibri"/>
                <a:ea typeface="Calibri"/>
                <a:cs typeface="Calibri"/>
                <a:sym typeface="Calibri"/>
              </a:rPr>
              <a:t>Si consideramos que pose </a:t>
            </a:r>
            <a:r>
              <a:rPr b="1" i="1" lang="es-BO" sz="1800">
                <a:solidFill>
                  <a:srgbClr val="0000FF"/>
                </a:solidFill>
                <a:latin typeface="Calibri"/>
                <a:ea typeface="Calibri"/>
                <a:cs typeface="Calibri"/>
                <a:sym typeface="Calibri"/>
              </a:rPr>
              <a:t>10 muestras </a:t>
            </a:r>
            <a:r>
              <a:rPr b="1" i="1" lang="es-BO" sz="1800">
                <a:solidFill>
                  <a:schemeClr val="dk1"/>
                </a:solidFill>
                <a:latin typeface="Calibri"/>
                <a:ea typeface="Calibri"/>
                <a:cs typeface="Calibri"/>
                <a:sym typeface="Calibri"/>
              </a:rPr>
              <a:t>por constante de tiempo</a:t>
            </a:r>
            <a:endParaRPr/>
          </a:p>
        </p:txBody>
      </p:sp>
      <p:sp>
        <p:nvSpPr>
          <p:cNvPr id="1428" name="Google Shape;1428;p99"/>
          <p:cNvSpPr txBox="1"/>
          <p:nvPr/>
        </p:nvSpPr>
        <p:spPr>
          <a:xfrm>
            <a:off x="331793" y="2869509"/>
            <a:ext cx="2952328" cy="627031"/>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sp>
        <p:nvSpPr>
          <p:cNvPr id="1429" name="Google Shape;1429;p99"/>
          <p:cNvSpPr txBox="1"/>
          <p:nvPr/>
        </p:nvSpPr>
        <p:spPr>
          <a:xfrm>
            <a:off x="551384" y="3748517"/>
            <a:ext cx="2952328" cy="697114"/>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sp>
        <p:nvSpPr>
          <p:cNvPr id="1430" name="Google Shape;1430;p99"/>
          <p:cNvSpPr txBox="1"/>
          <p:nvPr/>
        </p:nvSpPr>
        <p:spPr>
          <a:xfrm>
            <a:off x="1161496" y="5251858"/>
            <a:ext cx="2088232" cy="400110"/>
          </a:xfrm>
          <a:prstGeom prst="rect">
            <a:avLst/>
          </a:prstGeom>
          <a:blipFill rotWithShape="1">
            <a:blip r:embed="rId6">
              <a:alphaModFix/>
            </a:blip>
            <a:stretch>
              <a:fillRect b="-9229"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sp>
        <p:nvSpPr>
          <p:cNvPr id="1431" name="Google Shape;1431;p99"/>
          <p:cNvSpPr txBox="1"/>
          <p:nvPr/>
        </p:nvSpPr>
        <p:spPr>
          <a:xfrm>
            <a:off x="491906" y="4502822"/>
            <a:ext cx="221971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s-BO" sz="1800">
                <a:solidFill>
                  <a:schemeClr val="dk1"/>
                </a:solidFill>
                <a:latin typeface="Calibri"/>
                <a:ea typeface="Calibri"/>
                <a:cs typeface="Calibri"/>
                <a:sym typeface="Calibri"/>
              </a:rPr>
              <a:t>Periodo de muestreo</a:t>
            </a:r>
            <a:endParaRPr sz="1800">
              <a:solidFill>
                <a:schemeClr val="dk1"/>
              </a:solidFill>
              <a:latin typeface="Calibri"/>
              <a:ea typeface="Calibri"/>
              <a:cs typeface="Calibri"/>
              <a:sym typeface="Calibri"/>
            </a:endParaRPr>
          </a:p>
        </p:txBody>
      </p:sp>
      <p:sp>
        <p:nvSpPr>
          <p:cNvPr id="1432" name="Google Shape;1432;p99"/>
          <p:cNvSpPr txBox="1"/>
          <p:nvPr/>
        </p:nvSpPr>
        <p:spPr>
          <a:xfrm>
            <a:off x="7503060" y="845488"/>
            <a:ext cx="2448272" cy="709361"/>
          </a:xfrm>
          <a:prstGeom prst="rect">
            <a:avLst/>
          </a:pr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sp>
        <p:nvSpPr>
          <p:cNvPr id="1433" name="Google Shape;1433;p99"/>
          <p:cNvSpPr txBox="1"/>
          <p:nvPr/>
        </p:nvSpPr>
        <p:spPr>
          <a:xfrm>
            <a:off x="7680176" y="5796097"/>
            <a:ext cx="2658429"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s-BO" sz="1800">
                <a:solidFill>
                  <a:schemeClr val="dk1"/>
                </a:solidFill>
                <a:latin typeface="Calibri"/>
                <a:ea typeface="Calibri"/>
                <a:cs typeface="Calibri"/>
                <a:sym typeface="Calibri"/>
              </a:rPr>
              <a:t>Tiempo de asentamiento </a:t>
            </a:r>
            <a:endParaRPr/>
          </a:p>
          <a:p>
            <a:pPr indent="0" lvl="0" marL="0" marR="0" rtl="0" algn="ctr">
              <a:spcBef>
                <a:spcPts val="0"/>
              </a:spcBef>
              <a:spcAft>
                <a:spcPts val="0"/>
              </a:spcAft>
              <a:buNone/>
            </a:pPr>
            <a:r>
              <a:rPr b="1" i="1" lang="es-BO" sz="1800">
                <a:solidFill>
                  <a:schemeClr val="dk1"/>
                </a:solidFill>
                <a:latin typeface="Calibri"/>
                <a:ea typeface="Calibri"/>
                <a:cs typeface="Calibri"/>
                <a:sym typeface="Calibri"/>
              </a:rPr>
              <a:t>ts = 765 seg = 7,7 min </a:t>
            </a:r>
            <a:endParaRPr/>
          </a:p>
        </p:txBody>
      </p:sp>
      <p:pic>
        <p:nvPicPr>
          <p:cNvPr id="1434" name="Google Shape;1434;p99"/>
          <p:cNvPicPr preferRelativeResize="0"/>
          <p:nvPr/>
        </p:nvPicPr>
        <p:blipFill rotWithShape="1">
          <a:blip r:embed="rId8">
            <a:alphaModFix/>
          </a:blip>
          <a:srcRect b="0" l="0" r="0" t="0"/>
          <a:stretch/>
        </p:blipFill>
        <p:spPr>
          <a:xfrm>
            <a:off x="6168008" y="1575967"/>
            <a:ext cx="5334000" cy="4000500"/>
          </a:xfrm>
          <a:prstGeom prst="rect">
            <a:avLst/>
          </a:prstGeom>
          <a:noFill/>
          <a:ln>
            <a:noFill/>
          </a:ln>
        </p:spPr>
      </p:pic>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8" name="Shape 1438"/>
        <p:cNvGrpSpPr/>
        <p:nvPr/>
      </p:nvGrpSpPr>
      <p:grpSpPr>
        <a:xfrm>
          <a:off x="0" y="0"/>
          <a:ext cx="0" cy="0"/>
          <a:chOff x="0" y="0"/>
          <a:chExt cx="0" cy="0"/>
        </a:xfrm>
      </p:grpSpPr>
      <p:sp>
        <p:nvSpPr>
          <p:cNvPr id="1439" name="Google Shape;1439;p100"/>
          <p:cNvSpPr txBox="1"/>
          <p:nvPr/>
        </p:nvSpPr>
        <p:spPr>
          <a:xfrm>
            <a:off x="551384" y="116632"/>
            <a:ext cx="1123324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BO" sz="2800">
                <a:solidFill>
                  <a:schemeClr val="dk1"/>
                </a:solidFill>
                <a:latin typeface="Calibri"/>
                <a:ea typeface="Calibri"/>
                <a:cs typeface="Calibri"/>
                <a:sym typeface="Calibri"/>
              </a:rPr>
              <a:t>Diseño del controlador – Discretización de Reguladores Continuos</a:t>
            </a:r>
            <a:endParaRPr sz="2800">
              <a:solidFill>
                <a:schemeClr val="dk1"/>
              </a:solidFill>
              <a:latin typeface="Calibri"/>
              <a:ea typeface="Calibri"/>
              <a:cs typeface="Calibri"/>
              <a:sym typeface="Calibri"/>
            </a:endParaRPr>
          </a:p>
        </p:txBody>
      </p:sp>
      <p:sp>
        <p:nvSpPr>
          <p:cNvPr id="1440" name="Google Shape;1440;p100"/>
          <p:cNvSpPr txBox="1"/>
          <p:nvPr/>
        </p:nvSpPr>
        <p:spPr>
          <a:xfrm>
            <a:off x="423873" y="822025"/>
            <a:ext cx="4968552"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s-BO" sz="1800">
                <a:solidFill>
                  <a:schemeClr val="dk1"/>
                </a:solidFill>
                <a:latin typeface="Calibri"/>
                <a:ea typeface="Calibri"/>
                <a:cs typeface="Calibri"/>
                <a:sym typeface="Calibri"/>
              </a:rPr>
              <a:t>Recalculando las ganancias del controlador PID </a:t>
            </a:r>
            <a:endParaRPr/>
          </a:p>
          <a:p>
            <a:pPr indent="0" lvl="0" marL="0" marR="0" rtl="0" algn="ctr">
              <a:spcBef>
                <a:spcPts val="0"/>
              </a:spcBef>
              <a:spcAft>
                <a:spcPts val="0"/>
              </a:spcAft>
              <a:buNone/>
            </a:pPr>
            <a:r>
              <a:rPr b="1" i="1" lang="es-BO" sz="1800">
                <a:solidFill>
                  <a:schemeClr val="dk1"/>
                </a:solidFill>
                <a:latin typeface="Calibri"/>
                <a:ea typeface="Calibri"/>
                <a:cs typeface="Calibri"/>
                <a:sym typeface="Calibri"/>
              </a:rPr>
              <a:t>Para tiempo discreto</a:t>
            </a:r>
            <a:endParaRPr/>
          </a:p>
        </p:txBody>
      </p:sp>
      <p:sp>
        <p:nvSpPr>
          <p:cNvPr id="1441" name="Google Shape;1441;p100"/>
          <p:cNvSpPr txBox="1"/>
          <p:nvPr/>
        </p:nvSpPr>
        <p:spPr>
          <a:xfrm>
            <a:off x="710767" y="1878973"/>
            <a:ext cx="5056936" cy="478272"/>
          </a:xfrm>
          <a:prstGeom prst="rect">
            <a:avLst/>
          </a:prstGeom>
          <a:blipFill rotWithShape="1">
            <a:blip r:embed="rId3">
              <a:alphaModFix/>
            </a:blip>
            <a:stretch>
              <a:fillRect b="-7594" l="0" r="0" t="-379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sp>
        <p:nvSpPr>
          <p:cNvPr id="1442" name="Google Shape;1442;p100"/>
          <p:cNvSpPr txBox="1"/>
          <p:nvPr/>
        </p:nvSpPr>
        <p:spPr>
          <a:xfrm>
            <a:off x="710767" y="1511170"/>
            <a:ext cx="2664296" cy="360612"/>
          </a:xfrm>
          <a:prstGeom prst="rect">
            <a:avLst/>
          </a:prstGeom>
          <a:blipFill rotWithShape="1">
            <a:blip r:embed="rId4">
              <a:alphaModFix/>
            </a:blip>
            <a:stretch>
              <a:fillRect b="-1694"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sp>
        <p:nvSpPr>
          <p:cNvPr id="1443" name="Google Shape;1443;p100"/>
          <p:cNvSpPr txBox="1"/>
          <p:nvPr/>
        </p:nvSpPr>
        <p:spPr>
          <a:xfrm>
            <a:off x="423873" y="3234017"/>
            <a:ext cx="5056936"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s-BO" sz="1800">
                <a:solidFill>
                  <a:schemeClr val="dk1"/>
                </a:solidFill>
                <a:latin typeface="Calibri"/>
                <a:ea typeface="Calibri"/>
                <a:cs typeface="Calibri"/>
                <a:sym typeface="Calibri"/>
              </a:rPr>
              <a:t>Hallando las constantes del Controlador PID digital:</a:t>
            </a:r>
            <a:endParaRPr/>
          </a:p>
        </p:txBody>
      </p:sp>
      <p:sp>
        <p:nvSpPr>
          <p:cNvPr id="1444" name="Google Shape;1444;p100"/>
          <p:cNvSpPr txBox="1"/>
          <p:nvPr/>
        </p:nvSpPr>
        <p:spPr>
          <a:xfrm>
            <a:off x="783056" y="4601871"/>
            <a:ext cx="3637182" cy="645561"/>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sp>
        <p:nvSpPr>
          <p:cNvPr id="1445" name="Google Shape;1445;p100"/>
          <p:cNvSpPr txBox="1"/>
          <p:nvPr/>
        </p:nvSpPr>
        <p:spPr>
          <a:xfrm>
            <a:off x="1190031" y="2740726"/>
            <a:ext cx="2088232" cy="338554"/>
          </a:xfrm>
          <a:prstGeom prst="rect">
            <a:avLst/>
          </a:prstGeom>
          <a:blipFill rotWithShape="1">
            <a:blip r:embed="rId6">
              <a:alphaModFix/>
            </a:blip>
            <a:stretch>
              <a:fillRect b="-3635"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sp>
        <p:nvSpPr>
          <p:cNvPr id="1446" name="Google Shape;1446;p100"/>
          <p:cNvSpPr txBox="1"/>
          <p:nvPr/>
        </p:nvSpPr>
        <p:spPr>
          <a:xfrm>
            <a:off x="826919" y="3672501"/>
            <a:ext cx="3637182" cy="645561"/>
          </a:xfrm>
          <a:prstGeom prst="rect">
            <a:avLst/>
          </a:pr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sp>
        <p:nvSpPr>
          <p:cNvPr id="1447" name="Google Shape;1447;p100"/>
          <p:cNvSpPr txBox="1"/>
          <p:nvPr/>
        </p:nvSpPr>
        <p:spPr>
          <a:xfrm>
            <a:off x="818602" y="4289129"/>
            <a:ext cx="3637182" cy="360612"/>
          </a:xfrm>
          <a:prstGeom prst="rect">
            <a:avLst/>
          </a:prstGeom>
          <a:blipFill rotWithShape="1">
            <a:blip r:embed="rId8">
              <a:alphaModFix/>
            </a:blip>
            <a:stretch>
              <a:fillRect b="-5083"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sp>
        <p:nvSpPr>
          <p:cNvPr id="1448" name="Google Shape;1448;p100"/>
          <p:cNvSpPr txBox="1"/>
          <p:nvPr/>
        </p:nvSpPr>
        <p:spPr>
          <a:xfrm>
            <a:off x="558563" y="2352295"/>
            <a:ext cx="1003096" cy="338554"/>
          </a:xfrm>
          <a:prstGeom prst="rect">
            <a:avLst/>
          </a:prstGeom>
          <a:blipFill rotWithShape="1">
            <a:blip r:embed="rId9">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sp>
        <p:nvSpPr>
          <p:cNvPr id="1449" name="Google Shape;1449;p100"/>
          <p:cNvSpPr txBox="1"/>
          <p:nvPr/>
        </p:nvSpPr>
        <p:spPr>
          <a:xfrm>
            <a:off x="6096000" y="1279181"/>
            <a:ext cx="4968552" cy="645561"/>
          </a:xfrm>
          <a:prstGeom prst="rect">
            <a:avLst/>
          </a:prstGeom>
          <a:blipFill rotWithShape="1">
            <a:blip r:embed="rId10">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sp>
        <p:nvSpPr>
          <p:cNvPr id="1450" name="Google Shape;1450;p100"/>
          <p:cNvSpPr txBox="1"/>
          <p:nvPr/>
        </p:nvSpPr>
        <p:spPr>
          <a:xfrm>
            <a:off x="6087156" y="2001462"/>
            <a:ext cx="5943600" cy="645561"/>
          </a:xfrm>
          <a:prstGeom prst="rect">
            <a:avLst/>
          </a:prstGeom>
          <a:blipFill rotWithShape="1">
            <a:blip r:embed="rId11">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sp>
        <p:nvSpPr>
          <p:cNvPr id="1451" name="Google Shape;1451;p100"/>
          <p:cNvSpPr txBox="1"/>
          <p:nvPr/>
        </p:nvSpPr>
        <p:spPr>
          <a:xfrm>
            <a:off x="6168008" y="2716522"/>
            <a:ext cx="5943600" cy="338554"/>
          </a:xfrm>
          <a:prstGeom prst="rect">
            <a:avLst/>
          </a:prstGeom>
          <a:blipFill rotWithShape="1">
            <a:blip r:embed="rId12">
              <a:alphaModFix/>
            </a:blip>
            <a:stretch>
              <a:fillRect b="-3635"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sp>
        <p:nvSpPr>
          <p:cNvPr id="1452" name="Google Shape;1452;p100"/>
          <p:cNvSpPr txBox="1"/>
          <p:nvPr/>
        </p:nvSpPr>
        <p:spPr>
          <a:xfrm>
            <a:off x="652985" y="5864856"/>
            <a:ext cx="10513168" cy="430887"/>
          </a:xfrm>
          <a:prstGeom prst="rect">
            <a:avLst/>
          </a:prstGeom>
          <a:blipFill rotWithShape="1">
            <a:blip r:embed="rId1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sp>
        <p:nvSpPr>
          <p:cNvPr id="1453" name="Google Shape;1453;p100"/>
          <p:cNvSpPr txBox="1"/>
          <p:nvPr/>
        </p:nvSpPr>
        <p:spPr>
          <a:xfrm>
            <a:off x="2747628" y="5339417"/>
            <a:ext cx="6021768"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s-BO" sz="1800">
                <a:solidFill>
                  <a:schemeClr val="dk1"/>
                </a:solidFill>
                <a:latin typeface="Calibri"/>
                <a:ea typeface="Calibri"/>
                <a:cs typeface="Calibri"/>
                <a:sym typeface="Calibri"/>
              </a:rPr>
              <a:t>La ley de control a la salida del PID entonces es:</a:t>
            </a:r>
            <a:endParaRPr/>
          </a:p>
        </p:txBody>
      </p:sp>
      <p:grpSp>
        <p:nvGrpSpPr>
          <p:cNvPr id="1454" name="Google Shape;1454;p100"/>
          <p:cNvGrpSpPr/>
          <p:nvPr/>
        </p:nvGrpSpPr>
        <p:grpSpPr>
          <a:xfrm>
            <a:off x="6772628" y="3234017"/>
            <a:ext cx="3307590" cy="1806789"/>
            <a:chOff x="5267450" y="3124575"/>
            <a:chExt cx="3307590" cy="1806789"/>
          </a:xfrm>
        </p:grpSpPr>
        <p:sp>
          <p:nvSpPr>
            <p:cNvPr id="1455" name="Google Shape;1455;p100"/>
            <p:cNvSpPr txBox="1"/>
            <p:nvPr/>
          </p:nvSpPr>
          <p:spPr>
            <a:xfrm>
              <a:off x="5527928" y="3317329"/>
              <a:ext cx="2092960" cy="646331"/>
            </a:xfrm>
            <a:prstGeom prst="rect">
              <a:avLst/>
            </a:prstGeom>
            <a:blipFill rotWithShape="1">
              <a:blip r:embed="rId1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sp>
          <p:nvSpPr>
            <p:cNvPr id="1456" name="Google Shape;1456;p100"/>
            <p:cNvSpPr txBox="1"/>
            <p:nvPr/>
          </p:nvSpPr>
          <p:spPr>
            <a:xfrm>
              <a:off x="5758512" y="3718615"/>
              <a:ext cx="1808480" cy="369332"/>
            </a:xfrm>
            <a:prstGeom prst="rect">
              <a:avLst/>
            </a:prstGeom>
            <a:blipFill rotWithShape="1">
              <a:blip r:embed="rId15">
                <a:alphaModFix/>
              </a:blip>
              <a:stretch>
                <a:fillRect b="-4916"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sp>
          <p:nvSpPr>
            <p:cNvPr id="1457" name="Google Shape;1457;p100"/>
            <p:cNvSpPr txBox="1"/>
            <p:nvPr/>
          </p:nvSpPr>
          <p:spPr>
            <a:xfrm>
              <a:off x="5670168" y="4155103"/>
              <a:ext cx="1808480" cy="369332"/>
            </a:xfrm>
            <a:prstGeom prst="rect">
              <a:avLst/>
            </a:prstGeom>
            <a:blipFill rotWithShape="1">
              <a:blip r:embed="rId16">
                <a:alphaModFix/>
              </a:blip>
              <a:stretch>
                <a:fillRect b="-6666"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sp>
          <p:nvSpPr>
            <p:cNvPr id="1458" name="Google Shape;1458;p100"/>
            <p:cNvSpPr/>
            <p:nvPr/>
          </p:nvSpPr>
          <p:spPr>
            <a:xfrm>
              <a:off x="5267450" y="3124575"/>
              <a:ext cx="3307590" cy="1806789"/>
            </a:xfrm>
            <a:prstGeom prst="rect">
              <a:avLst/>
            </a:prstGeom>
            <a:noFill/>
            <a:ln cap="flat" cmpd="sng" w="25400">
              <a:solidFill>
                <a:schemeClr val="dk1"/>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2" name="Shape 1462"/>
        <p:cNvGrpSpPr/>
        <p:nvPr/>
      </p:nvGrpSpPr>
      <p:grpSpPr>
        <a:xfrm>
          <a:off x="0" y="0"/>
          <a:ext cx="0" cy="0"/>
          <a:chOff x="0" y="0"/>
          <a:chExt cx="0" cy="0"/>
        </a:xfrm>
      </p:grpSpPr>
      <p:sp>
        <p:nvSpPr>
          <p:cNvPr id="1463" name="Google Shape;1463;p101"/>
          <p:cNvSpPr txBox="1"/>
          <p:nvPr/>
        </p:nvSpPr>
        <p:spPr>
          <a:xfrm>
            <a:off x="479376" y="153472"/>
            <a:ext cx="1123324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BO" sz="2800">
                <a:solidFill>
                  <a:schemeClr val="dk1"/>
                </a:solidFill>
                <a:latin typeface="Calibri"/>
                <a:ea typeface="Calibri"/>
                <a:cs typeface="Calibri"/>
                <a:sym typeface="Calibri"/>
              </a:rPr>
              <a:t>Realizando simulación en Matlab – Script(</a:t>
            </a:r>
            <a:r>
              <a:rPr b="1" lang="es-BO" sz="2800">
                <a:solidFill>
                  <a:srgbClr val="0000FF"/>
                </a:solidFill>
                <a:latin typeface="Calibri"/>
                <a:ea typeface="Calibri"/>
                <a:cs typeface="Calibri"/>
                <a:sym typeface="Calibri"/>
              </a:rPr>
              <a:t>ControlPI.m</a:t>
            </a:r>
            <a:r>
              <a:rPr b="1" lang="es-BO" sz="2800">
                <a:solidFill>
                  <a:schemeClr val="dk1"/>
                </a:solidFill>
                <a:latin typeface="Calibri"/>
                <a:ea typeface="Calibri"/>
                <a:cs typeface="Calibri"/>
                <a:sym typeface="Calibri"/>
              </a:rPr>
              <a:t>)</a:t>
            </a:r>
            <a:endParaRPr sz="2800">
              <a:solidFill>
                <a:schemeClr val="dk1"/>
              </a:solidFill>
              <a:latin typeface="Calibri"/>
              <a:ea typeface="Calibri"/>
              <a:cs typeface="Calibri"/>
              <a:sym typeface="Calibri"/>
            </a:endParaRPr>
          </a:p>
        </p:txBody>
      </p:sp>
      <p:sp>
        <p:nvSpPr>
          <p:cNvPr id="1464" name="Google Shape;1464;p101"/>
          <p:cNvSpPr txBox="1"/>
          <p:nvPr/>
        </p:nvSpPr>
        <p:spPr>
          <a:xfrm>
            <a:off x="8212435" y="1065311"/>
            <a:ext cx="3788221"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s-BO" sz="1800">
                <a:solidFill>
                  <a:srgbClr val="0000FF"/>
                </a:solidFill>
                <a:latin typeface="Calibri"/>
                <a:ea typeface="Calibri"/>
                <a:cs typeface="Calibri"/>
                <a:sym typeface="Calibri"/>
              </a:rPr>
              <a:t>Línea azul</a:t>
            </a:r>
            <a:r>
              <a:rPr i="1" lang="es-BO" sz="1800">
                <a:solidFill>
                  <a:schemeClr val="dk1"/>
                </a:solidFill>
                <a:latin typeface="Calibri"/>
                <a:ea typeface="Calibri"/>
                <a:cs typeface="Calibri"/>
                <a:sym typeface="Calibri"/>
              </a:rPr>
              <a:t>, respuesta a lazo abierto </a:t>
            </a:r>
            <a:endParaRPr/>
          </a:p>
          <a:p>
            <a:pPr indent="0" lvl="0" marL="0" marR="0" rtl="0" algn="l">
              <a:spcBef>
                <a:spcPts val="0"/>
              </a:spcBef>
              <a:spcAft>
                <a:spcPts val="0"/>
              </a:spcAft>
              <a:buNone/>
            </a:pPr>
            <a:r>
              <a:rPr i="1" lang="es-BO" sz="1800">
                <a:solidFill>
                  <a:schemeClr val="dk1"/>
                </a:solidFill>
                <a:latin typeface="Calibri"/>
                <a:ea typeface="Calibri"/>
                <a:cs typeface="Calibri"/>
                <a:sym typeface="Calibri"/>
              </a:rPr>
              <a:t>Línea negra, respuesta a lazo cerrado</a:t>
            </a:r>
            <a:endParaRPr/>
          </a:p>
          <a:p>
            <a:pPr indent="0" lvl="0" marL="0" marR="0" rtl="0" algn="just">
              <a:spcBef>
                <a:spcPts val="0"/>
              </a:spcBef>
              <a:spcAft>
                <a:spcPts val="0"/>
              </a:spcAft>
              <a:buNone/>
            </a:pPr>
            <a:r>
              <a:rPr i="1" lang="es-BO" sz="1800">
                <a:solidFill>
                  <a:srgbClr val="FF0000"/>
                </a:solidFill>
                <a:latin typeface="Calibri"/>
                <a:ea typeface="Calibri"/>
                <a:cs typeface="Calibri"/>
                <a:sym typeface="Calibri"/>
              </a:rPr>
              <a:t>Línea roja</a:t>
            </a:r>
            <a:r>
              <a:rPr i="1" lang="es-BO" sz="1800">
                <a:solidFill>
                  <a:schemeClr val="dk1"/>
                </a:solidFill>
                <a:latin typeface="Calibri"/>
                <a:ea typeface="Calibri"/>
                <a:cs typeface="Calibri"/>
                <a:sym typeface="Calibri"/>
              </a:rPr>
              <a:t>, referencia </a:t>
            </a:r>
            <a:endParaRPr/>
          </a:p>
        </p:txBody>
      </p:sp>
      <p:sp>
        <p:nvSpPr>
          <p:cNvPr id="1465" name="Google Shape;1465;p101"/>
          <p:cNvSpPr txBox="1"/>
          <p:nvPr/>
        </p:nvSpPr>
        <p:spPr>
          <a:xfrm>
            <a:off x="8255185" y="2538179"/>
            <a:ext cx="3529447"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s-BO" sz="1800">
                <a:solidFill>
                  <a:srgbClr val="00FF00"/>
                </a:solidFill>
                <a:latin typeface="Calibri"/>
                <a:ea typeface="Calibri"/>
                <a:cs typeface="Calibri"/>
                <a:sym typeface="Calibri"/>
              </a:rPr>
              <a:t>Línea verde</a:t>
            </a:r>
            <a:r>
              <a:rPr i="1" lang="es-BO" sz="1800">
                <a:solidFill>
                  <a:schemeClr val="dk1"/>
                </a:solidFill>
                <a:latin typeface="Calibri"/>
                <a:ea typeface="Calibri"/>
                <a:cs typeface="Calibri"/>
                <a:sym typeface="Calibri"/>
              </a:rPr>
              <a:t>, control sin tomar en cuenta</a:t>
            </a:r>
            <a:endParaRPr/>
          </a:p>
        </p:txBody>
      </p:sp>
      <p:sp>
        <p:nvSpPr>
          <p:cNvPr id="1466" name="Google Shape;1466;p101"/>
          <p:cNvSpPr txBox="1"/>
          <p:nvPr/>
        </p:nvSpPr>
        <p:spPr>
          <a:xfrm>
            <a:off x="8212435" y="3879661"/>
            <a:ext cx="330176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s-BO" sz="1800">
                <a:solidFill>
                  <a:srgbClr val="FF0000"/>
                </a:solidFill>
                <a:latin typeface="Calibri"/>
                <a:ea typeface="Calibri"/>
                <a:cs typeface="Calibri"/>
                <a:sym typeface="Calibri"/>
              </a:rPr>
              <a:t>Línea roja</a:t>
            </a:r>
            <a:r>
              <a:rPr i="1" lang="es-BO" sz="1800">
                <a:solidFill>
                  <a:schemeClr val="dk1"/>
                </a:solidFill>
                <a:latin typeface="Calibri"/>
                <a:ea typeface="Calibri"/>
                <a:cs typeface="Calibri"/>
                <a:sym typeface="Calibri"/>
              </a:rPr>
              <a:t>, integral de error</a:t>
            </a:r>
            <a:endParaRPr/>
          </a:p>
        </p:txBody>
      </p:sp>
      <p:sp>
        <p:nvSpPr>
          <p:cNvPr id="1467" name="Google Shape;1467;p101"/>
          <p:cNvSpPr txBox="1"/>
          <p:nvPr/>
        </p:nvSpPr>
        <p:spPr>
          <a:xfrm>
            <a:off x="708877" y="5259541"/>
            <a:ext cx="10805321" cy="92333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i="1" lang="es-BO" sz="1800">
                <a:solidFill>
                  <a:schemeClr val="dk1"/>
                </a:solidFill>
                <a:latin typeface="Calibri"/>
                <a:ea typeface="Calibri"/>
                <a:cs typeface="Calibri"/>
                <a:sym typeface="Calibri"/>
              </a:rPr>
              <a:t>Con el control se pretende que a cualquier nivel de referencia dada, este cumpla el tiempo de establecimiento deseado. Si se toma idealmente los elementos de control, es decir no tiene limitaciones cumplirá con el objetivo del diseño como el caso mostrado en la grafica.</a:t>
            </a:r>
            <a:endParaRPr/>
          </a:p>
        </p:txBody>
      </p:sp>
      <p:pic>
        <p:nvPicPr>
          <p:cNvPr id="1468" name="Google Shape;1468;p101"/>
          <p:cNvPicPr preferRelativeResize="0"/>
          <p:nvPr/>
        </p:nvPicPr>
        <p:blipFill rotWithShape="1">
          <a:blip r:embed="rId3">
            <a:alphaModFix/>
          </a:blip>
          <a:srcRect b="0" l="0" r="0" t="0"/>
          <a:stretch/>
        </p:blipFill>
        <p:spPr>
          <a:xfrm>
            <a:off x="-312712" y="548680"/>
            <a:ext cx="9435401" cy="4843317"/>
          </a:xfrm>
          <a:prstGeom prst="rect">
            <a:avLst/>
          </a:prstGeom>
          <a:noFill/>
          <a:ln>
            <a:noFill/>
          </a:ln>
        </p:spPr>
      </p:pic>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2" name="Shape 1472"/>
        <p:cNvGrpSpPr/>
        <p:nvPr/>
      </p:nvGrpSpPr>
      <p:grpSpPr>
        <a:xfrm>
          <a:off x="0" y="0"/>
          <a:ext cx="0" cy="0"/>
          <a:chOff x="0" y="0"/>
          <a:chExt cx="0" cy="0"/>
        </a:xfrm>
      </p:grpSpPr>
      <p:sp>
        <p:nvSpPr>
          <p:cNvPr id="1473" name="Google Shape;1473;p102"/>
          <p:cNvSpPr txBox="1"/>
          <p:nvPr/>
        </p:nvSpPr>
        <p:spPr>
          <a:xfrm>
            <a:off x="129353" y="165651"/>
            <a:ext cx="1123324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BO" sz="2800">
                <a:solidFill>
                  <a:schemeClr val="dk1"/>
                </a:solidFill>
                <a:latin typeface="Calibri"/>
                <a:ea typeface="Calibri"/>
                <a:cs typeface="Calibri"/>
                <a:sym typeface="Calibri"/>
              </a:rPr>
              <a:t>Realizando simulación en Matlab- Considerando la saturación del actuador</a:t>
            </a:r>
            <a:endParaRPr sz="2800">
              <a:solidFill>
                <a:schemeClr val="dk1"/>
              </a:solidFill>
              <a:latin typeface="Calibri"/>
              <a:ea typeface="Calibri"/>
              <a:cs typeface="Calibri"/>
              <a:sym typeface="Calibri"/>
            </a:endParaRPr>
          </a:p>
        </p:txBody>
      </p:sp>
      <p:pic>
        <p:nvPicPr>
          <p:cNvPr id="1474" name="Google Shape;1474;p102"/>
          <p:cNvPicPr preferRelativeResize="0"/>
          <p:nvPr/>
        </p:nvPicPr>
        <p:blipFill rotWithShape="1">
          <a:blip r:embed="rId3">
            <a:alphaModFix/>
          </a:blip>
          <a:srcRect b="0" l="0" r="0" t="0"/>
          <a:stretch/>
        </p:blipFill>
        <p:spPr>
          <a:xfrm>
            <a:off x="300175" y="527539"/>
            <a:ext cx="10625487" cy="5179925"/>
          </a:xfrm>
          <a:prstGeom prst="rect">
            <a:avLst/>
          </a:prstGeom>
          <a:noFill/>
          <a:ln>
            <a:noFill/>
          </a:ln>
        </p:spPr>
      </p:pic>
      <p:sp>
        <p:nvSpPr>
          <p:cNvPr id="1475" name="Google Shape;1475;p102"/>
          <p:cNvSpPr txBox="1"/>
          <p:nvPr/>
        </p:nvSpPr>
        <p:spPr>
          <a:xfrm>
            <a:off x="756139" y="5522798"/>
            <a:ext cx="10777284"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s-BO" sz="1800">
                <a:solidFill>
                  <a:srgbClr val="00FF00"/>
                </a:solidFill>
                <a:latin typeface="Calibri"/>
                <a:ea typeface="Calibri"/>
                <a:cs typeface="Calibri"/>
                <a:sym typeface="Calibri"/>
              </a:rPr>
              <a:t>La señal de control </a:t>
            </a:r>
            <a:r>
              <a:rPr i="1" lang="es-BO" sz="1800">
                <a:solidFill>
                  <a:schemeClr val="dk1"/>
                </a:solidFill>
                <a:latin typeface="Calibri"/>
                <a:ea typeface="Calibri"/>
                <a:cs typeface="Calibri"/>
                <a:sym typeface="Calibri"/>
              </a:rPr>
              <a:t>por la saturación en este caso de 40 Hz, produce que la acción integral se sobre cargue y por consiguiente la respuesta no es la deseada</a:t>
            </a:r>
            <a:endParaRPr sz="1800">
              <a:solidFill>
                <a:srgbClr val="00FF00"/>
              </a:solidFill>
              <a:latin typeface="Calibri"/>
              <a:ea typeface="Calibri"/>
              <a:cs typeface="Calibri"/>
              <a:sym typeface="Calibri"/>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9" name="Shape 1479"/>
        <p:cNvGrpSpPr/>
        <p:nvPr/>
      </p:nvGrpSpPr>
      <p:grpSpPr>
        <a:xfrm>
          <a:off x="0" y="0"/>
          <a:ext cx="0" cy="0"/>
          <a:chOff x="0" y="0"/>
          <a:chExt cx="0" cy="0"/>
        </a:xfrm>
      </p:grpSpPr>
      <p:sp>
        <p:nvSpPr>
          <p:cNvPr id="1480" name="Google Shape;1480;p103"/>
          <p:cNvSpPr txBox="1"/>
          <p:nvPr/>
        </p:nvSpPr>
        <p:spPr>
          <a:xfrm>
            <a:off x="129353" y="165651"/>
            <a:ext cx="1123324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BO" sz="2800">
                <a:solidFill>
                  <a:schemeClr val="dk1"/>
                </a:solidFill>
                <a:latin typeface="Calibri"/>
                <a:ea typeface="Calibri"/>
                <a:cs typeface="Calibri"/>
                <a:sym typeface="Calibri"/>
              </a:rPr>
              <a:t>Realizando simulación en Matlab- Metodo Anti Wind  Up</a:t>
            </a:r>
            <a:endParaRPr sz="2800">
              <a:solidFill>
                <a:schemeClr val="dk1"/>
              </a:solidFill>
              <a:latin typeface="Calibri"/>
              <a:ea typeface="Calibri"/>
              <a:cs typeface="Calibri"/>
              <a:sym typeface="Calibri"/>
            </a:endParaRPr>
          </a:p>
        </p:txBody>
      </p:sp>
      <p:pic>
        <p:nvPicPr>
          <p:cNvPr id="1481" name="Google Shape;1481;p103"/>
          <p:cNvPicPr preferRelativeResize="0"/>
          <p:nvPr/>
        </p:nvPicPr>
        <p:blipFill rotWithShape="1">
          <a:blip r:embed="rId3">
            <a:alphaModFix/>
          </a:blip>
          <a:srcRect b="0" l="0" r="0" t="0"/>
          <a:stretch/>
        </p:blipFill>
        <p:spPr>
          <a:xfrm>
            <a:off x="0" y="427261"/>
            <a:ext cx="11305684" cy="5511521"/>
          </a:xfrm>
          <a:prstGeom prst="rect">
            <a:avLst/>
          </a:prstGeom>
          <a:noFill/>
          <a:ln>
            <a:noFill/>
          </a:ln>
        </p:spPr>
      </p:pic>
      <p:sp>
        <p:nvSpPr>
          <p:cNvPr id="1482" name="Google Shape;1482;p103"/>
          <p:cNvSpPr txBox="1"/>
          <p:nvPr/>
        </p:nvSpPr>
        <p:spPr>
          <a:xfrm>
            <a:off x="756139" y="5522798"/>
            <a:ext cx="10777284"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s-BO" sz="1800">
                <a:solidFill>
                  <a:schemeClr val="dk1"/>
                </a:solidFill>
                <a:latin typeface="Calibri"/>
                <a:ea typeface="Calibri"/>
                <a:cs typeface="Calibri"/>
                <a:sym typeface="Calibri"/>
              </a:rPr>
              <a:t>Cuando la </a:t>
            </a:r>
            <a:r>
              <a:rPr b="1" i="1" lang="es-BO" sz="1800">
                <a:solidFill>
                  <a:schemeClr val="dk1"/>
                </a:solidFill>
                <a:latin typeface="Calibri"/>
                <a:ea typeface="Calibri"/>
                <a:cs typeface="Calibri"/>
                <a:sym typeface="Calibri"/>
              </a:rPr>
              <a:t>respuesta a lazo cerrado </a:t>
            </a:r>
            <a:r>
              <a:rPr i="1" lang="es-BO" sz="1800">
                <a:solidFill>
                  <a:schemeClr val="dk1"/>
                </a:solidFill>
                <a:latin typeface="Calibri"/>
                <a:ea typeface="Calibri"/>
                <a:cs typeface="Calibri"/>
                <a:sym typeface="Calibri"/>
              </a:rPr>
              <a:t>alcanza la </a:t>
            </a:r>
            <a:r>
              <a:rPr i="1" lang="es-BO" sz="1800">
                <a:solidFill>
                  <a:srgbClr val="FF0000"/>
                </a:solidFill>
                <a:latin typeface="Calibri"/>
                <a:ea typeface="Calibri"/>
                <a:cs typeface="Calibri"/>
                <a:sym typeface="Calibri"/>
              </a:rPr>
              <a:t>referencia</a:t>
            </a:r>
            <a:r>
              <a:rPr i="1" lang="es-BO" sz="1800">
                <a:solidFill>
                  <a:schemeClr val="dk1"/>
                </a:solidFill>
                <a:latin typeface="Calibri"/>
                <a:ea typeface="Calibri"/>
                <a:cs typeface="Calibri"/>
                <a:sym typeface="Calibri"/>
              </a:rPr>
              <a:t>, la acción integral no aumentara mas de lo debido por efecto de la </a:t>
            </a:r>
            <a:r>
              <a:rPr i="1" lang="es-BO" sz="1800">
                <a:solidFill>
                  <a:srgbClr val="00FF00"/>
                </a:solidFill>
                <a:latin typeface="Calibri"/>
                <a:ea typeface="Calibri"/>
                <a:cs typeface="Calibri"/>
                <a:sym typeface="Calibri"/>
              </a:rPr>
              <a:t>saturación</a:t>
            </a:r>
            <a:r>
              <a:rPr i="1" lang="es-BO" sz="1800">
                <a:solidFill>
                  <a:schemeClr val="dk1"/>
                </a:solidFill>
                <a:latin typeface="Calibri"/>
                <a:ea typeface="Calibri"/>
                <a:cs typeface="Calibri"/>
                <a:sym typeface="Calibri"/>
              </a:rPr>
              <a:t>, así corrigiendo la respuesta deseada.</a:t>
            </a:r>
            <a:endParaRPr sz="1800">
              <a:solidFill>
                <a:schemeClr val="dk1"/>
              </a:solidFill>
              <a:latin typeface="Calibri"/>
              <a:ea typeface="Calibri"/>
              <a:cs typeface="Calibri"/>
              <a:sym typeface="Calibri"/>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6" name="Shape 1486"/>
        <p:cNvGrpSpPr/>
        <p:nvPr/>
      </p:nvGrpSpPr>
      <p:grpSpPr>
        <a:xfrm>
          <a:off x="0" y="0"/>
          <a:ext cx="0" cy="0"/>
          <a:chOff x="0" y="0"/>
          <a:chExt cx="0" cy="0"/>
        </a:xfrm>
      </p:grpSpPr>
      <p:pic>
        <p:nvPicPr>
          <p:cNvPr id="1487" name="Google Shape;1487;p104"/>
          <p:cNvPicPr preferRelativeResize="0"/>
          <p:nvPr/>
        </p:nvPicPr>
        <p:blipFill rotWithShape="1">
          <a:blip r:embed="rId3">
            <a:alphaModFix/>
          </a:blip>
          <a:srcRect b="18071" l="6885" r="11609" t="30182"/>
          <a:stretch/>
        </p:blipFill>
        <p:spPr>
          <a:xfrm>
            <a:off x="767408" y="1943397"/>
            <a:ext cx="10537682" cy="3588921"/>
          </a:xfrm>
          <a:prstGeom prst="rect">
            <a:avLst/>
          </a:prstGeom>
          <a:noFill/>
          <a:ln>
            <a:noFill/>
          </a:ln>
        </p:spPr>
      </p:pic>
      <p:sp>
        <p:nvSpPr>
          <p:cNvPr id="1488" name="Google Shape;1488;p104"/>
          <p:cNvSpPr txBox="1"/>
          <p:nvPr/>
        </p:nvSpPr>
        <p:spPr>
          <a:xfrm>
            <a:off x="540271" y="404590"/>
            <a:ext cx="1123324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BO" sz="2800">
                <a:solidFill>
                  <a:schemeClr val="dk1"/>
                </a:solidFill>
                <a:latin typeface="Calibri"/>
                <a:ea typeface="Calibri"/>
                <a:cs typeface="Calibri"/>
                <a:sym typeface="Calibri"/>
              </a:rPr>
              <a:t>Diseño del controlador – Anti wind up – Diagrama de bloques </a:t>
            </a:r>
            <a:endParaRPr sz="2800">
              <a:solidFill>
                <a:schemeClr val="dk1"/>
              </a:solidFill>
              <a:latin typeface="Calibri"/>
              <a:ea typeface="Calibri"/>
              <a:cs typeface="Calibri"/>
              <a:sym typeface="Calibri"/>
            </a:endParaRPr>
          </a:p>
        </p:txBody>
      </p:sp>
      <p:sp>
        <p:nvSpPr>
          <p:cNvPr id="1489" name="Google Shape;1489;p104"/>
          <p:cNvSpPr txBox="1"/>
          <p:nvPr/>
        </p:nvSpPr>
        <p:spPr>
          <a:xfrm>
            <a:off x="551384" y="1002516"/>
            <a:ext cx="10297144" cy="646331"/>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i="1" lang="es-BO" sz="1800">
                <a:solidFill>
                  <a:schemeClr val="dk1"/>
                </a:solidFill>
                <a:latin typeface="Calibri"/>
                <a:ea typeface="Calibri"/>
                <a:cs typeface="Calibri"/>
                <a:sym typeface="Calibri"/>
              </a:rPr>
              <a:t>Es necesario considerar que el actuador no siempre responderá a la ley de control, como se menciono anteriormente. </a:t>
            </a:r>
            <a:endParaRPr/>
          </a:p>
        </p:txBody>
      </p:sp>
      <p:sp>
        <p:nvSpPr>
          <p:cNvPr id="1490" name="Google Shape;1490;p104"/>
          <p:cNvSpPr txBox="1"/>
          <p:nvPr/>
        </p:nvSpPr>
        <p:spPr>
          <a:xfrm>
            <a:off x="551384" y="1620232"/>
            <a:ext cx="10297144"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s-BO" sz="1800">
                <a:solidFill>
                  <a:schemeClr val="dk1"/>
                </a:solidFill>
                <a:latin typeface="Calibri"/>
                <a:ea typeface="Calibri"/>
                <a:cs typeface="Calibri"/>
                <a:sym typeface="Calibri"/>
              </a:rPr>
              <a:t>Una forma de resolver este problema es avisar al controlador de no cargar mas acción integral por que esta saturado.</a:t>
            </a:r>
            <a:endParaRPr/>
          </a:p>
        </p:txBody>
      </p:sp>
      <p:sp>
        <p:nvSpPr>
          <p:cNvPr id="1491" name="Google Shape;1491;p104"/>
          <p:cNvSpPr txBox="1"/>
          <p:nvPr/>
        </p:nvSpPr>
        <p:spPr>
          <a:xfrm>
            <a:off x="540271" y="5445442"/>
            <a:ext cx="10297144"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s-BO" sz="1800">
                <a:solidFill>
                  <a:schemeClr val="dk1"/>
                </a:solidFill>
                <a:latin typeface="Calibri"/>
                <a:ea typeface="Calibri"/>
                <a:cs typeface="Calibri"/>
                <a:sym typeface="Calibri"/>
              </a:rPr>
              <a:t>Esto se logra añadiendo un comparador antes de la entrada del proceso y sumando a la constate integral, lo que ara que si hay diferencia o suma compense ese incremento de la acción integral.</a:t>
            </a:r>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5" name="Shape 1495"/>
        <p:cNvGrpSpPr/>
        <p:nvPr/>
      </p:nvGrpSpPr>
      <p:grpSpPr>
        <a:xfrm>
          <a:off x="0" y="0"/>
          <a:ext cx="0" cy="0"/>
          <a:chOff x="0" y="0"/>
          <a:chExt cx="0" cy="0"/>
        </a:xfrm>
      </p:grpSpPr>
      <p:sp>
        <p:nvSpPr>
          <p:cNvPr id="1496" name="Google Shape;1496;p105"/>
          <p:cNvSpPr txBox="1"/>
          <p:nvPr/>
        </p:nvSpPr>
        <p:spPr>
          <a:xfrm>
            <a:off x="540271" y="404590"/>
            <a:ext cx="1123324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BO" sz="2800">
                <a:solidFill>
                  <a:schemeClr val="dk1"/>
                </a:solidFill>
                <a:latin typeface="Calibri"/>
                <a:ea typeface="Calibri"/>
                <a:cs typeface="Calibri"/>
                <a:sym typeface="Calibri"/>
              </a:rPr>
              <a:t>COMPARACION PID CONTINUO - DISCRETO</a:t>
            </a:r>
            <a:endParaRPr sz="2800">
              <a:solidFill>
                <a:schemeClr val="dk1"/>
              </a:solidFill>
              <a:latin typeface="Calibri"/>
              <a:ea typeface="Calibri"/>
              <a:cs typeface="Calibri"/>
              <a:sym typeface="Calibri"/>
            </a:endParaRPr>
          </a:p>
        </p:txBody>
      </p:sp>
      <p:sp>
        <p:nvSpPr>
          <p:cNvPr id="1497" name="Google Shape;1497;p105"/>
          <p:cNvSpPr txBox="1"/>
          <p:nvPr/>
        </p:nvSpPr>
        <p:spPr>
          <a:xfrm>
            <a:off x="1487228" y="1119253"/>
            <a:ext cx="7837642" cy="901081"/>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sp>
        <p:nvSpPr>
          <p:cNvPr id="1498" name="Google Shape;1498;p105"/>
          <p:cNvSpPr txBox="1"/>
          <p:nvPr/>
        </p:nvSpPr>
        <p:spPr>
          <a:xfrm>
            <a:off x="149465" y="2319520"/>
            <a:ext cx="10513168" cy="369332"/>
          </a:xfrm>
          <a:prstGeom prst="rect">
            <a:avLst/>
          </a:prstGeom>
          <a:blipFill rotWithShape="1">
            <a:blip r:embed="rId4">
              <a:alphaModFix/>
            </a:blip>
            <a:stretch>
              <a:fillRect b="-24588"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grpSp>
        <p:nvGrpSpPr>
          <p:cNvPr id="1499" name="Google Shape;1499;p105"/>
          <p:cNvGrpSpPr/>
          <p:nvPr/>
        </p:nvGrpSpPr>
        <p:grpSpPr>
          <a:xfrm>
            <a:off x="4088033" y="2842132"/>
            <a:ext cx="3307590" cy="1806789"/>
            <a:chOff x="5267450" y="3124575"/>
            <a:chExt cx="3307590" cy="1806789"/>
          </a:xfrm>
        </p:grpSpPr>
        <p:sp>
          <p:nvSpPr>
            <p:cNvPr id="1500" name="Google Shape;1500;p105"/>
            <p:cNvSpPr txBox="1"/>
            <p:nvPr/>
          </p:nvSpPr>
          <p:spPr>
            <a:xfrm>
              <a:off x="5527928" y="3317329"/>
              <a:ext cx="2092960" cy="646331"/>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sp>
          <p:nvSpPr>
            <p:cNvPr id="1501" name="Google Shape;1501;p105"/>
            <p:cNvSpPr txBox="1"/>
            <p:nvPr/>
          </p:nvSpPr>
          <p:spPr>
            <a:xfrm>
              <a:off x="5758512" y="3718615"/>
              <a:ext cx="1808480" cy="369332"/>
            </a:xfrm>
            <a:prstGeom prst="rect">
              <a:avLst/>
            </a:prstGeom>
            <a:blipFill rotWithShape="1">
              <a:blip r:embed="rId6">
                <a:alphaModFix/>
              </a:blip>
              <a:stretch>
                <a:fillRect b="-6666"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sp>
          <p:nvSpPr>
            <p:cNvPr id="1502" name="Google Shape;1502;p105"/>
            <p:cNvSpPr txBox="1"/>
            <p:nvPr/>
          </p:nvSpPr>
          <p:spPr>
            <a:xfrm>
              <a:off x="5670168" y="4155103"/>
              <a:ext cx="1808480" cy="369332"/>
            </a:xfrm>
            <a:prstGeom prst="rect">
              <a:avLst/>
            </a:prstGeom>
            <a:blipFill rotWithShape="1">
              <a:blip r:embed="rId7">
                <a:alphaModFix/>
              </a:blip>
              <a:stretch>
                <a:fillRect b="-6666"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sp>
          <p:nvSpPr>
            <p:cNvPr id="1503" name="Google Shape;1503;p105"/>
            <p:cNvSpPr/>
            <p:nvPr/>
          </p:nvSpPr>
          <p:spPr>
            <a:xfrm>
              <a:off x="5267450" y="3124575"/>
              <a:ext cx="3307590" cy="1806789"/>
            </a:xfrm>
            <a:prstGeom prst="rect">
              <a:avLst/>
            </a:prstGeom>
            <a:noFill/>
            <a:ln cap="flat" cmpd="sng" w="25400">
              <a:solidFill>
                <a:schemeClr val="dk1"/>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1504" name="Google Shape;1504;p105"/>
          <p:cNvSpPr txBox="1"/>
          <p:nvPr/>
        </p:nvSpPr>
        <p:spPr>
          <a:xfrm>
            <a:off x="778918" y="4716077"/>
            <a:ext cx="11040626"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s-BO" sz="1800">
                <a:solidFill>
                  <a:schemeClr val="dk1"/>
                </a:solidFill>
                <a:latin typeface="Calibri"/>
                <a:ea typeface="Calibri"/>
                <a:cs typeface="Calibri"/>
                <a:sym typeface="Calibri"/>
              </a:rPr>
              <a:t>Este controlador en tiempo discreto no se podría implementar con el bloque PID, ya fue se menciono anteriormente esta limitado a numero positivos.</a:t>
            </a:r>
            <a:endParaRPr sz="1800">
              <a:solidFill>
                <a:schemeClr val="dk1"/>
              </a:solidFill>
              <a:latin typeface="Calibri"/>
              <a:ea typeface="Calibri"/>
              <a:cs typeface="Calibri"/>
              <a:sym typeface="Calibri"/>
            </a:endParaRPr>
          </a:p>
        </p:txBody>
      </p:sp>
      <p:sp>
        <p:nvSpPr>
          <p:cNvPr id="1505" name="Google Shape;1505;p105"/>
          <p:cNvSpPr txBox="1"/>
          <p:nvPr/>
        </p:nvSpPr>
        <p:spPr>
          <a:xfrm>
            <a:off x="778918" y="5485435"/>
            <a:ext cx="1104062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s-BO" sz="1800">
                <a:solidFill>
                  <a:schemeClr val="dk1"/>
                </a:solidFill>
                <a:latin typeface="Calibri"/>
                <a:ea typeface="Calibri"/>
                <a:cs typeface="Calibri"/>
                <a:sym typeface="Calibri"/>
              </a:rPr>
              <a:t>La implementación seria estrictamente usando las instrucciones disponibles en el programa </a:t>
            </a:r>
            <a:r>
              <a:rPr b="1" i="1" lang="es-BO" sz="1800">
                <a:solidFill>
                  <a:schemeClr val="dk1"/>
                </a:solidFill>
                <a:latin typeface="Calibri"/>
                <a:ea typeface="Calibri"/>
                <a:cs typeface="Calibri"/>
                <a:sym typeface="Calibri"/>
              </a:rPr>
              <a:t>Rslogix Micro English</a:t>
            </a:r>
            <a:endParaRPr b="1" sz="1800">
              <a:solidFill>
                <a:schemeClr val="dk1"/>
              </a:solidFill>
              <a:latin typeface="Calibri"/>
              <a:ea typeface="Calibri"/>
              <a:cs typeface="Calibri"/>
              <a:sym typeface="Calibri"/>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9" name="Shape 1509"/>
        <p:cNvGrpSpPr/>
        <p:nvPr/>
      </p:nvGrpSpPr>
      <p:grpSpPr>
        <a:xfrm>
          <a:off x="0" y="0"/>
          <a:ext cx="0" cy="0"/>
          <a:chOff x="0" y="0"/>
          <a:chExt cx="0" cy="0"/>
        </a:xfrm>
      </p:grpSpPr>
      <p:pic>
        <p:nvPicPr>
          <p:cNvPr id="1510" name="Google Shape;1510;p106"/>
          <p:cNvPicPr preferRelativeResize="0"/>
          <p:nvPr/>
        </p:nvPicPr>
        <p:blipFill rotWithShape="1">
          <a:blip r:embed="rId3">
            <a:alphaModFix/>
          </a:blip>
          <a:srcRect b="16401" l="32872" r="21059" t="24800"/>
          <a:stretch/>
        </p:blipFill>
        <p:spPr>
          <a:xfrm>
            <a:off x="2315580" y="1124744"/>
            <a:ext cx="7560840" cy="5428295"/>
          </a:xfrm>
          <a:prstGeom prst="rect">
            <a:avLst/>
          </a:prstGeom>
          <a:noFill/>
          <a:ln cap="flat" cmpd="sng" w="38100">
            <a:solidFill>
              <a:schemeClr val="dk1"/>
            </a:solidFill>
            <a:prstDash val="solid"/>
            <a:round/>
            <a:headEnd len="sm" w="sm" type="none"/>
            <a:tailEnd len="sm" w="sm" type="none"/>
          </a:ln>
        </p:spPr>
      </p:pic>
      <p:sp>
        <p:nvSpPr>
          <p:cNvPr id="1511" name="Google Shape;1511;p106"/>
          <p:cNvSpPr txBox="1"/>
          <p:nvPr/>
        </p:nvSpPr>
        <p:spPr>
          <a:xfrm>
            <a:off x="386542" y="278793"/>
            <a:ext cx="9238277"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BO" sz="2800">
                <a:solidFill>
                  <a:schemeClr val="dk1"/>
                </a:solidFill>
                <a:latin typeface="Calibri"/>
                <a:ea typeface="Calibri"/>
                <a:cs typeface="Calibri"/>
                <a:sym typeface="Calibri"/>
              </a:rPr>
              <a:t>INTERFAZ GRAFICA PARA HMI COMPACT 600 ALLEN BRADLEY</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5" name="Shape 1515"/>
        <p:cNvGrpSpPr/>
        <p:nvPr/>
      </p:nvGrpSpPr>
      <p:grpSpPr>
        <a:xfrm>
          <a:off x="0" y="0"/>
          <a:ext cx="0" cy="0"/>
          <a:chOff x="0" y="0"/>
          <a:chExt cx="0" cy="0"/>
        </a:xfrm>
      </p:grpSpPr>
      <p:sp>
        <p:nvSpPr>
          <p:cNvPr id="1516" name="Google Shape;1516;p107"/>
          <p:cNvSpPr txBox="1"/>
          <p:nvPr>
            <p:ph type="title"/>
          </p:nvPr>
        </p:nvSpPr>
        <p:spPr>
          <a:xfrm>
            <a:off x="1487488" y="490732"/>
            <a:ext cx="9887857" cy="63795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800"/>
              <a:buFont typeface="Calibri"/>
              <a:buNone/>
            </a:pPr>
            <a:r>
              <a:rPr b="1" lang="es-BO" sz="2800"/>
              <a:t>CONCLUSIONES</a:t>
            </a:r>
            <a:endParaRPr/>
          </a:p>
        </p:txBody>
      </p:sp>
      <p:sp>
        <p:nvSpPr>
          <p:cNvPr id="1517" name="Google Shape;1517;p107"/>
          <p:cNvSpPr txBox="1"/>
          <p:nvPr>
            <p:ph idx="1" type="body"/>
          </p:nvPr>
        </p:nvSpPr>
        <p:spPr>
          <a:xfrm>
            <a:off x="1343472" y="1556792"/>
            <a:ext cx="9786257" cy="4842999"/>
          </a:xfrm>
          <a:prstGeom prst="rect">
            <a:avLst/>
          </a:prstGeom>
          <a:noFill/>
          <a:ln>
            <a:noFill/>
          </a:ln>
        </p:spPr>
        <p:txBody>
          <a:bodyPr anchorCtr="0" anchor="t" bIns="45700" lIns="91425" spcFirstLastPara="1" rIns="91425" wrap="square" tIns="45700">
            <a:normAutofit fontScale="25000" lnSpcReduction="20000"/>
          </a:bodyPr>
          <a:lstStyle/>
          <a:p>
            <a:pPr indent="-342900" lvl="0" marL="342900" rtl="0" algn="just">
              <a:lnSpc>
                <a:spcPct val="107000"/>
              </a:lnSpc>
              <a:spcBef>
                <a:spcPts val="0"/>
              </a:spcBef>
              <a:spcAft>
                <a:spcPts val="0"/>
              </a:spcAft>
              <a:buClr>
                <a:schemeClr val="dk1"/>
              </a:buClr>
              <a:buSzPct val="100000"/>
              <a:buFont typeface="Noto Sans Symbols"/>
              <a:buChar char="⮚"/>
            </a:pPr>
            <a:r>
              <a:rPr lang="es-BO" sz="6400">
                <a:latin typeface="Calibri"/>
                <a:ea typeface="Calibri"/>
                <a:cs typeface="Calibri"/>
                <a:sym typeface="Calibri"/>
              </a:rPr>
              <a:t>Durante el proceso se desarrollaron habilidades y destrezas sobre la instrumentación con el fin de poder reconocer, adaptar y caracterizar sensores y/o actuadores, los cuales abundan en el área profesional y son de vital importancia poder conocerlos y manipularlos.</a:t>
            </a:r>
            <a:endParaRPr sz="6400">
              <a:latin typeface="Calibri"/>
              <a:ea typeface="Calibri"/>
              <a:cs typeface="Calibri"/>
              <a:sym typeface="Calibri"/>
            </a:endParaRPr>
          </a:p>
          <a:p>
            <a:pPr indent="-342900" lvl="0" marL="342900" rtl="0" algn="just">
              <a:lnSpc>
                <a:spcPct val="107000"/>
              </a:lnSpc>
              <a:spcBef>
                <a:spcPts val="1120"/>
              </a:spcBef>
              <a:spcAft>
                <a:spcPts val="0"/>
              </a:spcAft>
              <a:buClr>
                <a:schemeClr val="dk1"/>
              </a:buClr>
              <a:buSzPct val="100000"/>
              <a:buFont typeface="Noto Sans Symbols"/>
              <a:buChar char="⮚"/>
            </a:pPr>
            <a:r>
              <a:rPr lang="es-BO" sz="6400">
                <a:latin typeface="Calibri"/>
                <a:ea typeface="Calibri"/>
                <a:cs typeface="Calibri"/>
                <a:sym typeface="Calibri"/>
              </a:rPr>
              <a:t>A través del software RSLogix Micro se pudo implementar el controlador PI propuesto.</a:t>
            </a:r>
            <a:endParaRPr/>
          </a:p>
          <a:p>
            <a:pPr indent="-342900" lvl="0" marL="342900" rtl="0" algn="just">
              <a:lnSpc>
                <a:spcPct val="107000"/>
              </a:lnSpc>
              <a:spcBef>
                <a:spcPts val="1120"/>
              </a:spcBef>
              <a:spcAft>
                <a:spcPts val="0"/>
              </a:spcAft>
              <a:buClr>
                <a:schemeClr val="dk1"/>
              </a:buClr>
              <a:buSzPct val="100000"/>
              <a:buFont typeface="Noto Sans Symbols"/>
              <a:buChar char="⮚"/>
            </a:pPr>
            <a:r>
              <a:rPr lang="es-BO" sz="6400">
                <a:latin typeface="Calibri"/>
                <a:ea typeface="Calibri"/>
                <a:cs typeface="Calibri"/>
                <a:sym typeface="Calibri"/>
              </a:rPr>
              <a:t>La robustez del sistema con el controlador es dependiente de la magnitud de la perturbación, como ya de indicará en las observaciones.</a:t>
            </a:r>
            <a:endParaRPr/>
          </a:p>
          <a:p>
            <a:pPr indent="0" lvl="0" marL="0" rtl="0" algn="just">
              <a:lnSpc>
                <a:spcPct val="107000"/>
              </a:lnSpc>
              <a:spcBef>
                <a:spcPts val="1200"/>
              </a:spcBef>
              <a:spcAft>
                <a:spcPts val="0"/>
              </a:spcAft>
              <a:buClr>
                <a:schemeClr val="dk1"/>
              </a:buClr>
              <a:buSzPct val="100000"/>
              <a:buNone/>
            </a:pPr>
            <a:r>
              <a:rPr b="1" lang="es-BO" sz="8000">
                <a:latin typeface="Calibri"/>
                <a:ea typeface="Calibri"/>
                <a:cs typeface="Calibri"/>
                <a:sym typeface="Calibri"/>
              </a:rPr>
              <a:t>OBSERVACIONES</a:t>
            </a:r>
            <a:endParaRPr/>
          </a:p>
          <a:p>
            <a:pPr indent="-342900" lvl="0" marL="342900" rtl="0" algn="just">
              <a:lnSpc>
                <a:spcPct val="107000"/>
              </a:lnSpc>
              <a:spcBef>
                <a:spcPts val="1120"/>
              </a:spcBef>
              <a:spcAft>
                <a:spcPts val="0"/>
              </a:spcAft>
              <a:buClr>
                <a:schemeClr val="dk1"/>
              </a:buClr>
              <a:buSzPct val="100000"/>
              <a:buFont typeface="Noto Sans Symbols"/>
              <a:buChar char="⮚"/>
            </a:pPr>
            <a:r>
              <a:rPr lang="es-BO" sz="6400">
                <a:latin typeface="Calibri"/>
                <a:ea typeface="Calibri"/>
                <a:cs typeface="Calibri"/>
                <a:sym typeface="Calibri"/>
              </a:rPr>
              <a:t>Tómese en cuenta que el control del sistema está limitado por la saturación del actuador, para nuestro caso, el conjunto del variador de frecuencia con la bomba de agua.</a:t>
            </a:r>
            <a:endParaRPr/>
          </a:p>
          <a:p>
            <a:pPr indent="-342900" lvl="0" marL="342900" rtl="0" algn="just">
              <a:lnSpc>
                <a:spcPct val="107000"/>
              </a:lnSpc>
              <a:spcBef>
                <a:spcPts val="1120"/>
              </a:spcBef>
              <a:spcAft>
                <a:spcPts val="0"/>
              </a:spcAft>
              <a:buClr>
                <a:schemeClr val="dk1"/>
              </a:buClr>
              <a:buSzPct val="100000"/>
              <a:buFont typeface="Noto Sans Symbols"/>
              <a:buChar char="⮚"/>
            </a:pPr>
            <a:r>
              <a:rPr lang="es-BO" sz="6400">
                <a:latin typeface="Calibri"/>
                <a:ea typeface="Calibri"/>
                <a:cs typeface="Calibri"/>
                <a:sym typeface="Calibri"/>
              </a:rPr>
              <a:t>La altura máxima que alcanza el agua del tanque superior para la frecuencia de saturación del variador de frecuencia (40 Hz) es de 37cm.</a:t>
            </a:r>
            <a:endParaRPr/>
          </a:p>
          <a:p>
            <a:pPr indent="-342900" lvl="0" marL="342900" rtl="0" algn="just">
              <a:lnSpc>
                <a:spcPct val="107000"/>
              </a:lnSpc>
              <a:spcBef>
                <a:spcPts val="1120"/>
              </a:spcBef>
              <a:spcAft>
                <a:spcPts val="0"/>
              </a:spcAft>
              <a:buClr>
                <a:schemeClr val="dk1"/>
              </a:buClr>
              <a:buSzPct val="100000"/>
              <a:buFont typeface="Noto Sans Symbols"/>
              <a:buChar char="⮚"/>
            </a:pPr>
            <a:r>
              <a:rPr lang="es-BO" sz="6400">
                <a:latin typeface="Calibri"/>
                <a:ea typeface="Calibri"/>
                <a:cs typeface="Calibri"/>
                <a:sym typeface="Calibri"/>
              </a:rPr>
              <a:t>Los tiempos de asentamiento para distintos niveles de altura puede variar de acuerdo a la linealización realizada de forma analítica y la propia saturación del actuador. </a:t>
            </a:r>
            <a:endParaRPr/>
          </a:p>
          <a:p>
            <a:pPr indent="-342900" lvl="0" marL="342900" rtl="0" algn="just">
              <a:lnSpc>
                <a:spcPct val="107000"/>
              </a:lnSpc>
              <a:spcBef>
                <a:spcPts val="1120"/>
              </a:spcBef>
              <a:spcAft>
                <a:spcPts val="0"/>
              </a:spcAft>
              <a:buClr>
                <a:schemeClr val="dk1"/>
              </a:buClr>
              <a:buSzPct val="100000"/>
              <a:buFont typeface="Noto Sans Symbols"/>
              <a:buChar char="⮚"/>
            </a:pPr>
            <a:r>
              <a:rPr lang="es-BO" sz="6400">
                <a:latin typeface="Calibri"/>
                <a:ea typeface="Calibri"/>
                <a:cs typeface="Calibri"/>
                <a:sym typeface="Calibri"/>
              </a:rPr>
              <a:t>La robustez del sistema tiene el limitante de la saturación del actuador, por lo que para perturbaciones que requieran mayor caudal al proporcionado por el variador de frecuencia a 40Hz se imposibilita el control adecuado, entrando el sistema en pérdida inevitable.</a:t>
            </a:r>
            <a:endParaRPr/>
          </a:p>
          <a:p>
            <a:pPr indent="-292100" lvl="0" marL="342900" rtl="0" algn="ctr">
              <a:spcBef>
                <a:spcPts val="960"/>
              </a:spcBef>
              <a:spcAft>
                <a:spcPts val="0"/>
              </a:spcAft>
              <a:buClr>
                <a:schemeClr val="dk1"/>
              </a:buClr>
              <a:buSzPct val="1000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2_Tema d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2012-03-05T15:50:43Z</dcterms:created>
  <dc:creator>dosies</dc:creator>
</cp:coreProperties>
</file>