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style1.xml" ContentType="application/vnd.ms-office.chartstyle+xml"/>
  <Override PartName="/ppt/charts/colors1.xml" ContentType="application/vnd.ms-office.chartcolorstyl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8" r:id="rId1"/>
  </p:sldMasterIdLst>
  <p:notesMasterIdLst>
    <p:notesMasterId r:id="rId20"/>
  </p:notesMasterIdLst>
  <p:sldIdLst>
    <p:sldId id="256" r:id="rId2"/>
    <p:sldId id="257" r:id="rId3"/>
    <p:sldId id="296" r:id="rId4"/>
    <p:sldId id="298" r:id="rId5"/>
    <p:sldId id="259" r:id="rId6"/>
    <p:sldId id="915" r:id="rId7"/>
    <p:sldId id="916" r:id="rId8"/>
    <p:sldId id="260" r:id="rId9"/>
    <p:sldId id="924" r:id="rId10"/>
    <p:sldId id="261" r:id="rId11"/>
    <p:sldId id="925" r:id="rId12"/>
    <p:sldId id="917" r:id="rId13"/>
    <p:sldId id="918" r:id="rId14"/>
    <p:sldId id="919" r:id="rId15"/>
    <p:sldId id="920" r:id="rId16"/>
    <p:sldId id="923" r:id="rId17"/>
    <p:sldId id="263" r:id="rId18"/>
    <p:sldId id="926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56" autoAdjust="0"/>
    <p:restoredTop sz="94660"/>
  </p:normalViewPr>
  <p:slideViewPr>
    <p:cSldViewPr snapToGrid="0">
      <p:cViewPr>
        <p:scale>
          <a:sx n="75" d="100"/>
          <a:sy n="75" d="100"/>
        </p:scale>
        <p:origin x="-498" y="-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Style" Target="style1.xml"/><Relationship Id="rId2" Type="http://schemas.microsoft.com/office/2011/relationships/chartColorStyle" Target="colors1.xml"/><Relationship Id="rId1" Type="http://schemas.openxmlformats.org/officeDocument/2006/relationships/oleObject" Target="file:///C:\Users\guido\Downloads\DATOS_SISTEMA%20DE%20NIVEL%205-10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70" baseline="0">
                <a:solidFill>
                  <a:schemeClr val="dk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BO"/>
              <a:t>Respuesta</a:t>
            </a:r>
            <a:r>
              <a:rPr lang="es-BO" baseline="0"/>
              <a:t> temporal experimental</a:t>
            </a:r>
            <a:endParaRPr lang="es-BO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scatterChart>
        <c:scatterStyle val="smoothMarker"/>
        <c:varyColors val="0"/>
        <c:ser>
          <c:idx val="0"/>
          <c:order val="0"/>
          <c:spPr>
            <a:ln w="28575">
              <a:solidFill>
                <a:schemeClr val="accent1">
                  <a:alpha val="20000"/>
                </a:schemeClr>
              </a:solidFill>
            </a:ln>
            <a:effectLst/>
          </c:spPr>
          <c:marker>
            <c:symbol val="circle"/>
            <c:size val="4"/>
            <c:spPr>
              <a:solidFill>
                <a:schemeClr val="accent1"/>
              </a:solidFill>
              <a:ln w="9525" cap="flat" cmpd="sng" algn="ctr">
                <a:solidFill>
                  <a:schemeClr val="accent1"/>
                </a:solidFill>
                <a:round/>
              </a:ln>
              <a:effectLst/>
            </c:spPr>
          </c:marker>
          <c:xVal>
            <c:numRef>
              <c:f>Hoja1!$B$3:$B$63</c:f>
              <c:numCache>
                <c:formatCode>General</c:formatCode>
                <c:ptCount val="61"/>
                <c:pt idx="0">
                  <c:v>0</c:v>
                </c:pt>
                <c:pt idx="1">
                  <c:v>20</c:v>
                </c:pt>
                <c:pt idx="2">
                  <c:v>40</c:v>
                </c:pt>
                <c:pt idx="3">
                  <c:v>60</c:v>
                </c:pt>
                <c:pt idx="4">
                  <c:v>80</c:v>
                </c:pt>
                <c:pt idx="5">
                  <c:v>100</c:v>
                </c:pt>
                <c:pt idx="6">
                  <c:v>120</c:v>
                </c:pt>
                <c:pt idx="7">
                  <c:v>140</c:v>
                </c:pt>
                <c:pt idx="8">
                  <c:v>160</c:v>
                </c:pt>
                <c:pt idx="9">
                  <c:v>180</c:v>
                </c:pt>
                <c:pt idx="10">
                  <c:v>200</c:v>
                </c:pt>
                <c:pt idx="11">
                  <c:v>220</c:v>
                </c:pt>
                <c:pt idx="12">
                  <c:v>240</c:v>
                </c:pt>
                <c:pt idx="13">
                  <c:v>260</c:v>
                </c:pt>
                <c:pt idx="14">
                  <c:v>280</c:v>
                </c:pt>
                <c:pt idx="15">
                  <c:v>300</c:v>
                </c:pt>
                <c:pt idx="16">
                  <c:v>320</c:v>
                </c:pt>
                <c:pt idx="17">
                  <c:v>340</c:v>
                </c:pt>
                <c:pt idx="18">
                  <c:v>360</c:v>
                </c:pt>
                <c:pt idx="19">
                  <c:v>380</c:v>
                </c:pt>
                <c:pt idx="20">
                  <c:v>400</c:v>
                </c:pt>
                <c:pt idx="21">
                  <c:v>420</c:v>
                </c:pt>
                <c:pt idx="22">
                  <c:v>440</c:v>
                </c:pt>
                <c:pt idx="23">
                  <c:v>460</c:v>
                </c:pt>
                <c:pt idx="24">
                  <c:v>480</c:v>
                </c:pt>
                <c:pt idx="25">
                  <c:v>500</c:v>
                </c:pt>
                <c:pt idx="26">
                  <c:v>520</c:v>
                </c:pt>
                <c:pt idx="27">
                  <c:v>540</c:v>
                </c:pt>
                <c:pt idx="28">
                  <c:v>560</c:v>
                </c:pt>
                <c:pt idx="29">
                  <c:v>580</c:v>
                </c:pt>
                <c:pt idx="30">
                  <c:v>600</c:v>
                </c:pt>
                <c:pt idx="31">
                  <c:v>620</c:v>
                </c:pt>
                <c:pt idx="32">
                  <c:v>640</c:v>
                </c:pt>
                <c:pt idx="33">
                  <c:v>660</c:v>
                </c:pt>
                <c:pt idx="34">
                  <c:v>680</c:v>
                </c:pt>
                <c:pt idx="35">
                  <c:v>700</c:v>
                </c:pt>
                <c:pt idx="36">
                  <c:v>720</c:v>
                </c:pt>
                <c:pt idx="37">
                  <c:v>740</c:v>
                </c:pt>
                <c:pt idx="38">
                  <c:v>760</c:v>
                </c:pt>
                <c:pt idx="39">
                  <c:v>780</c:v>
                </c:pt>
                <c:pt idx="40">
                  <c:v>800</c:v>
                </c:pt>
                <c:pt idx="41">
                  <c:v>820</c:v>
                </c:pt>
                <c:pt idx="42">
                  <c:v>840</c:v>
                </c:pt>
                <c:pt idx="43">
                  <c:v>860</c:v>
                </c:pt>
                <c:pt idx="44">
                  <c:v>880</c:v>
                </c:pt>
                <c:pt idx="45">
                  <c:v>900</c:v>
                </c:pt>
                <c:pt idx="46">
                  <c:v>920</c:v>
                </c:pt>
                <c:pt idx="47">
                  <c:v>940</c:v>
                </c:pt>
                <c:pt idx="48">
                  <c:v>960</c:v>
                </c:pt>
                <c:pt idx="49">
                  <c:v>980</c:v>
                </c:pt>
                <c:pt idx="50">
                  <c:v>1000</c:v>
                </c:pt>
                <c:pt idx="51">
                  <c:v>1020</c:v>
                </c:pt>
                <c:pt idx="52">
                  <c:v>1040</c:v>
                </c:pt>
                <c:pt idx="53">
                  <c:v>1060</c:v>
                </c:pt>
                <c:pt idx="54">
                  <c:v>1080</c:v>
                </c:pt>
                <c:pt idx="55">
                  <c:v>1100</c:v>
                </c:pt>
                <c:pt idx="56">
                  <c:v>1120</c:v>
                </c:pt>
                <c:pt idx="57">
                  <c:v>1140</c:v>
                </c:pt>
                <c:pt idx="58">
                  <c:v>1160</c:v>
                </c:pt>
                <c:pt idx="59">
                  <c:v>1180</c:v>
                </c:pt>
                <c:pt idx="60">
                  <c:v>1200</c:v>
                </c:pt>
              </c:numCache>
            </c:numRef>
          </c:xVal>
          <c:yVal>
            <c:numRef>
              <c:f>Hoja1!$C$3:$C$63</c:f>
              <c:numCache>
                <c:formatCode>General</c:formatCode>
                <c:ptCount val="61"/>
                <c:pt idx="0">
                  <c:v>0</c:v>
                </c:pt>
                <c:pt idx="1">
                  <c:v>1.7</c:v>
                </c:pt>
                <c:pt idx="2">
                  <c:v>4</c:v>
                </c:pt>
                <c:pt idx="3">
                  <c:v>6.2</c:v>
                </c:pt>
                <c:pt idx="4">
                  <c:v>7.5</c:v>
                </c:pt>
                <c:pt idx="5">
                  <c:v>8.8000000000000007</c:v>
                </c:pt>
                <c:pt idx="6">
                  <c:v>9.9</c:v>
                </c:pt>
                <c:pt idx="7">
                  <c:v>11.1</c:v>
                </c:pt>
                <c:pt idx="8">
                  <c:v>12.1</c:v>
                </c:pt>
                <c:pt idx="9">
                  <c:v>13.2</c:v>
                </c:pt>
                <c:pt idx="10">
                  <c:v>14.2</c:v>
                </c:pt>
                <c:pt idx="11">
                  <c:v>15.1</c:v>
                </c:pt>
                <c:pt idx="12">
                  <c:v>15.9</c:v>
                </c:pt>
                <c:pt idx="13">
                  <c:v>16.7</c:v>
                </c:pt>
                <c:pt idx="14">
                  <c:v>17.399999999999999</c:v>
                </c:pt>
                <c:pt idx="15">
                  <c:v>18.100000000000001</c:v>
                </c:pt>
                <c:pt idx="16">
                  <c:v>18.8</c:v>
                </c:pt>
                <c:pt idx="17">
                  <c:v>19.399999999999999</c:v>
                </c:pt>
                <c:pt idx="18">
                  <c:v>20.100000000000001</c:v>
                </c:pt>
                <c:pt idx="19">
                  <c:v>20.6</c:v>
                </c:pt>
                <c:pt idx="20">
                  <c:v>21.2</c:v>
                </c:pt>
                <c:pt idx="21">
                  <c:v>21.7</c:v>
                </c:pt>
                <c:pt idx="22">
                  <c:v>22.3</c:v>
                </c:pt>
                <c:pt idx="23">
                  <c:v>22.6</c:v>
                </c:pt>
                <c:pt idx="24">
                  <c:v>23.1</c:v>
                </c:pt>
                <c:pt idx="25">
                  <c:v>23.5</c:v>
                </c:pt>
                <c:pt idx="26">
                  <c:v>24</c:v>
                </c:pt>
                <c:pt idx="27">
                  <c:v>24.4</c:v>
                </c:pt>
                <c:pt idx="28">
                  <c:v>24.7</c:v>
                </c:pt>
                <c:pt idx="29">
                  <c:v>25.1</c:v>
                </c:pt>
                <c:pt idx="30">
                  <c:v>25.4</c:v>
                </c:pt>
                <c:pt idx="31">
                  <c:v>25.7</c:v>
                </c:pt>
                <c:pt idx="32">
                  <c:v>26</c:v>
                </c:pt>
                <c:pt idx="33">
                  <c:v>26.2</c:v>
                </c:pt>
                <c:pt idx="34">
                  <c:v>26.5</c:v>
                </c:pt>
                <c:pt idx="35">
                  <c:v>26.7</c:v>
                </c:pt>
                <c:pt idx="36">
                  <c:v>26.9</c:v>
                </c:pt>
                <c:pt idx="37">
                  <c:v>27.1</c:v>
                </c:pt>
                <c:pt idx="38">
                  <c:v>27.2</c:v>
                </c:pt>
                <c:pt idx="39">
                  <c:v>27.4</c:v>
                </c:pt>
                <c:pt idx="40">
                  <c:v>27.5</c:v>
                </c:pt>
                <c:pt idx="41">
                  <c:v>27.6</c:v>
                </c:pt>
                <c:pt idx="42">
                  <c:v>27.7</c:v>
                </c:pt>
                <c:pt idx="43">
                  <c:v>27.7</c:v>
                </c:pt>
                <c:pt idx="44">
                  <c:v>27.8</c:v>
                </c:pt>
                <c:pt idx="45">
                  <c:v>27.85</c:v>
                </c:pt>
                <c:pt idx="46">
                  <c:v>27.9</c:v>
                </c:pt>
                <c:pt idx="47">
                  <c:v>27.9</c:v>
                </c:pt>
                <c:pt idx="48">
                  <c:v>27.7</c:v>
                </c:pt>
                <c:pt idx="49">
                  <c:v>27.8</c:v>
                </c:pt>
                <c:pt idx="50">
                  <c:v>27.8</c:v>
                </c:pt>
                <c:pt idx="51">
                  <c:v>27.9</c:v>
                </c:pt>
                <c:pt idx="52">
                  <c:v>27.7</c:v>
                </c:pt>
                <c:pt idx="53">
                  <c:v>27.5</c:v>
                </c:pt>
                <c:pt idx="54">
                  <c:v>27.4</c:v>
                </c:pt>
                <c:pt idx="55">
                  <c:v>27.4</c:v>
                </c:pt>
                <c:pt idx="56">
                  <c:v>27.4</c:v>
                </c:pt>
                <c:pt idx="57">
                  <c:v>27.6</c:v>
                </c:pt>
                <c:pt idx="58">
                  <c:v>27.7</c:v>
                </c:pt>
                <c:pt idx="59">
                  <c:v>27.7</c:v>
                </c:pt>
                <c:pt idx="60">
                  <c:v>27.7</c:v>
                </c:pt>
              </c:numCache>
            </c:numRef>
          </c:y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0-044C-49FB-B108-9234BF7FB383}"/>
            </c:ext>
          </c:extLst>
        </c:ser>
        <c:ser>
          <c:idx val="1"/>
          <c:order val="1"/>
          <c:spPr>
            <a:ln w="28575">
              <a:solidFill>
                <a:schemeClr val="accent2">
                  <a:alpha val="20000"/>
                </a:schemeClr>
              </a:solidFill>
            </a:ln>
            <a:effectLst/>
          </c:spPr>
          <c:marker>
            <c:symbol val="circle"/>
            <c:size val="4"/>
            <c:spPr>
              <a:solidFill>
                <a:schemeClr val="accent2"/>
              </a:solidFill>
              <a:ln w="9525" cap="flat" cmpd="sng" algn="ctr">
                <a:solidFill>
                  <a:schemeClr val="accent2"/>
                </a:solidFill>
                <a:round/>
              </a:ln>
              <a:effectLst/>
            </c:spPr>
          </c:marker>
          <c:xVal>
            <c:numRef>
              <c:f>Hoja1!$B$3:$B$63</c:f>
              <c:numCache>
                <c:formatCode>General</c:formatCode>
                <c:ptCount val="61"/>
                <c:pt idx="0">
                  <c:v>0</c:v>
                </c:pt>
                <c:pt idx="1">
                  <c:v>20</c:v>
                </c:pt>
                <c:pt idx="2">
                  <c:v>40</c:v>
                </c:pt>
                <c:pt idx="3">
                  <c:v>60</c:v>
                </c:pt>
                <c:pt idx="4">
                  <c:v>80</c:v>
                </c:pt>
                <c:pt idx="5">
                  <c:v>100</c:v>
                </c:pt>
                <c:pt idx="6">
                  <c:v>120</c:v>
                </c:pt>
                <c:pt idx="7">
                  <c:v>140</c:v>
                </c:pt>
                <c:pt idx="8">
                  <c:v>160</c:v>
                </c:pt>
                <c:pt idx="9">
                  <c:v>180</c:v>
                </c:pt>
                <c:pt idx="10">
                  <c:v>200</c:v>
                </c:pt>
                <c:pt idx="11">
                  <c:v>220</c:v>
                </c:pt>
                <c:pt idx="12">
                  <c:v>240</c:v>
                </c:pt>
                <c:pt idx="13">
                  <c:v>260</c:v>
                </c:pt>
                <c:pt idx="14">
                  <c:v>280</c:v>
                </c:pt>
                <c:pt idx="15">
                  <c:v>300</c:v>
                </c:pt>
                <c:pt idx="16">
                  <c:v>320</c:v>
                </c:pt>
                <c:pt idx="17">
                  <c:v>340</c:v>
                </c:pt>
                <c:pt idx="18">
                  <c:v>360</c:v>
                </c:pt>
                <c:pt idx="19">
                  <c:v>380</c:v>
                </c:pt>
                <c:pt idx="20">
                  <c:v>400</c:v>
                </c:pt>
                <c:pt idx="21">
                  <c:v>420</c:v>
                </c:pt>
                <c:pt idx="22">
                  <c:v>440</c:v>
                </c:pt>
                <c:pt idx="23">
                  <c:v>460</c:v>
                </c:pt>
                <c:pt idx="24">
                  <c:v>480</c:v>
                </c:pt>
                <c:pt idx="25">
                  <c:v>500</c:v>
                </c:pt>
                <c:pt idx="26">
                  <c:v>520</c:v>
                </c:pt>
                <c:pt idx="27">
                  <c:v>540</c:v>
                </c:pt>
                <c:pt idx="28">
                  <c:v>560</c:v>
                </c:pt>
                <c:pt idx="29">
                  <c:v>580</c:v>
                </c:pt>
                <c:pt idx="30">
                  <c:v>600</c:v>
                </c:pt>
                <c:pt idx="31">
                  <c:v>620</c:v>
                </c:pt>
                <c:pt idx="32">
                  <c:v>640</c:v>
                </c:pt>
                <c:pt idx="33">
                  <c:v>660</c:v>
                </c:pt>
                <c:pt idx="34">
                  <c:v>680</c:v>
                </c:pt>
                <c:pt idx="35">
                  <c:v>700</c:v>
                </c:pt>
                <c:pt idx="36">
                  <c:v>720</c:v>
                </c:pt>
                <c:pt idx="37">
                  <c:v>740</c:v>
                </c:pt>
                <c:pt idx="38">
                  <c:v>760</c:v>
                </c:pt>
                <c:pt idx="39">
                  <c:v>780</c:v>
                </c:pt>
                <c:pt idx="40">
                  <c:v>800</c:v>
                </c:pt>
                <c:pt idx="41">
                  <c:v>820</c:v>
                </c:pt>
                <c:pt idx="42">
                  <c:v>840</c:v>
                </c:pt>
                <c:pt idx="43">
                  <c:v>860</c:v>
                </c:pt>
                <c:pt idx="44">
                  <c:v>880</c:v>
                </c:pt>
                <c:pt idx="45">
                  <c:v>900</c:v>
                </c:pt>
                <c:pt idx="46">
                  <c:v>920</c:v>
                </c:pt>
                <c:pt idx="47">
                  <c:v>940</c:v>
                </c:pt>
                <c:pt idx="48">
                  <c:v>960</c:v>
                </c:pt>
                <c:pt idx="49">
                  <c:v>980</c:v>
                </c:pt>
                <c:pt idx="50">
                  <c:v>1000</c:v>
                </c:pt>
                <c:pt idx="51">
                  <c:v>1020</c:v>
                </c:pt>
                <c:pt idx="52">
                  <c:v>1040</c:v>
                </c:pt>
                <c:pt idx="53">
                  <c:v>1060</c:v>
                </c:pt>
                <c:pt idx="54">
                  <c:v>1080</c:v>
                </c:pt>
                <c:pt idx="55">
                  <c:v>1100</c:v>
                </c:pt>
                <c:pt idx="56">
                  <c:v>1120</c:v>
                </c:pt>
                <c:pt idx="57">
                  <c:v>1140</c:v>
                </c:pt>
                <c:pt idx="58">
                  <c:v>1160</c:v>
                </c:pt>
                <c:pt idx="59">
                  <c:v>1180</c:v>
                </c:pt>
                <c:pt idx="60">
                  <c:v>1200</c:v>
                </c:pt>
              </c:numCache>
            </c:numRef>
          </c:xVal>
          <c:yVal>
            <c:numRef>
              <c:f>Hoja1!$D$3:$D$63</c:f>
              <c:numCache>
                <c:formatCode>General</c:formatCode>
                <c:ptCount val="61"/>
                <c:pt idx="1">
                  <c:v>18.600000000000001</c:v>
                </c:pt>
                <c:pt idx="6">
                  <c:v>18.399999999999999</c:v>
                </c:pt>
                <c:pt idx="11">
                  <c:v>18.100000000000001</c:v>
                </c:pt>
                <c:pt idx="13">
                  <c:v>18.399999999999999</c:v>
                </c:pt>
                <c:pt idx="20">
                  <c:v>18.399999999999999</c:v>
                </c:pt>
                <c:pt idx="30">
                  <c:v>17.8</c:v>
                </c:pt>
                <c:pt idx="46">
                  <c:v>17.3</c:v>
                </c:pt>
                <c:pt idx="59">
                  <c:v>16.8</c:v>
                </c:pt>
              </c:numCache>
            </c:numRef>
          </c:y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1-044C-49FB-B108-9234BF7FB3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5503616"/>
        <c:axId val="176292224"/>
      </c:scatterChart>
      <c:valAx>
        <c:axId val="1755036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76292224"/>
        <c:crosses val="autoZero"/>
        <c:crossBetween val="midCat"/>
      </c:valAx>
      <c:valAx>
        <c:axId val="1762922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75503616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100000">
          <a:schemeClr val="lt1">
            <a:lumMod val="95000"/>
          </a:schemeClr>
        </a:gs>
        <a:gs pos="43000">
          <a:schemeClr val="lt1"/>
        </a:gs>
      </a:gsLst>
      <a:path path="circle">
        <a:fillToRect l="50000" t="50000" r="50000" b="50000"/>
      </a:path>
      <a:tileRect/>
    </a:gra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s-E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4">
  <cs:axisTitle>
    <cs:lnRef idx="0"/>
    <cs:fillRef idx="0"/>
    <cs:effectRef idx="0"/>
    <cs:fontRef idx="minor">
      <a:schemeClr val="dk1">
        <a:lumMod val="50000"/>
        <a:lumOff val="50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50000"/>
        <a:lumOff val="50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100000">
            <a:schemeClr val="lt1">
              <a:lumMod val="95000"/>
            </a:schemeClr>
          </a:gs>
          <a:gs pos="43000">
            <a:schemeClr val="lt1"/>
          </a:gs>
        </a:gsLst>
        <a:path path="circle">
          <a:fillToRect l="50000" t="50000" r="50000" b="50000"/>
        </a:path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50000"/>
        <a:lumOff val="50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dk1">
          <a:lumMod val="15000"/>
          <a:lumOff val="8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>
        <a:solidFill>
          <a:schemeClr val="phClr">
            <a:alpha val="20000"/>
          </a:schemeClr>
        </a:solidFill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50000"/>
        <a:lumOff val="50000"/>
      </a:schemeClr>
    </cs:fontRef>
    <cs:spPr>
      <a:ln w="9525" cap="rnd">
        <a:solidFill>
          <a:schemeClr val="dk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tx1"/>
    </cs:fontRef>
    <cs:spPr>
      <a:ln w="9525">
        <a:solidFill>
          <a:schemeClr val="dk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50000"/>
        <a:lumOff val="50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600" b="0" kern="1200" spc="70" baseline="0"/>
  </cs:title>
  <cs:trendline>
    <cs:lnRef idx="0">
      <cs:styleClr val="0"/>
    </cs:lnRef>
    <cs:fillRef idx="0"/>
    <cs:effectRef idx="0"/>
    <cs:fontRef idx="minor">
      <a:schemeClr val="tx1"/>
    </cs:fontRef>
    <cs:spPr>
      <a:ln w="63500" cap="rnd" cmpd="sng" algn="ctr">
        <a:solidFill>
          <a:schemeClr val="phClr">
            <a:alpha val="25000"/>
          </a:schemeClr>
        </a:solidFill>
        <a:round/>
      </a:ln>
    </cs:spPr>
  </cs:trendline>
  <cs:trendlineLabel>
    <cs:lnRef idx="0"/>
    <cs:fillRef idx="0"/>
    <cs:effectRef idx="0"/>
    <cs:fontRef idx="minor">
      <a:schemeClr val="dk1">
        <a:lumMod val="50000"/>
        <a:lumOff val="50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dk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dk1">
        <a:lumMod val="50000"/>
        <a:lumOff val="50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B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50EB53-50D3-4CD1-9B5C-283F0F2BE6AB}" type="datetimeFigureOut">
              <a:rPr lang="es-BO" smtClean="0"/>
              <a:t>24/10/2023</a:t>
            </a:fld>
            <a:endParaRPr lang="es-B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B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B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B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D72952-ED68-4C02-B868-52640CB9A751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581061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B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F8FA83-9E9C-4461-A54B-A7C68D26A43B}" type="slidenum">
              <a:rPr lang="es-ES" smtClean="0"/>
              <a:pPr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556186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4" name="Google Shape;134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961750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9" name="Google Shape;119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170535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9" name="Google Shape;119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170535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9" name="Google Shape;119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153297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9" name="Google Shape;119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153297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D1E5A-A51F-43AF-A1F2-25A4F720259D}" type="datetimeFigureOut">
              <a:rPr lang="es-BO" smtClean="0"/>
              <a:t>24/10/2023</a:t>
            </a:fld>
            <a:endParaRPr lang="es-B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C8B48-7634-4CF4-82F9-9CF62CF47EB3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9180284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D1E5A-A51F-43AF-A1F2-25A4F720259D}" type="datetimeFigureOut">
              <a:rPr lang="es-BO" smtClean="0"/>
              <a:t>24/10/2023</a:t>
            </a:fld>
            <a:endParaRPr lang="es-B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C8B48-7634-4CF4-82F9-9CF62CF47EB3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642458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D1E5A-A51F-43AF-A1F2-25A4F720259D}" type="datetimeFigureOut">
              <a:rPr lang="es-BO" smtClean="0"/>
              <a:t>24/10/2023</a:t>
            </a:fld>
            <a:endParaRPr lang="es-B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C8B48-7634-4CF4-82F9-9CF62CF47EB3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0407481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D1E5A-A51F-43AF-A1F2-25A4F720259D}" type="datetimeFigureOut">
              <a:rPr lang="es-BO" smtClean="0"/>
              <a:t>24/10/2023</a:t>
            </a:fld>
            <a:endParaRPr lang="es-BO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C8B48-7634-4CF4-82F9-9CF62CF47EB3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4164204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D1E5A-A51F-43AF-A1F2-25A4F720259D}" type="datetimeFigureOut">
              <a:rPr lang="es-BO" smtClean="0"/>
              <a:t>24/10/2023</a:t>
            </a:fld>
            <a:endParaRPr lang="es-B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C8B48-7634-4CF4-82F9-9CF62CF47EB3}" type="slidenum">
              <a:rPr lang="es-BO" smtClean="0"/>
              <a:t>‹Nº›</a:t>
            </a:fld>
            <a:endParaRPr lang="es-BO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7591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D1E5A-A51F-43AF-A1F2-25A4F720259D}" type="datetimeFigureOut">
              <a:rPr lang="es-BO" smtClean="0"/>
              <a:t>24/10/2023</a:t>
            </a:fld>
            <a:endParaRPr lang="es-B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C8B48-7634-4CF4-82F9-9CF62CF47EB3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386048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D1E5A-A51F-43AF-A1F2-25A4F720259D}" type="datetimeFigureOut">
              <a:rPr lang="es-BO" smtClean="0"/>
              <a:t>24/10/2023</a:t>
            </a:fld>
            <a:endParaRPr lang="es-B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C8B48-7634-4CF4-82F9-9CF62CF47EB3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403175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D1E5A-A51F-43AF-A1F2-25A4F720259D}" type="datetimeFigureOut">
              <a:rPr lang="es-BO" smtClean="0"/>
              <a:t>24/10/2023</a:t>
            </a:fld>
            <a:endParaRPr lang="es-BO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s-BO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C8B48-7634-4CF4-82F9-9CF62CF47EB3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746919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783D1E5A-A51F-43AF-A1F2-25A4F720259D}" type="datetimeFigureOut">
              <a:rPr lang="es-BO" smtClean="0"/>
              <a:t>24/10/2023</a:t>
            </a:fld>
            <a:endParaRPr lang="es-BO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s-BO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C8B48-7634-4CF4-82F9-9CF62CF47EB3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897845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D1E5A-A51F-43AF-A1F2-25A4F720259D}" type="datetimeFigureOut">
              <a:rPr lang="es-BO" smtClean="0"/>
              <a:t>24/10/2023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C8B48-7634-4CF4-82F9-9CF62CF47EB3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095297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D1E5A-A51F-43AF-A1F2-25A4F720259D}" type="datetimeFigureOut">
              <a:rPr lang="es-BO" smtClean="0"/>
              <a:t>24/10/2023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C8B48-7634-4CF4-82F9-9CF62CF47EB3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712407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783D1E5A-A51F-43AF-A1F2-25A4F720259D}" type="datetimeFigureOut">
              <a:rPr lang="es-BO" smtClean="0"/>
              <a:t>24/10/2023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9B9C8B48-7634-4CF4-82F9-9CF62CF47EB3}" type="slidenum">
              <a:rPr lang="es-BO" smtClean="0"/>
              <a:t>‹Nº›</a:t>
            </a:fld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1055429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9" r:id="rId1"/>
    <p:sldLayoutId id="2147483940" r:id="rId2"/>
    <p:sldLayoutId id="2147483941" r:id="rId3"/>
    <p:sldLayoutId id="2147483942" r:id="rId4"/>
    <p:sldLayoutId id="2147483943" r:id="rId5"/>
    <p:sldLayoutId id="2147483944" r:id="rId6"/>
    <p:sldLayoutId id="2147483945" r:id="rId7"/>
    <p:sldLayoutId id="2147483946" r:id="rId8"/>
    <p:sldLayoutId id="2147483947" r:id="rId9"/>
    <p:sldLayoutId id="2147483948" r:id="rId10"/>
    <p:sldLayoutId id="214748394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=""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13" Type="http://schemas.microsoft.com/office/2007/relationships/hdphoto" Target="../media/hdphoto3.wdp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8.png"/><Relationship Id="rId5" Type="http://schemas.microsoft.com/office/2007/relationships/hdphoto" Target="../media/hdphoto1.wdp"/><Relationship Id="rId10" Type="http://schemas.microsoft.com/office/2007/relationships/hdphoto" Target="../media/hdphoto2.wdp"/><Relationship Id="rId4" Type="http://schemas.openxmlformats.org/officeDocument/2006/relationships/image" Target="../media/image13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70.png"/><Relationship Id="rId3" Type="http://schemas.openxmlformats.org/officeDocument/2006/relationships/image" Target="../media/image29.png"/><Relationship Id="rId7" Type="http://schemas.openxmlformats.org/officeDocument/2006/relationships/image" Target="../media/image35.png"/><Relationship Id="rId12" Type="http://schemas.openxmlformats.org/officeDocument/2006/relationships/image" Target="../media/image36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5" Type="http://schemas.openxmlformats.org/officeDocument/2006/relationships/image" Target="../media/image37.jpe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1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6041BFE1-7609-429E-97BE-8D4ED0423C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1357" y="1384183"/>
            <a:ext cx="5342627" cy="1238901"/>
          </a:xfrm>
        </p:spPr>
        <p:txBody>
          <a:bodyPr>
            <a:normAutofit fontScale="90000"/>
          </a:bodyPr>
          <a:lstStyle/>
          <a:p>
            <a:r>
              <a:rPr lang="es-BO" b="1" dirty="0"/>
              <a:t>Sistema de nivel de liquido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="" xmlns:a16="http://schemas.microsoft.com/office/drawing/2014/main" id="{458FE680-6F06-4796-931B-C67AA3010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313" y="3084453"/>
            <a:ext cx="5894717" cy="2962663"/>
          </a:xfrm>
        </p:spPr>
        <p:txBody>
          <a:bodyPr>
            <a:normAutofit fontScale="85000" lnSpcReduction="20000"/>
          </a:bodyPr>
          <a:lstStyle/>
          <a:p>
            <a:pPr algn="l"/>
            <a:endParaRPr lang="es-BO" dirty="0"/>
          </a:p>
          <a:p>
            <a:pPr algn="l"/>
            <a:r>
              <a:rPr lang="es-BO" sz="2400" dirty="0">
                <a:solidFill>
                  <a:schemeClr val="bg1"/>
                </a:solidFill>
              </a:rPr>
              <a:t>Asignatura:	ETN - 1034</a:t>
            </a:r>
          </a:p>
          <a:p>
            <a:pPr algn="l"/>
            <a:r>
              <a:rPr lang="es-BO" sz="2400" dirty="0">
                <a:solidFill>
                  <a:schemeClr val="bg1"/>
                </a:solidFill>
              </a:rPr>
              <a:t>Integrantes:	Linares Poma Guido </a:t>
            </a:r>
            <a:r>
              <a:rPr lang="es-BO" sz="2400" dirty="0" err="1">
                <a:solidFill>
                  <a:schemeClr val="bg1"/>
                </a:solidFill>
              </a:rPr>
              <a:t>Alvaro</a:t>
            </a:r>
            <a:endParaRPr lang="es-BO" sz="2400" dirty="0">
              <a:solidFill>
                <a:schemeClr val="bg1"/>
              </a:solidFill>
            </a:endParaRPr>
          </a:p>
          <a:p>
            <a:pPr algn="l"/>
            <a:r>
              <a:rPr lang="es-BO" sz="2400" dirty="0">
                <a:solidFill>
                  <a:schemeClr val="bg1"/>
                </a:solidFill>
              </a:rPr>
              <a:t>		Huanaco Condori </a:t>
            </a:r>
            <a:r>
              <a:rPr lang="es-BO" sz="2400" dirty="0" err="1">
                <a:solidFill>
                  <a:schemeClr val="bg1"/>
                </a:solidFill>
              </a:rPr>
              <a:t>Heydi</a:t>
            </a:r>
            <a:r>
              <a:rPr lang="es-BO" sz="2400" dirty="0">
                <a:solidFill>
                  <a:schemeClr val="bg1"/>
                </a:solidFill>
              </a:rPr>
              <a:t> Marilyn</a:t>
            </a:r>
          </a:p>
          <a:p>
            <a:pPr algn="l"/>
            <a:r>
              <a:rPr lang="es-BO" sz="2400" dirty="0">
                <a:solidFill>
                  <a:schemeClr val="bg1"/>
                </a:solidFill>
              </a:rPr>
              <a:t>		Quispe Lucana Williams</a:t>
            </a:r>
          </a:p>
          <a:p>
            <a:pPr algn="l"/>
            <a:r>
              <a:rPr lang="es-BO" sz="2400" dirty="0">
                <a:solidFill>
                  <a:schemeClr val="bg1"/>
                </a:solidFill>
              </a:rPr>
              <a:t>		Ramos Queso Edith</a:t>
            </a:r>
          </a:p>
          <a:p>
            <a:pPr algn="l"/>
            <a:endParaRPr lang="es-BO" sz="2400" dirty="0">
              <a:solidFill>
                <a:schemeClr val="bg1"/>
              </a:solidFill>
            </a:endParaRPr>
          </a:p>
          <a:p>
            <a:pPr algn="l"/>
            <a:r>
              <a:rPr lang="es-BO" sz="2400" dirty="0">
                <a:solidFill>
                  <a:schemeClr val="bg1"/>
                </a:solidFill>
              </a:rPr>
              <a:t>Semestre :	ll - 2023</a:t>
            </a:r>
          </a:p>
          <a:p>
            <a:pPr algn="l"/>
            <a:endParaRPr lang="es-BO" dirty="0"/>
          </a:p>
        </p:txBody>
      </p:sp>
      <p:pic>
        <p:nvPicPr>
          <p:cNvPr id="5" name="Imagen 4">
            <a:extLst>
              <a:ext uri="{FF2B5EF4-FFF2-40B4-BE49-F238E27FC236}">
                <a16:creationId xmlns="" xmlns:a16="http://schemas.microsoft.com/office/drawing/2014/main" id="{D01A6B4C-CD18-4376-97F6-2D50A711CEF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7" t="953" r="2452"/>
          <a:stretch/>
        </p:blipFill>
        <p:spPr>
          <a:xfrm rot="5400000">
            <a:off x="6094876" y="1591888"/>
            <a:ext cx="6142007" cy="3820872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3530107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6"/>
          <p:cNvSpPr txBox="1">
            <a:spLocks noGrp="1"/>
          </p:cNvSpPr>
          <p:nvPr>
            <p:ph type="ctrTitle"/>
          </p:nvPr>
        </p:nvSpPr>
        <p:spPr>
          <a:xfrm>
            <a:off x="1742089" y="459614"/>
            <a:ext cx="4572000" cy="497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es-BO" sz="2800" b="1" dirty="0"/>
              <a:t>MODELAR</a:t>
            </a:r>
            <a:endParaRPr sz="4400" dirty="0"/>
          </a:p>
        </p:txBody>
      </p:sp>
      <p:sp>
        <p:nvSpPr>
          <p:cNvPr id="105" name="Google Shape;105;p76"/>
          <p:cNvSpPr txBox="1">
            <a:spLocks noGrp="1"/>
          </p:cNvSpPr>
          <p:nvPr>
            <p:ph type="subTitle" idx="1"/>
          </p:nvPr>
        </p:nvSpPr>
        <p:spPr>
          <a:xfrm>
            <a:off x="1730326" y="1308295"/>
            <a:ext cx="9228406" cy="111134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592" t="-3294" r="-52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BO" dirty="0"/>
              <a:t> </a:t>
            </a:r>
            <a:endParaRPr dirty="0"/>
          </a:p>
        </p:txBody>
      </p:sp>
      <p:sp>
        <p:nvSpPr>
          <p:cNvPr id="107" name="Google Shape;107;p76"/>
          <p:cNvSpPr txBox="1"/>
          <p:nvPr/>
        </p:nvSpPr>
        <p:spPr>
          <a:xfrm>
            <a:off x="6096000" y="3429000"/>
            <a:ext cx="5417836" cy="266834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l="-1124" t="-137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BO"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" name="Grupo 3">
            <a:extLst>
              <a:ext uri="{FF2B5EF4-FFF2-40B4-BE49-F238E27FC236}">
                <a16:creationId xmlns="" xmlns:a16="http://schemas.microsoft.com/office/drawing/2014/main" id="{6532C379-5D97-41B8-8EBE-A16B594C1569}"/>
              </a:ext>
            </a:extLst>
          </p:cNvPr>
          <p:cNvGrpSpPr/>
          <p:nvPr/>
        </p:nvGrpSpPr>
        <p:grpSpPr>
          <a:xfrm>
            <a:off x="1826003" y="2770502"/>
            <a:ext cx="3737312" cy="3934011"/>
            <a:chOff x="2199735" y="2215462"/>
            <a:chExt cx="3737312" cy="3934011"/>
          </a:xfrm>
        </p:grpSpPr>
        <p:pic>
          <p:nvPicPr>
            <p:cNvPr id="106" name="Google Shape;106;p76"/>
            <p:cNvPicPr preferRelativeResize="0"/>
            <p:nvPr/>
          </p:nvPicPr>
          <p:blipFill rotWithShape="1">
            <a:blip r:embed="rId5">
              <a:alphaModFix/>
            </a:blip>
            <a:srcRect l="21448" t="5399" r="38815" b="13866"/>
            <a:stretch/>
          </p:blipFill>
          <p:spPr>
            <a:xfrm>
              <a:off x="2199735" y="2215462"/>
              <a:ext cx="3737312" cy="39340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Google Shape;106;p76">
              <a:extLst>
                <a:ext uri="{FF2B5EF4-FFF2-40B4-BE49-F238E27FC236}">
                  <a16:creationId xmlns="" xmlns:a16="http://schemas.microsoft.com/office/drawing/2014/main" id="{700B07E4-F205-42BF-8A1E-A7ECA1368436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 l="41522" t="43139" r="53617" b="45177"/>
            <a:stretch/>
          </p:blipFill>
          <p:spPr>
            <a:xfrm>
              <a:off x="3919989" y="3510951"/>
              <a:ext cx="457201" cy="56934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" name="Rectángulo 1">
              <a:extLst>
                <a:ext uri="{FF2B5EF4-FFF2-40B4-BE49-F238E27FC236}">
                  <a16:creationId xmlns="" xmlns:a16="http://schemas.microsoft.com/office/drawing/2014/main" id="{9800B7C7-6696-433A-ABF9-3E37647225BD}"/>
                </a:ext>
              </a:extLst>
            </p:cNvPr>
            <p:cNvSpPr/>
            <p:nvPr/>
          </p:nvSpPr>
          <p:spPr>
            <a:xfrm>
              <a:off x="2199735" y="3497168"/>
              <a:ext cx="1052423" cy="59522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BO" dirty="0"/>
            </a:p>
          </p:txBody>
        </p:sp>
      </p:grpSp>
      <p:pic>
        <p:nvPicPr>
          <p:cNvPr id="11" name="Google Shape;106;p76">
            <a:extLst>
              <a:ext uri="{FF2B5EF4-FFF2-40B4-BE49-F238E27FC236}">
                <a16:creationId xmlns="" xmlns:a16="http://schemas.microsoft.com/office/drawing/2014/main" id="{E718D016-DB1A-4595-A7AD-AC4F1C1CD8C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18292" t="31042" r="78595" b="60959"/>
          <a:stretch/>
        </p:blipFill>
        <p:spPr>
          <a:xfrm>
            <a:off x="3254983" y="2770502"/>
            <a:ext cx="292759" cy="3897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Conector recto de flecha 6">
            <a:extLst>
              <a:ext uri="{FF2B5EF4-FFF2-40B4-BE49-F238E27FC236}">
                <a16:creationId xmlns="" xmlns:a16="http://schemas.microsoft.com/office/drawing/2014/main" id="{B10E9D9F-4829-4698-97DE-87880031F87B}"/>
              </a:ext>
            </a:extLst>
          </p:cNvPr>
          <p:cNvCxnSpPr>
            <a:cxnSpLocks/>
          </p:cNvCxnSpPr>
          <p:nvPr/>
        </p:nvCxnSpPr>
        <p:spPr>
          <a:xfrm>
            <a:off x="3598015" y="2853665"/>
            <a:ext cx="0" cy="487392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6DAB8DA7-C501-6086-467C-E3EABDEA6C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9456" y="267059"/>
            <a:ext cx="4257822" cy="497822"/>
          </a:xfrm>
        </p:spPr>
        <p:txBody>
          <a:bodyPr>
            <a:normAutofit fontScale="90000"/>
          </a:bodyPr>
          <a:lstStyle/>
          <a:p>
            <a:r>
              <a:rPr lang="es-BO" sz="1800" b="1" u="sng" dirty="0"/>
              <a:t>Obtención de la función de transferencia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ítulo 2">
                <a:extLst>
                  <a:ext uri="{FF2B5EF4-FFF2-40B4-BE49-F238E27FC236}">
                    <a16:creationId xmlns="" xmlns:a16="http://schemas.microsoft.com/office/drawing/2014/main" id="{8B4FD708-B53C-43D9-A42D-65BF09F3A95B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998290" y="954202"/>
                <a:ext cx="4953694" cy="5787741"/>
              </a:xfrm>
            </p:spPr>
            <p:txBody>
              <a:bodyPr>
                <a:normAutofit/>
              </a:bodyPr>
              <a:lstStyle/>
              <a:p>
                <a:pPr marL="342900" lvl="0" indent="-342900" algn="l" defTabSz="830263">
                  <a:lnSpc>
                    <a:spcPct val="107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"/>
                </a:pPr>
                <a:r>
                  <a:rPr lang="es-BO" sz="1800" i="1" dirty="0">
                    <a:solidFill>
                      <a:schemeClr val="bg1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Ecuaciones fundamentales</a:t>
                </a:r>
                <a:endParaRPr lang="es-BO" sz="18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0">
                  <a:lnSpc>
                    <a:spcPct val="107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800" b="0" i="1" smtClean="0">
                              <a:solidFill>
                                <a:schemeClr val="bg1"/>
                              </a:solidFill>
                              <a:effectLst/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sz="1800" b="0" i="1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s-ES" sz="1800" b="0" i="1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es-ES" sz="1800" b="0" i="1" smtClean="0">
                              <a:solidFill>
                                <a:schemeClr val="bg1"/>
                              </a:solidFill>
                              <a:effectLst/>
                              <a:latin typeface="Cambria Math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s-ES" sz="1800" b="0" i="1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s-ES" sz="1800" b="0" i="1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1800" b="0" i="1" smtClean="0">
                              <a:solidFill>
                                <a:schemeClr val="bg1"/>
                              </a:solidFill>
                              <a:effectLst/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sz="1800" b="0" i="1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s-ES" sz="1800" b="0" i="1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sub>
                      </m:sSub>
                      <m:d>
                        <m:dPr>
                          <m:ctrlPr>
                            <a:rPr lang="es-ES" sz="1800" b="0" i="1" smtClean="0">
                              <a:solidFill>
                                <a:schemeClr val="bg1"/>
                              </a:solidFill>
                              <a:effectLst/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s-ES" sz="1800" b="0" i="1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s-ES" sz="1800" b="0" i="1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sz="1800" b="0" i="1" smtClean="0">
                              <a:solidFill>
                                <a:schemeClr val="bg1"/>
                              </a:solidFill>
                              <a:effectLst/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sz="1800" b="0" i="1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s-ES" sz="1800" b="0" i="1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s-ES" sz="1800" b="0" i="1" smtClean="0">
                              <a:solidFill>
                                <a:schemeClr val="bg1"/>
                              </a:solidFill>
                              <a:effectLst/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s-ES" sz="1800" b="0" i="1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s-ES" sz="1800" b="0" i="1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                               (1)</m:t>
                      </m:r>
                    </m:oMath>
                  </m:oMathPara>
                </a14:m>
                <a:endParaRPr lang="es-BO" sz="18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0">
                  <a:lnSpc>
                    <a:spcPct val="107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800" b="0" i="1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h</m:t>
                      </m:r>
                      <m:d>
                        <m:dPr>
                          <m:ctrlPr>
                            <a:rPr lang="es-ES" sz="1800" b="0" i="1" smtClean="0">
                              <a:solidFill>
                                <a:schemeClr val="bg1"/>
                              </a:solidFill>
                              <a:effectLst/>
                              <a:latin typeface="Cambria Math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s-ES" sz="1800" b="0" i="1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s-ES" sz="1800" b="0" i="1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s-ES" sz="1800" b="0" i="1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𝑔</m:t>
                      </m:r>
                      <m:d>
                        <m:dPr>
                          <m:ctrlPr>
                            <a:rPr lang="es-ES" sz="1800" b="0" i="1" smtClean="0">
                              <a:solidFill>
                                <a:schemeClr val="bg1"/>
                              </a:solidFill>
                              <a:effectLst/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s-ES" sz="1800" b="0" i="1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sSub>
                        <m:sSubPr>
                          <m:ctrlPr>
                            <a:rPr lang="es-ES" sz="1800" i="1">
                              <a:solidFill>
                                <a:schemeClr val="bg1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s-ES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es-ES" sz="1800" b="0" i="1" smtClean="0">
                              <a:solidFill>
                                <a:schemeClr val="bg1"/>
                              </a:solidFill>
                              <a:effectLst/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s-ES" sz="1800" b="0" i="1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s-ES" sz="1800" b="0" i="1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                                        </m:t>
                      </m:r>
                      <m:d>
                        <m:dPr>
                          <m:ctrlPr>
                            <a:rPr lang="es-ES" sz="1800" b="0" i="1" smtClean="0">
                              <a:solidFill>
                                <a:schemeClr val="bg1"/>
                              </a:solidFill>
                              <a:effectLst/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s-ES" sz="1800" b="0" i="1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s-ES" sz="1800" b="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 algn="l" defTabSz="785813">
                  <a:lnSpc>
                    <a:spcPct val="107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"/>
                </a:pPr>
                <a:r>
                  <a:rPr lang="es-BO" sz="1800" i="1" dirty="0">
                    <a:solidFill>
                      <a:schemeClr val="bg1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Aplicando la transformada de Laplace</a:t>
                </a:r>
                <a:endParaRPr lang="es-BO" sz="18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0">
                  <a:lnSpc>
                    <a:spcPct val="107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800" b="0" i="1" smtClean="0">
                              <a:solidFill>
                                <a:schemeClr val="bg1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s-E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es-ES" sz="1800" i="1">
                              <a:solidFill>
                                <a:schemeClr val="bg1"/>
                              </a:solidFill>
                              <a:latin typeface="Cambria Math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s-E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</m:d>
                      <m:r>
                        <a:rPr lang="es-ES" sz="1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1800" i="1">
                              <a:solidFill>
                                <a:schemeClr val="bg1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s-ES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sub>
                      </m:sSub>
                      <m:d>
                        <m:dPr>
                          <m:ctrlPr>
                            <a:rPr lang="es-ES" sz="1800" i="1">
                              <a:solidFill>
                                <a:schemeClr val="bg1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s-E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</m:d>
                      <m:r>
                        <a:rPr lang="es-ES" sz="1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" sz="1800" i="1">
                              <a:solidFill>
                                <a:schemeClr val="bg1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s-ES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s-ES" sz="1800" i="1">
                              <a:solidFill>
                                <a:schemeClr val="bg1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s-E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</m:d>
                      <m:r>
                        <a:rPr lang="es-ES" sz="1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                          </m:t>
                      </m:r>
                      <m:r>
                        <a:rPr lang="es-BO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</m:t>
                      </m:r>
                      <m:r>
                        <a:rPr lang="es-ES" sz="1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(</m:t>
                      </m:r>
                      <m:r>
                        <a:rPr lang="es-ES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3</m:t>
                      </m:r>
                      <m:r>
                        <a:rPr lang="es-ES" sz="1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s-BO" sz="18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0">
                  <a:lnSpc>
                    <a:spcPct val="107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ES" sz="1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H</m:t>
                      </m:r>
                      <m:d>
                        <m:dPr>
                          <m:ctrlPr>
                            <a:rPr lang="es-ES" sz="1800" i="1">
                              <a:solidFill>
                                <a:schemeClr val="bg1"/>
                              </a:solidFill>
                              <a:latin typeface="Cambria Math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s-E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</m:d>
                      <m:r>
                        <a:rPr lang="es-ES" sz="1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s-ES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𝐺</m:t>
                      </m:r>
                      <m:d>
                        <m:dPr>
                          <m:ctrlPr>
                            <a:rPr lang="es-ES" sz="1800" i="1">
                              <a:solidFill>
                                <a:schemeClr val="bg1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s-E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</m:d>
                      <m:sSub>
                        <m:sSubPr>
                          <m:ctrlPr>
                            <a:rPr lang="es-ES" sz="1800" i="1">
                              <a:solidFill>
                                <a:schemeClr val="bg1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s-ES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es-ES" sz="1800" i="1">
                              <a:solidFill>
                                <a:schemeClr val="bg1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s-E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</m:d>
                      <m:r>
                        <a:rPr lang="es-ES" sz="1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                                      </m:t>
                      </m:r>
                      <m:d>
                        <m:dPr>
                          <m:ctrlPr>
                            <a:rPr lang="es-ES" sz="1800" i="1">
                              <a:solidFill>
                                <a:schemeClr val="bg1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s-E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e>
                      </m:d>
                    </m:oMath>
                  </m:oMathPara>
                </a14:m>
                <a:endParaRPr lang="es-ES" sz="1800" dirty="0">
                  <a:solidFill>
                    <a:schemeClr val="bg1"/>
                  </a:solidFill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 algn="l" defTabSz="785813">
                  <a:lnSpc>
                    <a:spcPct val="107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"/>
                </a:pPr>
                <a:r>
                  <a:rPr lang="es-BO" sz="1800" b="1" dirty="0">
                    <a:solidFill>
                      <a:schemeClr val="bg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Caudal por la restricción </a:t>
                </a:r>
              </a:p>
              <a:p>
                <a:pPr marL="457200">
                  <a:lnSpc>
                    <a:spcPct val="107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h</m:t>
                      </m:r>
                      <m:d>
                        <m:dPr>
                          <m:ctrlPr>
                            <a:rPr lang="es-ES" sz="1800" i="1">
                              <a:solidFill>
                                <a:schemeClr val="bg1"/>
                              </a:solidFill>
                              <a:latin typeface="Cambria Math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s-ES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s-ES" sz="1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1800" i="1" smtClean="0">
                              <a:solidFill>
                                <a:schemeClr val="bg1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s-E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sub>
                      </m:sSub>
                      <m:d>
                        <m:dPr>
                          <m:ctrlPr>
                            <a:rPr lang="es-ES" sz="1800" i="1" smtClean="0">
                              <a:solidFill>
                                <a:schemeClr val="bg1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s-ES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s-ES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s-ES" sz="1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                                </m:t>
                      </m:r>
                      <m:r>
                        <a:rPr lang="es-ES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   </m:t>
                      </m:r>
                      <m:r>
                        <a:rPr lang="es-ES" sz="1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   </m:t>
                      </m:r>
                      <m:r>
                        <a:rPr lang="es-ES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s-ES" sz="1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d>
                        <m:dPr>
                          <m:ctrlPr>
                            <a:rPr lang="es-ES" sz="1800" i="1">
                              <a:solidFill>
                                <a:schemeClr val="bg1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s-E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5</m:t>
                          </m:r>
                        </m:e>
                      </m:d>
                    </m:oMath>
                  </m:oMathPara>
                </a14:m>
                <a:endParaRPr lang="es-ES" sz="1800" dirty="0">
                  <a:solidFill>
                    <a:schemeClr val="bg1"/>
                  </a:solidFill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0">
                  <a:lnSpc>
                    <a:spcPct val="107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ES" sz="1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H</m:t>
                      </m:r>
                      <m:d>
                        <m:dPr>
                          <m:ctrlPr>
                            <a:rPr lang="es-ES" sz="1800" i="1">
                              <a:solidFill>
                                <a:schemeClr val="bg1"/>
                              </a:solidFill>
                              <a:latin typeface="Cambria Math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s-E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</m:d>
                      <m:r>
                        <a:rPr lang="es-ES" sz="1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1800" i="1" smtClean="0">
                              <a:solidFill>
                                <a:schemeClr val="bg1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s-E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sub>
                      </m:sSub>
                      <m:d>
                        <m:dPr>
                          <m:ctrlPr>
                            <a:rPr lang="es-ES" sz="1800" i="1" smtClean="0">
                              <a:solidFill>
                                <a:schemeClr val="bg1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s-E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</m:d>
                      <m:r>
                        <a:rPr lang="es-ES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s-ES" sz="1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                                </m:t>
                      </m:r>
                      <m:r>
                        <a:rPr lang="es-ES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  </m:t>
                      </m:r>
                      <m:r>
                        <a:rPr lang="es-ES" sz="1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   </m:t>
                      </m:r>
                      <m:r>
                        <a:rPr lang="es-ES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d>
                        <m:dPr>
                          <m:ctrlPr>
                            <a:rPr lang="es-ES" sz="1800" i="1">
                              <a:solidFill>
                                <a:schemeClr val="bg1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s-E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6</m:t>
                          </m:r>
                        </m:e>
                      </m:d>
                    </m:oMath>
                  </m:oMathPara>
                </a14:m>
                <a:endParaRPr lang="es-ES" sz="1800" dirty="0">
                  <a:solidFill>
                    <a:schemeClr val="bg1"/>
                  </a:solidFill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 algn="l" defTabSz="785813">
                  <a:lnSpc>
                    <a:spcPct val="107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"/>
                </a:pPr>
                <a:r>
                  <a:rPr lang="es-BO" sz="1800" b="1" dirty="0">
                    <a:solidFill>
                      <a:schemeClr val="bg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Caudal en la capacidad del tanque</a:t>
                </a:r>
              </a:p>
              <a:p>
                <a:pPr marL="457200">
                  <a:lnSpc>
                    <a:spcPct val="107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h</m:t>
                      </m:r>
                      <m:d>
                        <m:dPr>
                          <m:ctrlPr>
                            <a:rPr lang="es-ES" sz="1800" i="1">
                              <a:solidFill>
                                <a:schemeClr val="bg1"/>
                              </a:solidFill>
                              <a:latin typeface="Cambria Math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s-ES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</m:d>
                      <m:r>
                        <a:rPr lang="es-ES" sz="1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1800" i="1" smtClean="0">
                              <a:solidFill>
                                <a:schemeClr val="bg1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E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den>
                      </m:f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s-ES" sz="1800" i="1" smtClean="0">
                              <a:solidFill>
                                <a:schemeClr val="bg1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s-ES" sz="1800" i="1">
                                  <a:solidFill>
                                    <a:schemeClr val="bg1"/>
                                  </a:solidFill>
                                  <a:latin typeface="Cambria Math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1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s-ES" sz="1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sub>
                          </m:sSub>
                          <m:d>
                            <m:dPr>
                              <m:ctrlPr>
                                <a:rPr lang="es-ES" sz="1800" i="1">
                                  <a:solidFill>
                                    <a:schemeClr val="bg1"/>
                                  </a:solidFill>
                                  <a:latin typeface="Cambria Math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1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s-E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𝑑𝑡</m:t>
                          </m:r>
                          <m:r>
                            <a:rPr lang="es-E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                                  </m:t>
                          </m:r>
                        </m:e>
                      </m:nary>
                      <m:d>
                        <m:dPr>
                          <m:ctrlPr>
                            <a:rPr lang="es-ES" sz="1800" i="1">
                              <a:solidFill>
                                <a:schemeClr val="bg1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s-E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7</m:t>
                          </m:r>
                        </m:e>
                      </m:d>
                      <m:r>
                        <a:rPr lang="es-ES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s-ES" sz="1800" dirty="0">
                  <a:solidFill>
                    <a:schemeClr val="bg1"/>
                  </a:solidFill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0">
                  <a:lnSpc>
                    <a:spcPct val="107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ES" sz="1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H</m:t>
                      </m:r>
                      <m:d>
                        <m:dPr>
                          <m:ctrlPr>
                            <a:rPr lang="es-ES" sz="1800" i="1">
                              <a:solidFill>
                                <a:schemeClr val="bg1"/>
                              </a:solidFill>
                              <a:latin typeface="Cambria Math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s-E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</m:d>
                      <m:r>
                        <a:rPr lang="es-ES" sz="1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sz="1800" i="1" smtClean="0">
                              <a:solidFill>
                                <a:schemeClr val="bg1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es-ES" sz="180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s-ES" sz="1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ES" sz="1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𝐶𝑠</m:t>
                              </m:r>
                            </m:den>
                          </m:f>
                          <m:r>
                            <a:rPr lang="es-E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s-E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s-ES" sz="1800" i="1" smtClean="0">
                              <a:solidFill>
                                <a:schemeClr val="bg1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s-E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</m:d>
                      <m:r>
                        <a:rPr lang="es-ES" sz="1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                                </m:t>
                      </m:r>
                      <m:r>
                        <a:rPr lang="es-ES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  </m:t>
                      </m:r>
                      <m:r>
                        <a:rPr lang="es-ES" sz="1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</m:t>
                      </m:r>
                      <m:r>
                        <a:rPr lang="es-ES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d>
                        <m:dPr>
                          <m:ctrlPr>
                            <a:rPr lang="es-ES" sz="1800" i="1">
                              <a:solidFill>
                                <a:schemeClr val="bg1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s-E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8</m:t>
                          </m:r>
                        </m:e>
                      </m:d>
                    </m:oMath>
                  </m:oMathPara>
                </a14:m>
                <a:endParaRPr lang="es-ES" sz="1800" dirty="0">
                  <a:solidFill>
                    <a:schemeClr val="bg1"/>
                  </a:solidFill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0">
                  <a:lnSpc>
                    <a:spcPct val="107000"/>
                  </a:lnSpc>
                  <a:spcAft>
                    <a:spcPts val="600"/>
                  </a:spcAft>
                </a:pPr>
                <a:endParaRPr lang="es-ES" sz="1600" dirty="0">
                  <a:solidFill>
                    <a:schemeClr val="bg1"/>
                  </a:solidFill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600"/>
                  </a:spcAft>
                </a:pPr>
                <a:endParaRPr lang="es-BO" sz="1600" dirty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l">
                  <a:lnSpc>
                    <a:spcPct val="107000"/>
                  </a:lnSpc>
                  <a:spcAft>
                    <a:spcPts val="600"/>
                  </a:spcAft>
                </a:pPr>
                <a:endParaRPr lang="es-BO" sz="1800" b="1" dirty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s-BO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Subtítulo 2">
                <a:extLst>
                  <a:ext uri="{FF2B5EF4-FFF2-40B4-BE49-F238E27FC236}">
                    <a16:creationId xmlns:a16="http://schemas.microsoft.com/office/drawing/2014/main" id="{8B4FD708-B53C-43D9-A42D-65BF09F3A9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998290" y="954202"/>
                <a:ext cx="4953694" cy="5787741"/>
              </a:xfrm>
              <a:blipFill>
                <a:blip r:embed="rId2"/>
                <a:stretch>
                  <a:fillRect l="-862" t="-527"/>
                </a:stretch>
              </a:blipFill>
            </p:spPr>
            <p:txBody>
              <a:bodyPr/>
              <a:lstStyle/>
              <a:p>
                <a:r>
                  <a:rPr lang="es-B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Subtítulo 2">
                <a:extLst>
                  <a:ext uri="{FF2B5EF4-FFF2-40B4-BE49-F238E27FC236}">
                    <a16:creationId xmlns="" xmlns:a16="http://schemas.microsoft.com/office/drawing/2014/main" id="{AF0CAA32-1BA7-1871-5D30-8C288ADC2BA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40016" y="267060"/>
                <a:ext cx="5752907" cy="647488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32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4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 algn="l" defTabSz="830263">
                  <a:lnSpc>
                    <a:spcPct val="107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"/>
                </a:pPr>
                <a:endParaRPr lang="es-BO" sz="1800" i="1" dirty="0">
                  <a:solidFill>
                    <a:schemeClr val="bg1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342900" indent="-342900" algn="l" defTabSz="830263">
                  <a:lnSpc>
                    <a:spcPct val="107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"/>
                </a:pPr>
                <a14:m>
                  <m:oMath xmlns:m="http://schemas.openxmlformats.org/officeDocument/2006/math">
                    <m:r>
                      <a:rPr lang="es-BO" sz="18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𝑘𝐶</m:t>
                    </m:r>
                    <m:f>
                      <m:fPr>
                        <m:ctrlPr>
                          <a:rPr lang="es-BO" sz="1800" i="1">
                            <a:solidFill>
                              <a:schemeClr val="bg1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BO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𝑑h</m:t>
                        </m:r>
                        <m:r>
                          <a:rPr lang="es-BO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s-BO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s-BO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a:rPr lang="es-BO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𝑑𝑡</m:t>
                        </m:r>
                      </m:den>
                    </m:f>
                    <m:r>
                      <a:rPr lang="es-BO" sz="18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s-BO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h</m:t>
                    </m:r>
                    <m:d>
                      <m:dPr>
                        <m:ctrlPr>
                          <a:rPr lang="es-ES" sz="1800" i="1">
                            <a:solidFill>
                              <a:schemeClr val="bg1"/>
                            </a:solidFill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BO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es-ES" sz="18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s-BO" sz="18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sSub>
                      <m:sSubPr>
                        <m:ctrlPr>
                          <a:rPr lang="es-ES" sz="1800" i="1">
                            <a:solidFill>
                              <a:schemeClr val="bg1"/>
                            </a:solidFill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s-ES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  <m:sub>
                        <m:r>
                          <a:rPr lang="es-ES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ctrlPr>
                          <a:rPr lang="es-ES" sz="1800" i="1">
                            <a:solidFill>
                              <a:schemeClr val="bg1"/>
                            </a:solidFill>
                            <a:latin typeface="Cambria Math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ES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es-BO" sz="1800" i="1" dirty="0">
                  <a:solidFill>
                    <a:schemeClr val="bg1"/>
                  </a:solidFill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 algn="l" defTabSz="830263">
                  <a:lnSpc>
                    <a:spcPct val="107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"/>
                </a:pPr>
                <a:r>
                  <a:rPr lang="es-BO" sz="1800" i="1" dirty="0">
                    <a:solidFill>
                      <a:schemeClr val="bg1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Reordenando y reemplazando la ecuación (6) y (8) en (3)</a:t>
                </a:r>
                <a:endParaRPr lang="es-BO" sz="18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0">
                  <a:lnSpc>
                    <a:spcPct val="107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800" i="1" smtClean="0">
                              <a:solidFill>
                                <a:schemeClr val="bg1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s-E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es-ES" sz="1800" i="1">
                              <a:solidFill>
                                <a:schemeClr val="bg1"/>
                              </a:solidFill>
                              <a:latin typeface="Cambria Math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s-ES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</m:d>
                      <m:r>
                        <a:rPr lang="es-ES" sz="1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1800" i="1" smtClean="0">
                              <a:solidFill>
                                <a:schemeClr val="bg1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E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E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den>
                      </m:f>
                      <m:r>
                        <a:rPr lang="es-ES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·</m:t>
                      </m:r>
                      <m:r>
                        <a:rPr lang="es-ES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𝐻</m:t>
                      </m:r>
                      <m:d>
                        <m:dPr>
                          <m:ctrlPr>
                            <a:rPr lang="es-ES" sz="1800" i="1">
                              <a:solidFill>
                                <a:schemeClr val="bg1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s-E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</m:d>
                      <m:r>
                        <a:rPr lang="es-ES" sz="1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s-ES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𝐶𝑠</m:t>
                      </m:r>
                      <m:r>
                        <a:rPr lang="es-ES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·</m:t>
                      </m:r>
                      <m:r>
                        <a:rPr lang="es-ES" sz="1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𝐻</m:t>
                      </m:r>
                      <m:d>
                        <m:dPr>
                          <m:ctrlPr>
                            <a:rPr lang="es-ES" sz="1800" i="1">
                              <a:solidFill>
                                <a:schemeClr val="bg1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s-E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s-BO" sz="18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indent="-342900" algn="l" defTabSz="785813">
                  <a:lnSpc>
                    <a:spcPct val="107000"/>
                  </a:lnSpc>
                  <a:spcAft>
                    <a:spcPts val="600"/>
                  </a:spcAft>
                  <a:buFont typeface="Wingdings" panose="05000000000000000000" pitchFamily="2" charset="2"/>
                  <a:buChar char=""/>
                </a:pPr>
                <a:r>
                  <a:rPr lang="es-BO" sz="1800" i="1" dirty="0">
                    <a:solidFill>
                      <a:schemeClr val="bg1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Despejando obtenemos la función de transferencia</a:t>
                </a:r>
                <a:endParaRPr lang="es-BO" sz="18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0">
                  <a:lnSpc>
                    <a:spcPct val="107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800" i="1" smtClean="0">
                              <a:solidFill>
                                <a:schemeClr val="bg1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E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s-ES" sz="1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ctrlPr>
                            <a:rPr lang="es-ES" sz="1800" i="1">
                              <a:solidFill>
                                <a:schemeClr val="bg1"/>
                              </a:solidFill>
                              <a:latin typeface="Cambria Math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s-ES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</m:d>
                      <m:r>
                        <a:rPr lang="es-ES" sz="1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s-ES" sz="1800" b="0" i="1" smtClean="0">
                              <a:solidFill>
                                <a:schemeClr val="bg1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ES" sz="1800" i="1">
                                  <a:solidFill>
                                    <a:schemeClr val="bg1"/>
                                  </a:solidFill>
                                  <a:latin typeface="Cambria Math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s-ES" sz="1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a:rPr lang="es-ES" sz="1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r>
                                <a:rPr lang="es-ES" sz="1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𝑘𝐶𝑠</m:t>
                              </m:r>
                            </m:num>
                            <m:den>
                              <m:r>
                                <a:rPr lang="es-ES" sz="1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es-ES" sz="1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·</m:t>
                      </m:r>
                      <m:r>
                        <a:rPr lang="es-ES" sz="1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𝐻</m:t>
                      </m:r>
                      <m:d>
                        <m:dPr>
                          <m:ctrlPr>
                            <a:rPr lang="es-ES" sz="1800" i="1">
                              <a:solidFill>
                                <a:schemeClr val="bg1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s-ES" sz="1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s-BO" sz="18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0">
                  <a:lnSpc>
                    <a:spcPct val="107000"/>
                  </a:lnSpc>
                  <a:spcAft>
                    <a:spcPts val="600"/>
                  </a:spcAft>
                </a:pPr>
                <a:endParaRPr lang="es-ES" sz="1800" dirty="0">
                  <a:solidFill>
                    <a:schemeClr val="bg1"/>
                  </a:solidFill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2800" i="1" smtClean="0">
                              <a:solidFill>
                                <a:schemeClr val="bg1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E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s-ES" sz="2800" i="1">
                                  <a:solidFill>
                                    <a:schemeClr val="bg1"/>
                                  </a:solidFill>
                                  <a:latin typeface="Cambria Math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s-ES" sz="2800" i="1">
                                  <a:solidFill>
                                    <a:schemeClr val="bg1"/>
                                  </a:solidFill>
                                  <a:latin typeface="Cambria Math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s-E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sub>
                          </m:sSub>
                          <m:d>
                            <m:dPr>
                              <m:ctrlPr>
                                <a:rPr lang="es-ES" sz="2800" i="1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s-ES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  <m:r>
                        <a:rPr lang="es-ES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800" i="1" smtClean="0">
                              <a:solidFill>
                                <a:schemeClr val="bg1"/>
                              </a:solidFill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E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es-E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es-E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𝐶𝑠</m:t>
                          </m:r>
                          <m:r>
                            <a:rPr lang="es-E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s-ES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s-BO" sz="18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600"/>
                  </a:spcAft>
                </a:pPr>
                <a:endParaRPr lang="es-BO" sz="18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600"/>
                  </a:spcAft>
                </a:pPr>
                <a:endParaRPr lang="es-BO" sz="18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l">
                  <a:lnSpc>
                    <a:spcPct val="107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BO" sz="1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𝐷𝑜𝑛𝑑𝑒</m:t>
                      </m:r>
                      <m:r>
                        <a:rPr lang="es-BO" sz="1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s-ES" sz="18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𝒌</m:t>
                      </m:r>
                      <m:r>
                        <a:rPr lang="es-BO" sz="1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s-BO" sz="1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𝑒𝑠</m:t>
                      </m:r>
                      <m:r>
                        <a:rPr lang="es-BO" sz="1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s-BO" sz="1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𝑙𝑎</m:t>
                      </m:r>
                      <m:r>
                        <a:rPr lang="es-BO" sz="1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s-BO" sz="1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𝑔𝑎𝑛𝑎𝑛𝑐𝑖𝑎</m:t>
                      </m:r>
                      <m:r>
                        <a:rPr lang="es-BO" sz="1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s-BO" sz="1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𝑑𝑒𝑙</m:t>
                      </m:r>
                      <m:r>
                        <a:rPr lang="es-BO" sz="1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s-BO" sz="1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𝑠𝑖𝑠𝑡𝑒𝑚𝑎</m:t>
                      </m:r>
                      <m:r>
                        <a:rPr lang="es-BO" sz="1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s-BO" sz="1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s-BO" sz="1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s-ES" sz="18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𝒌</m:t>
                      </m:r>
                      <m:r>
                        <a:rPr lang="es-BO" sz="18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𝑪</m:t>
                      </m:r>
                      <m:r>
                        <a:rPr lang="es-BO" sz="1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s-BO" sz="1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𝑒𝑠</m:t>
                      </m:r>
                    </m:oMath>
                  </m:oMathPara>
                </a14:m>
                <a:endParaRPr lang="es-ES" sz="1800" i="1" dirty="0">
                  <a:solidFill>
                    <a:schemeClr val="bg1"/>
                  </a:solidFill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l">
                  <a:lnSpc>
                    <a:spcPct val="107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BO" sz="1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s-BO" sz="1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𝑙𝑎</m:t>
                      </m:r>
                      <m:r>
                        <a:rPr lang="es-BO" sz="1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s-BO" sz="1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𝑐𝑜𝑛𝑡𝑎𝑛𝑡𝑒</m:t>
                      </m:r>
                      <m:r>
                        <a:rPr lang="es-BO" sz="1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s-BO" sz="1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𝑑𝑒</m:t>
                      </m:r>
                      <m:r>
                        <a:rPr lang="es-BO" sz="1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s-BO" sz="1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𝑡𝑖𝑒𝑚𝑝𝑜</m:t>
                      </m:r>
                      <m:r>
                        <a:rPr lang="es-ES" sz="1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s-ES" sz="1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𝑑𝑒𝑙</m:t>
                      </m:r>
                      <m:r>
                        <a:rPr lang="es-ES" sz="1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s-ES" sz="1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𝑠𝑖𝑠𝑡𝑒𝑚𝑎</m:t>
                      </m:r>
                      <m:r>
                        <a:rPr lang="es-ES" sz="1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s-ES" sz="1800" b="1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𝝉</m:t>
                      </m:r>
                      <m:r>
                        <a:rPr lang="es-BO" sz="1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s-BO" sz="18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s-BO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Subtítulo 2">
                <a:extLst>
                  <a:ext uri="{FF2B5EF4-FFF2-40B4-BE49-F238E27FC236}">
                    <a16:creationId xmlns:a16="http://schemas.microsoft.com/office/drawing/2014/main" id="{AF0CAA32-1BA7-1871-5D30-8C288ADC2B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0016" y="267060"/>
                <a:ext cx="5752907" cy="6474884"/>
              </a:xfrm>
              <a:prstGeom prst="rect">
                <a:avLst/>
              </a:prstGeom>
              <a:blipFill>
                <a:blip r:embed="rId3"/>
                <a:stretch>
                  <a:fillRect l="-742" r="-954"/>
                </a:stretch>
              </a:blipFill>
            </p:spPr>
            <p:txBody>
              <a:bodyPr/>
              <a:lstStyle/>
              <a:p>
                <a:r>
                  <a:rPr lang="es-B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ángulo 9">
            <a:extLst>
              <a:ext uri="{FF2B5EF4-FFF2-40B4-BE49-F238E27FC236}">
                <a16:creationId xmlns="" xmlns:a16="http://schemas.microsoft.com/office/drawing/2014/main" id="{D7B2B449-C232-EBC8-7427-42A8BF88E149}"/>
              </a:ext>
            </a:extLst>
          </p:cNvPr>
          <p:cNvSpPr/>
          <p:nvPr/>
        </p:nvSpPr>
        <p:spPr>
          <a:xfrm>
            <a:off x="7747287" y="3906101"/>
            <a:ext cx="2880320" cy="1152128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cxnSp>
        <p:nvCxnSpPr>
          <p:cNvPr id="12" name="Conector recto 11">
            <a:extLst>
              <a:ext uri="{FF2B5EF4-FFF2-40B4-BE49-F238E27FC236}">
                <a16:creationId xmlns="" xmlns:a16="http://schemas.microsoft.com/office/drawing/2014/main" id="{A9CEB9BB-9280-3183-E6CC-DBC1C8438A61}"/>
              </a:ext>
            </a:extLst>
          </p:cNvPr>
          <p:cNvCxnSpPr>
            <a:cxnSpLocks/>
          </p:cNvCxnSpPr>
          <p:nvPr/>
        </p:nvCxnSpPr>
        <p:spPr>
          <a:xfrm>
            <a:off x="6096000" y="954202"/>
            <a:ext cx="0" cy="5903798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ángulo 6">
            <a:extLst>
              <a:ext uri="{FF2B5EF4-FFF2-40B4-BE49-F238E27FC236}">
                <a16:creationId xmlns="" xmlns:a16="http://schemas.microsoft.com/office/drawing/2014/main" id="{3A947908-A58C-408E-8447-FB61B3BE9B98}"/>
              </a:ext>
            </a:extLst>
          </p:cNvPr>
          <p:cNvSpPr/>
          <p:nvPr/>
        </p:nvSpPr>
        <p:spPr>
          <a:xfrm>
            <a:off x="6550561" y="764881"/>
            <a:ext cx="2636886" cy="562063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</p:spTree>
    <p:extLst>
      <p:ext uri="{BB962C8B-B14F-4D97-AF65-F5344CB8AC3E}">
        <p14:creationId xmlns:p14="http://schemas.microsoft.com/office/powerpoint/2010/main" val="294471536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ítulo 2">
                <a:extLst>
                  <a:ext uri="{FF2B5EF4-FFF2-40B4-BE49-F238E27FC236}">
                    <a16:creationId xmlns="" xmlns:a16="http://schemas.microsoft.com/office/drawing/2014/main" id="{8B4FD708-B53C-43D9-A42D-65BF09F3A95B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983432" y="532737"/>
                <a:ext cx="5976664" cy="6136623"/>
              </a:xfrm>
            </p:spPr>
            <p:txBody>
              <a:bodyPr>
                <a:normAutofit/>
              </a:bodyPr>
              <a:lstStyle/>
              <a:p>
                <a:pPr algn="l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s-BO" sz="1800" dirty="0">
                    <a:solidFill>
                      <a:schemeClr val="bg1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En el laboratorio se obtuvo las siguientes medidas:</a:t>
                </a:r>
                <a:endParaRPr lang="es-BO" sz="18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44500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800" b="0" i="1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h𝑚</m:t>
                      </m:r>
                      <m:r>
                        <a:rPr lang="es-BO" sz="18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=0.367</m:t>
                      </m:r>
                      <m:r>
                        <a:rPr lang="es-BO" sz="18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𝑚</m:t>
                      </m:r>
                    </m:oMath>
                  </m:oMathPara>
                </a14:m>
                <a:endParaRPr lang="es-BO" sz="18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1976438" algn="ctr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800" b="0" i="1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𝑞𝑚</m:t>
                      </m:r>
                      <m:r>
                        <a:rPr lang="es-BO" sz="18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=0.28</m:t>
                      </m:r>
                      <m:r>
                        <a:rPr lang="es-BO" sz="18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es-BO" sz="1800" i="1">
                              <a:solidFill>
                                <a:schemeClr val="bg1"/>
                              </a:solidFill>
                              <a:effectLst/>
                              <a:latin typeface="Cambria Math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s-BO" sz="1800" i="1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s-BO" sz="1800" i="1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−3</m:t>
                          </m:r>
                        </m:sup>
                      </m:sSup>
                      <m:r>
                        <a:rPr lang="es-BO" sz="18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f>
                        <m:fPr>
                          <m:ctrlPr>
                            <a:rPr lang="es-BO" sz="1800" i="1">
                              <a:solidFill>
                                <a:schemeClr val="bg1"/>
                              </a:solidFill>
                              <a:effectLst/>
                              <a:latin typeface="Cambria Math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s-BO" sz="1800" i="1">
                                  <a:solidFill>
                                    <a:schemeClr val="bg1"/>
                                  </a:solidFill>
                                  <a:effectLst/>
                                  <a:latin typeface="Cambria Math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s-BO" sz="1800" i="1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s-BO" sz="1800" i="1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s-BO" sz="1800" i="1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den>
                      </m:f>
                      <m:r>
                        <a:rPr lang="es-BO" sz="18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s-BO" sz="18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182563" algn="ctr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800" b="0" i="1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es-ES" sz="1800" b="0" i="1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s-ES" sz="1800" b="0" i="1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es-ES" sz="1800" b="0" i="1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=0.16 </m:t>
                      </m:r>
                      <m:sSup>
                        <m:sSupPr>
                          <m:ctrlPr>
                            <a:rPr lang="es-ES" sz="1800" b="0" i="1" smtClean="0">
                              <a:solidFill>
                                <a:schemeClr val="bg1"/>
                              </a:solidFill>
                              <a:effectLst/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s-ES" sz="1800" b="0" i="1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s-ES" sz="1800" b="0" i="1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BO" sz="18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l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s-BO" sz="1800" dirty="0">
                    <a:solidFill>
                      <a:schemeClr val="bg1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Realizando cálculos y remplazando</a:t>
                </a:r>
                <a:endParaRPr lang="es-BO" sz="18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57188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ES" sz="1800" b="0" i="1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𝑘</m:t>
                      </m:r>
                      <m:r>
                        <a:rPr lang="es-BO" sz="1800" i="1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s-BO" sz="1800" i="1">
                              <a:solidFill>
                                <a:schemeClr val="bg1"/>
                              </a:solidFill>
                              <a:effectLst/>
                              <a:latin typeface="Cambria Math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ES" sz="1800" b="0" i="1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es-ES" sz="1800" b="0" i="1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</m:den>
                      </m:f>
                      <m:r>
                        <a:rPr lang="es-BO" sz="18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s-BO" sz="1800" i="1">
                              <a:solidFill>
                                <a:schemeClr val="bg1"/>
                              </a:solidFill>
                              <a:effectLst/>
                              <a:latin typeface="Cambria Math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ES" sz="1800" b="0" i="1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0.367</m:t>
                          </m:r>
                        </m:num>
                        <m:den>
                          <m:r>
                            <a:rPr lang="es-ES" sz="1800" b="0" i="1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0.28</m:t>
                          </m:r>
                          <m:r>
                            <a:rPr lang="es-ES" sz="1800" b="0" i="1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sSup>
                            <m:sSupPr>
                              <m:ctrlPr>
                                <a:rPr lang="es-ES" sz="1800" b="0" i="1" smtClean="0">
                                  <a:solidFill>
                                    <a:schemeClr val="bg1"/>
                                  </a:solidFill>
                                  <a:effectLst/>
                                  <a:latin typeface="Cambria Math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1800" b="0" i="1" smtClean="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s-ES" sz="1800" b="0" i="1" smtClean="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−3</m:t>
                              </m:r>
                            </m:sup>
                          </m:sSup>
                        </m:den>
                      </m:f>
                      <m:r>
                        <a:rPr lang="es-BO" sz="18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s-ES" sz="1800" b="0" i="1" smtClean="0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1310.71</m:t>
                      </m:r>
                      <m:r>
                        <a:rPr lang="es-BO" sz="18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f>
                        <m:fPr>
                          <m:ctrlPr>
                            <a:rPr lang="es-BO" sz="1800" i="1">
                              <a:solidFill>
                                <a:schemeClr val="bg1"/>
                              </a:solidFill>
                              <a:effectLst/>
                              <a:latin typeface="Cambria Math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ES" sz="1800" b="0" i="1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num>
                        <m:den>
                          <m:sSup>
                            <m:sSupPr>
                              <m:ctrlPr>
                                <a:rPr lang="es-BO" sz="1800" i="1" smtClean="0">
                                  <a:solidFill>
                                    <a:schemeClr val="bg1"/>
                                  </a:solidFill>
                                  <a:effectLst/>
                                  <a:latin typeface="Cambria Math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1800" b="0" i="1" smtClean="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es-ES" sz="1800" b="0" i="1" smtClean="0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s-BO" sz="1800" dirty="0">
                  <a:solidFill>
                    <a:schemeClr val="bg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57188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BO" sz="1800" i="1" smtClean="0">
                              <a:solidFill>
                                <a:schemeClr val="bg1"/>
                              </a:solidFill>
                              <a:effectLst/>
                              <a:latin typeface="Cambria Math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BO" sz="1800" i="1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num>
                        <m:den>
                          <m:sSub>
                            <m:sSubPr>
                              <m:ctrlPr>
                                <a:rPr lang="es-BO" sz="1800" i="1">
                                  <a:solidFill>
                                    <a:schemeClr val="bg1"/>
                                  </a:solidFill>
                                  <a:effectLst/>
                                  <a:latin typeface="Cambria Math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s-BO" sz="1800" i="1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s-BO" sz="1800" i="1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sub>
                          </m:sSub>
                        </m:den>
                      </m:f>
                      <m:r>
                        <a:rPr lang="es-BO" sz="18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s-BO" sz="1800" i="1">
                              <a:solidFill>
                                <a:schemeClr val="bg1"/>
                              </a:solidFill>
                              <a:effectLst/>
                              <a:latin typeface="Cambria Math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ES" sz="1800" b="0" i="1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num>
                        <m:den>
                          <m:r>
                            <a:rPr lang="es-ES" sz="1800" b="0" i="1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𝑘𝐶</m:t>
                          </m:r>
                          <m:r>
                            <a:rPr lang="es-BO" sz="1800" i="1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  <m:r>
                            <a:rPr lang="es-BO" sz="1800" i="1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den>
                      </m:f>
                      <m:r>
                        <a:rPr lang="es-BO" sz="1800" i="1">
                          <a:solidFill>
                            <a:schemeClr val="bg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s-BO" sz="1800" i="1">
                              <a:solidFill>
                                <a:schemeClr val="bg1"/>
                              </a:solidFill>
                              <a:effectLst/>
                              <a:latin typeface="Cambria Math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s-ES" sz="1800" b="0" i="1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1310.71</m:t>
                          </m:r>
                        </m:num>
                        <m:den>
                          <m:r>
                            <a:rPr lang="es-ES" sz="1800" b="0" i="1" smtClean="0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209.71</m:t>
                          </m:r>
                          <m:r>
                            <a:rPr lang="es-BO" sz="1800" i="1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  <m:r>
                            <a:rPr lang="es-BO" sz="1800" i="1">
                              <a:solidFill>
                                <a:schemeClr val="bg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s-ES" sz="1800" i="1" dirty="0">
                  <a:solidFill>
                    <a:schemeClr val="bg1"/>
                  </a:solidFill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endParaRPr lang="es-ES" sz="1800" i="1" dirty="0">
                  <a:solidFill>
                    <a:schemeClr val="bg1"/>
                  </a:solidFill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166813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BO" sz="200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BO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s-BO" sz="2000" i="1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s-BO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s-BO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s-BO" sz="20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BO" sz="20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E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1310.71</m:t>
                          </m:r>
                        </m:num>
                        <m:den>
                          <m:r>
                            <a:rPr lang="es-E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209.71</m:t>
                          </m:r>
                          <m:r>
                            <a:rPr lang="es-BO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s-BO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s-BO" sz="3600" dirty="0"/>
              </a:p>
            </p:txBody>
          </p:sp>
        </mc:Choice>
        <mc:Fallback xmlns="">
          <p:sp>
            <p:nvSpPr>
              <p:cNvPr id="3" name="Subtítulo 2">
                <a:extLst>
                  <a:ext uri="{FF2B5EF4-FFF2-40B4-BE49-F238E27FC236}">
                    <a16:creationId xmlns:a16="http://schemas.microsoft.com/office/drawing/2014/main" id="{8B4FD708-B53C-43D9-A42D-65BF09F3A9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983432" y="532737"/>
                <a:ext cx="5976664" cy="6136623"/>
              </a:xfrm>
              <a:blipFill>
                <a:blip r:embed="rId2"/>
                <a:stretch>
                  <a:fillRect l="-815" t="-397"/>
                </a:stretch>
              </a:blipFill>
            </p:spPr>
            <p:txBody>
              <a:bodyPr/>
              <a:lstStyle/>
              <a:p>
                <a:r>
                  <a:rPr lang="es-B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ángulo: esquinas redondeadas 27">
            <a:extLst>
              <a:ext uri="{FF2B5EF4-FFF2-40B4-BE49-F238E27FC236}">
                <a16:creationId xmlns="" xmlns:a16="http://schemas.microsoft.com/office/drawing/2014/main" id="{7F09615C-077D-761E-6F02-8B54D3620A76}"/>
              </a:ext>
            </a:extLst>
          </p:cNvPr>
          <p:cNvSpPr/>
          <p:nvPr/>
        </p:nvSpPr>
        <p:spPr>
          <a:xfrm>
            <a:off x="2144186" y="4864313"/>
            <a:ext cx="2448272" cy="844843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9" name="CuadroTexto 28">
            <a:extLst>
              <a:ext uri="{FF2B5EF4-FFF2-40B4-BE49-F238E27FC236}">
                <a16:creationId xmlns="" xmlns:a16="http://schemas.microsoft.com/office/drawing/2014/main" id="{A6CDB2DB-6134-50FE-823D-183706F41A0E}"/>
              </a:ext>
            </a:extLst>
          </p:cNvPr>
          <p:cNvSpPr txBox="1"/>
          <p:nvPr/>
        </p:nvSpPr>
        <p:spPr>
          <a:xfrm>
            <a:off x="1910910" y="5777018"/>
            <a:ext cx="34190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bg1"/>
                </a:solidFill>
              </a:rPr>
              <a:t>Función de transferencia analítica</a:t>
            </a:r>
            <a:endParaRPr lang="es-BO" sz="1600" dirty="0">
              <a:solidFill>
                <a:schemeClr val="bg1"/>
              </a:solidFill>
            </a:endParaRPr>
          </a:p>
        </p:txBody>
      </p:sp>
      <p:grpSp>
        <p:nvGrpSpPr>
          <p:cNvPr id="13" name="Grupo 12">
            <a:extLst>
              <a:ext uri="{FF2B5EF4-FFF2-40B4-BE49-F238E27FC236}">
                <a16:creationId xmlns="" xmlns:a16="http://schemas.microsoft.com/office/drawing/2014/main" id="{1F1C7715-05A6-C75D-F1C2-75FF4F3A6330}"/>
              </a:ext>
            </a:extLst>
          </p:cNvPr>
          <p:cNvGrpSpPr/>
          <p:nvPr/>
        </p:nvGrpSpPr>
        <p:grpSpPr>
          <a:xfrm>
            <a:off x="7392144" y="620688"/>
            <a:ext cx="3312368" cy="4608512"/>
            <a:chOff x="7536160" y="1052736"/>
            <a:chExt cx="2213936" cy="3093525"/>
          </a:xfrm>
        </p:grpSpPr>
        <p:pic>
          <p:nvPicPr>
            <p:cNvPr id="7" name="Imagen 6">
              <a:extLst>
                <a:ext uri="{FF2B5EF4-FFF2-40B4-BE49-F238E27FC236}">
                  <a16:creationId xmlns="" xmlns:a16="http://schemas.microsoft.com/office/drawing/2014/main" id="{C0FAFAA1-E496-AD9E-E918-3305794BA88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432" b="5504"/>
            <a:stretch/>
          </p:blipFill>
          <p:spPr bwMode="auto">
            <a:xfrm>
              <a:off x="7536160" y="1052736"/>
              <a:ext cx="1882168" cy="3093525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grpSp>
          <p:nvGrpSpPr>
            <p:cNvPr id="8" name="Grupo 7">
              <a:extLst>
                <a:ext uri="{FF2B5EF4-FFF2-40B4-BE49-F238E27FC236}">
                  <a16:creationId xmlns="" xmlns:a16="http://schemas.microsoft.com/office/drawing/2014/main" id="{0211F035-036A-A107-379D-2D56B0038DA2}"/>
                </a:ext>
              </a:extLst>
            </p:cNvPr>
            <p:cNvGrpSpPr/>
            <p:nvPr/>
          </p:nvGrpSpPr>
          <p:grpSpPr>
            <a:xfrm>
              <a:off x="8616280" y="2708920"/>
              <a:ext cx="1133816" cy="1334680"/>
              <a:chOff x="1241653" y="1868258"/>
              <a:chExt cx="1208767" cy="154644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Text Box 13">
                    <a:extLst>
                      <a:ext uri="{FF2B5EF4-FFF2-40B4-BE49-F238E27FC236}">
                        <a16:creationId xmlns="" xmlns:a16="http://schemas.microsoft.com/office/drawing/2014/main" id="{27E6B3E9-E2FA-6143-4B9B-21FBA10F3E99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41653" y="2925115"/>
                    <a:ext cx="850900" cy="489585"/>
                  </a:xfrm>
                  <a:prstGeom prst="rect">
                    <a:avLst/>
                  </a:prstGeom>
                  <a:noFill/>
                  <a:ln w="9525">
                    <a:solidFill>
                      <a:srgbClr val="000000">
                        <a:alpha val="0"/>
                      </a:srgb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pPr>
                      <a:lnSpc>
                        <a:spcPct val="107000"/>
                      </a:lnSpc>
                      <a:spcAft>
                        <a:spcPts val="800"/>
                      </a:spcAf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s-BO" sz="1400" i="1">
                                  <a:effectLst/>
                                  <a:latin typeface="Cambria Math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s-BO" sz="1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s-BO" sz="1400" i="1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𝑚</m:t>
                              </m:r>
                            </m:sub>
                          </m:sSub>
                        </m:oMath>
                      </m:oMathPara>
                    </a14:m>
                    <a:endParaRPr lang="es-BO" sz="1100" dirty="0">
                      <a:effectLst/>
                      <a:latin typeface="Calibri" panose="020F050202020403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1" name="Text Box 13">
                    <a:extLst>
                      <a:ext uri="{FF2B5EF4-FFF2-40B4-BE49-F238E27FC236}">
                        <a16:creationId xmlns:a16="http://schemas.microsoft.com/office/drawing/2014/main" id="{B18B991B-79A4-A798-0C96-F4A51902CD0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241653" y="2925115"/>
                    <a:ext cx="850900" cy="48958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 w="9525">
                    <a:solidFill>
                      <a:srgbClr val="000000">
                        <a:alpha val="0"/>
                      </a:srgb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r>
                      <a:rPr lang="es-BO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0" name="Grupo 9">
                <a:extLst>
                  <a:ext uri="{FF2B5EF4-FFF2-40B4-BE49-F238E27FC236}">
                    <a16:creationId xmlns="" xmlns:a16="http://schemas.microsoft.com/office/drawing/2014/main" id="{AB421D65-CFB6-607C-2A67-3DB86135FB80}"/>
                  </a:ext>
                </a:extLst>
              </p:cNvPr>
              <p:cNvGrpSpPr/>
              <p:nvPr/>
            </p:nvGrpSpPr>
            <p:grpSpPr>
              <a:xfrm>
                <a:off x="1986378" y="1868258"/>
                <a:ext cx="464042" cy="1023354"/>
                <a:chOff x="3818769" y="3183356"/>
                <a:chExt cx="892111" cy="1743710"/>
              </a:xfrm>
            </p:grpSpPr>
            <p:cxnSp>
              <p:nvCxnSpPr>
                <p:cNvPr id="11" name="AutoShape 9">
                  <a:extLst>
                    <a:ext uri="{FF2B5EF4-FFF2-40B4-BE49-F238E27FC236}">
                      <a16:creationId xmlns="" xmlns:a16="http://schemas.microsoft.com/office/drawing/2014/main" id="{6763B0AE-738F-F78E-D96A-4C203217B878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3912260" y="3183356"/>
                  <a:ext cx="20955" cy="1743710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 type="triangle" w="med" len="med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" name="Text Box 12">
                      <a:extLst>
                        <a:ext uri="{FF2B5EF4-FFF2-40B4-BE49-F238E27FC236}">
                          <a16:creationId xmlns="" xmlns:a16="http://schemas.microsoft.com/office/drawing/2014/main" id="{087B9FE3-B8CB-28C7-408B-5DDFF9B60460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818769" y="3700698"/>
                      <a:ext cx="892111" cy="599554"/>
                    </a:xfrm>
                    <a:prstGeom prst="rect">
                      <a:avLst/>
                    </a:prstGeom>
                    <a:noFill/>
                    <a:ln w="9525">
                      <a:solidFill>
                        <a:srgbClr val="000000">
                          <a:alpha val="0"/>
                        </a:srgbClr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rot="0" vert="horz" wrap="square" lIns="91440" tIns="45720" rIns="91440" bIns="45720" anchor="t" anchorCtr="0" upright="1">
                      <a:noAutofit/>
                    </a:bodyPr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s-BO" sz="1400" i="1">
                                    <a:effectLst/>
                                    <a:latin typeface="Cambria Math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BO" sz="1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s-BO" sz="1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</m:sub>
                            </m:sSub>
                          </m:oMath>
                        </m:oMathPara>
                      </a14:m>
                      <a:endParaRPr lang="es-B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BO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p:txBody>
                </p:sp>
              </mc:Choice>
              <mc:Fallback xmlns="">
                <p:sp>
                  <p:nvSpPr>
                    <p:cNvPr id="14" name="Text Box 12">
                      <a:extLst>
                        <a:ext uri="{FF2B5EF4-FFF2-40B4-BE49-F238E27FC236}">
                          <a16:creationId xmlns:a16="http://schemas.microsoft.com/office/drawing/2014/main" id="{A369BE87-9747-FA76-9BFA-07D2B36D5D6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3818769" y="3700698"/>
                      <a:ext cx="892111" cy="599554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  <a:ln w="9525">
                      <a:solidFill>
                        <a:srgbClr val="000000">
                          <a:alpha val="0"/>
                        </a:srgbClr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r>
                        <a:rPr lang="es-BO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</p:grpSp>
      <p:sp>
        <p:nvSpPr>
          <p:cNvPr id="2" name="CuadroTexto 1">
            <a:extLst>
              <a:ext uri="{FF2B5EF4-FFF2-40B4-BE49-F238E27FC236}">
                <a16:creationId xmlns="" xmlns:a16="http://schemas.microsoft.com/office/drawing/2014/main" id="{BFE2D3F4-0C22-7F8F-162D-480628E31972}"/>
              </a:ext>
            </a:extLst>
          </p:cNvPr>
          <p:cNvSpPr txBox="1"/>
          <p:nvPr/>
        </p:nvSpPr>
        <p:spPr>
          <a:xfrm>
            <a:off x="7680176" y="5370602"/>
            <a:ext cx="31683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i="1" dirty="0">
                <a:solidFill>
                  <a:schemeClr val="bg1"/>
                </a:solidFill>
              </a:rPr>
              <a:t>Vista frontal del tanque superior</a:t>
            </a:r>
            <a:endParaRPr lang="es-BO" sz="1600" i="1" dirty="0">
              <a:solidFill>
                <a:schemeClr val="bg1"/>
              </a:solidFill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="" xmlns:a16="http://schemas.microsoft.com/office/drawing/2014/main" id="{82A5634A-9E77-42CE-9CA8-8DE31CB41A1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955" t="34588" r="24961" b="48991"/>
          <a:stretch/>
        </p:blipFill>
        <p:spPr bwMode="auto">
          <a:xfrm>
            <a:off x="8646840" y="2036940"/>
            <a:ext cx="481079" cy="99359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4957388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A4B9590C-B556-F0CA-63E2-21F321C0D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sz="4400" b="1" u="sng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Diagrama de bloques</a:t>
            </a:r>
            <a:br>
              <a:rPr lang="es-ES" sz="4400" b="1" u="sng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s-ES" dirty="0"/>
          </a:p>
        </p:txBody>
      </p:sp>
      <p:sp>
        <p:nvSpPr>
          <p:cNvPr id="19" name="Título 1">
            <a:extLst>
              <a:ext uri="{FF2B5EF4-FFF2-40B4-BE49-F238E27FC236}">
                <a16:creationId xmlns="" xmlns:a16="http://schemas.microsoft.com/office/drawing/2014/main" id="{16236789-B689-FC89-740D-8DBBDBA5E3F9}"/>
              </a:ext>
            </a:extLst>
          </p:cNvPr>
          <p:cNvSpPr txBox="1">
            <a:spLocks/>
          </p:cNvSpPr>
          <p:nvPr/>
        </p:nvSpPr>
        <p:spPr>
          <a:xfrm>
            <a:off x="838200" y="310880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u="sng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s-ES" u="sng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s-ES" dirty="0"/>
          </a:p>
        </p:txBody>
      </p:sp>
      <p:pic>
        <p:nvPicPr>
          <p:cNvPr id="21" name="Imagen 20">
            <a:extLst>
              <a:ext uri="{FF2B5EF4-FFF2-40B4-BE49-F238E27FC236}">
                <a16:creationId xmlns="" xmlns:a16="http://schemas.microsoft.com/office/drawing/2014/main" id="{57C9C8FA-9025-0B5D-83AE-D1447E67B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5412" y="3269983"/>
            <a:ext cx="9401175" cy="20097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="" xmlns:a16="http://schemas.microsoft.com/office/drawing/2014/main" id="{46DC4C8C-A34C-438E-82DB-02EFD1917DFB}"/>
                  </a:ext>
                </a:extLst>
              </p:cNvPr>
              <p:cNvSpPr txBox="1"/>
              <p:nvPr/>
            </p:nvSpPr>
            <p:spPr>
              <a:xfrm>
                <a:off x="10748482" y="3198167"/>
                <a:ext cx="58928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BO" sz="2400" b="1" i="1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𝒉</m:t>
                      </m:r>
                    </m:oMath>
                  </m:oMathPara>
                </a14:m>
                <a:endParaRPr lang="es-BO" b="1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46DC4C8C-A34C-438E-82DB-02EFD1917D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8482" y="3198167"/>
                <a:ext cx="589283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B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="" xmlns:a16="http://schemas.microsoft.com/office/drawing/2014/main" id="{4FEC3759-EFB4-4008-8054-BE1A7B05F07D}"/>
                  </a:ext>
                </a:extLst>
              </p:cNvPr>
              <p:cNvSpPr txBox="1"/>
              <p:nvPr/>
            </p:nvSpPr>
            <p:spPr>
              <a:xfrm>
                <a:off x="780087" y="3198167"/>
                <a:ext cx="8151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BO" b="1" i="1" smtClean="0">
                          <a:latin typeface="Cambria Math" panose="02040503050406030204" pitchFamily="18" charset="0"/>
                        </a:rPr>
                        <m:t>𝒓𝒆𝒇</m:t>
                      </m:r>
                    </m:oMath>
                  </m:oMathPara>
                </a14:m>
                <a:endParaRPr lang="es-BO" b="1" dirty="0"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4FEC3759-EFB4-4008-8054-BE1A7B05F0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087" y="3198167"/>
                <a:ext cx="815175" cy="369332"/>
              </a:xfrm>
              <a:prstGeom prst="rect">
                <a:avLst/>
              </a:prstGeom>
              <a:blipFill>
                <a:blip r:embed="rId4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s-B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9200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Conector recto 83">
            <a:extLst>
              <a:ext uri="{FF2B5EF4-FFF2-40B4-BE49-F238E27FC236}">
                <a16:creationId xmlns="" xmlns:a16="http://schemas.microsoft.com/office/drawing/2014/main" id="{5B486D09-B118-4F10-9D97-5E209C33B6F9}"/>
              </a:ext>
            </a:extLst>
          </p:cNvPr>
          <p:cNvCxnSpPr>
            <a:cxnSpLocks/>
          </p:cNvCxnSpPr>
          <p:nvPr/>
        </p:nvCxnSpPr>
        <p:spPr>
          <a:xfrm flipV="1">
            <a:off x="9624392" y="4577960"/>
            <a:ext cx="0" cy="76136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5" name="Conector recto 84">
            <a:extLst>
              <a:ext uri="{FF2B5EF4-FFF2-40B4-BE49-F238E27FC236}">
                <a16:creationId xmlns="" xmlns:a16="http://schemas.microsoft.com/office/drawing/2014/main" id="{8AB44E89-DBBF-4FFF-B078-416F874B0445}"/>
              </a:ext>
            </a:extLst>
          </p:cNvPr>
          <p:cNvCxnSpPr>
            <a:cxnSpLocks/>
          </p:cNvCxnSpPr>
          <p:nvPr/>
        </p:nvCxnSpPr>
        <p:spPr>
          <a:xfrm flipV="1">
            <a:off x="9552384" y="4578472"/>
            <a:ext cx="0" cy="76136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6" name="Conector recto 85">
            <a:extLst>
              <a:ext uri="{FF2B5EF4-FFF2-40B4-BE49-F238E27FC236}">
                <a16:creationId xmlns="" xmlns:a16="http://schemas.microsoft.com/office/drawing/2014/main" id="{752E73BD-A6CE-4F20-A3B8-9CC5135700EC}"/>
              </a:ext>
            </a:extLst>
          </p:cNvPr>
          <p:cNvCxnSpPr>
            <a:cxnSpLocks/>
          </p:cNvCxnSpPr>
          <p:nvPr/>
        </p:nvCxnSpPr>
        <p:spPr>
          <a:xfrm flipV="1">
            <a:off x="9468219" y="4578488"/>
            <a:ext cx="0" cy="76136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cto 80">
            <a:extLst>
              <a:ext uri="{FF2B5EF4-FFF2-40B4-BE49-F238E27FC236}">
                <a16:creationId xmlns="" xmlns:a16="http://schemas.microsoft.com/office/drawing/2014/main" id="{2E743CCE-E716-4EEE-A2EF-5FA92B0C0CDB}"/>
              </a:ext>
            </a:extLst>
          </p:cNvPr>
          <p:cNvCxnSpPr>
            <a:cxnSpLocks/>
          </p:cNvCxnSpPr>
          <p:nvPr/>
        </p:nvCxnSpPr>
        <p:spPr>
          <a:xfrm flipH="1">
            <a:off x="6096001" y="3695863"/>
            <a:ext cx="316835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1" name="Conector recto 120">
            <a:extLst>
              <a:ext uri="{FF2B5EF4-FFF2-40B4-BE49-F238E27FC236}">
                <a16:creationId xmlns="" xmlns:a16="http://schemas.microsoft.com/office/drawing/2014/main" id="{48113165-89B2-434E-BD56-89A79D317F09}"/>
              </a:ext>
            </a:extLst>
          </p:cNvPr>
          <p:cNvCxnSpPr>
            <a:cxnSpLocks/>
          </p:cNvCxnSpPr>
          <p:nvPr/>
        </p:nvCxnSpPr>
        <p:spPr>
          <a:xfrm flipH="1">
            <a:off x="5995864" y="3789040"/>
            <a:ext cx="326848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41" name="Imagen 140" descr="Ver las imágenes de origen">
            <a:extLst>
              <a:ext uri="{FF2B5EF4-FFF2-40B4-BE49-F238E27FC236}">
                <a16:creationId xmlns="" xmlns:a16="http://schemas.microsoft.com/office/drawing/2014/main" id="{18EC75E3-7903-45E0-809D-C32B05A0A3D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50" r="19583"/>
          <a:stretch/>
        </p:blipFill>
        <p:spPr bwMode="auto">
          <a:xfrm>
            <a:off x="9123951" y="3426683"/>
            <a:ext cx="814798" cy="124658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40" name="Picture 2" descr="Electrobomba Centrifuga CM 100 1HP Marca Pentax">
            <a:extLst>
              <a:ext uri="{FF2B5EF4-FFF2-40B4-BE49-F238E27FC236}">
                <a16:creationId xmlns="" xmlns:a16="http://schemas.microsoft.com/office/drawing/2014/main" id="{0CC781C5-A69F-4C46-ABE6-7123D27D40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5261" y="4918621"/>
            <a:ext cx="2448272" cy="205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Imagen 138">
            <a:extLst>
              <a:ext uri="{FF2B5EF4-FFF2-40B4-BE49-F238E27FC236}">
                <a16:creationId xmlns="" xmlns:a16="http://schemas.microsoft.com/office/drawing/2014/main" id="{5B95AAA8-339B-44A7-8CD6-DE2D2E57FDC6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37155" t="21231" r="37124" b="22700"/>
          <a:stretch/>
        </p:blipFill>
        <p:spPr>
          <a:xfrm>
            <a:off x="5638350" y="4211579"/>
            <a:ext cx="569411" cy="698191"/>
          </a:xfrm>
          <a:prstGeom prst="rect">
            <a:avLst/>
          </a:prstGeom>
        </p:spPr>
      </p:pic>
      <p:pic>
        <p:nvPicPr>
          <p:cNvPr id="132" name="Google Shape;204;p21">
            <a:extLst>
              <a:ext uri="{FF2B5EF4-FFF2-40B4-BE49-F238E27FC236}">
                <a16:creationId xmlns="" xmlns:a16="http://schemas.microsoft.com/office/drawing/2014/main" id="{55B006B7-20AD-46CD-8C3D-3BF2DE9CA6B7}"/>
              </a:ext>
            </a:extLst>
          </p:cNvPr>
          <p:cNvPicPr preferRelativeResize="0"/>
          <p:nvPr/>
        </p:nvPicPr>
        <p:blipFill rotWithShape="1">
          <a:blip r:embed="rId7"/>
          <a:srcRect l="46097" t="5917" r="3269" b="34201"/>
          <a:stretch/>
        </p:blipFill>
        <p:spPr>
          <a:xfrm>
            <a:off x="5689014" y="1362882"/>
            <a:ext cx="2538491" cy="1492371"/>
          </a:xfrm>
          <a:prstGeom prst="rect">
            <a:avLst/>
          </a:prstGeom>
        </p:spPr>
      </p:pic>
      <p:grpSp>
        <p:nvGrpSpPr>
          <p:cNvPr id="94" name="Grupo 93">
            <a:extLst>
              <a:ext uri="{FF2B5EF4-FFF2-40B4-BE49-F238E27FC236}">
                <a16:creationId xmlns="" xmlns:a16="http://schemas.microsoft.com/office/drawing/2014/main" id="{6718E596-97FB-4249-B57C-BDD587E488EA}"/>
              </a:ext>
            </a:extLst>
          </p:cNvPr>
          <p:cNvGrpSpPr/>
          <p:nvPr/>
        </p:nvGrpSpPr>
        <p:grpSpPr>
          <a:xfrm>
            <a:off x="2513809" y="1056868"/>
            <a:ext cx="5246919" cy="615132"/>
            <a:chOff x="2513809" y="1227578"/>
            <a:chExt cx="5246919" cy="444421"/>
          </a:xfrm>
        </p:grpSpPr>
        <p:cxnSp>
          <p:nvCxnSpPr>
            <p:cNvPr id="53" name="Conector recto 52">
              <a:extLst>
                <a:ext uri="{FF2B5EF4-FFF2-40B4-BE49-F238E27FC236}">
                  <a16:creationId xmlns="" xmlns:a16="http://schemas.microsoft.com/office/drawing/2014/main" id="{425A136F-363B-41D4-A9BA-2F48E36CA4AF}"/>
                </a:ext>
              </a:extLst>
            </p:cNvPr>
            <p:cNvCxnSpPr>
              <a:cxnSpLocks/>
            </p:cNvCxnSpPr>
            <p:nvPr/>
          </p:nvCxnSpPr>
          <p:spPr>
            <a:xfrm>
              <a:off x="2513809" y="1227578"/>
              <a:ext cx="5238375" cy="0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ector recto 86">
              <a:extLst>
                <a:ext uri="{FF2B5EF4-FFF2-40B4-BE49-F238E27FC236}">
                  <a16:creationId xmlns="" xmlns:a16="http://schemas.microsoft.com/office/drawing/2014/main" id="{6E78DADF-B3F2-4112-B8F9-A61669F24F77}"/>
                </a:ext>
              </a:extLst>
            </p:cNvPr>
            <p:cNvCxnSpPr>
              <a:cxnSpLocks/>
            </p:cNvCxnSpPr>
            <p:nvPr/>
          </p:nvCxnSpPr>
          <p:spPr>
            <a:xfrm>
              <a:off x="2513809" y="1227578"/>
              <a:ext cx="0" cy="444421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ector recto 90">
              <a:extLst>
                <a:ext uri="{FF2B5EF4-FFF2-40B4-BE49-F238E27FC236}">
                  <a16:creationId xmlns="" xmlns:a16="http://schemas.microsoft.com/office/drawing/2014/main" id="{55817759-ADE6-447F-937C-80C6F6AAC2E8}"/>
                </a:ext>
              </a:extLst>
            </p:cNvPr>
            <p:cNvCxnSpPr>
              <a:cxnSpLocks/>
            </p:cNvCxnSpPr>
            <p:nvPr/>
          </p:nvCxnSpPr>
          <p:spPr>
            <a:xfrm>
              <a:off x="7760728" y="1231661"/>
              <a:ext cx="0" cy="355211"/>
            </a:xfrm>
            <a:prstGeom prst="line">
              <a:avLst/>
            </a:prstGeom>
            <a:ln w="12700">
              <a:solidFill>
                <a:srgbClr val="00B050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8" name="Conector recto 77">
            <a:extLst>
              <a:ext uri="{FF2B5EF4-FFF2-40B4-BE49-F238E27FC236}">
                <a16:creationId xmlns="" xmlns:a16="http://schemas.microsoft.com/office/drawing/2014/main" id="{45DB311D-4941-4B33-8F79-5B4616380B3F}"/>
              </a:ext>
            </a:extLst>
          </p:cNvPr>
          <p:cNvCxnSpPr>
            <a:cxnSpLocks/>
          </p:cNvCxnSpPr>
          <p:nvPr/>
        </p:nvCxnSpPr>
        <p:spPr>
          <a:xfrm flipH="1" flipV="1">
            <a:off x="3040877" y="3933056"/>
            <a:ext cx="360040" cy="1"/>
          </a:xfrm>
          <a:prstGeom prst="line">
            <a:avLst/>
          </a:prstGeom>
          <a:ln w="92075"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="" xmlns:a16="http://schemas.microsoft.com/office/drawing/2014/main" id="{D015616A-22D0-496D-86BE-6F45AA6BC043}"/>
              </a:ext>
            </a:extLst>
          </p:cNvPr>
          <p:cNvSpPr txBox="1"/>
          <p:nvPr/>
        </p:nvSpPr>
        <p:spPr>
          <a:xfrm>
            <a:off x="587388" y="260648"/>
            <a:ext cx="75608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BO" sz="2800" b="1" dirty="0"/>
              <a:t>Elementos a utilizar para el control de nivel</a:t>
            </a:r>
            <a:endParaRPr lang="es-BO" sz="2800" dirty="0"/>
          </a:p>
        </p:txBody>
      </p:sp>
      <p:cxnSp>
        <p:nvCxnSpPr>
          <p:cNvPr id="54" name="Conector recto 53">
            <a:extLst>
              <a:ext uri="{FF2B5EF4-FFF2-40B4-BE49-F238E27FC236}">
                <a16:creationId xmlns="" xmlns:a16="http://schemas.microsoft.com/office/drawing/2014/main" id="{D8128E91-2904-4199-9A3C-E8346DCE50A1}"/>
              </a:ext>
            </a:extLst>
          </p:cNvPr>
          <p:cNvCxnSpPr>
            <a:cxnSpLocks/>
          </p:cNvCxnSpPr>
          <p:nvPr/>
        </p:nvCxnSpPr>
        <p:spPr>
          <a:xfrm flipV="1">
            <a:off x="6212325" y="2708920"/>
            <a:ext cx="0" cy="432049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55" name="Imagen 54" descr="Ver las imágenes de origen">
            <a:extLst>
              <a:ext uri="{FF2B5EF4-FFF2-40B4-BE49-F238E27FC236}">
                <a16:creationId xmlns="" xmlns:a16="http://schemas.microsoft.com/office/drawing/2014/main" id="{96DA3E57-6F86-469F-956B-F66412680E2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50" r="19583"/>
          <a:stretch/>
        </p:blipFill>
        <p:spPr bwMode="auto">
          <a:xfrm>
            <a:off x="9123951" y="3413459"/>
            <a:ext cx="814798" cy="124658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Imagen 6">
            <a:extLst>
              <a:ext uri="{FF2B5EF4-FFF2-40B4-BE49-F238E27FC236}">
                <a16:creationId xmlns="" xmlns:a16="http://schemas.microsoft.com/office/drawing/2014/main" id="{2BE69D78-4A9B-4A8A-9E7F-D79C9FC2DFB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9202" y="95432"/>
            <a:ext cx="781168" cy="1696654"/>
          </a:xfrm>
          <a:prstGeom prst="rect">
            <a:avLst/>
          </a:prstGeom>
        </p:spPr>
      </p:pic>
      <p:cxnSp>
        <p:nvCxnSpPr>
          <p:cNvPr id="60" name="Conector recto 59">
            <a:extLst>
              <a:ext uri="{FF2B5EF4-FFF2-40B4-BE49-F238E27FC236}">
                <a16:creationId xmlns="" xmlns:a16="http://schemas.microsoft.com/office/drawing/2014/main" id="{0AC49212-79B6-47CC-BACF-66DCCABE0332}"/>
              </a:ext>
            </a:extLst>
          </p:cNvPr>
          <p:cNvCxnSpPr>
            <a:cxnSpLocks/>
          </p:cNvCxnSpPr>
          <p:nvPr/>
        </p:nvCxnSpPr>
        <p:spPr>
          <a:xfrm>
            <a:off x="3101304" y="6093296"/>
            <a:ext cx="5302901" cy="0"/>
          </a:xfrm>
          <a:prstGeom prst="line">
            <a:avLst/>
          </a:prstGeom>
          <a:ln w="92075"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93" name="Grupo 92">
            <a:extLst>
              <a:ext uri="{FF2B5EF4-FFF2-40B4-BE49-F238E27FC236}">
                <a16:creationId xmlns="" xmlns:a16="http://schemas.microsoft.com/office/drawing/2014/main" id="{D1533D50-0A30-4E30-8CDC-DBF2D5C86163}"/>
              </a:ext>
            </a:extLst>
          </p:cNvPr>
          <p:cNvGrpSpPr/>
          <p:nvPr/>
        </p:nvGrpSpPr>
        <p:grpSpPr>
          <a:xfrm>
            <a:off x="6187376" y="4775797"/>
            <a:ext cx="2468250" cy="439475"/>
            <a:chOff x="6192459" y="4797152"/>
            <a:chExt cx="2468250" cy="439475"/>
          </a:xfrm>
        </p:grpSpPr>
        <p:cxnSp>
          <p:nvCxnSpPr>
            <p:cNvPr id="62" name="Conector recto 61">
              <a:extLst>
                <a:ext uri="{FF2B5EF4-FFF2-40B4-BE49-F238E27FC236}">
                  <a16:creationId xmlns="" xmlns:a16="http://schemas.microsoft.com/office/drawing/2014/main" id="{5ADF938A-78D7-46B9-9C97-B4C7A6EF78A6}"/>
                </a:ext>
              </a:extLst>
            </p:cNvPr>
            <p:cNvCxnSpPr>
              <a:cxnSpLocks/>
            </p:cNvCxnSpPr>
            <p:nvPr/>
          </p:nvCxnSpPr>
          <p:spPr>
            <a:xfrm>
              <a:off x="8616280" y="4797152"/>
              <a:ext cx="0" cy="439475"/>
            </a:xfrm>
            <a:prstGeom prst="line">
              <a:avLst/>
            </a:prstGeom>
            <a:ln w="92075">
              <a:solidFill>
                <a:schemeClr val="bg2">
                  <a:lumMod val="90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ector recto 64">
              <a:extLst>
                <a:ext uri="{FF2B5EF4-FFF2-40B4-BE49-F238E27FC236}">
                  <a16:creationId xmlns="" xmlns:a16="http://schemas.microsoft.com/office/drawing/2014/main" id="{24537B51-6F3B-422D-ABDF-C6909BE8BF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92459" y="4831170"/>
              <a:ext cx="2468250" cy="3338"/>
            </a:xfrm>
            <a:prstGeom prst="line">
              <a:avLst/>
            </a:prstGeom>
            <a:ln w="92075">
              <a:solidFill>
                <a:schemeClr val="bg2">
                  <a:lumMod val="90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4" name="Conector recto 73">
            <a:extLst>
              <a:ext uri="{FF2B5EF4-FFF2-40B4-BE49-F238E27FC236}">
                <a16:creationId xmlns="" xmlns:a16="http://schemas.microsoft.com/office/drawing/2014/main" id="{B1542B18-3427-4E6C-889A-7DA3D33FF2ED}"/>
              </a:ext>
            </a:extLst>
          </p:cNvPr>
          <p:cNvCxnSpPr>
            <a:cxnSpLocks/>
          </p:cNvCxnSpPr>
          <p:nvPr/>
        </p:nvCxnSpPr>
        <p:spPr>
          <a:xfrm>
            <a:off x="3316674" y="4797152"/>
            <a:ext cx="2402413" cy="2"/>
          </a:xfrm>
          <a:prstGeom prst="line">
            <a:avLst/>
          </a:prstGeom>
          <a:ln w="92075"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cto 74">
            <a:extLst>
              <a:ext uri="{FF2B5EF4-FFF2-40B4-BE49-F238E27FC236}">
                <a16:creationId xmlns="" xmlns:a16="http://schemas.microsoft.com/office/drawing/2014/main" id="{E455DE32-B268-4AC6-AA0D-9D94FFCC0679}"/>
              </a:ext>
            </a:extLst>
          </p:cNvPr>
          <p:cNvCxnSpPr>
            <a:cxnSpLocks/>
          </p:cNvCxnSpPr>
          <p:nvPr/>
        </p:nvCxnSpPr>
        <p:spPr>
          <a:xfrm flipV="1">
            <a:off x="3359696" y="3933056"/>
            <a:ext cx="0" cy="841109"/>
          </a:xfrm>
          <a:prstGeom prst="line">
            <a:avLst/>
          </a:prstGeom>
          <a:ln w="92075">
            <a:solidFill>
              <a:schemeClr val="bg2">
                <a:lumMod val="90000"/>
              </a:schemeClr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cto 81">
            <a:extLst>
              <a:ext uri="{FF2B5EF4-FFF2-40B4-BE49-F238E27FC236}">
                <a16:creationId xmlns="" xmlns:a16="http://schemas.microsoft.com/office/drawing/2014/main" id="{E3C5C732-D6EF-4B3F-B2BF-685CD66A7DC5}"/>
              </a:ext>
            </a:extLst>
          </p:cNvPr>
          <p:cNvCxnSpPr/>
          <p:nvPr/>
        </p:nvCxnSpPr>
        <p:spPr>
          <a:xfrm flipH="1" flipV="1">
            <a:off x="6096000" y="2752523"/>
            <a:ext cx="0" cy="94334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7" name="Conector recto 96">
            <a:extLst>
              <a:ext uri="{FF2B5EF4-FFF2-40B4-BE49-F238E27FC236}">
                <a16:creationId xmlns="" xmlns:a16="http://schemas.microsoft.com/office/drawing/2014/main" id="{AEF5BA50-55D7-4C00-8490-7AA6163DD766}"/>
              </a:ext>
            </a:extLst>
          </p:cNvPr>
          <p:cNvCxnSpPr>
            <a:cxnSpLocks/>
          </p:cNvCxnSpPr>
          <p:nvPr/>
        </p:nvCxnSpPr>
        <p:spPr>
          <a:xfrm flipV="1">
            <a:off x="9264352" y="1672000"/>
            <a:ext cx="0" cy="1396960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8" name="Conector recto 97">
            <a:extLst>
              <a:ext uri="{FF2B5EF4-FFF2-40B4-BE49-F238E27FC236}">
                <a16:creationId xmlns="" xmlns:a16="http://schemas.microsoft.com/office/drawing/2014/main" id="{BE7171DF-6D2B-47EB-B0C8-CFAF88995B8F}"/>
              </a:ext>
            </a:extLst>
          </p:cNvPr>
          <p:cNvCxnSpPr>
            <a:cxnSpLocks/>
          </p:cNvCxnSpPr>
          <p:nvPr/>
        </p:nvCxnSpPr>
        <p:spPr>
          <a:xfrm flipV="1">
            <a:off x="9408368" y="1672000"/>
            <a:ext cx="0" cy="1468968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2" name="Conector recto 101">
            <a:extLst>
              <a:ext uri="{FF2B5EF4-FFF2-40B4-BE49-F238E27FC236}">
                <a16:creationId xmlns="" xmlns:a16="http://schemas.microsoft.com/office/drawing/2014/main" id="{150AE45E-7118-4D3A-971D-CE72E6A3369F}"/>
              </a:ext>
            </a:extLst>
          </p:cNvPr>
          <p:cNvCxnSpPr>
            <a:cxnSpLocks/>
          </p:cNvCxnSpPr>
          <p:nvPr/>
        </p:nvCxnSpPr>
        <p:spPr>
          <a:xfrm flipH="1">
            <a:off x="6207762" y="3140968"/>
            <a:ext cx="3200606" cy="0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5" name="Conector recto 104">
            <a:extLst>
              <a:ext uri="{FF2B5EF4-FFF2-40B4-BE49-F238E27FC236}">
                <a16:creationId xmlns="" xmlns:a16="http://schemas.microsoft.com/office/drawing/2014/main" id="{3E2E4936-8637-421F-81A9-D70A320F08FF}"/>
              </a:ext>
            </a:extLst>
          </p:cNvPr>
          <p:cNvCxnSpPr>
            <a:cxnSpLocks/>
          </p:cNvCxnSpPr>
          <p:nvPr/>
        </p:nvCxnSpPr>
        <p:spPr>
          <a:xfrm flipV="1">
            <a:off x="6384032" y="2708920"/>
            <a:ext cx="0" cy="360041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7" name="Conector recto 106">
            <a:extLst>
              <a:ext uri="{FF2B5EF4-FFF2-40B4-BE49-F238E27FC236}">
                <a16:creationId xmlns="" xmlns:a16="http://schemas.microsoft.com/office/drawing/2014/main" id="{D7663181-BFE9-4719-9C75-31068625203D}"/>
              </a:ext>
            </a:extLst>
          </p:cNvPr>
          <p:cNvCxnSpPr>
            <a:cxnSpLocks/>
          </p:cNvCxnSpPr>
          <p:nvPr/>
        </p:nvCxnSpPr>
        <p:spPr>
          <a:xfrm flipH="1">
            <a:off x="6384032" y="3068960"/>
            <a:ext cx="2880320" cy="0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10" name="Grupo 109">
            <a:extLst>
              <a:ext uri="{FF2B5EF4-FFF2-40B4-BE49-F238E27FC236}">
                <a16:creationId xmlns="" xmlns:a16="http://schemas.microsoft.com/office/drawing/2014/main" id="{42F0CCFB-38CE-4FE5-B126-28C45AE70474}"/>
              </a:ext>
            </a:extLst>
          </p:cNvPr>
          <p:cNvGrpSpPr/>
          <p:nvPr/>
        </p:nvGrpSpPr>
        <p:grpSpPr>
          <a:xfrm>
            <a:off x="2471318" y="975859"/>
            <a:ext cx="5401034" cy="615132"/>
            <a:chOff x="2513809" y="1227578"/>
            <a:chExt cx="5401034" cy="444421"/>
          </a:xfrm>
        </p:grpSpPr>
        <p:cxnSp>
          <p:nvCxnSpPr>
            <p:cNvPr id="111" name="Conector recto 110">
              <a:extLst>
                <a:ext uri="{FF2B5EF4-FFF2-40B4-BE49-F238E27FC236}">
                  <a16:creationId xmlns="" xmlns:a16="http://schemas.microsoft.com/office/drawing/2014/main" id="{B95AB525-8F31-431E-A97A-441536F6C164}"/>
                </a:ext>
              </a:extLst>
            </p:cNvPr>
            <p:cNvCxnSpPr>
              <a:cxnSpLocks/>
            </p:cNvCxnSpPr>
            <p:nvPr/>
          </p:nvCxnSpPr>
          <p:spPr>
            <a:xfrm>
              <a:off x="2513809" y="1227578"/>
              <a:ext cx="5401034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ector recto 111">
              <a:extLst>
                <a:ext uri="{FF2B5EF4-FFF2-40B4-BE49-F238E27FC236}">
                  <a16:creationId xmlns="" xmlns:a16="http://schemas.microsoft.com/office/drawing/2014/main" id="{328FF21C-006F-40F6-BC8B-7835BD00FEB7}"/>
                </a:ext>
              </a:extLst>
            </p:cNvPr>
            <p:cNvCxnSpPr>
              <a:cxnSpLocks/>
            </p:cNvCxnSpPr>
            <p:nvPr/>
          </p:nvCxnSpPr>
          <p:spPr>
            <a:xfrm>
              <a:off x="2513809" y="1227578"/>
              <a:ext cx="0" cy="44442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ector recto 112">
              <a:extLst>
                <a:ext uri="{FF2B5EF4-FFF2-40B4-BE49-F238E27FC236}">
                  <a16:creationId xmlns="" xmlns:a16="http://schemas.microsoft.com/office/drawing/2014/main" id="{EFEDC6AF-0F9C-40E3-8D45-1F20AD0FEF03}"/>
                </a:ext>
              </a:extLst>
            </p:cNvPr>
            <p:cNvCxnSpPr>
              <a:cxnSpLocks/>
            </p:cNvCxnSpPr>
            <p:nvPr/>
          </p:nvCxnSpPr>
          <p:spPr>
            <a:xfrm>
              <a:off x="7914843" y="1227578"/>
              <a:ext cx="0" cy="35521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0" name="Conector recto 119">
            <a:extLst>
              <a:ext uri="{FF2B5EF4-FFF2-40B4-BE49-F238E27FC236}">
                <a16:creationId xmlns="" xmlns:a16="http://schemas.microsoft.com/office/drawing/2014/main" id="{99304445-339E-4445-A3AB-52FCC28EAB19}"/>
              </a:ext>
            </a:extLst>
          </p:cNvPr>
          <p:cNvCxnSpPr>
            <a:cxnSpLocks/>
          </p:cNvCxnSpPr>
          <p:nvPr/>
        </p:nvCxnSpPr>
        <p:spPr>
          <a:xfrm flipV="1">
            <a:off x="5995863" y="2763129"/>
            <a:ext cx="0" cy="102591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9" name="Google Shape;204;p21">
            <a:extLst>
              <a:ext uri="{FF2B5EF4-FFF2-40B4-BE49-F238E27FC236}">
                <a16:creationId xmlns="" xmlns:a16="http://schemas.microsoft.com/office/drawing/2014/main" id="{68964FC0-81DF-4681-AD75-70F4AB817EEB}"/>
              </a:ext>
            </a:extLst>
          </p:cNvPr>
          <p:cNvPicPr preferRelativeResize="0"/>
          <p:nvPr/>
        </p:nvPicPr>
        <p:blipFill rotWithShape="1">
          <a:blip r:embed="rId7"/>
          <a:srcRect l="46097" t="5917" r="3269" b="34201"/>
          <a:stretch/>
        </p:blipFill>
        <p:spPr>
          <a:xfrm>
            <a:off x="5689014" y="1342766"/>
            <a:ext cx="2538491" cy="1492371"/>
          </a:xfrm>
          <a:prstGeom prst="rect">
            <a:avLst/>
          </a:prstGeom>
        </p:spPr>
      </p:pic>
      <p:pic>
        <p:nvPicPr>
          <p:cNvPr id="1024" name="Imagen 1023">
            <a:extLst>
              <a:ext uri="{FF2B5EF4-FFF2-40B4-BE49-F238E27FC236}">
                <a16:creationId xmlns="" xmlns:a16="http://schemas.microsoft.com/office/drawing/2014/main" id="{8C0A3552-D895-46EA-827A-7E829994F3A2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harpenSoften amount="18000"/>
                    </a14:imgEffect>
                    <a14:imgEffect>
                      <a14:brightnessContrast bright="4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0575" t="29957" r="36132" b="8166"/>
          <a:stretch/>
        </p:blipFill>
        <p:spPr>
          <a:xfrm>
            <a:off x="1734136" y="4353610"/>
            <a:ext cx="1612773" cy="2409909"/>
          </a:xfrm>
          <a:prstGeom prst="rect">
            <a:avLst/>
          </a:prstGeom>
        </p:spPr>
      </p:pic>
      <p:pic>
        <p:nvPicPr>
          <p:cNvPr id="52" name="Imagen 51">
            <a:extLst>
              <a:ext uri="{FF2B5EF4-FFF2-40B4-BE49-F238E27FC236}">
                <a16:creationId xmlns="" xmlns:a16="http://schemas.microsoft.com/office/drawing/2014/main" id="{683E5D55-F5D9-444E-A241-46734E082FF0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958" b="5504"/>
          <a:stretch/>
        </p:blipFill>
        <p:spPr bwMode="auto">
          <a:xfrm>
            <a:off x="1614629" y="2451123"/>
            <a:ext cx="1612772" cy="220892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37" name="Google Shape;204;p21">
            <a:extLst>
              <a:ext uri="{FF2B5EF4-FFF2-40B4-BE49-F238E27FC236}">
                <a16:creationId xmlns="" xmlns:a16="http://schemas.microsoft.com/office/drawing/2014/main" id="{D059480B-2F45-43A0-B565-C5FB532A60A7}"/>
              </a:ext>
            </a:extLst>
          </p:cNvPr>
          <p:cNvPicPr preferRelativeResize="0"/>
          <p:nvPr/>
        </p:nvPicPr>
        <p:blipFill rotWithShape="1">
          <a:blip r:embed="rId7"/>
          <a:srcRect l="9429" t="23434" r="76392" b="5150"/>
          <a:stretch/>
        </p:blipFill>
        <p:spPr>
          <a:xfrm>
            <a:off x="2309834" y="1601466"/>
            <a:ext cx="335161" cy="839180"/>
          </a:xfrm>
          <a:prstGeom prst="rect">
            <a:avLst/>
          </a:prstGeom>
        </p:spPr>
      </p:pic>
      <p:pic>
        <p:nvPicPr>
          <p:cNvPr id="8" name="Google Shape;204;p21">
            <a:extLst>
              <a:ext uri="{FF2B5EF4-FFF2-40B4-BE49-F238E27FC236}">
                <a16:creationId xmlns="" xmlns:a16="http://schemas.microsoft.com/office/drawing/2014/main" id="{1AB126C0-6945-4E55-8D81-92DD359D1444}"/>
              </a:ext>
            </a:extLst>
          </p:cNvPr>
          <p:cNvPicPr preferRelativeResize="0"/>
          <p:nvPr/>
        </p:nvPicPr>
        <p:blipFill rotWithShape="1">
          <a:blip r:embed="rId7"/>
          <a:srcRect l="9429" t="23434" r="76392" b="5150"/>
          <a:stretch/>
        </p:blipFill>
        <p:spPr>
          <a:xfrm>
            <a:off x="2314004" y="1615945"/>
            <a:ext cx="335161" cy="839180"/>
          </a:xfrm>
          <a:prstGeom prst="rect">
            <a:avLst/>
          </a:prstGeom>
        </p:spPr>
      </p:pic>
      <p:pic>
        <p:nvPicPr>
          <p:cNvPr id="136" name="Imagen 135">
            <a:extLst>
              <a:ext uri="{FF2B5EF4-FFF2-40B4-BE49-F238E27FC236}">
                <a16:creationId xmlns="" xmlns:a16="http://schemas.microsoft.com/office/drawing/2014/main" id="{423ACEF4-67F1-40CE-BEDE-8F17FE8F9F03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958" b="5504"/>
          <a:stretch/>
        </p:blipFill>
        <p:spPr bwMode="auto">
          <a:xfrm>
            <a:off x="1614628" y="2451122"/>
            <a:ext cx="1612772" cy="220892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38" name="Imagen 137">
            <a:extLst>
              <a:ext uri="{FF2B5EF4-FFF2-40B4-BE49-F238E27FC236}">
                <a16:creationId xmlns="" xmlns:a16="http://schemas.microsoft.com/office/drawing/2014/main" id="{FB514F21-2802-4803-A8CB-88BF7E7698AB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harpenSoften amount="18000"/>
                    </a14:imgEffect>
                    <a14:imgEffect>
                      <a14:brightnessContrast bright="4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0575" t="29957" r="36132" b="8166"/>
          <a:stretch/>
        </p:blipFill>
        <p:spPr>
          <a:xfrm>
            <a:off x="1742218" y="4353610"/>
            <a:ext cx="1612773" cy="2409909"/>
          </a:xfrm>
          <a:prstGeom prst="rect">
            <a:avLst/>
          </a:prstGeom>
        </p:spPr>
      </p:pic>
      <p:pic>
        <p:nvPicPr>
          <p:cNvPr id="69" name="Imagen 68">
            <a:extLst>
              <a:ext uri="{FF2B5EF4-FFF2-40B4-BE49-F238E27FC236}">
                <a16:creationId xmlns="" xmlns:a16="http://schemas.microsoft.com/office/drawing/2014/main" id="{E4D60AF9-8B09-4778-AB23-21C9A87A378A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37155" t="21231" r="37124" b="22700"/>
          <a:stretch/>
        </p:blipFill>
        <p:spPr>
          <a:xfrm>
            <a:off x="5638351" y="4216791"/>
            <a:ext cx="569411" cy="698191"/>
          </a:xfrm>
          <a:prstGeom prst="rect">
            <a:avLst/>
          </a:prstGeom>
        </p:spPr>
      </p:pic>
      <p:pic>
        <p:nvPicPr>
          <p:cNvPr id="1026" name="Picture 2" descr="Electrobomba Centrifuga CM 100 1HP Marca Pentax">
            <a:extLst>
              <a:ext uri="{FF2B5EF4-FFF2-40B4-BE49-F238E27FC236}">
                <a16:creationId xmlns="" xmlns:a16="http://schemas.microsoft.com/office/drawing/2014/main" id="{E1E873E2-7EC1-4E39-A9C8-328CE61ACB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3343" y="4918621"/>
            <a:ext cx="2448272" cy="205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Imagen 45">
            <a:extLst>
              <a:ext uri="{FF2B5EF4-FFF2-40B4-BE49-F238E27FC236}">
                <a16:creationId xmlns="" xmlns:a16="http://schemas.microsoft.com/office/drawing/2014/main" id="{B1BBACED-421F-4D0D-9470-397E8867CD58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631" t="31738" r="27454" b="49794"/>
          <a:stretch/>
        </p:blipFill>
        <p:spPr bwMode="auto">
          <a:xfrm>
            <a:off x="2383298" y="2866172"/>
            <a:ext cx="176039" cy="54728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620387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9"/>
          <p:cNvSpPr txBox="1">
            <a:spLocks noGrp="1"/>
          </p:cNvSpPr>
          <p:nvPr>
            <p:ph type="subTitle" idx="1"/>
          </p:nvPr>
        </p:nvSpPr>
        <p:spPr>
          <a:xfrm>
            <a:off x="1055440" y="341905"/>
            <a:ext cx="4824536" cy="590781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008" t="-411" r="-1006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-BO"/>
              <a:t> </a:t>
            </a:r>
            <a:endParaRPr/>
          </a:p>
        </p:txBody>
      </p:sp>
      <p:sp>
        <p:nvSpPr>
          <p:cNvPr id="138" name="Google Shape;138;p79"/>
          <p:cNvSpPr txBox="1"/>
          <p:nvPr/>
        </p:nvSpPr>
        <p:spPr>
          <a:xfrm>
            <a:off x="1919536" y="3360121"/>
            <a:ext cx="2952328" cy="73314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BO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79"/>
          <p:cNvSpPr/>
          <p:nvPr/>
        </p:nvSpPr>
        <p:spPr>
          <a:xfrm>
            <a:off x="1919536" y="3284984"/>
            <a:ext cx="2880320" cy="864095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" name="Gráfico 5">
            <a:extLst>
              <a:ext uri="{FF2B5EF4-FFF2-40B4-BE49-F238E27FC236}">
                <a16:creationId xmlns="" xmlns:a16="http://schemas.microsoft.com/office/drawing/2014/main" id="{A9BD78F6-3F79-6635-A291-BD867411A96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66798244"/>
              </p:ext>
            </p:extLst>
          </p:nvPr>
        </p:nvGraphicFramePr>
        <p:xfrm>
          <a:off x="6312026" y="1959738"/>
          <a:ext cx="5417052" cy="32582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513757114"/>
      </p:ext>
    </p:extLst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="" xmlns:a16="http://schemas.microsoft.com/office/drawing/2014/main" id="{279834C1-6023-77EB-B404-74F38129C6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9364" y="159623"/>
            <a:ext cx="6801612" cy="1239894"/>
          </a:xfrm>
        </p:spPr>
        <p:txBody>
          <a:bodyPr>
            <a:normAutofit/>
          </a:bodyPr>
          <a:lstStyle/>
          <a:p>
            <a:r>
              <a:rPr lang="es-ES" sz="4400" b="1" u="sng" dirty="0">
                <a:solidFill>
                  <a:srgbClr val="002060"/>
                </a:solidFill>
              </a:rPr>
              <a:t>ANALIZAR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="" xmlns:a16="http://schemas.microsoft.com/office/drawing/2014/main" id="{2B6314AE-894A-CD77-D729-25667EB79104}"/>
              </a:ext>
            </a:extLst>
          </p:cNvPr>
          <p:cNvSpPr txBox="1"/>
          <p:nvPr/>
        </p:nvSpPr>
        <p:spPr>
          <a:xfrm>
            <a:off x="752113" y="1381151"/>
            <a:ext cx="37371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Respuesta al paso: para ver el comportamiento </a:t>
            </a:r>
            <a:endParaRPr lang="es-BO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7879" y="2027482"/>
            <a:ext cx="1884363" cy="1506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6448022" y="4035950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ES" dirty="0"/>
              <a:t>Información sobre la respuesta al paso:</a:t>
            </a:r>
          </a:p>
          <a:p>
            <a:r>
              <a:rPr lang="es-ES" dirty="0"/>
              <a:t>Tiempo de subida: 641.0573 segundos</a:t>
            </a:r>
          </a:p>
          <a:p>
            <a:r>
              <a:rPr lang="es-ES" dirty="0"/>
              <a:t>Tiempo de asentamiento: 1141.0743 segundos</a:t>
            </a:r>
          </a:p>
          <a:p>
            <a:r>
              <a:rPr lang="es-ES" dirty="0" err="1"/>
              <a:t>Overshoot</a:t>
            </a:r>
            <a:r>
              <a:rPr lang="es-ES" dirty="0"/>
              <a:t>: 0 %</a:t>
            </a:r>
          </a:p>
          <a:p>
            <a:r>
              <a:rPr lang="es-ES" dirty="0"/>
              <a:t>Pico: 0.95853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13" y="2226190"/>
            <a:ext cx="5402263" cy="408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82969501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="" xmlns:a16="http://schemas.microsoft.com/office/drawing/2014/main" id="{279834C1-6023-77EB-B404-74F38129C6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9364" y="159623"/>
            <a:ext cx="6801612" cy="1239894"/>
          </a:xfrm>
        </p:spPr>
        <p:txBody>
          <a:bodyPr>
            <a:normAutofit/>
          </a:bodyPr>
          <a:lstStyle/>
          <a:p>
            <a:r>
              <a:rPr lang="es-ES" sz="4400" b="1" u="sng" dirty="0">
                <a:solidFill>
                  <a:srgbClr val="002060"/>
                </a:solidFill>
              </a:rPr>
              <a:t>ANALIZAR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="" xmlns:a16="http://schemas.microsoft.com/office/drawing/2014/main" id="{E5A0BBC6-C76C-5CEC-91FF-5CAA61444050}"/>
              </a:ext>
            </a:extLst>
          </p:cNvPr>
          <p:cNvSpPr txBox="1"/>
          <p:nvPr/>
        </p:nvSpPr>
        <p:spPr>
          <a:xfrm>
            <a:off x="850290" y="1399516"/>
            <a:ext cx="37371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Respuesta al impulso: respuesta a una perturbación</a:t>
            </a:r>
            <a:endParaRPr lang="es-BO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264" y="2176619"/>
            <a:ext cx="5402263" cy="413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2527" y="2369668"/>
            <a:ext cx="8289004" cy="1403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96201985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="" xmlns:a16="http://schemas.microsoft.com/office/drawing/2014/main" id="{0FD3AB34-8080-0486-B5A5-76905F706D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437" y="2456339"/>
            <a:ext cx="5325218" cy="4039164"/>
          </a:xfrm>
          <a:prstGeom prst="rect">
            <a:avLst/>
          </a:prstGeom>
        </p:spPr>
      </p:pic>
      <p:sp>
        <p:nvSpPr>
          <p:cNvPr id="20" name="CuadroTexto 19">
            <a:extLst>
              <a:ext uri="{FF2B5EF4-FFF2-40B4-BE49-F238E27FC236}">
                <a16:creationId xmlns="" xmlns:a16="http://schemas.microsoft.com/office/drawing/2014/main" id="{789B00A4-D17C-41A6-CBB8-EDF3888A7046}"/>
              </a:ext>
            </a:extLst>
          </p:cNvPr>
          <p:cNvSpPr txBox="1"/>
          <p:nvPr/>
        </p:nvSpPr>
        <p:spPr>
          <a:xfrm>
            <a:off x="1128591" y="1445684"/>
            <a:ext cx="37371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Diagrama polar: ver la localización de sus polos </a:t>
            </a:r>
            <a:r>
              <a:rPr lang="es-ES"/>
              <a:t>y </a:t>
            </a:r>
            <a:r>
              <a:rPr lang="es-ES" u="sng" dirty="0"/>
              <a:t>c</a:t>
            </a:r>
            <a:r>
              <a:rPr lang="es-ES" u="sng"/>
              <a:t>eros</a:t>
            </a:r>
            <a:endParaRPr lang="es-BO" u="sng" dirty="0"/>
          </a:p>
        </p:txBody>
      </p:sp>
      <p:sp>
        <p:nvSpPr>
          <p:cNvPr id="26" name="CuadroTexto 25">
            <a:extLst>
              <a:ext uri="{FF2B5EF4-FFF2-40B4-BE49-F238E27FC236}">
                <a16:creationId xmlns="" xmlns:a16="http://schemas.microsoft.com/office/drawing/2014/main" id="{6C170AE3-7809-1EBA-DC60-6E0E02DA1AE7}"/>
              </a:ext>
            </a:extLst>
          </p:cNvPr>
          <p:cNvSpPr txBox="1"/>
          <p:nvPr/>
        </p:nvSpPr>
        <p:spPr>
          <a:xfrm>
            <a:off x="4499789" y="742133"/>
            <a:ext cx="3737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Estabilidad del sistema</a:t>
            </a:r>
            <a:endParaRPr lang="es-BO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5525" y="2456338"/>
            <a:ext cx="11256662" cy="1548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6339727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uadroTexto 20">
            <a:extLst>
              <a:ext uri="{FF2B5EF4-FFF2-40B4-BE49-F238E27FC236}">
                <a16:creationId xmlns="" xmlns:a16="http://schemas.microsoft.com/office/drawing/2014/main" id="{886B1819-619A-4B40-22DB-214C443C6A01}"/>
              </a:ext>
            </a:extLst>
          </p:cNvPr>
          <p:cNvSpPr txBox="1"/>
          <p:nvPr/>
        </p:nvSpPr>
        <p:spPr>
          <a:xfrm>
            <a:off x="1210899" y="1433873"/>
            <a:ext cx="3737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Diagrama de bode</a:t>
            </a:r>
            <a:endParaRPr lang="es-BO" dirty="0"/>
          </a:p>
        </p:txBody>
      </p:sp>
      <p:pic>
        <p:nvPicPr>
          <p:cNvPr id="7" name="Imagen 6">
            <a:extLst>
              <a:ext uri="{FF2B5EF4-FFF2-40B4-BE49-F238E27FC236}">
                <a16:creationId xmlns="" xmlns:a16="http://schemas.microsoft.com/office/drawing/2014/main" id="{C99C450E-1391-820A-35FE-185BE3241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763" y="2321377"/>
            <a:ext cx="5153744" cy="4058216"/>
          </a:xfrm>
          <a:prstGeom prst="rect">
            <a:avLst/>
          </a:prstGeom>
        </p:spPr>
      </p:pic>
      <p:sp>
        <p:nvSpPr>
          <p:cNvPr id="26" name="CuadroTexto 25">
            <a:extLst>
              <a:ext uri="{FF2B5EF4-FFF2-40B4-BE49-F238E27FC236}">
                <a16:creationId xmlns="" xmlns:a16="http://schemas.microsoft.com/office/drawing/2014/main" id="{6C170AE3-7809-1EBA-DC60-6E0E02DA1AE7}"/>
              </a:ext>
            </a:extLst>
          </p:cNvPr>
          <p:cNvSpPr txBox="1"/>
          <p:nvPr/>
        </p:nvSpPr>
        <p:spPr>
          <a:xfrm>
            <a:off x="4499789" y="742133"/>
            <a:ext cx="3737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Estabilidad del sistema</a:t>
            </a:r>
            <a:endParaRPr lang="es-BO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8345" y="2383580"/>
            <a:ext cx="8203937" cy="926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31127066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37363" y="259161"/>
            <a:ext cx="4198276" cy="784028"/>
          </a:xfrm>
        </p:spPr>
        <p:txBody>
          <a:bodyPr>
            <a:normAutofit fontScale="90000"/>
          </a:bodyPr>
          <a:lstStyle/>
          <a:p>
            <a:r>
              <a:rPr lang="es-ES" dirty="0" smtClean="0"/>
              <a:t>Criterio de estabilidad de </a:t>
            </a:r>
            <a:r>
              <a:rPr lang="es-ES" dirty="0" err="1" smtClean="0"/>
              <a:t>routh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2 Marcador de contenido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/>
                            </a:rPr>
                            <m:t>𝐺</m:t>
                          </m:r>
                        </m:e>
                        <m:sub>
                          <m:r>
                            <a:rPr lang="es-ES" i="1">
                              <a:latin typeface="Cambria Math"/>
                            </a:rPr>
                            <m:t>(</m:t>
                          </m:r>
                          <m:r>
                            <a:rPr lang="es-ES" i="1">
                              <a:latin typeface="Cambria Math"/>
                            </a:rPr>
                            <m:t>𝑠</m:t>
                          </m:r>
                          <m:r>
                            <a:rPr lang="es-ES" i="1">
                              <a:latin typeface="Cambria Math"/>
                            </a:rPr>
                            <m:t>)</m:t>
                          </m:r>
                        </m:sub>
                      </m:sSub>
                      <m:r>
                        <a:rPr lang="es-ES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ES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ES" i="1">
                              <a:latin typeface="Cambria Math"/>
                            </a:rPr>
                            <m:t>0.9585</m:t>
                          </m:r>
                        </m:num>
                        <m:den>
                          <m:r>
                            <a:rPr lang="es-ES" i="1">
                              <a:latin typeface="Cambria Math"/>
                            </a:rPr>
                            <m:t>291.85∗</m:t>
                          </m:r>
                          <m:r>
                            <a:rPr lang="es-ES" i="1">
                              <a:latin typeface="Cambria Math"/>
                            </a:rPr>
                            <m:t>𝑠</m:t>
                          </m:r>
                          <m:r>
                            <a:rPr lang="es-ES" i="1">
                              <a:latin typeface="Cambria Math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s-ES" dirty="0" smtClean="0"/>
              </a:p>
              <a:p>
                <a:pPr marL="0" indent="0">
                  <a:buNone/>
                </a:pPr>
                <a:endParaRPr lang="es-ES" i="1" dirty="0" smtClean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>
                          <a:latin typeface="Cambria Math"/>
                        </a:rPr>
                        <m:t>291.85∗</m:t>
                      </m:r>
                      <m:r>
                        <a:rPr lang="es-ES" i="1">
                          <a:latin typeface="Cambria Math"/>
                        </a:rPr>
                        <m:t>𝑠</m:t>
                      </m:r>
                      <m:r>
                        <a:rPr lang="es-ES" i="1">
                          <a:latin typeface="Cambria Math"/>
                        </a:rPr>
                        <m:t>+1 =</m:t>
                      </m:r>
                      <m:r>
                        <a:rPr lang="es-ES" b="0" i="0" smtClean="0"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s-ES" b="0" dirty="0" smtClean="0"/>
              </a:p>
              <a:p>
                <a:pPr marL="0" indent="0">
                  <a:buNone/>
                </a:pPr>
                <a:endParaRPr lang="es-ES" i="1" dirty="0" smtClean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>
                          <a:latin typeface="Cambria Math"/>
                        </a:rPr>
                        <m:t>𝑠</m:t>
                      </m:r>
                      <m:r>
                        <a:rPr lang="es-ES" i="1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s-ES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s-ES" b="0" i="1" smtClean="0">
                              <a:latin typeface="Cambria Math"/>
                            </a:rPr>
                            <m:t>291.85</m:t>
                          </m:r>
                        </m:den>
                      </m:f>
                      <m:r>
                        <a:rPr lang="es-ES" b="0" i="1" smtClean="0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s-ES" b="0" dirty="0" smtClean="0"/>
              </a:p>
              <a:p>
                <a:pPr marL="0" indent="0">
                  <a:buNone/>
                </a:pPr>
                <a:endParaRPr lang="es-ES" b="0" dirty="0" smtClean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ES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s-ES" b="0" i="1" smtClean="0">
                            <a:latin typeface="Cambria Math"/>
                          </a:rPr>
                          <m:t>𝑛</m:t>
                        </m:r>
                      </m:sub>
                    </m:sSub>
                    <m:sSup>
                      <m:sSupPr>
                        <m:ctrlPr>
                          <a:rPr lang="es-ES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s-ES" b="0" i="1" smtClean="0">
                            <a:latin typeface="Cambria Math"/>
                          </a:rPr>
                          <m:t>𝑠</m:t>
                        </m:r>
                      </m:e>
                      <m:sup>
                        <m:r>
                          <a:rPr lang="es-ES" b="0" i="1" smtClean="0">
                            <a:latin typeface="Cambria Math"/>
                          </a:rPr>
                          <m:t>𝑛</m:t>
                        </m:r>
                      </m:sup>
                    </m:sSup>
                    <m:r>
                      <a:rPr lang="es-ES" b="0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s-ES" i="1">
                            <a:latin typeface="Cambria Math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s-ES" i="1">
                            <a:latin typeface="Cambria Math"/>
                          </a:rPr>
                          <m:t>𝑛</m:t>
                        </m:r>
                        <m:r>
                          <a:rPr lang="es-ES" b="0" i="1" smtClean="0">
                            <a:latin typeface="Cambria Math"/>
                          </a:rPr>
                          <m:t>−1</m:t>
                        </m:r>
                      </m:sub>
                    </m:sSub>
                    <m:sSup>
                      <m:sSupPr>
                        <m:ctrlPr>
                          <a:rPr lang="es-ES" i="1">
                            <a:latin typeface="Cambria Math"/>
                          </a:rPr>
                        </m:ctrlPr>
                      </m:sSupPr>
                      <m:e>
                        <m:r>
                          <a:rPr lang="es-ES" i="1">
                            <a:latin typeface="Cambria Math"/>
                          </a:rPr>
                          <m:t>𝑠</m:t>
                        </m:r>
                      </m:e>
                      <m:sup>
                        <m:r>
                          <a:rPr lang="es-ES" i="1">
                            <a:latin typeface="Cambria Math"/>
                          </a:rPr>
                          <m:t>𝑛</m:t>
                        </m:r>
                        <m:r>
                          <a:rPr lang="es-ES" b="0" i="1" smtClean="0">
                            <a:latin typeface="Cambria Math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s-ES" dirty="0" smtClean="0"/>
                  <a:t>+…+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s-ES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s-ES" i="1">
                            <a:latin typeface="Cambria Math"/>
                          </a:rPr>
                        </m:ctrlPr>
                      </m:sSupPr>
                      <m:e>
                        <m:r>
                          <a:rPr lang="es-ES" i="1">
                            <a:latin typeface="Cambria Math"/>
                          </a:rPr>
                          <m:t>𝑠</m:t>
                        </m:r>
                      </m:e>
                      <m:sup>
                        <m:r>
                          <a:rPr lang="es-ES" b="0" i="1" smtClean="0">
                            <a:latin typeface="Cambria Math"/>
                          </a:rPr>
                          <m:t>1</m:t>
                        </m:r>
                      </m:sup>
                    </m:sSup>
                  </m:oMath>
                </a14:m>
                <a:r>
                  <a:rPr lang="es-ES" dirty="0" smtClean="0"/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s-ES" b="0" i="1" smtClean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s-ES" b="0" i="0" smtClean="0">
                        <a:latin typeface="Cambria Math"/>
                      </a:rPr>
                      <m:t>=0</m:t>
                    </m:r>
                  </m:oMath>
                </a14:m>
                <a:endParaRPr lang="es-ES" dirty="0" smtClean="0"/>
              </a:p>
              <a:p>
                <a:pPr marL="0" indent="0">
                  <a:buNone/>
                </a:pPr>
                <a:endParaRPr lang="es-E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s-ES" i="1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s-ES" b="0" i="1" smtClean="0">
                          <a:latin typeface="Cambria Math"/>
                        </a:rPr>
                        <m:t>=1      </m:t>
                      </m:r>
                      <m:r>
                        <a:rPr lang="es-ES" b="0" i="1" smtClean="0">
                          <a:latin typeface="Cambria Math"/>
                        </a:rPr>
                        <m:t>𝑛</m:t>
                      </m:r>
                      <m:r>
                        <a:rPr lang="es-ES" b="0" i="1" smtClean="0">
                          <a:latin typeface="Cambria Math"/>
                        </a:rPr>
                        <m:t>=1</m:t>
                      </m:r>
                    </m:oMath>
                  </m:oMathPara>
                </a14:m>
                <a:endParaRPr lang="es-ES" b="0" dirty="0" smtClean="0"/>
              </a:p>
              <a:p>
                <a:pPr marL="0" indent="0">
                  <a:buNone/>
                </a:pPr>
                <a:endParaRPr lang="es-ES" dirty="0" smtClean="0"/>
              </a:p>
              <a:p>
                <a:pPr marL="0" indent="0">
                  <a:buNone/>
                </a:pPr>
                <a:endParaRPr lang="es-ES" dirty="0"/>
              </a:p>
            </p:txBody>
          </p:sp>
        </mc:Choice>
        <mc:Fallback xmlns="">
          <p:sp>
            <p:nvSpPr>
              <p:cNvPr id="3" name="2 Marcador de contenido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80305" y="1249251"/>
            <a:ext cx="5924281" cy="534473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s-ES" sz="1600" dirty="0">
                <a:solidFill>
                  <a:schemeClr val="tx1"/>
                </a:solidFill>
                <a:latin typeface="Söhne"/>
              </a:rPr>
              <a:t>El polinomio característico se obtiene al igualar el denominador a cero</a:t>
            </a:r>
            <a:r>
              <a:rPr lang="es-ES" sz="1600" dirty="0" smtClean="0">
                <a:solidFill>
                  <a:schemeClr val="tx1"/>
                </a:solidFill>
                <a:latin typeface="Söhne"/>
              </a:rPr>
              <a:t>:</a:t>
            </a:r>
          </a:p>
          <a:p>
            <a:pPr algn="l"/>
            <a:endParaRPr lang="es-ES" sz="1600" dirty="0">
              <a:solidFill>
                <a:schemeClr val="tx1"/>
              </a:solidFill>
              <a:latin typeface="Söhne"/>
            </a:endParaRPr>
          </a:p>
          <a:p>
            <a:pPr algn="l"/>
            <a:r>
              <a:rPr lang="es-ES" sz="1600" dirty="0" smtClean="0">
                <a:solidFill>
                  <a:schemeClr val="tx1"/>
                </a:solidFill>
                <a:latin typeface="Söhne"/>
              </a:rPr>
              <a:t>Entonces</a:t>
            </a:r>
            <a:r>
              <a:rPr lang="es-ES" sz="1600" dirty="0">
                <a:solidFill>
                  <a:schemeClr val="tx1"/>
                </a:solidFill>
                <a:latin typeface="Söhne"/>
              </a:rPr>
              <a:t>, el polinomio característico es simplemente</a:t>
            </a:r>
            <a:r>
              <a:rPr lang="es-ES" sz="1600" dirty="0" smtClean="0">
                <a:solidFill>
                  <a:schemeClr val="tx1"/>
                </a:solidFill>
                <a:latin typeface="Söhne"/>
              </a:rPr>
              <a:t>:</a:t>
            </a:r>
          </a:p>
          <a:p>
            <a:pPr algn="l"/>
            <a:endParaRPr lang="es-ES" sz="1600" dirty="0">
              <a:solidFill>
                <a:schemeClr val="tx1"/>
              </a:solidFill>
              <a:latin typeface="Söhne"/>
            </a:endParaRPr>
          </a:p>
          <a:p>
            <a:pPr algn="l"/>
            <a:endParaRPr lang="es-ES" sz="1600" dirty="0" smtClean="0">
              <a:solidFill>
                <a:schemeClr val="tx1"/>
              </a:solidFill>
              <a:latin typeface="Söhne"/>
            </a:endParaRPr>
          </a:p>
          <a:p>
            <a:pPr algn="l"/>
            <a:endParaRPr lang="es-ES" sz="1600" dirty="0">
              <a:solidFill>
                <a:schemeClr val="tx1"/>
              </a:solidFill>
              <a:latin typeface="Söhne"/>
            </a:endParaRPr>
          </a:p>
          <a:p>
            <a:pPr algn="l"/>
            <a:r>
              <a:rPr lang="es-ES" sz="1600" dirty="0">
                <a:solidFill>
                  <a:schemeClr val="tx1"/>
                </a:solidFill>
                <a:latin typeface="Söhne"/>
              </a:rPr>
              <a:t>Para aplicar el criterio de </a:t>
            </a:r>
            <a:r>
              <a:rPr lang="es-ES" sz="1600" dirty="0" err="1">
                <a:solidFill>
                  <a:schemeClr val="tx1"/>
                </a:solidFill>
                <a:latin typeface="Söhne"/>
              </a:rPr>
              <a:t>Routh-Hurwitz</a:t>
            </a:r>
            <a:r>
              <a:rPr lang="es-ES" sz="1600" dirty="0">
                <a:solidFill>
                  <a:schemeClr val="tx1"/>
                </a:solidFill>
                <a:latin typeface="Söhne"/>
              </a:rPr>
              <a:t>, necesitamos escribir el polinomio característico en forma estándar. En este caso, la forma estándar es</a:t>
            </a:r>
            <a:r>
              <a:rPr lang="es-ES" sz="1600" dirty="0" smtClean="0">
                <a:solidFill>
                  <a:schemeClr val="tx1"/>
                </a:solidFill>
                <a:latin typeface="Söhne"/>
              </a:rPr>
              <a:t>:</a:t>
            </a:r>
          </a:p>
          <a:p>
            <a:pPr algn="l"/>
            <a:endParaRPr lang="es-ES" sz="1600" dirty="0" smtClean="0">
              <a:solidFill>
                <a:schemeClr val="tx1"/>
              </a:solidFill>
              <a:latin typeface="Söhne"/>
            </a:endParaRPr>
          </a:p>
          <a:p>
            <a:pPr algn="l"/>
            <a:endParaRPr lang="es-ES" sz="1600" dirty="0">
              <a:solidFill>
                <a:schemeClr val="tx1"/>
              </a:solidFill>
              <a:latin typeface="Söhne"/>
            </a:endParaRPr>
          </a:p>
          <a:p>
            <a:pPr algn="l"/>
            <a:r>
              <a:rPr lang="es-ES" sz="1600" dirty="0">
                <a:solidFill>
                  <a:schemeClr val="tx1"/>
                </a:solidFill>
                <a:latin typeface="Söhne"/>
              </a:rPr>
              <a:t>Ahora, podemos construir la tabla de </a:t>
            </a:r>
            <a:r>
              <a:rPr lang="es-ES" sz="1600" dirty="0" err="1">
                <a:solidFill>
                  <a:schemeClr val="tx1"/>
                </a:solidFill>
                <a:latin typeface="Söhne"/>
              </a:rPr>
              <a:t>Routh-Hurwitz</a:t>
            </a:r>
            <a:r>
              <a:rPr lang="es-ES" sz="1600" dirty="0">
                <a:solidFill>
                  <a:schemeClr val="tx1"/>
                </a:solidFill>
                <a:latin typeface="Söhne"/>
              </a:rPr>
              <a:t> para este polinomio característico. La tabla tendrá dos filas: una para los coeficientes de </a:t>
            </a:r>
            <a:r>
              <a:rPr lang="es-ES" sz="1600" i="1" dirty="0" smtClean="0">
                <a:solidFill>
                  <a:schemeClr val="tx1"/>
                </a:solidFill>
                <a:latin typeface="KaTeX_Math"/>
              </a:rPr>
              <a:t>s</a:t>
            </a:r>
            <a:r>
              <a:rPr lang="es-ES" sz="1600" dirty="0" smtClean="0">
                <a:solidFill>
                  <a:schemeClr val="tx1"/>
                </a:solidFill>
                <a:latin typeface="Söhne"/>
              </a:rPr>
              <a:t> </a:t>
            </a:r>
            <a:r>
              <a:rPr lang="es-ES" sz="1600" dirty="0">
                <a:solidFill>
                  <a:schemeClr val="tx1"/>
                </a:solidFill>
                <a:latin typeface="Söhne"/>
              </a:rPr>
              <a:t>y otra para los coeficientes de </a:t>
            </a:r>
            <a:r>
              <a:rPr lang="es-ES" sz="1600" dirty="0" smtClean="0">
                <a:solidFill>
                  <a:schemeClr val="tx1"/>
                </a:solidFill>
                <a:latin typeface="Söhne"/>
              </a:rPr>
              <a:t>s0</a:t>
            </a:r>
          </a:p>
          <a:p>
            <a:pPr algn="l"/>
            <a:endParaRPr lang="es-ES" sz="1600" dirty="0" smtClean="0">
              <a:solidFill>
                <a:schemeClr val="tx1"/>
              </a:solidFill>
              <a:latin typeface="Söhne"/>
            </a:endParaRPr>
          </a:p>
          <a:p>
            <a:pPr algn="l"/>
            <a:r>
              <a:rPr lang="es-ES" sz="1600" dirty="0">
                <a:solidFill>
                  <a:schemeClr val="tx1"/>
                </a:solidFill>
                <a:latin typeface="Söhne"/>
              </a:rPr>
              <a:t>Para determinar la estabilidad, necesitamos asegurarnos de que todos los coeficientes en la fila de </a:t>
            </a:r>
            <a:r>
              <a:rPr lang="es-ES" sz="1600" i="1" dirty="0" smtClean="0">
                <a:solidFill>
                  <a:schemeClr val="tx1"/>
                </a:solidFill>
                <a:latin typeface="KaTeX_Math"/>
              </a:rPr>
              <a:t>s</a:t>
            </a:r>
            <a:r>
              <a:rPr lang="es-ES" sz="1600" dirty="0" smtClean="0">
                <a:solidFill>
                  <a:schemeClr val="tx1"/>
                </a:solidFill>
                <a:latin typeface="KaTeX_Main"/>
              </a:rPr>
              <a:t>1</a:t>
            </a:r>
            <a:r>
              <a:rPr lang="es-ES" sz="1600" dirty="0" smtClean="0">
                <a:solidFill>
                  <a:schemeClr val="tx1"/>
                </a:solidFill>
                <a:latin typeface="Söhne"/>
              </a:rPr>
              <a:t> </a:t>
            </a:r>
            <a:r>
              <a:rPr lang="es-ES" sz="1600" dirty="0">
                <a:solidFill>
                  <a:schemeClr val="tx1"/>
                </a:solidFill>
                <a:latin typeface="Söhne"/>
              </a:rPr>
              <a:t>sean positivos. En este caso, el coeficiente es </a:t>
            </a:r>
            <a:r>
              <a:rPr lang="es-ES" sz="1600" dirty="0">
                <a:solidFill>
                  <a:schemeClr val="tx1"/>
                </a:solidFill>
                <a:latin typeface="KaTeX_Main"/>
              </a:rPr>
              <a:t>11</a:t>
            </a:r>
            <a:r>
              <a:rPr lang="es-ES" sz="1600" dirty="0">
                <a:solidFill>
                  <a:schemeClr val="tx1"/>
                </a:solidFill>
                <a:latin typeface="Söhne"/>
              </a:rPr>
              <a:t>, que es positivo. Por lo tanto, el sistema es estable de acuerdo con el criterio de </a:t>
            </a:r>
            <a:r>
              <a:rPr lang="es-ES" sz="1600" dirty="0" err="1">
                <a:solidFill>
                  <a:schemeClr val="tx1"/>
                </a:solidFill>
                <a:latin typeface="Söhne"/>
              </a:rPr>
              <a:t>Routh-Hurwitz</a:t>
            </a:r>
            <a:r>
              <a:rPr lang="es-ES" sz="1600" dirty="0">
                <a:solidFill>
                  <a:schemeClr val="tx1"/>
                </a:solidFill>
                <a:latin typeface="Söhne"/>
              </a:rPr>
              <a:t>.</a:t>
            </a:r>
            <a:endParaRPr lang="es-E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6 Tabla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14296799"/>
                  </p:ext>
                </p:extLst>
              </p:nvPr>
            </p:nvGraphicFramePr>
            <p:xfrm>
              <a:off x="8311661" y="4958861"/>
              <a:ext cx="2012462" cy="108393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06231"/>
                    <a:gridCol w="1006231"/>
                  </a:tblGrid>
                  <a:tr h="47706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" i="1" smtClean="0"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ES" b="1" i="1" smtClean="0">
                                        <a:latin typeface="Cambria Math"/>
                                      </a:rPr>
                                      <m:t>𝒔</m:t>
                                    </m:r>
                                  </m:e>
                                  <m:sup>
                                    <m:r>
                                      <a:rPr lang="es-ES" b="1" i="1" smtClean="0">
                                        <a:latin typeface="Cambria Math"/>
                                      </a:rPr>
                                      <m:t>𝟏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E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 smtClean="0"/>
                            <a:t>1</a:t>
                          </a:r>
                          <a:endParaRPr lang="es-ES" dirty="0"/>
                        </a:p>
                      </a:txBody>
                      <a:tcPr/>
                    </a:tc>
                  </a:tr>
                  <a:tr h="53112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" i="1" smtClean="0"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ES" b="1" i="1" smtClean="0">
                                        <a:latin typeface="Cambria Math"/>
                                      </a:rPr>
                                      <m:t>𝒔</m:t>
                                    </m:r>
                                  </m:e>
                                  <m:sup>
                                    <m:r>
                                      <a:rPr lang="es-ES" b="1" i="1" smtClean="0">
                                        <a:latin typeface="Cambria Math"/>
                                      </a:rPr>
                                      <m:t>𝟏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E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s-ES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ES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s-ES" b="0" i="1" smtClean="0">
                                        <a:latin typeface="Cambria Math"/>
                                      </a:rPr>
                                      <m:t>291.85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s-E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6 Tabla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14296799"/>
                  </p:ext>
                </p:extLst>
              </p:nvPr>
            </p:nvGraphicFramePr>
            <p:xfrm>
              <a:off x="8311661" y="4958861"/>
              <a:ext cx="2012462" cy="108393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06231"/>
                    <a:gridCol w="1006231"/>
                  </a:tblGrid>
                  <a:tr h="477064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t="-6410" r="-99398" b="-1294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 smtClean="0"/>
                            <a:t>1</a:t>
                          </a:r>
                          <a:endParaRPr lang="es-ES" dirty="0"/>
                        </a:p>
                      </a:txBody>
                      <a:tcPr/>
                    </a:tc>
                  </a:tr>
                  <a:tr h="606870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t="-83000" r="-99398" b="-1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00606" t="-83000" b="-100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74417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34332" y="297798"/>
            <a:ext cx="4486656" cy="745392"/>
          </a:xfrm>
        </p:spPr>
        <p:txBody>
          <a:bodyPr/>
          <a:lstStyle/>
          <a:p>
            <a:r>
              <a:rPr lang="es-ES" dirty="0" smtClean="0"/>
              <a:t>Espacio de estados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2 Marcador de contenido"/>
              <p:cNvSpPr>
                <a:spLocks noGrp="1"/>
              </p:cNvSpPr>
              <p:nvPr>
                <p:ph idx="1"/>
              </p:nvPr>
            </p:nvSpPr>
            <p:spPr>
              <a:xfrm>
                <a:off x="6736080" y="1339402"/>
                <a:ext cx="4815840" cy="528033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s-ES" i="1" dirty="0" smtClean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s-ES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s-ES" i="1">
                              <a:latin typeface="Cambria Math"/>
                            </a:rPr>
                            <m:t>𝑥</m:t>
                          </m:r>
                        </m:e>
                      </m:acc>
                      <m:r>
                        <a:rPr lang="es-ES" i="1">
                          <a:latin typeface="Cambria Math"/>
                        </a:rPr>
                        <m:t>=</m:t>
                      </m:r>
                      <m:r>
                        <a:rPr lang="es-ES" b="0" i="1" smtClean="0">
                          <a:latin typeface="Cambria Math"/>
                        </a:rPr>
                        <m:t>𝐴</m:t>
                      </m:r>
                      <m:r>
                        <a:rPr lang="es-ES" i="1">
                          <a:latin typeface="Cambria Math"/>
                        </a:rPr>
                        <m:t>𝑥</m:t>
                      </m:r>
                      <m:r>
                        <a:rPr lang="es-ES" i="1">
                          <a:latin typeface="Cambria Math"/>
                        </a:rPr>
                        <m:t>+</m:t>
                      </m:r>
                      <m:r>
                        <a:rPr lang="es-ES" b="0" i="1" smtClean="0">
                          <a:latin typeface="Cambria Math"/>
                        </a:rPr>
                        <m:t>𝐵</m:t>
                      </m:r>
                      <m:r>
                        <a:rPr lang="es-ES" i="1">
                          <a:latin typeface="Cambria Math"/>
                        </a:rPr>
                        <m:t>𝑢</m:t>
                      </m:r>
                    </m:oMath>
                  </m:oMathPara>
                </a14:m>
                <a:endParaRPr lang="es-ES" i="1" dirty="0" smtClean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/>
                        </a:rPr>
                        <m:t>𝑦</m:t>
                      </m:r>
                      <m:r>
                        <a:rPr lang="es-ES" i="1">
                          <a:latin typeface="Cambria Math"/>
                        </a:rPr>
                        <m:t>=</m:t>
                      </m:r>
                      <m:r>
                        <a:rPr lang="es-ES" i="1">
                          <a:latin typeface="Cambria Math"/>
                        </a:rPr>
                        <m:t>𝐶𝑥</m:t>
                      </m:r>
                      <m:r>
                        <a:rPr lang="es-ES" i="1">
                          <a:latin typeface="Cambria Math"/>
                        </a:rPr>
                        <m:t>+</m:t>
                      </m:r>
                      <m:r>
                        <a:rPr lang="es-ES" i="1">
                          <a:latin typeface="Cambria Math"/>
                        </a:rPr>
                        <m:t>𝐷𝑢</m:t>
                      </m:r>
                    </m:oMath>
                  </m:oMathPara>
                </a14:m>
                <a:endParaRPr lang="es-ES" dirty="0"/>
              </a:p>
              <a:p>
                <a:pPr marL="0" indent="0">
                  <a:buNone/>
                </a:pPr>
                <a:endParaRPr lang="es-ES" i="1" dirty="0" smtClean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>
                          <a:latin typeface="Cambria Math"/>
                        </a:rPr>
                        <m:t>𝐴</m:t>
                      </m:r>
                      <m:r>
                        <a:rPr lang="es-ES" i="1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ES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ES" i="1">
                              <a:latin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s-ES" i="1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ES" i="1">
                                  <a:latin typeface="Cambria Math"/>
                                </a:rPr>
                                <m:t>𝑇</m:t>
                              </m:r>
                            </m:den>
                          </m:f>
                        </m:e>
                      </m:d>
                      <m:r>
                        <a:rPr lang="es-ES" i="1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ES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ES" i="1">
                              <a:latin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s-ES" i="1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ES" b="0" i="1" smtClean="0">
                                  <a:latin typeface="Cambria Math"/>
                                </a:rPr>
                                <m:t>291.85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s-ES" i="1" dirty="0" smtClean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/>
                        </a:rPr>
                        <m:t>𝐵</m:t>
                      </m:r>
                      <m:r>
                        <a:rPr lang="es-ES" i="1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ES" i="1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s-ES" b="0" i="1" smtClean="0">
                                  <a:latin typeface="Cambria Math"/>
                                </a:rPr>
                                <m:t>𝐾</m:t>
                              </m:r>
                            </m:num>
                            <m:den>
                              <m:r>
                                <a:rPr lang="es-ES" i="1">
                                  <a:latin typeface="Cambria Math"/>
                                </a:rPr>
                                <m:t>𝑇</m:t>
                              </m:r>
                            </m:den>
                          </m:f>
                        </m:e>
                      </m:d>
                      <m:r>
                        <a:rPr lang="es-ES" i="1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ES" i="1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s-ES" b="0" i="1" smtClean="0">
                                  <a:latin typeface="Cambria Math"/>
                                </a:rPr>
                                <m:t>0.9585</m:t>
                              </m:r>
                            </m:num>
                            <m:den>
                              <m:r>
                                <a:rPr lang="es-ES" b="0" i="1" smtClean="0">
                                  <a:latin typeface="Cambria Math"/>
                                </a:rPr>
                                <m:t>291.85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s-ES" i="1" dirty="0" smtClean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/>
                        </a:rPr>
                        <m:t>𝐶</m:t>
                      </m:r>
                      <m:r>
                        <a:rPr lang="es-ES" i="1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ES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latin typeface="Cambria Math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s-ES" i="1" dirty="0" smtClean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/>
                        </a:rPr>
                        <m:t>𝐷</m:t>
                      </m:r>
                      <m:r>
                        <a:rPr lang="es-ES" i="1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ES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latin typeface="Cambria Math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s-ES" dirty="0" smtClean="0"/>
              </a:p>
              <a:p>
                <a:pPr marL="0" indent="0">
                  <a:buNone/>
                </a:pPr>
                <a:endParaRPr lang="es-E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s-ES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s-ES" i="1">
                              <a:latin typeface="Cambria Math"/>
                            </a:rPr>
                            <m:t>𝑥</m:t>
                          </m:r>
                        </m:e>
                      </m:acc>
                      <m:r>
                        <a:rPr lang="es-ES" i="1">
                          <a:latin typeface="Cambria Math"/>
                        </a:rPr>
                        <m:t>=+</m:t>
                      </m:r>
                      <m:d>
                        <m:dPr>
                          <m:begChr m:val="["/>
                          <m:endChr m:val="]"/>
                          <m:ctrlPr>
                            <a:rPr lang="es-ES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ES" i="1">
                              <a:latin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s-ES" i="1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ES" i="1">
                                  <a:latin typeface="Cambria Math"/>
                                </a:rPr>
                                <m:t>291.85</m:t>
                              </m:r>
                            </m:den>
                          </m:f>
                        </m:e>
                      </m:d>
                      <m:r>
                        <a:rPr lang="es-ES" b="0" i="1" smtClean="0">
                          <a:latin typeface="Cambria Math"/>
                        </a:rPr>
                        <m:t>𝑥</m:t>
                      </m:r>
                      <m:r>
                        <a:rPr lang="es-ES" b="0" i="1" smtClean="0">
                          <a:latin typeface="Cambria Math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s-ES" i="1">
                              <a:latin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ES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s-ES" i="1">
                                  <a:latin typeface="Cambria Math"/>
                                </a:rPr>
                                <m:t>0.9585</m:t>
                              </m:r>
                            </m:num>
                            <m:den>
                              <m:r>
                                <a:rPr lang="es-ES" i="1">
                                  <a:latin typeface="Cambria Math"/>
                                </a:rPr>
                                <m:t>291.85</m:t>
                              </m:r>
                            </m:den>
                          </m:f>
                        </m:e>
                      </m:d>
                      <m:r>
                        <a:rPr lang="es-ES" i="1">
                          <a:latin typeface="Cambria Math"/>
                        </a:rPr>
                        <m:t>𝑢</m:t>
                      </m:r>
                    </m:oMath>
                  </m:oMathPara>
                </a14:m>
                <a:endParaRPr lang="es-ES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>
                          <a:latin typeface="Cambria Math"/>
                        </a:rPr>
                        <m:t>𝑦</m:t>
                      </m:r>
                      <m:r>
                        <a:rPr lang="es-ES" i="1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ES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latin typeface="Cambria Math"/>
                            </a:rPr>
                            <m:t>1</m:t>
                          </m:r>
                        </m:e>
                      </m:d>
                      <m:r>
                        <a:rPr lang="es-ES" b="0" i="1" smtClean="0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s-E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s-ES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s-ES" i="1">
                              <a:latin typeface="Cambria Math"/>
                            </a:rPr>
                            <m:t>𝑥</m:t>
                          </m:r>
                        </m:e>
                      </m:acc>
                      <m:r>
                        <a:rPr lang="es-ES" i="1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ES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latin typeface="Cambria Math"/>
                            </a:rPr>
                            <m:t>−0.00342</m:t>
                          </m:r>
                        </m:e>
                      </m:d>
                      <m:r>
                        <a:rPr lang="es-ES" i="1">
                          <a:latin typeface="Cambria Math"/>
                        </a:rPr>
                        <m:t>𝑥</m:t>
                      </m:r>
                      <m:r>
                        <a:rPr lang="es-ES" i="1">
                          <a:latin typeface="Cambria Math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s-ES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latin typeface="Cambria Math"/>
                            </a:rPr>
                            <m:t>0.00328</m:t>
                          </m:r>
                        </m:e>
                      </m:d>
                      <m:r>
                        <a:rPr lang="es-ES" i="1">
                          <a:latin typeface="Cambria Math"/>
                        </a:rPr>
                        <m:t>𝑢</m:t>
                      </m:r>
                    </m:oMath>
                  </m:oMathPara>
                </a14:m>
                <a:endParaRPr lang="es-ES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>
                          <a:latin typeface="Cambria Math"/>
                        </a:rPr>
                        <m:t>𝑦</m:t>
                      </m:r>
                      <m:r>
                        <a:rPr lang="es-ES" i="1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ES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ES" i="1">
                              <a:latin typeface="Cambria Math"/>
                            </a:rPr>
                            <m:t>1</m:t>
                          </m:r>
                        </m:e>
                      </m:d>
                      <m:r>
                        <a:rPr lang="es-ES" i="1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s-ES" dirty="0"/>
              </a:p>
              <a:p>
                <a:pPr marL="0" indent="0">
                  <a:buNone/>
                </a:pPr>
                <a:endParaRPr lang="es-ES" dirty="0"/>
              </a:p>
            </p:txBody>
          </p:sp>
        </mc:Choice>
        <mc:Fallback xmlns="">
          <p:sp>
            <p:nvSpPr>
              <p:cNvPr id="3" name="2 Marcador de contenido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36080" y="1339402"/>
                <a:ext cx="4815840" cy="5280337"/>
              </a:xfr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80305" y="1743075"/>
            <a:ext cx="5924281" cy="4850908"/>
          </a:xfrm>
        </p:spPr>
        <p:txBody>
          <a:bodyPr>
            <a:noAutofit/>
          </a:bodyPr>
          <a:lstStyle/>
          <a:p>
            <a:pPr algn="l"/>
            <a:r>
              <a:rPr lang="es-E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Las matrices de espacio de estados correspondientes son</a:t>
            </a:r>
            <a:r>
              <a:rPr lang="es-E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l"/>
            <a:endParaRPr lang="es-ES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lang="es-ES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lang="es-ES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s-E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Estas matrices representan el sistema en el espacio de estados. La ecuación de espacio de estados correspondiente es</a:t>
            </a:r>
            <a:r>
              <a:rPr lang="es-E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l"/>
            <a:endParaRPr lang="es-ES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lang="es-ES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lang="es-ES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s-E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Donde </a:t>
            </a:r>
            <a:r>
              <a:rPr lang="es-ES" sz="1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s-E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s-E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es el vector de estado, </a:t>
            </a:r>
            <a:r>
              <a:rPr lang="es-ES" sz="18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s-E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s-E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es el vector de entrada, y </a:t>
            </a:r>
            <a:r>
              <a:rPr lang="es-ES" sz="1800" i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s-E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s-E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es el vector de salida del sistema</a:t>
            </a:r>
            <a:r>
              <a:rPr lang="es-ES" sz="1800" dirty="0">
                <a:solidFill>
                  <a:schemeClr val="tx1"/>
                </a:solidFill>
                <a:latin typeface="Söhne"/>
              </a:rPr>
              <a:t>.</a:t>
            </a:r>
            <a:endParaRPr lang="es-E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3946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34332" y="297797"/>
            <a:ext cx="4486656" cy="771149"/>
          </a:xfrm>
        </p:spPr>
        <p:txBody>
          <a:bodyPr>
            <a:normAutofit fontScale="90000"/>
          </a:bodyPr>
          <a:lstStyle/>
          <a:p>
            <a:r>
              <a:rPr lang="es-ES" dirty="0" err="1" smtClean="0"/>
              <a:t>Controlabilidad</a:t>
            </a:r>
            <a:r>
              <a:rPr lang="es-ES" dirty="0" smtClean="0"/>
              <a:t> y </a:t>
            </a:r>
            <a:r>
              <a:rPr lang="es-ES" dirty="0" err="1" smtClean="0"/>
              <a:t>observebilidad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2 Marcador de contenido"/>
              <p:cNvSpPr>
                <a:spLocks noGrp="1"/>
              </p:cNvSpPr>
              <p:nvPr>
                <p:ph idx="1"/>
              </p:nvPr>
            </p:nvSpPr>
            <p:spPr>
              <a:xfrm>
                <a:off x="6736080" y="1081824"/>
                <a:ext cx="4815840" cy="515155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s-ES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s-ES" i="1">
                              <a:latin typeface="Cambria Math"/>
                            </a:rPr>
                            <m:t>𝑥</m:t>
                          </m:r>
                        </m:e>
                      </m:acc>
                      <m:r>
                        <a:rPr lang="es-ES" i="1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ES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ES" i="1">
                              <a:latin typeface="Cambria Math"/>
                            </a:rPr>
                            <m:t>−0.00342</m:t>
                          </m:r>
                        </m:e>
                      </m:d>
                      <m:r>
                        <a:rPr lang="es-ES" i="1">
                          <a:latin typeface="Cambria Math"/>
                        </a:rPr>
                        <m:t>𝑥</m:t>
                      </m:r>
                      <m:r>
                        <a:rPr lang="es-ES" i="1">
                          <a:latin typeface="Cambria Math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s-ES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ES" i="1">
                              <a:latin typeface="Cambria Math"/>
                            </a:rPr>
                            <m:t>0.00328</m:t>
                          </m:r>
                        </m:e>
                      </m:d>
                      <m:r>
                        <a:rPr lang="es-ES" i="1">
                          <a:latin typeface="Cambria Math"/>
                        </a:rPr>
                        <m:t>𝑢</m:t>
                      </m:r>
                    </m:oMath>
                  </m:oMathPara>
                </a14:m>
                <a:endParaRPr lang="es-ES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>
                          <a:latin typeface="Cambria Math"/>
                        </a:rPr>
                        <m:t>𝑦</m:t>
                      </m:r>
                      <m:r>
                        <a:rPr lang="es-ES" i="1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ES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ES" i="1">
                              <a:latin typeface="Cambria Math"/>
                            </a:rPr>
                            <m:t>1</m:t>
                          </m:r>
                        </m:e>
                      </m:d>
                      <m:r>
                        <a:rPr lang="es-ES" i="1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s-ES" i="1" dirty="0" smtClean="0">
                  <a:latin typeface="Cambria Math"/>
                </a:endParaRPr>
              </a:p>
              <a:p>
                <a:pPr marL="0" indent="0">
                  <a:buNone/>
                </a:pPr>
                <a:endParaRPr lang="es-ES" i="1" dirty="0">
                  <a:latin typeface="Cambria Math"/>
                </a:endParaRPr>
              </a:p>
              <a:p>
                <a:pPr marL="0" indent="0">
                  <a:buNone/>
                </a:pPr>
                <a:endParaRPr lang="es-ES" i="1" dirty="0" smtClean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/>
                            </a:rPr>
                            <m:t>𝑊</m:t>
                          </m:r>
                        </m:e>
                        <m:sub>
                          <m:r>
                            <a:rPr lang="es-ES" i="1">
                              <a:latin typeface="Cambria Math"/>
                            </a:rPr>
                            <m:t>𝑐</m:t>
                          </m:r>
                        </m:sub>
                      </m:sSub>
                      <m:r>
                        <a:rPr lang="es-ES" i="1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ES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ES" i="1">
                              <a:latin typeface="Cambria Math"/>
                            </a:rPr>
                            <m:t>𝐵</m:t>
                          </m:r>
                          <m:r>
                            <a:rPr lang="es-ES" i="1">
                              <a:latin typeface="Cambria Math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s-ES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>
                          <a:latin typeface="Cambria Math"/>
                        </a:rPr>
                        <m:t>𝐴𝐵</m:t>
                      </m:r>
                      <m:r>
                        <a:rPr lang="es-ES" i="1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ES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ES" i="1">
                              <a:latin typeface="Cambria Math"/>
                            </a:rPr>
                            <m:t>0.003</m:t>
                          </m:r>
                          <m:r>
                            <a:rPr lang="es-ES" b="0" i="1" smtClean="0">
                              <a:latin typeface="Cambria Math"/>
                            </a:rPr>
                            <m:t>28</m:t>
                          </m:r>
                        </m:e>
                      </m:d>
                      <m:r>
                        <a:rPr lang="es-ES" i="1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s-ES" i="1" dirty="0" smtClean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/>
                            </a:rPr>
                            <m:t>𝑊</m:t>
                          </m:r>
                        </m:e>
                        <m:sub>
                          <m:r>
                            <a:rPr lang="es-ES" i="1">
                              <a:latin typeface="Cambria Math"/>
                            </a:rPr>
                            <m:t>𝑐</m:t>
                          </m:r>
                        </m:sub>
                      </m:sSub>
                      <m:r>
                        <a:rPr lang="es-ES" i="1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ES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latin typeface="Cambria Math"/>
                            </a:rPr>
                            <m:t>0.00328    </m:t>
                          </m:r>
                        </m:e>
                      </m:d>
                    </m:oMath>
                  </m:oMathPara>
                </a14:m>
                <a:endParaRPr lang="es-ES" i="1" dirty="0">
                  <a:latin typeface="Cambria Math"/>
                </a:endParaRPr>
              </a:p>
              <a:p>
                <a:pPr marL="0" indent="0">
                  <a:buNone/>
                </a:pPr>
                <a:r>
                  <a:rPr lang="es-ES" i="1" dirty="0" smtClean="0">
                    <a:latin typeface="Cambria Math"/>
                  </a:rPr>
                  <a:t> Wc≠0</a:t>
                </a:r>
              </a:p>
              <a:p>
                <a:pPr marL="0" indent="0">
                  <a:buNone/>
                </a:pPr>
                <a:endParaRPr lang="es-ES" i="1" dirty="0">
                  <a:latin typeface="Cambria Math"/>
                </a:endParaRPr>
              </a:p>
              <a:p>
                <a:pPr marL="0" indent="0">
                  <a:buNone/>
                </a:pPr>
                <a:endParaRPr lang="es-ES" i="1" dirty="0" smtClean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/>
                            </a:rPr>
                            <m:t>𝑊</m:t>
                          </m:r>
                        </m:e>
                        <m:sub>
                          <m:r>
                            <a:rPr lang="es-ES" i="1">
                              <a:latin typeface="Cambria Math"/>
                            </a:rPr>
                            <m:t>𝑜</m:t>
                          </m:r>
                        </m:sub>
                      </m:sSub>
                      <m:r>
                        <a:rPr lang="es-ES" i="1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ES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latin typeface="Cambria Math"/>
                            </a:rPr>
                            <m:t>𝐶</m:t>
                          </m:r>
                        </m:e>
                      </m:d>
                    </m:oMath>
                  </m:oMathPara>
                </a14:m>
                <a:endParaRPr lang="es-ES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/>
                            </a:rPr>
                            <m:t>𝑊</m:t>
                          </m:r>
                        </m:e>
                        <m:sub>
                          <m:r>
                            <a:rPr lang="es-ES" i="1">
                              <a:latin typeface="Cambria Math"/>
                            </a:rPr>
                            <m:t>𝑜</m:t>
                          </m:r>
                        </m:sub>
                      </m:sSub>
                      <m:r>
                        <a:rPr lang="es-ES" i="1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ES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latin typeface="Cambria Math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s-ES" i="1" dirty="0">
                  <a:latin typeface="Cambria Math"/>
                </a:endParaRPr>
              </a:p>
              <a:p>
                <a:pPr marL="0" indent="0">
                  <a:buNone/>
                </a:pPr>
                <a:r>
                  <a:rPr lang="es-ES" i="1" dirty="0" smtClean="0">
                    <a:latin typeface="Cambria Math"/>
                  </a:rPr>
                  <a:t>Wo≠</a:t>
                </a:r>
                <a:r>
                  <a:rPr lang="es-ES" i="1" dirty="0">
                    <a:latin typeface="Cambria Math"/>
                  </a:rPr>
                  <a:t>0</a:t>
                </a:r>
              </a:p>
              <a:p>
                <a:pPr marL="0" indent="0">
                  <a:buNone/>
                </a:pPr>
                <a:endParaRPr lang="es-ES" dirty="0"/>
              </a:p>
              <a:p>
                <a:pPr marL="0" indent="0">
                  <a:buNone/>
                </a:pPr>
                <a:endParaRPr lang="es-ES" i="1" dirty="0" smtClean="0">
                  <a:latin typeface="Cambria Math"/>
                </a:endParaRPr>
              </a:p>
              <a:p>
                <a:pPr marL="0" indent="0">
                  <a:buNone/>
                </a:pPr>
                <a:endParaRPr lang="es-ES" dirty="0" smtClean="0"/>
              </a:p>
              <a:p>
                <a:pPr marL="0" indent="0">
                  <a:buNone/>
                </a:pPr>
                <a:endParaRPr lang="es-ES" dirty="0"/>
              </a:p>
            </p:txBody>
          </p:sp>
        </mc:Choice>
        <mc:Fallback xmlns="">
          <p:sp>
            <p:nvSpPr>
              <p:cNvPr id="3" name="2 Marcador de contenido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36080" y="1081824"/>
                <a:ext cx="4815840" cy="5151551"/>
              </a:xfrm>
              <a:blipFill rotWithShape="1">
                <a:blip r:embed="rId2"/>
                <a:stretch>
                  <a:fillRect l="-113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80305" y="1493949"/>
            <a:ext cx="5924281" cy="5100034"/>
          </a:xfrm>
        </p:spPr>
        <p:txBody>
          <a:bodyPr>
            <a:normAutofit/>
          </a:bodyPr>
          <a:lstStyle/>
          <a:p>
            <a:pPr algn="l"/>
            <a:r>
              <a:rPr lang="es-ES" sz="1800" b="1" dirty="0" smtClean="0">
                <a:solidFill>
                  <a:schemeClr val="tx1"/>
                </a:solidFill>
              </a:rPr>
              <a:t>De las siguiente matriz de espacio de estados</a:t>
            </a:r>
            <a:endParaRPr lang="es-ES" sz="1800" b="1" dirty="0">
              <a:solidFill>
                <a:schemeClr val="tx1"/>
              </a:solidFill>
            </a:endParaRPr>
          </a:p>
          <a:p>
            <a:pPr algn="l"/>
            <a:endParaRPr lang="es-ES" sz="1800" b="1" dirty="0" smtClean="0">
              <a:solidFill>
                <a:schemeClr val="tx1"/>
              </a:solidFill>
            </a:endParaRPr>
          </a:p>
          <a:p>
            <a:pPr algn="l"/>
            <a:endParaRPr lang="es-ES" sz="1800" b="1" dirty="0" smtClean="0">
              <a:solidFill>
                <a:schemeClr val="tx1"/>
              </a:solidFill>
            </a:endParaRPr>
          </a:p>
          <a:p>
            <a:pPr algn="l"/>
            <a:r>
              <a:rPr lang="es-ES" sz="1800" b="1" dirty="0" err="1">
                <a:solidFill>
                  <a:schemeClr val="tx1"/>
                </a:solidFill>
                <a:latin typeface="Söhne"/>
              </a:rPr>
              <a:t>Controlabilidad</a:t>
            </a:r>
            <a:r>
              <a:rPr lang="es-ES" sz="1800" b="1" dirty="0">
                <a:solidFill>
                  <a:schemeClr val="tx1"/>
                </a:solidFill>
                <a:latin typeface="Söhne"/>
              </a:rPr>
              <a:t>:</a:t>
            </a:r>
            <a:r>
              <a:rPr lang="es-ES" sz="1800" dirty="0">
                <a:solidFill>
                  <a:schemeClr val="tx1"/>
                </a:solidFill>
                <a:latin typeface="Söhne"/>
              </a:rPr>
              <a:t> El sistema es controlable si y solo si la matriz de </a:t>
            </a:r>
            <a:r>
              <a:rPr lang="es-ES" sz="1800" dirty="0" err="1">
                <a:solidFill>
                  <a:schemeClr val="tx1"/>
                </a:solidFill>
                <a:latin typeface="Söhne"/>
              </a:rPr>
              <a:t>controlabilidad</a:t>
            </a:r>
            <a:r>
              <a:rPr lang="es-ES" sz="1800" dirty="0">
                <a:solidFill>
                  <a:schemeClr val="tx1"/>
                </a:solidFill>
                <a:latin typeface="Söhne"/>
              </a:rPr>
              <a:t> </a:t>
            </a:r>
            <a:r>
              <a:rPr lang="es-ES" sz="1800" dirty="0" smtClean="0">
                <a:solidFill>
                  <a:schemeClr val="tx1"/>
                </a:solidFill>
                <a:latin typeface="Söhne"/>
              </a:rPr>
              <a:t>(</a:t>
            </a:r>
            <a:r>
              <a:rPr lang="es-ES" sz="1800" i="1" dirty="0" err="1" smtClean="0">
                <a:solidFill>
                  <a:schemeClr val="tx1"/>
                </a:solidFill>
                <a:latin typeface="KaTeX_Math"/>
              </a:rPr>
              <a:t>Wc</a:t>
            </a:r>
            <a:r>
              <a:rPr lang="es-ES" sz="1800" dirty="0">
                <a:solidFill>
                  <a:schemeClr val="tx1"/>
                </a:solidFill>
                <a:latin typeface="KaTeX_Main"/>
              </a:rPr>
              <a:t>​</a:t>
            </a:r>
            <a:r>
              <a:rPr lang="es-ES" sz="1800" dirty="0">
                <a:solidFill>
                  <a:schemeClr val="tx1"/>
                </a:solidFill>
                <a:latin typeface="Söhne"/>
              </a:rPr>
              <a:t>) tiene rango completo. En este caso, la matriz </a:t>
            </a:r>
            <a:r>
              <a:rPr lang="es-ES" sz="1800" i="1" dirty="0" err="1" smtClean="0">
                <a:solidFill>
                  <a:schemeClr val="tx1"/>
                </a:solidFill>
                <a:latin typeface="KaTeX_Math"/>
              </a:rPr>
              <a:t>Wc</a:t>
            </a:r>
            <a:r>
              <a:rPr lang="es-ES" sz="1800" dirty="0">
                <a:solidFill>
                  <a:schemeClr val="tx1"/>
                </a:solidFill>
                <a:latin typeface="KaTeX_Main"/>
              </a:rPr>
              <a:t>​</a:t>
            </a:r>
            <a:r>
              <a:rPr lang="es-ES" sz="1800" dirty="0">
                <a:solidFill>
                  <a:schemeClr val="tx1"/>
                </a:solidFill>
                <a:latin typeface="Söhne"/>
              </a:rPr>
              <a:t> </a:t>
            </a:r>
            <a:r>
              <a:rPr lang="es-ES" sz="1800" dirty="0" smtClean="0">
                <a:solidFill>
                  <a:schemeClr val="tx1"/>
                </a:solidFill>
                <a:latin typeface="Söhne"/>
              </a:rPr>
              <a:t>linealmente </a:t>
            </a:r>
            <a:r>
              <a:rPr lang="es-ES" sz="1800" dirty="0">
                <a:solidFill>
                  <a:schemeClr val="tx1"/>
                </a:solidFill>
                <a:latin typeface="Söhne"/>
              </a:rPr>
              <a:t>independientes, lo que significa que el sistema es controlable</a:t>
            </a:r>
            <a:r>
              <a:rPr lang="es-ES" sz="1800" dirty="0" smtClean="0">
                <a:solidFill>
                  <a:schemeClr val="tx1"/>
                </a:solidFill>
                <a:latin typeface="Söhne"/>
              </a:rPr>
              <a:t>.</a:t>
            </a:r>
          </a:p>
          <a:p>
            <a:pPr algn="l"/>
            <a:endParaRPr lang="es-ES" sz="1800" dirty="0">
              <a:solidFill>
                <a:schemeClr val="tx1"/>
              </a:solidFill>
              <a:latin typeface="Söhne"/>
            </a:endParaRPr>
          </a:p>
          <a:p>
            <a:pPr algn="l"/>
            <a:r>
              <a:rPr lang="es-ES" sz="1800" b="1" dirty="0" err="1">
                <a:solidFill>
                  <a:schemeClr val="tx1"/>
                </a:solidFill>
                <a:latin typeface="Söhne"/>
              </a:rPr>
              <a:t>Observabilidad</a:t>
            </a:r>
            <a:r>
              <a:rPr lang="es-ES" sz="1800" b="1" dirty="0">
                <a:solidFill>
                  <a:schemeClr val="tx1"/>
                </a:solidFill>
                <a:latin typeface="Söhne"/>
              </a:rPr>
              <a:t>:</a:t>
            </a:r>
            <a:r>
              <a:rPr lang="es-ES" sz="1800" dirty="0">
                <a:solidFill>
                  <a:schemeClr val="tx1"/>
                </a:solidFill>
                <a:latin typeface="Söhne"/>
              </a:rPr>
              <a:t> El sistema es observable si y solo si la matriz de </a:t>
            </a:r>
            <a:r>
              <a:rPr lang="es-ES" sz="1800" dirty="0" err="1">
                <a:solidFill>
                  <a:schemeClr val="tx1"/>
                </a:solidFill>
                <a:latin typeface="Söhne"/>
              </a:rPr>
              <a:t>observabilidad</a:t>
            </a:r>
            <a:r>
              <a:rPr lang="es-ES" sz="1800" dirty="0">
                <a:solidFill>
                  <a:schemeClr val="tx1"/>
                </a:solidFill>
                <a:latin typeface="Söhne"/>
              </a:rPr>
              <a:t> </a:t>
            </a:r>
            <a:r>
              <a:rPr lang="es-ES" sz="1800" dirty="0" smtClean="0">
                <a:solidFill>
                  <a:schemeClr val="tx1"/>
                </a:solidFill>
                <a:latin typeface="Söhne"/>
              </a:rPr>
              <a:t>(</a:t>
            </a:r>
            <a:r>
              <a:rPr lang="es-ES" sz="1800" i="1" dirty="0" err="1" smtClean="0">
                <a:solidFill>
                  <a:schemeClr val="tx1"/>
                </a:solidFill>
                <a:latin typeface="KaTeX_Math"/>
              </a:rPr>
              <a:t>Wo</a:t>
            </a:r>
            <a:r>
              <a:rPr lang="es-ES" sz="1800" dirty="0">
                <a:solidFill>
                  <a:schemeClr val="tx1"/>
                </a:solidFill>
                <a:latin typeface="KaTeX_Main"/>
              </a:rPr>
              <a:t>​</a:t>
            </a:r>
            <a:r>
              <a:rPr lang="es-ES" sz="1800" dirty="0">
                <a:solidFill>
                  <a:schemeClr val="tx1"/>
                </a:solidFill>
                <a:latin typeface="Söhne"/>
              </a:rPr>
              <a:t>) tiene rango completo. En este caso, la matriz </a:t>
            </a:r>
            <a:r>
              <a:rPr lang="es-ES" sz="1800" i="1" dirty="0" err="1" smtClean="0">
                <a:solidFill>
                  <a:schemeClr val="tx1"/>
                </a:solidFill>
                <a:latin typeface="KaTeX_Math"/>
              </a:rPr>
              <a:t>Wo</a:t>
            </a:r>
            <a:r>
              <a:rPr lang="es-ES" sz="1800" dirty="0">
                <a:solidFill>
                  <a:schemeClr val="tx1"/>
                </a:solidFill>
                <a:latin typeface="KaTeX_Main"/>
              </a:rPr>
              <a:t>​</a:t>
            </a:r>
            <a:r>
              <a:rPr lang="es-ES" sz="1800" dirty="0">
                <a:solidFill>
                  <a:schemeClr val="tx1"/>
                </a:solidFill>
                <a:latin typeface="Söhne"/>
              </a:rPr>
              <a:t> </a:t>
            </a:r>
            <a:r>
              <a:rPr lang="es-ES" sz="1800" dirty="0" smtClean="0">
                <a:solidFill>
                  <a:schemeClr val="tx1"/>
                </a:solidFill>
                <a:latin typeface="Söhne"/>
              </a:rPr>
              <a:t>linealmente </a:t>
            </a:r>
            <a:r>
              <a:rPr lang="es-ES" sz="1800" dirty="0">
                <a:solidFill>
                  <a:schemeClr val="tx1"/>
                </a:solidFill>
                <a:latin typeface="Söhne"/>
              </a:rPr>
              <a:t>independientes, lo que significa que el sistema es observable.</a:t>
            </a:r>
          </a:p>
          <a:p>
            <a:pPr algn="l"/>
            <a:r>
              <a:rPr lang="es-ES" sz="2000" dirty="0" smtClean="0">
                <a:solidFill>
                  <a:schemeClr val="tx1"/>
                </a:solidFill>
                <a:latin typeface="Söhne"/>
              </a:rPr>
              <a:t>.</a:t>
            </a:r>
            <a:endParaRPr lang="es-E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3946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34332" y="297797"/>
            <a:ext cx="4486656" cy="771149"/>
          </a:xfrm>
        </p:spPr>
        <p:txBody>
          <a:bodyPr>
            <a:normAutofit fontScale="90000"/>
          </a:bodyPr>
          <a:lstStyle/>
          <a:p>
            <a:r>
              <a:rPr lang="es-ES" dirty="0" smtClean="0"/>
              <a:t>CRITERIO DE ESTABILIDAD DE LYPUNOV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2 Marcador de contenido"/>
              <p:cNvSpPr>
                <a:spLocks noGrp="1"/>
              </p:cNvSpPr>
              <p:nvPr>
                <p:ph idx="1"/>
              </p:nvPr>
            </p:nvSpPr>
            <p:spPr>
              <a:xfrm>
                <a:off x="6736080" y="1081824"/>
                <a:ext cx="4815840" cy="515155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s-ES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s-ES" i="1">
                              <a:latin typeface="Cambria Math"/>
                            </a:rPr>
                            <m:t>𝑥</m:t>
                          </m:r>
                        </m:e>
                      </m:acc>
                      <m:r>
                        <a:rPr lang="es-ES" i="1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ES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ES" i="1">
                              <a:latin typeface="Cambria Math"/>
                            </a:rPr>
                            <m:t>−0.00342</m:t>
                          </m:r>
                        </m:e>
                      </m:d>
                      <m:r>
                        <a:rPr lang="es-ES" i="1">
                          <a:latin typeface="Cambria Math"/>
                        </a:rPr>
                        <m:t>𝑥</m:t>
                      </m:r>
                      <m:r>
                        <a:rPr lang="es-ES" i="1">
                          <a:latin typeface="Cambria Math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s-ES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ES" i="1">
                              <a:latin typeface="Cambria Math"/>
                            </a:rPr>
                            <m:t>0.00328</m:t>
                          </m:r>
                        </m:e>
                      </m:d>
                      <m:r>
                        <a:rPr lang="es-ES" i="1">
                          <a:latin typeface="Cambria Math"/>
                        </a:rPr>
                        <m:t>𝑢</m:t>
                      </m:r>
                    </m:oMath>
                  </m:oMathPara>
                </a14:m>
                <a:endParaRPr lang="es-ES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i="1">
                          <a:latin typeface="Cambria Math"/>
                        </a:rPr>
                        <m:t>𝑦</m:t>
                      </m:r>
                      <m:r>
                        <a:rPr lang="es-ES" i="1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ES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ES" i="1">
                              <a:latin typeface="Cambria Math"/>
                            </a:rPr>
                            <m:t>1</m:t>
                          </m:r>
                        </m:e>
                      </m:d>
                      <m:r>
                        <a:rPr lang="es-ES" i="1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s-ES" i="1" dirty="0" smtClean="0">
                  <a:latin typeface="Cambria Math"/>
                </a:endParaRPr>
              </a:p>
              <a:p>
                <a:pPr marL="0" indent="0">
                  <a:buNone/>
                </a:pPr>
                <a:endParaRPr lang="es-ES" i="1" dirty="0">
                  <a:latin typeface="Cambria Math"/>
                </a:endParaRPr>
              </a:p>
              <a:p>
                <a:pPr marL="0" indent="0">
                  <a:buNone/>
                </a:pPr>
                <a:endParaRPr lang="es-ES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s-ES">
                          <a:latin typeface="Cambria Math"/>
                        </a:rPr>
                        <m:t>det</m:t>
                      </m:r>
                      <m:r>
                        <a:rPr lang="es-ES" i="1">
                          <a:latin typeface="Cambria Math"/>
                        </a:rPr>
                        <m:t>⁡(</m:t>
                      </m:r>
                      <m:r>
                        <a:rPr lang="es-ES" i="1">
                          <a:latin typeface="Cambria Math"/>
                        </a:rPr>
                        <m:t>𝐴</m:t>
                      </m:r>
                      <m:r>
                        <a:rPr lang="es-ES" i="1">
                          <a:latin typeface="Cambria Math"/>
                        </a:rPr>
                        <m:t>−</m:t>
                      </m:r>
                      <m:r>
                        <m:rPr>
                          <m:nor/>
                        </m:rPr>
                        <a:rPr lang="el-GR" i="1"/>
                        <m:t>λ</m:t>
                      </m:r>
                      <m:r>
                        <m:rPr>
                          <m:nor/>
                        </m:rPr>
                        <a:rPr lang="es-ES" i="1"/>
                        <m:t>I</m:t>
                      </m:r>
                      <m:r>
                        <a:rPr lang="es-ES" i="1">
                          <a:latin typeface="Cambria Math"/>
                        </a:rPr>
                        <m:t>)=0</m:t>
                      </m:r>
                    </m:oMath>
                  </m:oMathPara>
                </a14:m>
                <a:endParaRPr lang="es-ES" i="1" dirty="0">
                  <a:latin typeface="Cambria Math"/>
                </a:endParaRPr>
              </a:p>
              <a:p>
                <a:pPr marL="0" indent="0">
                  <a:buNone/>
                </a:pPr>
                <a:endParaRPr lang="es-ES" i="1" dirty="0" smtClean="0">
                  <a:latin typeface="Cambria Math"/>
                </a:endParaRPr>
              </a:p>
              <a:p>
                <a:pPr marL="0" indent="0">
                  <a:buNone/>
                </a:pPr>
                <a:endParaRPr lang="es-ES" b="0" i="1" dirty="0" smtClean="0">
                  <a:latin typeface="Cambria Math"/>
                </a:endParaRPr>
              </a:p>
              <a:p>
                <a:pPr marL="0" indent="0">
                  <a:buNone/>
                </a:pPr>
                <a:endParaRPr lang="es-ES" b="0" i="1" dirty="0" smtClean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/>
                        </a:rPr>
                        <m:t>𝐴</m:t>
                      </m:r>
                      <m:r>
                        <a:rPr lang="es-ES" i="1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s-ES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s-ES" b="0" i="1" smtClean="0">
                              <a:latin typeface="Cambria Math"/>
                            </a:rPr>
                            <m:t>−0.00342</m:t>
                          </m:r>
                        </m:e>
                      </m:d>
                    </m:oMath>
                  </m:oMathPara>
                </a14:m>
                <a:endParaRPr lang="es-ES" i="1" dirty="0">
                  <a:latin typeface="Cambria Math"/>
                </a:endParaRPr>
              </a:p>
              <a:p>
                <a:pPr marL="0" indent="0">
                  <a:buNone/>
                </a:pPr>
                <a:endParaRPr lang="es-ES" i="1" dirty="0">
                  <a:latin typeface="Cambria Math"/>
                </a:endParaRPr>
              </a:p>
              <a:p>
                <a:pPr marL="0" indent="0">
                  <a:buNone/>
                </a:pPr>
                <a:r>
                  <a:rPr lang="es-ES" dirty="0" smtClean="0"/>
                  <a:t>Como es real negativo es estable </a:t>
                </a:r>
                <a:endParaRPr lang="es-ES" dirty="0"/>
              </a:p>
              <a:p>
                <a:pPr marL="0" indent="0">
                  <a:buNone/>
                </a:pPr>
                <a:endParaRPr lang="es-ES" i="1" dirty="0" smtClean="0">
                  <a:latin typeface="Cambria Math"/>
                </a:endParaRPr>
              </a:p>
              <a:p>
                <a:pPr marL="0" indent="0">
                  <a:buNone/>
                </a:pPr>
                <a:endParaRPr lang="es-ES" dirty="0" smtClean="0"/>
              </a:p>
              <a:p>
                <a:pPr marL="0" indent="0">
                  <a:buNone/>
                </a:pPr>
                <a:endParaRPr lang="es-ES" dirty="0"/>
              </a:p>
            </p:txBody>
          </p:sp>
        </mc:Choice>
        <mc:Fallback xmlns="">
          <p:sp>
            <p:nvSpPr>
              <p:cNvPr id="3" name="2 Marcador de contenido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36080" y="1081824"/>
                <a:ext cx="4815840" cy="5151551"/>
              </a:xfrm>
              <a:blipFill rotWithShape="1">
                <a:blip r:embed="rId2"/>
                <a:stretch>
                  <a:fillRect l="-113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80305" y="1493949"/>
            <a:ext cx="5924281" cy="5100034"/>
          </a:xfrm>
        </p:spPr>
        <p:txBody>
          <a:bodyPr>
            <a:normAutofit/>
          </a:bodyPr>
          <a:lstStyle/>
          <a:p>
            <a:pPr algn="l"/>
            <a:endParaRPr lang="es-ES" sz="1800" b="1" dirty="0" smtClean="0">
              <a:solidFill>
                <a:schemeClr val="tx1"/>
              </a:solidFill>
            </a:endParaRPr>
          </a:p>
          <a:p>
            <a:pPr algn="l"/>
            <a:r>
              <a:rPr lang="es-ES" sz="1800" b="1" dirty="0" smtClean="0">
                <a:solidFill>
                  <a:schemeClr val="tx1"/>
                </a:solidFill>
                <a:latin typeface="Söhne"/>
              </a:rPr>
              <a:t>Teorema 1: </a:t>
            </a:r>
            <a:r>
              <a:rPr lang="es-ES" sz="1800" dirty="0" smtClean="0">
                <a:solidFill>
                  <a:schemeClr val="tx1"/>
                </a:solidFill>
                <a:latin typeface="Söhne"/>
              </a:rPr>
              <a:t>es estable si y solo si todos los </a:t>
            </a:r>
            <a:r>
              <a:rPr lang="es-ES" sz="1800" dirty="0" err="1" smtClean="0">
                <a:solidFill>
                  <a:schemeClr val="tx1"/>
                </a:solidFill>
                <a:latin typeface="Söhne"/>
              </a:rPr>
              <a:t>autovalores</a:t>
            </a:r>
            <a:r>
              <a:rPr lang="es-ES" sz="1800" dirty="0" smtClean="0">
                <a:solidFill>
                  <a:schemeClr val="tx1"/>
                </a:solidFill>
                <a:latin typeface="Söhne"/>
              </a:rPr>
              <a:t> de A tienen parte real no positiva y aquellos con parte real cero </a:t>
            </a:r>
            <a:r>
              <a:rPr lang="es-ES" sz="1800" dirty="0" err="1" smtClean="0">
                <a:solidFill>
                  <a:schemeClr val="tx1"/>
                </a:solidFill>
                <a:latin typeface="Söhne"/>
              </a:rPr>
              <a:t>estan</a:t>
            </a:r>
            <a:r>
              <a:rPr lang="es-ES" sz="1800" dirty="0" smtClean="0">
                <a:solidFill>
                  <a:schemeClr val="tx1"/>
                </a:solidFill>
                <a:latin typeface="Söhne"/>
              </a:rPr>
              <a:t> asociados a un bloque de </a:t>
            </a:r>
            <a:r>
              <a:rPr lang="es-ES" sz="1800" dirty="0" err="1" smtClean="0">
                <a:solidFill>
                  <a:schemeClr val="tx1"/>
                </a:solidFill>
                <a:latin typeface="Söhne"/>
              </a:rPr>
              <a:t>jordan</a:t>
            </a:r>
            <a:r>
              <a:rPr lang="es-ES" sz="1800" dirty="0" smtClean="0">
                <a:solidFill>
                  <a:schemeClr val="tx1"/>
                </a:solidFill>
                <a:latin typeface="Söhne"/>
              </a:rPr>
              <a:t> de orden 1</a:t>
            </a:r>
            <a:endParaRPr lang="es-ES" sz="1800" dirty="0">
              <a:solidFill>
                <a:schemeClr val="tx1"/>
              </a:solidFill>
              <a:latin typeface="Söhne"/>
            </a:endParaRPr>
          </a:p>
          <a:p>
            <a:pPr algn="l"/>
            <a:endParaRPr lang="es-ES" sz="2000" dirty="0" smtClean="0">
              <a:solidFill>
                <a:schemeClr val="tx1"/>
              </a:solidFill>
              <a:latin typeface="Söhne"/>
            </a:endParaRPr>
          </a:p>
          <a:p>
            <a:pPr algn="l"/>
            <a:r>
              <a:rPr lang="es-ES" sz="2000" dirty="0" err="1" smtClean="0">
                <a:solidFill>
                  <a:schemeClr val="tx1"/>
                </a:solidFill>
                <a:latin typeface="Söhne"/>
              </a:rPr>
              <a:t>Autovalor</a:t>
            </a:r>
            <a:endParaRPr lang="es-ES" sz="2000" dirty="0" smtClean="0">
              <a:solidFill>
                <a:schemeClr val="tx1"/>
              </a:solidFill>
              <a:latin typeface="Söhne"/>
            </a:endParaRPr>
          </a:p>
          <a:p>
            <a:pPr algn="l"/>
            <a:r>
              <a:rPr lang="es-ES" sz="2000" dirty="0">
                <a:solidFill>
                  <a:schemeClr val="tx1"/>
                </a:solidFill>
                <a:latin typeface="Söhne"/>
              </a:rPr>
              <a:t>El </a:t>
            </a:r>
            <a:r>
              <a:rPr lang="es-ES" sz="2000" dirty="0" err="1">
                <a:solidFill>
                  <a:schemeClr val="tx1"/>
                </a:solidFill>
                <a:latin typeface="Söhne"/>
              </a:rPr>
              <a:t>autovalor</a:t>
            </a:r>
            <a:r>
              <a:rPr lang="es-ES" sz="2000" dirty="0">
                <a:solidFill>
                  <a:schemeClr val="tx1"/>
                </a:solidFill>
                <a:latin typeface="Söhne"/>
              </a:rPr>
              <a:t> de esta matriz es simplemente el único elemento en la matriz, </a:t>
            </a:r>
            <a:r>
              <a:rPr lang="es-ES" sz="2000" dirty="0" smtClean="0">
                <a:solidFill>
                  <a:schemeClr val="tx1"/>
                </a:solidFill>
                <a:latin typeface="Söhne"/>
              </a:rPr>
              <a:t>a</a:t>
            </a:r>
            <a:r>
              <a:rPr lang="es-ES" sz="2000" dirty="0">
                <a:solidFill>
                  <a:schemeClr val="tx1"/>
                </a:solidFill>
                <a:latin typeface="Söhne"/>
              </a:rPr>
              <a:t>.</a:t>
            </a:r>
            <a:endParaRPr lang="es-ES" sz="2000" dirty="0" smtClean="0">
              <a:solidFill>
                <a:schemeClr val="tx1"/>
              </a:solidFill>
              <a:latin typeface="Söhne"/>
            </a:endParaRPr>
          </a:p>
          <a:p>
            <a:pPr algn="l"/>
            <a:endParaRPr lang="es-E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704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028944" y="114304"/>
            <a:ext cx="6038440" cy="749530"/>
          </a:xfrm>
        </p:spPr>
        <p:txBody>
          <a:bodyPr>
            <a:normAutofit fontScale="90000"/>
          </a:bodyPr>
          <a:lstStyle/>
          <a:p>
            <a:r>
              <a:rPr lang="es-ES" dirty="0" smtClean="0"/>
              <a:t>Diseño de controlador</a:t>
            </a:r>
            <a:endParaRPr lang="es-ES" dirty="0"/>
          </a:p>
        </p:txBody>
      </p:sp>
      <p:sp>
        <p:nvSpPr>
          <p:cNvPr id="5" name="Google Shape;244;p86"/>
          <p:cNvSpPr txBox="1"/>
          <p:nvPr/>
        </p:nvSpPr>
        <p:spPr>
          <a:xfrm>
            <a:off x="5231409" y="564328"/>
            <a:ext cx="229691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BO" sz="1800" b="1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(Método </a:t>
            </a:r>
            <a:r>
              <a:rPr lang="es-BO" sz="1800" b="1" i="1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truxal</a:t>
            </a:r>
            <a:r>
              <a:rPr lang="es-BO" sz="1800" b="1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42;p86"/>
          <p:cNvSpPr/>
          <p:nvPr/>
        </p:nvSpPr>
        <p:spPr>
          <a:xfrm>
            <a:off x="2021620" y="1489571"/>
            <a:ext cx="2286768" cy="808286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46;p86"/>
          <p:cNvSpPr/>
          <p:nvPr/>
        </p:nvSpPr>
        <p:spPr>
          <a:xfrm>
            <a:off x="7598670" y="1369692"/>
            <a:ext cx="2137419" cy="808286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47;p86"/>
          <p:cNvSpPr txBox="1"/>
          <p:nvPr/>
        </p:nvSpPr>
        <p:spPr>
          <a:xfrm>
            <a:off x="892468" y="933660"/>
            <a:ext cx="485608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BO" sz="1800" b="1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Función de transferencia a lazo abierto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48;p86"/>
          <p:cNvSpPr txBox="1"/>
          <p:nvPr/>
        </p:nvSpPr>
        <p:spPr>
          <a:xfrm>
            <a:off x="4272384" y="2980759"/>
            <a:ext cx="2952328" cy="760144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BO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249;p86"/>
          <p:cNvSpPr/>
          <p:nvPr/>
        </p:nvSpPr>
        <p:spPr>
          <a:xfrm>
            <a:off x="4308388" y="2943190"/>
            <a:ext cx="2880320" cy="808286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" name="Google Shape;250;p86"/>
          <p:cNvCxnSpPr>
            <a:stCxn id="27" idx="2"/>
            <a:endCxn id="30" idx="0"/>
          </p:cNvCxnSpPr>
          <p:nvPr/>
        </p:nvCxnSpPr>
        <p:spPr>
          <a:xfrm flipH="1">
            <a:off x="5748680" y="2177978"/>
            <a:ext cx="2918700" cy="765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2" name="Google Shape;251;p86"/>
          <p:cNvCxnSpPr>
            <a:stCxn id="26" idx="2"/>
            <a:endCxn id="30" idx="0"/>
          </p:cNvCxnSpPr>
          <p:nvPr/>
        </p:nvCxnSpPr>
        <p:spPr>
          <a:xfrm>
            <a:off x="3165004" y="2297857"/>
            <a:ext cx="2583600" cy="645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3" name="Google Shape;254;p86"/>
          <p:cNvSpPr txBox="1"/>
          <p:nvPr/>
        </p:nvSpPr>
        <p:spPr>
          <a:xfrm>
            <a:off x="3986373" y="5637675"/>
            <a:ext cx="2952328" cy="39421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624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BO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255;p86"/>
          <p:cNvSpPr txBox="1"/>
          <p:nvPr/>
        </p:nvSpPr>
        <p:spPr>
          <a:xfrm>
            <a:off x="4903702" y="5662553"/>
            <a:ext cx="2952328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BO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256;p86"/>
          <p:cNvSpPr txBox="1"/>
          <p:nvPr/>
        </p:nvSpPr>
        <p:spPr>
          <a:xfrm>
            <a:off x="7058468" y="941107"/>
            <a:ext cx="35941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BO" sz="1800" b="1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Función de transferencia Objetivo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257;p86"/>
          <p:cNvSpPr/>
          <p:nvPr/>
        </p:nvSpPr>
        <p:spPr>
          <a:xfrm>
            <a:off x="4439082" y="5255324"/>
            <a:ext cx="3002360" cy="885211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259;p86"/>
          <p:cNvSpPr txBox="1"/>
          <p:nvPr/>
        </p:nvSpPr>
        <p:spPr>
          <a:xfrm>
            <a:off x="802971" y="5745380"/>
            <a:ext cx="3073569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BO" sz="1800" b="1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Tiempo de asentamiento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BO" sz="1800" b="1" i="1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ts</a:t>
            </a:r>
            <a:r>
              <a:rPr lang="es-BO" sz="1800" b="1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BO" sz="1800" b="1" i="1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r>
              <a:rPr lang="es-BO" b="1" i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1141.5</a:t>
            </a:r>
            <a:r>
              <a:rPr lang="es-BO" sz="1800" b="1" i="1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s-BO" sz="1800" b="1" i="1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</a:t>
            </a:r>
            <a:r>
              <a:rPr lang="es-BO" sz="1800" b="1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es-BO" b="1" i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19.025</a:t>
            </a:r>
            <a:r>
              <a:rPr lang="es-BO" sz="1800" b="1" i="1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BO" sz="1800" b="1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261;p86"/>
          <p:cNvSpPr txBox="1"/>
          <p:nvPr/>
        </p:nvSpPr>
        <p:spPr>
          <a:xfrm>
            <a:off x="4223306" y="1516071"/>
            <a:ext cx="1824858" cy="6916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BO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262;p86"/>
          <p:cNvSpPr txBox="1"/>
          <p:nvPr/>
        </p:nvSpPr>
        <p:spPr>
          <a:xfrm>
            <a:off x="9740226" y="1372120"/>
            <a:ext cx="1824858" cy="659348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BO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263;p86"/>
          <p:cNvSpPr txBox="1"/>
          <p:nvPr/>
        </p:nvSpPr>
        <p:spPr>
          <a:xfrm>
            <a:off x="4749079" y="6162891"/>
            <a:ext cx="2129632" cy="369332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BO"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42 Rectángulo"/>
              <p:cNvSpPr/>
              <p:nvPr/>
            </p:nvSpPr>
            <p:spPr>
              <a:xfrm>
                <a:off x="2021620" y="1609366"/>
                <a:ext cx="1951816" cy="5050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/>
                            </a:rPr>
                            <m:t>𝐺</m:t>
                          </m:r>
                        </m:e>
                        <m:sub>
                          <m:r>
                            <a:rPr lang="es-ES" b="0" i="1" smtClean="0">
                              <a:latin typeface="Cambria Math"/>
                            </a:rPr>
                            <m:t>`(`</m:t>
                          </m:r>
                          <m:r>
                            <a:rPr lang="es-ES" b="0" i="1" smtClean="0">
                              <a:latin typeface="Cambria Math"/>
                            </a:rPr>
                            <m:t>𝑝</m:t>
                          </m:r>
                          <m:r>
                            <a:rPr lang="es-ES" i="1">
                              <a:latin typeface="Cambria Math"/>
                            </a:rPr>
                            <m:t>)</m:t>
                          </m:r>
                        </m:sub>
                      </m:sSub>
                      <m:r>
                        <a:rPr lang="es-ES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ES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ES" i="1">
                              <a:latin typeface="Cambria Math"/>
                            </a:rPr>
                            <m:t>0.9585</m:t>
                          </m:r>
                        </m:num>
                        <m:den>
                          <m:r>
                            <a:rPr lang="es-ES" i="1">
                              <a:latin typeface="Cambria Math"/>
                            </a:rPr>
                            <m:t>291.85∗</m:t>
                          </m:r>
                          <m:r>
                            <a:rPr lang="es-ES" i="1">
                              <a:latin typeface="Cambria Math"/>
                            </a:rPr>
                            <m:t>𝑠</m:t>
                          </m:r>
                          <m:r>
                            <a:rPr lang="es-ES" i="1">
                              <a:latin typeface="Cambria Math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43" name="42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1620" y="1609366"/>
                <a:ext cx="1951816" cy="505010"/>
              </a:xfrm>
              <a:prstGeom prst="rect">
                <a:avLst/>
              </a:prstGeom>
              <a:blipFill rotWithShape="1">
                <a:blip r:embed="rId10"/>
                <a:stretch>
                  <a:fillRect r="-17188" b="-13253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43 Rectángulo"/>
              <p:cNvSpPr/>
              <p:nvPr/>
            </p:nvSpPr>
            <p:spPr>
              <a:xfrm>
                <a:off x="7598670" y="1489571"/>
                <a:ext cx="1716175" cy="5006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i="1">
                              <a:latin typeface="Cambria Math"/>
                            </a:rPr>
                            <m:t>𝐺</m:t>
                          </m:r>
                        </m:e>
                        <m:sub>
                          <m:r>
                            <a:rPr lang="es-ES" b="0" i="1" smtClean="0">
                              <a:latin typeface="Cambria Math"/>
                            </a:rPr>
                            <m:t>`(`</m:t>
                          </m:r>
                          <m:r>
                            <a:rPr lang="es-ES" b="0" i="1" smtClean="0">
                              <a:latin typeface="Cambria Math"/>
                            </a:rPr>
                            <m:t>𝑝</m:t>
                          </m:r>
                          <m:r>
                            <a:rPr lang="es-ES" i="1">
                              <a:latin typeface="Cambria Math"/>
                            </a:rPr>
                            <m:t>)</m:t>
                          </m:r>
                        </m:sub>
                      </m:sSub>
                      <m:r>
                        <a:rPr lang="es-ES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ES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ES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s-ES" b="0" i="1" smtClean="0">
                              <a:latin typeface="Cambria Math"/>
                            </a:rPr>
                            <m:t>150</m:t>
                          </m:r>
                          <m:r>
                            <a:rPr lang="es-ES" i="1">
                              <a:latin typeface="Cambria Math"/>
                            </a:rPr>
                            <m:t>∗</m:t>
                          </m:r>
                          <m:r>
                            <a:rPr lang="es-ES" i="1">
                              <a:latin typeface="Cambria Math"/>
                            </a:rPr>
                            <m:t>𝑠</m:t>
                          </m:r>
                          <m:r>
                            <a:rPr lang="es-ES" i="1">
                              <a:latin typeface="Cambria Math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s-ES" dirty="0"/>
              </a:p>
            </p:txBody>
          </p:sp>
        </mc:Choice>
        <mc:Fallback xmlns="">
          <p:sp>
            <p:nvSpPr>
              <p:cNvPr id="44" name="43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8670" y="1489571"/>
                <a:ext cx="1716175" cy="500650"/>
              </a:xfrm>
              <a:prstGeom prst="rect">
                <a:avLst/>
              </a:prstGeom>
              <a:blipFill rotWithShape="1">
                <a:blip r:embed="rId11"/>
                <a:stretch>
                  <a:fillRect r="-15658" b="-1341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44 Rectángulo"/>
              <p:cNvSpPr/>
              <p:nvPr/>
            </p:nvSpPr>
            <p:spPr>
              <a:xfrm>
                <a:off x="4772640" y="4236741"/>
                <a:ext cx="2285828" cy="5802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6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sz="1600" i="1">
                              <a:latin typeface="Cambria Math"/>
                            </a:rPr>
                            <m:t>𝐺</m:t>
                          </m:r>
                        </m:e>
                        <m:sub>
                          <m:r>
                            <a:rPr lang="es-ES" sz="1600" b="0" i="1" smtClean="0">
                              <a:latin typeface="Cambria Math"/>
                            </a:rPr>
                            <m:t>(</m:t>
                          </m:r>
                          <m:r>
                            <a:rPr lang="es-ES" sz="1600" b="0" i="1" smtClean="0">
                              <a:latin typeface="Cambria Math"/>
                            </a:rPr>
                            <m:t>𝑐</m:t>
                          </m:r>
                          <m:r>
                            <a:rPr lang="es-ES" sz="1600" i="1">
                              <a:latin typeface="Cambria Math"/>
                            </a:rPr>
                            <m:t>)</m:t>
                          </m:r>
                        </m:sub>
                      </m:sSub>
                      <m:r>
                        <a:rPr lang="es-ES" sz="16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s-ES" sz="16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ES" sz="1600" b="0" i="1" smtClean="0">
                              <a:latin typeface="Cambria Math"/>
                            </a:rPr>
                            <m:t>291.85</m:t>
                          </m:r>
                          <m:r>
                            <a:rPr lang="es-ES" sz="1600" b="0" i="1" smtClean="0">
                              <a:latin typeface="Cambria Math"/>
                            </a:rPr>
                            <m:t>𝑠</m:t>
                          </m:r>
                          <m:r>
                            <a:rPr lang="es-ES" sz="1600" b="0" i="1" smtClean="0">
                              <a:latin typeface="Cambria Math"/>
                            </a:rPr>
                            <m:t>+1</m:t>
                          </m:r>
                        </m:num>
                        <m:den>
                          <m:r>
                            <a:rPr lang="es-ES" sz="1600" b="0" i="1" smtClean="0">
                              <a:latin typeface="Cambria Math"/>
                            </a:rPr>
                            <m:t>143.78</m:t>
                          </m:r>
                          <m:r>
                            <a:rPr lang="es-ES" sz="1600" b="0" i="1" smtClean="0">
                              <a:latin typeface="Cambria Math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endParaRPr lang="es-ES" sz="1600" dirty="0"/>
              </a:p>
            </p:txBody>
          </p:sp>
        </mc:Choice>
        <mc:Fallback xmlns="">
          <p:sp>
            <p:nvSpPr>
              <p:cNvPr id="45" name="44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2640" y="4236741"/>
                <a:ext cx="2285828" cy="580287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Google Shape;259;p86"/>
          <p:cNvSpPr txBox="1"/>
          <p:nvPr/>
        </p:nvSpPr>
        <p:spPr>
          <a:xfrm>
            <a:off x="8598424" y="5745380"/>
            <a:ext cx="2926039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BO" sz="1800" b="1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Tiempo de asentamiento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BO" sz="1800" b="1" i="1" u="none" strike="noStrike" cap="none" dirty="0" err="1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ts</a:t>
            </a:r>
            <a:r>
              <a:rPr lang="es-BO" sz="1800" b="1" i="1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BO" sz="1800" b="1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r>
              <a:rPr lang="es-BO" sz="1800" b="1" i="1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4*ꚍd </a:t>
            </a:r>
            <a:r>
              <a:rPr lang="es-BO" sz="1800" b="1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r>
              <a:rPr lang="es-BO" sz="1800" b="1" i="1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600seg </a:t>
            </a:r>
            <a:r>
              <a:rPr lang="es-BO" sz="1800" b="1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r>
              <a:rPr lang="es-BO" sz="1800" b="1" i="1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lang="es-BO" sz="1800" b="1" i="1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BO" sz="1800" b="1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24 Rectángulo"/>
              <p:cNvSpPr/>
              <p:nvPr/>
            </p:nvSpPr>
            <p:spPr>
              <a:xfrm>
                <a:off x="4483461" y="5255324"/>
                <a:ext cx="2741251" cy="5550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sz="16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s-ES" sz="1600" i="1">
                              <a:latin typeface="Cambria Math"/>
                            </a:rPr>
                            <m:t>𝐺</m:t>
                          </m:r>
                        </m:e>
                        <m:sub>
                          <m:r>
                            <a:rPr lang="es-ES" sz="1600" b="0" i="1" smtClean="0">
                              <a:latin typeface="Cambria Math"/>
                            </a:rPr>
                            <m:t>`(`</m:t>
                          </m:r>
                          <m:r>
                            <a:rPr lang="es-ES" sz="1600" b="0" i="1" smtClean="0">
                              <a:latin typeface="Cambria Math"/>
                            </a:rPr>
                            <m:t>𝑝</m:t>
                          </m:r>
                          <m:r>
                            <a:rPr lang="es-ES" sz="1600" i="1">
                              <a:latin typeface="Cambria Math"/>
                            </a:rPr>
                            <m:t>)</m:t>
                          </m:r>
                        </m:sub>
                      </m:sSub>
                      <m:r>
                        <a:rPr lang="es-ES" sz="1600" i="1">
                          <a:latin typeface="Cambria Math"/>
                        </a:rPr>
                        <m:t>=</m:t>
                      </m:r>
                      <m:r>
                        <a:rPr lang="es-ES" sz="1600" b="0" i="1" smtClean="0">
                          <a:latin typeface="Cambria Math"/>
                        </a:rPr>
                        <m:t>2.0298+0.006955</m:t>
                      </m:r>
                      <m:f>
                        <m:fPr>
                          <m:ctrlPr>
                            <a:rPr lang="es-ES" sz="16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s-ES" sz="16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s-ES" sz="1600" b="0" i="1" smtClean="0">
                              <a:latin typeface="Cambria Math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endParaRPr lang="es-ES" sz="1600" dirty="0"/>
              </a:p>
            </p:txBody>
          </p:sp>
        </mc:Choice>
        <mc:Fallback xmlns="">
          <p:sp>
            <p:nvSpPr>
              <p:cNvPr id="25" name="24 Rectángulo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3461" y="5255324"/>
                <a:ext cx="2741251" cy="555024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751" y="2665507"/>
            <a:ext cx="3425243" cy="2589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 descr="C:\Users\novao\Desktop\DESPUES\WhatsApp Image 2023-10-17 at 09.02.03.jpeg"/>
          <p:cNvPicPr>
            <a:picLocks noChangeAspect="1" noChangeArrowheads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79"/>
          <a:stretch/>
        </p:blipFill>
        <p:spPr bwMode="auto">
          <a:xfrm>
            <a:off x="7358522" y="2665506"/>
            <a:ext cx="4588790" cy="2287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9388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="" xmlns:a16="http://schemas.microsoft.com/office/drawing/2014/main" id="{FC36711C-B5F8-0E89-1113-EBB8A0D569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4805" y="1655725"/>
            <a:ext cx="3933395" cy="4833974"/>
          </a:xfrm>
        </p:spPr>
        <p:txBody>
          <a:bodyPr numCol="1">
            <a:normAutofit/>
          </a:bodyPr>
          <a:lstStyle/>
          <a:p>
            <a:pPr algn="l"/>
            <a:r>
              <a:rPr lang="es-ES" b="1" i="0" dirty="0" smtClean="0">
                <a:solidFill>
                  <a:schemeClr val="bg2"/>
                </a:solidFill>
                <a:effectLst/>
                <a:latin typeface="Söhne"/>
              </a:rPr>
              <a:t>1. Tiempo </a:t>
            </a:r>
            <a:r>
              <a:rPr lang="es-ES" b="1" i="0" dirty="0">
                <a:solidFill>
                  <a:schemeClr val="bg2"/>
                </a:solidFill>
                <a:effectLst/>
                <a:latin typeface="Söhne"/>
              </a:rPr>
              <a:t>de Establecimiento (</a:t>
            </a:r>
            <a:r>
              <a:rPr lang="es-ES" b="1" i="1" dirty="0" err="1">
                <a:solidFill>
                  <a:schemeClr val="bg2"/>
                </a:solidFill>
                <a:effectLst/>
                <a:latin typeface="KaTeX_Math"/>
              </a:rPr>
              <a:t>Ts</a:t>
            </a:r>
            <a:r>
              <a:rPr lang="es-ES" b="1" i="0" dirty="0">
                <a:solidFill>
                  <a:schemeClr val="bg2"/>
                </a:solidFill>
                <a:effectLst/>
                <a:latin typeface="KaTeX_Main"/>
              </a:rPr>
              <a:t>​</a:t>
            </a:r>
            <a:r>
              <a:rPr lang="es-ES" b="1" i="0" dirty="0">
                <a:solidFill>
                  <a:schemeClr val="bg2"/>
                </a:solidFill>
                <a:effectLst/>
                <a:latin typeface="Söhne"/>
              </a:rPr>
              <a:t>): 10 </a:t>
            </a:r>
            <a:r>
              <a:rPr lang="es-ES" b="1" i="0" dirty="0" smtClean="0">
                <a:solidFill>
                  <a:schemeClr val="bg2"/>
                </a:solidFill>
                <a:effectLst/>
                <a:latin typeface="Söhne"/>
              </a:rPr>
              <a:t>min</a:t>
            </a:r>
          </a:p>
          <a:p>
            <a:pPr algn="l"/>
            <a:endParaRPr lang="es-ES" b="1" i="0" dirty="0">
              <a:solidFill>
                <a:schemeClr val="bg2"/>
              </a:solidFill>
              <a:effectLst/>
              <a:latin typeface="Söhne"/>
            </a:endParaRPr>
          </a:p>
          <a:p>
            <a:pPr algn="l"/>
            <a:r>
              <a:rPr lang="es-ES" b="1" i="0" dirty="0">
                <a:solidFill>
                  <a:schemeClr val="bg2"/>
                </a:solidFill>
                <a:effectLst/>
                <a:latin typeface="Söhne"/>
              </a:rPr>
              <a:t>2. Máximo </a:t>
            </a:r>
            <a:r>
              <a:rPr lang="es-ES" b="1" i="0" dirty="0" smtClean="0">
                <a:solidFill>
                  <a:schemeClr val="bg2"/>
                </a:solidFill>
                <a:effectLst/>
                <a:latin typeface="Söhne"/>
              </a:rPr>
              <a:t>Sobre pico </a:t>
            </a:r>
            <a:r>
              <a:rPr lang="es-ES" b="1" i="0" dirty="0">
                <a:solidFill>
                  <a:schemeClr val="bg2"/>
                </a:solidFill>
                <a:effectLst/>
                <a:latin typeface="Söhne"/>
              </a:rPr>
              <a:t>(</a:t>
            </a:r>
            <a:r>
              <a:rPr lang="es-ES" b="1" i="1" dirty="0" err="1">
                <a:solidFill>
                  <a:schemeClr val="bg2"/>
                </a:solidFill>
                <a:effectLst/>
                <a:latin typeface="KaTeX_Math"/>
              </a:rPr>
              <a:t>Mp</a:t>
            </a:r>
            <a:r>
              <a:rPr lang="es-ES" b="1" i="0" dirty="0">
                <a:solidFill>
                  <a:schemeClr val="bg2"/>
                </a:solidFill>
                <a:effectLst/>
                <a:latin typeface="KaTeX_Main"/>
              </a:rPr>
              <a:t>​</a:t>
            </a:r>
            <a:r>
              <a:rPr lang="es-ES" b="1" i="0" dirty="0">
                <a:solidFill>
                  <a:schemeClr val="bg2"/>
                </a:solidFill>
                <a:effectLst/>
                <a:latin typeface="Söhne"/>
              </a:rPr>
              <a:t>): </a:t>
            </a:r>
            <a:r>
              <a:rPr lang="es-ES" b="1" i="0" dirty="0" smtClean="0">
                <a:solidFill>
                  <a:schemeClr val="bg2"/>
                </a:solidFill>
                <a:effectLst/>
                <a:latin typeface="Söhne"/>
              </a:rPr>
              <a:t>0</a:t>
            </a:r>
            <a:endParaRPr lang="es-ES" b="1" i="0" dirty="0">
              <a:solidFill>
                <a:schemeClr val="bg2"/>
              </a:solidFill>
              <a:effectLst/>
              <a:latin typeface="Söhne"/>
            </a:endParaRPr>
          </a:p>
          <a:p>
            <a:pPr algn="l"/>
            <a:endParaRPr lang="es-ES" b="1" dirty="0" smtClean="0">
              <a:solidFill>
                <a:schemeClr val="bg2"/>
              </a:solidFill>
              <a:latin typeface="Söhne"/>
            </a:endParaRPr>
          </a:p>
          <a:p>
            <a:pPr algn="l"/>
            <a:r>
              <a:rPr lang="es-ES" b="1" dirty="0" smtClean="0">
                <a:solidFill>
                  <a:schemeClr val="bg2"/>
                </a:solidFill>
                <a:latin typeface="Söhne"/>
              </a:rPr>
              <a:t>3</a:t>
            </a:r>
            <a:r>
              <a:rPr lang="es-ES" b="1" i="0" dirty="0">
                <a:solidFill>
                  <a:schemeClr val="bg2"/>
                </a:solidFill>
                <a:effectLst/>
                <a:latin typeface="Söhne"/>
              </a:rPr>
              <a:t>. Error en </a:t>
            </a:r>
            <a:r>
              <a:rPr lang="es-ES" b="1" dirty="0" smtClean="0">
                <a:solidFill>
                  <a:schemeClr val="bg2"/>
                </a:solidFill>
                <a:latin typeface="Söhne"/>
              </a:rPr>
              <a:t>régimen</a:t>
            </a:r>
            <a:r>
              <a:rPr lang="es-ES" b="1" i="0" dirty="0" smtClean="0">
                <a:solidFill>
                  <a:schemeClr val="bg2"/>
                </a:solidFill>
                <a:effectLst/>
                <a:latin typeface="Söhne"/>
              </a:rPr>
              <a:t> </a:t>
            </a:r>
            <a:r>
              <a:rPr lang="es-ES" b="1" i="0" dirty="0">
                <a:solidFill>
                  <a:schemeClr val="bg2"/>
                </a:solidFill>
                <a:effectLst/>
                <a:latin typeface="Söhne"/>
              </a:rPr>
              <a:t>Estacionario:</a:t>
            </a:r>
            <a:r>
              <a:rPr lang="es-ES" b="0" i="0" dirty="0">
                <a:solidFill>
                  <a:schemeClr val="bg2"/>
                </a:solidFill>
                <a:effectLst/>
                <a:latin typeface="Söhne"/>
              </a:rPr>
              <a:t>.	NULO</a:t>
            </a:r>
          </a:p>
          <a:p>
            <a:pPr algn="l"/>
            <a:endParaRPr lang="es-ES" b="1" i="0" dirty="0" smtClean="0">
              <a:solidFill>
                <a:schemeClr val="bg2"/>
              </a:solidFill>
              <a:effectLst/>
              <a:latin typeface="Söhne"/>
            </a:endParaRPr>
          </a:p>
          <a:p>
            <a:pPr algn="l"/>
            <a:r>
              <a:rPr lang="es-ES" b="1" i="0" dirty="0" smtClean="0">
                <a:solidFill>
                  <a:schemeClr val="bg2"/>
                </a:solidFill>
                <a:effectLst/>
                <a:latin typeface="Söhne"/>
              </a:rPr>
              <a:t>4</a:t>
            </a:r>
            <a:r>
              <a:rPr lang="es-ES" b="1" i="0" dirty="0">
                <a:solidFill>
                  <a:schemeClr val="bg2"/>
                </a:solidFill>
                <a:effectLst/>
                <a:latin typeface="Söhne"/>
              </a:rPr>
              <a:t>. Estabilidad:			SI</a:t>
            </a:r>
          </a:p>
          <a:p>
            <a:pPr algn="l"/>
            <a:r>
              <a:rPr lang="es-ES" b="1" i="0" dirty="0">
                <a:solidFill>
                  <a:schemeClr val="bg2"/>
                </a:solidFill>
                <a:effectLst/>
                <a:latin typeface="Söhne"/>
              </a:rPr>
              <a:t>5. Rechazo de Perturbaciones:	SI</a:t>
            </a:r>
          </a:p>
          <a:p>
            <a:endParaRPr lang="es-BO" dirty="0">
              <a:solidFill>
                <a:schemeClr val="bg2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="" xmlns:a16="http://schemas.microsoft.com/office/drawing/2014/main" id="{04186296-2B9E-C375-5907-FF7D56FD5448}"/>
              </a:ext>
            </a:extLst>
          </p:cNvPr>
          <p:cNvSpPr txBox="1"/>
          <p:nvPr/>
        </p:nvSpPr>
        <p:spPr>
          <a:xfrm>
            <a:off x="2162605" y="329694"/>
            <a:ext cx="816333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4400" b="1" u="sng" dirty="0">
                <a:solidFill>
                  <a:srgbClr val="002060"/>
                </a:solidFill>
              </a:rPr>
              <a:t>CRITERIOS DE DISEÑO:</a:t>
            </a:r>
          </a:p>
        </p:txBody>
      </p:sp>
      <p:sp>
        <p:nvSpPr>
          <p:cNvPr id="4" name="Subtítulo 2">
            <a:extLst>
              <a:ext uri="{FF2B5EF4-FFF2-40B4-BE49-F238E27FC236}">
                <a16:creationId xmlns="" xmlns:a16="http://schemas.microsoft.com/office/drawing/2014/main" id="{FC36711C-B5F8-0E89-1113-EBB8A0D56934}"/>
              </a:ext>
            </a:extLst>
          </p:cNvPr>
          <p:cNvSpPr txBox="1">
            <a:spLocks/>
          </p:cNvSpPr>
          <p:nvPr/>
        </p:nvSpPr>
        <p:spPr>
          <a:xfrm>
            <a:off x="5787074" y="1397000"/>
            <a:ext cx="5743146" cy="5092699"/>
          </a:xfrm>
          <a:prstGeom prst="rect">
            <a:avLst/>
          </a:prstGeom>
          <a:noFill/>
        </p:spPr>
        <p:txBody>
          <a:bodyPr vert="horz" lIns="91440" tIns="45720" rIns="91440" bIns="45720" numCol="1" rtlCol="0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itchFamily="34" charset="0"/>
              <a:buChar char="•"/>
            </a:pPr>
            <a:r>
              <a:rPr lang="es-BO" dirty="0" smtClean="0">
                <a:solidFill>
                  <a:schemeClr val="bg1"/>
                </a:solidFill>
              </a:rPr>
              <a:t>El sistema de nivel de liquido cuenta con un motor que tiene como máxima frecuencia de funcionamiento 40Hz, debido a esto tenemos una saturación del actuador por lo que nuestro tiempo de establecimiento no puede ser muy pequeño como se podría ser en una simulación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s-BO" dirty="0" smtClean="0">
                <a:solidFill>
                  <a:schemeClr val="bg1"/>
                </a:solidFill>
              </a:rPr>
              <a:t>Por defecto ya que nuestro sistema es de primer orden y no tiene sobre pico nuestro controlador no modificara este comportamiento debido a que no estamos reduciendo mucho el tiempo de establecimiento.</a:t>
            </a:r>
          </a:p>
          <a:p>
            <a:pPr marL="342900" indent="-342900" algn="l">
              <a:buFont typeface="Arial" pitchFamily="34" charset="0"/>
              <a:buChar char="•"/>
            </a:pPr>
            <a:endParaRPr lang="es-BO" dirty="0" smtClean="0">
              <a:solidFill>
                <a:schemeClr val="bg1"/>
              </a:solidFill>
            </a:endParaRPr>
          </a:p>
          <a:p>
            <a:pPr marL="342900" indent="-342900" algn="l">
              <a:buFont typeface="Arial" pitchFamily="34" charset="0"/>
              <a:buChar char="•"/>
            </a:pPr>
            <a:endParaRPr lang="es-BO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4933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15036" y="5054600"/>
            <a:ext cx="3998214" cy="1187958"/>
          </a:xfrm>
        </p:spPr>
        <p:txBody>
          <a:bodyPr/>
          <a:lstStyle/>
          <a:p>
            <a:r>
              <a:rPr lang="es-ES" dirty="0" smtClean="0"/>
              <a:t>controlador</a:t>
            </a:r>
            <a:endParaRPr lang="es-E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239" y="139700"/>
            <a:ext cx="6157912" cy="3050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2849" y="2666134"/>
            <a:ext cx="6835035" cy="38489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Flecha derecha"/>
          <p:cNvSpPr/>
          <p:nvPr/>
        </p:nvSpPr>
        <p:spPr>
          <a:xfrm rot="16200000">
            <a:off x="2186942" y="2018669"/>
            <a:ext cx="2420616" cy="1460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7 Flecha derecha"/>
          <p:cNvSpPr/>
          <p:nvPr/>
        </p:nvSpPr>
        <p:spPr>
          <a:xfrm rot="10800000">
            <a:off x="4972000" y="2091693"/>
            <a:ext cx="1822500" cy="14605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8 Flecha derecha"/>
          <p:cNvSpPr/>
          <p:nvPr/>
        </p:nvSpPr>
        <p:spPr>
          <a:xfrm>
            <a:off x="4003042" y="3302002"/>
            <a:ext cx="1330958" cy="1460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9 Flecha derecha"/>
          <p:cNvSpPr/>
          <p:nvPr/>
        </p:nvSpPr>
        <p:spPr>
          <a:xfrm rot="5400000">
            <a:off x="6634434" y="3222052"/>
            <a:ext cx="1537841" cy="146053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10 Flecha derecha"/>
          <p:cNvSpPr/>
          <p:nvPr/>
        </p:nvSpPr>
        <p:spPr>
          <a:xfrm rot="10800000">
            <a:off x="4972000" y="575699"/>
            <a:ext cx="5429300" cy="146050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11 Flecha derecha"/>
          <p:cNvSpPr/>
          <p:nvPr/>
        </p:nvSpPr>
        <p:spPr>
          <a:xfrm rot="5400000">
            <a:off x="9611308" y="2687707"/>
            <a:ext cx="2420616" cy="146050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5 CuadroTexto"/>
          <p:cNvSpPr txBox="1"/>
          <p:nvPr/>
        </p:nvSpPr>
        <p:spPr>
          <a:xfrm>
            <a:off x="2590800" y="3295078"/>
            <a:ext cx="14122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Saturación a 40hz</a:t>
            </a:r>
            <a:endParaRPr lang="es-ES" dirty="0"/>
          </a:p>
        </p:txBody>
      </p:sp>
      <p:sp>
        <p:nvSpPr>
          <p:cNvPr id="14" name="13 CuadroTexto"/>
          <p:cNvSpPr txBox="1"/>
          <p:nvPr/>
        </p:nvSpPr>
        <p:spPr>
          <a:xfrm>
            <a:off x="10115495" y="752928"/>
            <a:ext cx="14122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Salida con saturación</a:t>
            </a:r>
            <a:endParaRPr lang="es-ES" dirty="0"/>
          </a:p>
        </p:txBody>
      </p:sp>
      <p:sp>
        <p:nvSpPr>
          <p:cNvPr id="15" name="14 CuadroTexto"/>
          <p:cNvSpPr txBox="1"/>
          <p:nvPr/>
        </p:nvSpPr>
        <p:spPr>
          <a:xfrm>
            <a:off x="6697234" y="1879827"/>
            <a:ext cx="14122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Salida sin saturación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27533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aquete">
  <a:themeElements>
    <a:clrScheme name="Paquete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quet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quet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TM10001115[[fn=Paquete]]</Template>
  <TotalTime>1245</TotalTime>
  <Words>1311</Words>
  <Application>Microsoft Office PowerPoint</Application>
  <PresentationFormat>Personalizado</PresentationFormat>
  <Paragraphs>198</Paragraphs>
  <Slides>18</Slides>
  <Notes>7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19" baseType="lpstr">
      <vt:lpstr>Paquete</vt:lpstr>
      <vt:lpstr>Sistema de nivel de liquido</vt:lpstr>
      <vt:lpstr>MODELAR</vt:lpstr>
      <vt:lpstr>Obtención de la función de transferencia</vt:lpstr>
      <vt:lpstr>Presentación de PowerPoint</vt:lpstr>
      <vt:lpstr>Diagrama de bloques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Criterio de estabilidad de routh</vt:lpstr>
      <vt:lpstr>Espacio de estados</vt:lpstr>
      <vt:lpstr>Controlabilidad y observebilidad</vt:lpstr>
      <vt:lpstr>CRITERIO DE ESTABILIDAD DE LYPUNOV</vt:lpstr>
      <vt:lpstr>Diseño de controlador</vt:lpstr>
      <vt:lpstr>Presentación de PowerPoint</vt:lpstr>
      <vt:lpstr>controlador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nivel de liquido</dc:title>
  <dc:creator>Guido</dc:creator>
  <cp:lastModifiedBy>williams qusipe lucana</cp:lastModifiedBy>
  <cp:revision>30</cp:revision>
  <dcterms:created xsi:type="dcterms:W3CDTF">2023-10-09T13:49:13Z</dcterms:created>
  <dcterms:modified xsi:type="dcterms:W3CDTF">2023-10-24T22:21:42Z</dcterms:modified>
</cp:coreProperties>
</file>