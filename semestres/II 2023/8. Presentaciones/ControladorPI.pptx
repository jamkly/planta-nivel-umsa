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842">
          <p15:clr>
            <a:srgbClr val="A4A3A4"/>
          </p15:clr>
        </p15:guide>
        <p15:guide id="2" pos="3840">
          <p15:clr>
            <a:srgbClr val="A4A3A4"/>
          </p15:clr>
        </p15:guide>
      </p15:sldGuideLst>
    </p:ext>
    <p:ext uri="http://customooxmlschemas.google.com/">
      <go:slidesCustomData xmlns:go="http://customooxmlschemas.google.com/" r:id="rId40" roundtripDataSignature="AMtx7mhj/YTekWzKVBq7pPX9NUTJbE+X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01597D-D528-486F-94E8-1363BCE59FF6}">
  <a:tblStyle styleId="{B701597D-D528-486F-94E8-1363BCE59FF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842"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D:\UNIVERSIDAD\Sistemas%20de%20control%202\Laboratorio\Lab_4\fu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BO" dirty="0"/>
              <a:t>Respuesta temporal experimental</a:t>
            </a:r>
          </a:p>
        </c:rich>
      </c:tx>
      <c:layout>
        <c:manualLayout>
          <c:xMode val="edge"/>
          <c:yMode val="edge"/>
          <c:x val="0.26062426359681096"/>
          <c:y val="2.583587708225472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Hoja1!$A$3:$A$83</c:f>
              <c:numCache>
                <c:formatCode>General</c:formatCode>
                <c:ptCount val="81"/>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pt idx="51">
                  <c:v>1020</c:v>
                </c:pt>
                <c:pt idx="52">
                  <c:v>1040</c:v>
                </c:pt>
                <c:pt idx="53">
                  <c:v>1060</c:v>
                </c:pt>
                <c:pt idx="54">
                  <c:v>1080</c:v>
                </c:pt>
                <c:pt idx="55">
                  <c:v>1100</c:v>
                </c:pt>
                <c:pt idx="56">
                  <c:v>1120</c:v>
                </c:pt>
                <c:pt idx="57">
                  <c:v>1140</c:v>
                </c:pt>
                <c:pt idx="58">
                  <c:v>1160</c:v>
                </c:pt>
                <c:pt idx="59">
                  <c:v>1180</c:v>
                </c:pt>
                <c:pt idx="60">
                  <c:v>1200</c:v>
                </c:pt>
                <c:pt idx="61">
                  <c:v>1220</c:v>
                </c:pt>
                <c:pt idx="62">
                  <c:v>1240</c:v>
                </c:pt>
                <c:pt idx="63">
                  <c:v>1260</c:v>
                </c:pt>
                <c:pt idx="64">
                  <c:v>1280</c:v>
                </c:pt>
                <c:pt idx="65">
                  <c:v>1300</c:v>
                </c:pt>
                <c:pt idx="66">
                  <c:v>1320</c:v>
                </c:pt>
                <c:pt idx="67">
                  <c:v>1340</c:v>
                </c:pt>
                <c:pt idx="68">
                  <c:v>1360</c:v>
                </c:pt>
                <c:pt idx="69">
                  <c:v>1380</c:v>
                </c:pt>
                <c:pt idx="70">
                  <c:v>1400</c:v>
                </c:pt>
                <c:pt idx="71">
                  <c:v>1420</c:v>
                </c:pt>
                <c:pt idx="72">
                  <c:v>1440</c:v>
                </c:pt>
                <c:pt idx="73">
                  <c:v>1460</c:v>
                </c:pt>
                <c:pt idx="74">
                  <c:v>1480</c:v>
                </c:pt>
                <c:pt idx="75">
                  <c:v>1500</c:v>
                </c:pt>
                <c:pt idx="76">
                  <c:v>1520</c:v>
                </c:pt>
                <c:pt idx="77">
                  <c:v>1540</c:v>
                </c:pt>
                <c:pt idx="78">
                  <c:v>1560</c:v>
                </c:pt>
                <c:pt idx="79">
                  <c:v>1580</c:v>
                </c:pt>
                <c:pt idx="80">
                  <c:v>1600</c:v>
                </c:pt>
              </c:numCache>
            </c:numRef>
          </c:xVal>
          <c:yVal>
            <c:numRef>
              <c:f>Hoja1!$B$3:$B$83</c:f>
              <c:numCache>
                <c:formatCode>General</c:formatCode>
                <c:ptCount val="81"/>
                <c:pt idx="0">
                  <c:v>0</c:v>
                </c:pt>
                <c:pt idx="1">
                  <c:v>6.9000000000000006E-2</c:v>
                </c:pt>
                <c:pt idx="2">
                  <c:v>8.3000000000000004E-2</c:v>
                </c:pt>
                <c:pt idx="3">
                  <c:v>9.8000000000000004E-2</c:v>
                </c:pt>
                <c:pt idx="4">
                  <c:v>0.114</c:v>
                </c:pt>
                <c:pt idx="5">
                  <c:v>0.127</c:v>
                </c:pt>
                <c:pt idx="6">
                  <c:v>0.13900000000000001</c:v>
                </c:pt>
                <c:pt idx="7">
                  <c:v>0.15</c:v>
                </c:pt>
                <c:pt idx="8">
                  <c:v>0.16200000000000001</c:v>
                </c:pt>
                <c:pt idx="9">
                  <c:v>0.17300000000000001</c:v>
                </c:pt>
                <c:pt idx="10">
                  <c:v>0.182</c:v>
                </c:pt>
                <c:pt idx="11">
                  <c:v>0.191</c:v>
                </c:pt>
                <c:pt idx="12">
                  <c:v>0.2</c:v>
                </c:pt>
                <c:pt idx="13">
                  <c:v>0.20600000000000002</c:v>
                </c:pt>
                <c:pt idx="14">
                  <c:v>0.21199999999999999</c:v>
                </c:pt>
                <c:pt idx="15">
                  <c:v>0.221</c:v>
                </c:pt>
                <c:pt idx="16">
                  <c:v>0.22699999999999998</c:v>
                </c:pt>
                <c:pt idx="17">
                  <c:v>0.23499999999999999</c:v>
                </c:pt>
                <c:pt idx="18">
                  <c:v>0.24199999999999999</c:v>
                </c:pt>
                <c:pt idx="19">
                  <c:v>0.247</c:v>
                </c:pt>
                <c:pt idx="20">
                  <c:v>0.254</c:v>
                </c:pt>
                <c:pt idx="21">
                  <c:v>0.25900000000000001</c:v>
                </c:pt>
                <c:pt idx="22">
                  <c:v>0.26500000000000001</c:v>
                </c:pt>
                <c:pt idx="23">
                  <c:v>0.26700000000000002</c:v>
                </c:pt>
                <c:pt idx="24">
                  <c:v>0.27200000000000002</c:v>
                </c:pt>
                <c:pt idx="25">
                  <c:v>0.27500000000000002</c:v>
                </c:pt>
                <c:pt idx="26">
                  <c:v>0.28100000000000003</c:v>
                </c:pt>
                <c:pt idx="27">
                  <c:v>0.28600000000000003</c:v>
                </c:pt>
                <c:pt idx="28">
                  <c:v>0.28999999999999998</c:v>
                </c:pt>
                <c:pt idx="29">
                  <c:v>0.29399999999999998</c:v>
                </c:pt>
                <c:pt idx="30">
                  <c:v>0.29699999999999999</c:v>
                </c:pt>
                <c:pt idx="31">
                  <c:v>0.3</c:v>
                </c:pt>
                <c:pt idx="32">
                  <c:v>0.30399999999999999</c:v>
                </c:pt>
                <c:pt idx="33">
                  <c:v>0.307</c:v>
                </c:pt>
                <c:pt idx="34">
                  <c:v>0.31</c:v>
                </c:pt>
                <c:pt idx="35">
                  <c:v>0.313</c:v>
                </c:pt>
                <c:pt idx="36">
                  <c:v>0.316</c:v>
                </c:pt>
                <c:pt idx="37">
                  <c:v>0.318</c:v>
                </c:pt>
                <c:pt idx="38">
                  <c:v>0.32100000000000001</c:v>
                </c:pt>
                <c:pt idx="39">
                  <c:v>0.32299999999999995</c:v>
                </c:pt>
                <c:pt idx="40">
                  <c:v>0.32500000000000001</c:v>
                </c:pt>
                <c:pt idx="41">
                  <c:v>0.32700000000000001</c:v>
                </c:pt>
                <c:pt idx="42">
                  <c:v>0.32899999999999996</c:v>
                </c:pt>
                <c:pt idx="43">
                  <c:v>0.33100000000000002</c:v>
                </c:pt>
                <c:pt idx="44">
                  <c:v>0.33299999999999996</c:v>
                </c:pt>
                <c:pt idx="45">
                  <c:v>0.33500000000000002</c:v>
                </c:pt>
                <c:pt idx="46">
                  <c:v>0.33700000000000002</c:v>
                </c:pt>
                <c:pt idx="47">
                  <c:v>0.33799999999999997</c:v>
                </c:pt>
                <c:pt idx="48">
                  <c:v>0.34</c:v>
                </c:pt>
                <c:pt idx="49">
                  <c:v>0.34100000000000003</c:v>
                </c:pt>
                <c:pt idx="50">
                  <c:v>0.34299999999999997</c:v>
                </c:pt>
                <c:pt idx="51">
                  <c:v>0.34499999999999997</c:v>
                </c:pt>
                <c:pt idx="52">
                  <c:v>0.34600000000000003</c:v>
                </c:pt>
                <c:pt idx="53">
                  <c:v>0.34700000000000003</c:v>
                </c:pt>
                <c:pt idx="54">
                  <c:v>0.34799999999999998</c:v>
                </c:pt>
                <c:pt idx="55">
                  <c:v>0.35</c:v>
                </c:pt>
                <c:pt idx="56">
                  <c:v>0.35100000000000003</c:v>
                </c:pt>
                <c:pt idx="57">
                  <c:v>0.35200000000000004</c:v>
                </c:pt>
                <c:pt idx="58">
                  <c:v>0.35299999999999998</c:v>
                </c:pt>
                <c:pt idx="59">
                  <c:v>0.35399999999999998</c:v>
                </c:pt>
                <c:pt idx="60">
                  <c:v>0.35549999999999998</c:v>
                </c:pt>
                <c:pt idx="61">
                  <c:v>0.35600000000000004</c:v>
                </c:pt>
                <c:pt idx="62">
                  <c:v>0.35700000000000004</c:v>
                </c:pt>
                <c:pt idx="63">
                  <c:v>0.35799999999999998</c:v>
                </c:pt>
                <c:pt idx="64">
                  <c:v>0.35899999999999999</c:v>
                </c:pt>
                <c:pt idx="65">
                  <c:v>0.36</c:v>
                </c:pt>
                <c:pt idx="66">
                  <c:v>0.36099999999999999</c:v>
                </c:pt>
                <c:pt idx="67">
                  <c:v>0.36249999999999999</c:v>
                </c:pt>
                <c:pt idx="68">
                  <c:v>0.36399999999999999</c:v>
                </c:pt>
                <c:pt idx="69">
                  <c:v>0.36499999999999999</c:v>
                </c:pt>
                <c:pt idx="70">
                  <c:v>0.36599999999999999</c:v>
                </c:pt>
                <c:pt idx="71">
                  <c:v>0.36649999999999999</c:v>
                </c:pt>
                <c:pt idx="72">
                  <c:v>0.36700000000000005</c:v>
                </c:pt>
                <c:pt idx="73">
                  <c:v>0.36700000000000005</c:v>
                </c:pt>
                <c:pt idx="74">
                  <c:v>0.36700000000000005</c:v>
                </c:pt>
                <c:pt idx="75">
                  <c:v>0.36700000000000005</c:v>
                </c:pt>
                <c:pt idx="76">
                  <c:v>0.36700000000000005</c:v>
                </c:pt>
                <c:pt idx="77">
                  <c:v>0.36700000000000005</c:v>
                </c:pt>
                <c:pt idx="78">
                  <c:v>0.36700000000000005</c:v>
                </c:pt>
                <c:pt idx="79">
                  <c:v>0.36700000000000005</c:v>
                </c:pt>
                <c:pt idx="80">
                  <c:v>0.36700000000000005</c:v>
                </c:pt>
              </c:numCache>
            </c:numRef>
          </c:yVal>
          <c:smooth val="0"/>
          <c:extLst>
            <c:ext xmlns:c16="http://schemas.microsoft.com/office/drawing/2014/chart" uri="{C3380CC4-5D6E-409C-BE32-E72D297353CC}">
              <c16:uniqueId val="{00000000-086A-4D9E-9FF2-52E4BC6356A7}"/>
            </c:ext>
          </c:extLst>
        </c:ser>
        <c:dLbls>
          <c:showLegendKey val="0"/>
          <c:showVal val="0"/>
          <c:showCatName val="0"/>
          <c:showSerName val="0"/>
          <c:showPercent val="0"/>
          <c:showBubbleSize val="0"/>
        </c:dLbls>
        <c:axId val="2048907967"/>
        <c:axId val="2048922527"/>
      </c:scatterChart>
      <c:valAx>
        <c:axId val="204890796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BO"/>
                  <a:t>t [s]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048922527"/>
        <c:crosses val="autoZero"/>
        <c:crossBetween val="midCat"/>
      </c:valAx>
      <c:valAx>
        <c:axId val="20489225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BO"/>
                  <a:t>h(t) [m]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048907967"/>
        <c:crosses val="autoZero"/>
        <c:crossBetween val="midCat"/>
      </c:valAx>
      <c:spPr>
        <a:noFill/>
        <a:ln>
          <a:noFill/>
        </a:ln>
        <a:effectLst/>
      </c:spPr>
    </c:plotArea>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s-B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B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44" name="Google Shape;144;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BO"/>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s-BO"/>
              <a:t>Se obtuvo nuevamente la función de transferencia, ya que en un principio no se considero la saturación del actuador y así establecer el tiempo mínimo para diseñar el controlador</a:t>
            </a:r>
            <a:endParaRPr/>
          </a:p>
        </p:txBody>
      </p:sp>
      <p:sp>
        <p:nvSpPr>
          <p:cNvPr id="217" name="Google Shape;217;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BO"/>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96" name="Google Shape;396;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BO"/>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6" name="Shape 16"/>
        <p:cNvGrpSpPr/>
        <p:nvPr/>
      </p:nvGrpSpPr>
      <p:grpSpPr>
        <a:xfrm>
          <a:off x="0" y="0"/>
          <a:ext cx="0" cy="0"/>
          <a:chOff x="0" y="0"/>
          <a:chExt cx="0" cy="0"/>
        </a:xfrm>
      </p:grpSpPr>
      <p:sp>
        <p:nvSpPr>
          <p:cNvPr id="17" name="Google Shape;17;p11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1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 name="Google Shape;19;p11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2" name="Shape 22"/>
        <p:cNvGrpSpPr/>
        <p:nvPr/>
      </p:nvGrpSpPr>
      <p:grpSpPr>
        <a:xfrm>
          <a:off x="0" y="0"/>
          <a:ext cx="0" cy="0"/>
          <a:chOff x="0" y="0"/>
          <a:chExt cx="0" cy="0"/>
        </a:xfrm>
      </p:grpSpPr>
      <p:sp>
        <p:nvSpPr>
          <p:cNvPr id="23" name="Google Shape;23;p109"/>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09"/>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5" name="Google Shape;25;p10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0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8" name="Shape 28"/>
        <p:cNvGrpSpPr/>
        <p:nvPr/>
      </p:nvGrpSpPr>
      <p:grpSpPr>
        <a:xfrm>
          <a:off x="0" y="0"/>
          <a:ext cx="0" cy="0"/>
          <a:chOff x="0" y="0"/>
          <a:chExt cx="0" cy="0"/>
        </a:xfrm>
      </p:grpSpPr>
      <p:sp>
        <p:nvSpPr>
          <p:cNvPr id="29" name="Google Shape;29;p11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1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2" name="Shape 32"/>
        <p:cNvGrpSpPr/>
        <p:nvPr/>
      </p:nvGrpSpPr>
      <p:grpSpPr>
        <a:xfrm>
          <a:off x="0" y="0"/>
          <a:ext cx="0" cy="0"/>
          <a:chOff x="0" y="0"/>
          <a:chExt cx="0" cy="0"/>
        </a:xfrm>
      </p:grpSpPr>
      <p:sp>
        <p:nvSpPr>
          <p:cNvPr id="33" name="Google Shape;33;p113"/>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13"/>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5" name="Google Shape;35;p1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sp>
        <p:nvSpPr>
          <p:cNvPr id="39" name="Google Shape;39;p11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14"/>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14"/>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2" name="Google Shape;42;p11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5" name="Shape 45"/>
        <p:cNvGrpSpPr/>
        <p:nvPr/>
      </p:nvGrpSpPr>
      <p:grpSpPr>
        <a:xfrm>
          <a:off x="0" y="0"/>
          <a:ext cx="0" cy="0"/>
          <a:chOff x="0" y="0"/>
          <a:chExt cx="0" cy="0"/>
        </a:xfrm>
      </p:grpSpPr>
      <p:sp>
        <p:nvSpPr>
          <p:cNvPr id="46" name="Google Shape;46;p1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5"/>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115"/>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115"/>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115"/>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1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54" name="Shape 54"/>
        <p:cNvGrpSpPr/>
        <p:nvPr/>
      </p:nvGrpSpPr>
      <p:grpSpPr>
        <a:xfrm>
          <a:off x="0" y="0"/>
          <a:ext cx="0" cy="0"/>
          <a:chOff x="0" y="0"/>
          <a:chExt cx="0" cy="0"/>
        </a:xfrm>
      </p:grpSpPr>
      <p:sp>
        <p:nvSpPr>
          <p:cNvPr id="55" name="Google Shape;55;p116"/>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9" name="Shape 59"/>
        <p:cNvGrpSpPr/>
        <p:nvPr/>
      </p:nvGrpSpPr>
      <p:grpSpPr>
        <a:xfrm>
          <a:off x="0" y="0"/>
          <a:ext cx="0" cy="0"/>
          <a:chOff x="0" y="0"/>
          <a:chExt cx="0" cy="0"/>
        </a:xfrm>
      </p:grpSpPr>
      <p:sp>
        <p:nvSpPr>
          <p:cNvPr id="60" name="Google Shape;60;p117"/>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17"/>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2" name="Google Shape;62;p117"/>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3" name="Google Shape;63;p1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6" name="Shape 66"/>
        <p:cNvGrpSpPr/>
        <p:nvPr/>
      </p:nvGrpSpPr>
      <p:grpSpPr>
        <a:xfrm>
          <a:off x="0" y="0"/>
          <a:ext cx="0" cy="0"/>
          <a:chOff x="0" y="0"/>
          <a:chExt cx="0" cy="0"/>
        </a:xfrm>
      </p:grpSpPr>
      <p:sp>
        <p:nvSpPr>
          <p:cNvPr id="67" name="Google Shape;67;p118"/>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8"/>
          <p:cNvSpPr/>
          <p:nvPr>
            <p:ph idx="2" type="pic"/>
          </p:nvPr>
        </p:nvSpPr>
        <p:spPr>
          <a:xfrm>
            <a:off x="2389717" y="612775"/>
            <a:ext cx="7315200" cy="4114800"/>
          </a:xfrm>
          <a:prstGeom prst="rect">
            <a:avLst/>
          </a:prstGeom>
          <a:noFill/>
          <a:ln>
            <a:noFill/>
          </a:ln>
        </p:spPr>
      </p:sp>
      <p:sp>
        <p:nvSpPr>
          <p:cNvPr id="69" name="Google Shape;69;p118"/>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0" name="Google Shape;70;p1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3" name="Shape 73"/>
        <p:cNvGrpSpPr/>
        <p:nvPr/>
      </p:nvGrpSpPr>
      <p:grpSpPr>
        <a:xfrm>
          <a:off x="0" y="0"/>
          <a:ext cx="0" cy="0"/>
          <a:chOff x="0" y="0"/>
          <a:chExt cx="0" cy="0"/>
        </a:xfrm>
      </p:grpSpPr>
      <p:sp>
        <p:nvSpPr>
          <p:cNvPr id="74" name="Google Shape;74;p1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9"/>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1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9" name="Shape 79"/>
        <p:cNvGrpSpPr/>
        <p:nvPr/>
      </p:nvGrpSpPr>
      <p:grpSpPr>
        <a:xfrm>
          <a:off x="0" y="0"/>
          <a:ext cx="0" cy="0"/>
          <a:chOff x="0" y="0"/>
          <a:chExt cx="0" cy="0"/>
        </a:xfrm>
      </p:grpSpPr>
      <p:sp>
        <p:nvSpPr>
          <p:cNvPr id="80" name="Google Shape;80;p120"/>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0"/>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1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type="objOnly">
  <p:cSld name="OBJECT_ONLY">
    <p:spTree>
      <p:nvGrpSpPr>
        <p:cNvPr id="85" name="Shape 85"/>
        <p:cNvGrpSpPr/>
        <p:nvPr/>
      </p:nvGrpSpPr>
      <p:grpSpPr>
        <a:xfrm>
          <a:off x="0" y="0"/>
          <a:ext cx="0" cy="0"/>
          <a:chOff x="0" y="0"/>
          <a:chExt cx="0" cy="0"/>
        </a:xfrm>
      </p:grpSpPr>
      <p:sp>
        <p:nvSpPr>
          <p:cNvPr id="86" name="Google Shape;86;p121"/>
          <p:cNvSpPr txBox="1"/>
          <p:nvPr>
            <p:ph idx="1" type="body"/>
          </p:nvPr>
        </p:nvSpPr>
        <p:spPr>
          <a:xfrm>
            <a:off x="609600" y="274639"/>
            <a:ext cx="10972800" cy="58515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121"/>
          <p:cNvSpPr txBox="1"/>
          <p:nvPr>
            <p:ph idx="10" type="dt"/>
          </p:nvPr>
        </p:nvSpPr>
        <p:spPr>
          <a:xfrm>
            <a:off x="609600" y="6245225"/>
            <a:ext cx="28448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1"/>
          <p:cNvSpPr txBox="1"/>
          <p:nvPr>
            <p:ph idx="11" type="ftr"/>
          </p:nvPr>
        </p:nvSpPr>
        <p:spPr>
          <a:xfrm>
            <a:off x="4165600" y="6245225"/>
            <a:ext cx="3860800" cy="476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1"/>
          <p:cNvSpPr txBox="1"/>
          <p:nvPr>
            <p:ph idx="12" type="sldNum"/>
          </p:nvPr>
        </p:nvSpPr>
        <p:spPr>
          <a:xfrm>
            <a:off x="8737600" y="6245225"/>
            <a:ext cx="2844800" cy="476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abla" type="tbl">
  <p:cSld name="TABLE">
    <p:spTree>
      <p:nvGrpSpPr>
        <p:cNvPr id="90" name="Shape 90"/>
        <p:cNvGrpSpPr/>
        <p:nvPr/>
      </p:nvGrpSpPr>
      <p:grpSpPr>
        <a:xfrm>
          <a:off x="0" y="0"/>
          <a:ext cx="0" cy="0"/>
          <a:chOff x="0" y="0"/>
          <a:chExt cx="0" cy="0"/>
        </a:xfrm>
      </p:grpSpPr>
      <p:sp>
        <p:nvSpPr>
          <p:cNvPr id="91" name="Google Shape;91;p122"/>
          <p:cNvSpPr txBox="1"/>
          <p:nvPr>
            <p:ph type="title"/>
          </p:nvPr>
        </p:nvSpPr>
        <p:spPr>
          <a:xfrm>
            <a:off x="1826684" y="301625"/>
            <a:ext cx="9751483"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2"/>
          <p:cNvSpPr txBox="1"/>
          <p:nvPr>
            <p:ph idx="10" type="dt"/>
          </p:nvPr>
        </p:nvSpPr>
        <p:spPr>
          <a:xfrm>
            <a:off x="609600" y="6248400"/>
            <a:ext cx="28448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2"/>
          <p:cNvSpPr txBox="1"/>
          <p:nvPr>
            <p:ph idx="11" type="ftr"/>
          </p:nvPr>
        </p:nvSpPr>
        <p:spPr>
          <a:xfrm>
            <a:off x="4165600" y="6248400"/>
            <a:ext cx="3860800" cy="457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2"/>
          <p:cNvSpPr txBox="1"/>
          <p:nvPr>
            <p:ph idx="12" type="sldNum"/>
          </p:nvPr>
        </p:nvSpPr>
        <p:spPr>
          <a:xfrm>
            <a:off x="8737600" y="6248400"/>
            <a:ext cx="2844800" cy="457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0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0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0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
        <p:nvSpPr>
          <p:cNvPr id="15" name="Google Shape;15;p108"/>
          <p:cNvSpPr txBox="1"/>
          <p:nvPr/>
        </p:nvSpPr>
        <p:spPr>
          <a:xfrm rot="-5400000">
            <a:off x="-3203297" y="3259723"/>
            <a:ext cx="6858000" cy="338554"/>
          </a:xfrm>
          <a:prstGeom prst="rect">
            <a:avLst/>
          </a:prstGeom>
          <a:solidFill>
            <a:srgbClr val="CCC0D9"/>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BO" sz="1600" u="none" cap="none" strike="noStrike">
                <a:solidFill>
                  <a:schemeClr val="lt1"/>
                </a:solidFill>
                <a:latin typeface="Calibri"/>
                <a:ea typeface="Calibri"/>
                <a:cs typeface="Calibri"/>
                <a:sym typeface="Calibri"/>
              </a:rPr>
              <a:t>SISTEMAS DE CONTROL II – ETN 902 - (Pregrado UMSA 2022)</a:t>
            </a:r>
            <a:endParaRPr b="1" i="0" sz="16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0.png"/><Relationship Id="rId4" Type="http://schemas.openxmlformats.org/officeDocument/2006/relationships/chart" Target="../charts/chart1.xml"/><Relationship Id="rId5" Type="http://schemas.openxmlformats.org/officeDocument/2006/relationships/image" Target="../media/image3.png"/><Relationship Id="rId6" Type="http://schemas.openxmlformats.org/officeDocument/2006/relationships/image" Target="../media/image17.jpg"/></Relationships>
</file>

<file path=ppt/slides/_rels/slide6.xml.rels><?xml version="1.0" encoding="UTF-8" standalone="yes"?><Relationships xmlns="http://schemas.openxmlformats.org/package/2006/relationships"><Relationship Id="rId10" Type="http://schemas.openxmlformats.org/officeDocument/2006/relationships/image" Target="../media/image23.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9.png"/><Relationship Id="rId9"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10.jpg"/><Relationship Id="rId8"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5.png"/><Relationship Id="rId9"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image" Target="../media/image42.png"/><Relationship Id="rId7" Type="http://schemas.openxmlformats.org/officeDocument/2006/relationships/image" Target="../media/image32.png"/><Relationship Id="rId8"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38.png"/><Relationship Id="rId13" Type="http://schemas.openxmlformats.org/officeDocument/2006/relationships/image" Target="../media/image40.png"/><Relationship Id="rId12" Type="http://schemas.openxmlformats.org/officeDocument/2006/relationships/image" Target="../media/image49.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3.png"/><Relationship Id="rId4" Type="http://schemas.openxmlformats.org/officeDocument/2006/relationships/image" Target="../media/image26.png"/><Relationship Id="rId9" Type="http://schemas.openxmlformats.org/officeDocument/2006/relationships/image" Target="../media/image36.png"/><Relationship Id="rId15" Type="http://schemas.openxmlformats.org/officeDocument/2006/relationships/image" Target="../media/image27.png"/><Relationship Id="rId14" Type="http://schemas.openxmlformats.org/officeDocument/2006/relationships/image" Target="../media/image43.png"/><Relationship Id="rId5" Type="http://schemas.openxmlformats.org/officeDocument/2006/relationships/image" Target="../media/image41.png"/><Relationship Id="rId6" Type="http://schemas.openxmlformats.org/officeDocument/2006/relationships/image" Target="../media/image25.png"/><Relationship Id="rId7" Type="http://schemas.openxmlformats.org/officeDocument/2006/relationships/image" Target="../media/image53.png"/><Relationship Id="rId8"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5.png"/><Relationship Id="rId4" Type="http://schemas.openxmlformats.org/officeDocument/2006/relationships/image" Target="../media/image48.png"/><Relationship Id="rId9"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44.png"/><Relationship Id="rId7" Type="http://schemas.openxmlformats.org/officeDocument/2006/relationships/image" Target="../media/image47.png"/><Relationship Id="rId8" Type="http://schemas.openxmlformats.org/officeDocument/2006/relationships/image" Target="../media/image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8.png"/><Relationship Id="rId4" Type="http://schemas.openxmlformats.org/officeDocument/2006/relationships/image" Target="../media/image54.png"/><Relationship Id="rId5" Type="http://schemas.openxmlformats.org/officeDocument/2006/relationships/image" Target="../media/image57.png"/><Relationship Id="rId6" Type="http://schemas.openxmlformats.org/officeDocument/2006/relationships/image" Target="../media/image8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7.png"/><Relationship Id="rId4" Type="http://schemas.openxmlformats.org/officeDocument/2006/relationships/image" Target="../media/image66.png"/><Relationship Id="rId5" Type="http://schemas.openxmlformats.org/officeDocument/2006/relationships/image" Target="../media/image60.png"/><Relationship Id="rId6" Type="http://schemas.openxmlformats.org/officeDocument/2006/relationships/image" Target="../media/image6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1.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5.png"/><Relationship Id="rId4" Type="http://schemas.openxmlformats.org/officeDocument/2006/relationships/image" Target="../media/image62.png"/><Relationship Id="rId5" Type="http://schemas.openxmlformats.org/officeDocument/2006/relationships/image" Target="../media/image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4.png"/><Relationship Id="rId4" Type="http://schemas.openxmlformats.org/officeDocument/2006/relationships/image" Target="../media/image74.png"/><Relationship Id="rId5" Type="http://schemas.openxmlformats.org/officeDocument/2006/relationships/image" Target="../media/image7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9.png"/><Relationship Id="rId4"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2.png"/><Relationship Id="rId6" Type="http://schemas.openxmlformats.org/officeDocument/2006/relationships/image" Target="../media/image77.png"/><Relationship Id="rId7" Type="http://schemas.openxmlformats.org/officeDocument/2006/relationships/image" Target="../media/image78.png"/><Relationship Id="rId8" Type="http://schemas.openxmlformats.org/officeDocument/2006/relationships/image" Target="../media/image82.png"/></Relationships>
</file>

<file path=ppt/slides/_rels/slide26.xml.rels><?xml version="1.0" encoding="UTF-8" standalone="yes"?><Relationships xmlns="http://schemas.openxmlformats.org/package/2006/relationships"><Relationship Id="rId11" Type="http://schemas.openxmlformats.org/officeDocument/2006/relationships/image" Target="../media/image87.png"/><Relationship Id="rId10" Type="http://schemas.openxmlformats.org/officeDocument/2006/relationships/image" Target="../media/image92.png"/><Relationship Id="rId13" Type="http://schemas.openxmlformats.org/officeDocument/2006/relationships/image" Target="../media/image88.png"/><Relationship Id="rId12" Type="http://schemas.openxmlformats.org/officeDocument/2006/relationships/image" Target="../media/image91.png"/><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0.png"/><Relationship Id="rId4" Type="http://schemas.openxmlformats.org/officeDocument/2006/relationships/image" Target="../media/image89.png"/><Relationship Id="rId9" Type="http://schemas.openxmlformats.org/officeDocument/2006/relationships/image" Target="../media/image95.png"/><Relationship Id="rId15" Type="http://schemas.openxmlformats.org/officeDocument/2006/relationships/image" Target="../media/image97.png"/><Relationship Id="rId14" Type="http://schemas.openxmlformats.org/officeDocument/2006/relationships/image" Target="../media/image102.png"/><Relationship Id="rId16" Type="http://schemas.openxmlformats.org/officeDocument/2006/relationships/image" Target="../media/image98.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79.png"/><Relationship Id="rId8" Type="http://schemas.openxmlformats.org/officeDocument/2006/relationships/image" Target="../media/image9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0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06.png"/><Relationship Id="rId4" Type="http://schemas.openxmlformats.org/officeDocument/2006/relationships/image" Target="../media/image93.png"/><Relationship Id="rId5" Type="http://schemas.openxmlformats.org/officeDocument/2006/relationships/image" Target="../media/image102.png"/><Relationship Id="rId6" Type="http://schemas.openxmlformats.org/officeDocument/2006/relationships/image" Target="../media/image99.png"/><Relationship Id="rId7" Type="http://schemas.openxmlformats.org/officeDocument/2006/relationships/image" Target="../media/image9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0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5"/>
          <p:cNvSpPr txBox="1"/>
          <p:nvPr/>
        </p:nvSpPr>
        <p:spPr>
          <a:xfrm>
            <a:off x="1713914" y="2767280"/>
            <a:ext cx="8764171"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s-BO" sz="4000" u="none" cap="none" strike="noStrike">
                <a:solidFill>
                  <a:schemeClr val="dk1"/>
                </a:solidFill>
                <a:latin typeface="Calibri"/>
                <a:ea typeface="Calibri"/>
                <a:cs typeface="Calibri"/>
                <a:sym typeface="Calibri"/>
              </a:rPr>
              <a:t>OBTENCIÓN DE LA FUNCIÓN DE TRANSFERENCIA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76"/>
          <p:cNvSpPr txBox="1"/>
          <p:nvPr>
            <p:ph type="ctrTitle"/>
          </p:nvPr>
        </p:nvSpPr>
        <p:spPr>
          <a:xfrm>
            <a:off x="1742089" y="459614"/>
            <a:ext cx="4572000" cy="49782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Font typeface="Calibri"/>
              <a:buNone/>
            </a:pPr>
            <a:r>
              <a:rPr b="1" lang="es-BO" sz="2000"/>
              <a:t>Modelo de la planta</a:t>
            </a:r>
            <a:endParaRPr/>
          </a:p>
        </p:txBody>
      </p:sp>
      <p:sp>
        <p:nvSpPr>
          <p:cNvPr id="105" name="Google Shape;105;p76"/>
          <p:cNvSpPr txBox="1"/>
          <p:nvPr>
            <p:ph idx="1" type="subTitle"/>
          </p:nvPr>
        </p:nvSpPr>
        <p:spPr>
          <a:xfrm>
            <a:off x="1730326" y="1308295"/>
            <a:ext cx="9228406" cy="1111348"/>
          </a:xfrm>
          <a:prstGeom prst="rect">
            <a:avLst/>
          </a:prstGeom>
          <a:blipFill rotWithShape="1">
            <a:blip r:embed="rId3">
              <a:alphaModFix/>
            </a:blip>
            <a:stretch>
              <a:fillRect b="0" l="-592" r="-525" t="-3294"/>
            </a:stretch>
          </a:blip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200"/>
              <a:buNone/>
            </a:pPr>
            <a:r>
              <a:rPr lang="es-BO"/>
              <a:t> </a:t>
            </a:r>
            <a:endParaRPr/>
          </a:p>
        </p:txBody>
      </p:sp>
      <p:pic>
        <p:nvPicPr>
          <p:cNvPr id="106" name="Google Shape;106;p76"/>
          <p:cNvPicPr preferRelativeResize="0"/>
          <p:nvPr/>
        </p:nvPicPr>
        <p:blipFill rotWithShape="1">
          <a:blip r:embed="rId4">
            <a:alphaModFix/>
          </a:blip>
          <a:srcRect b="13866" l="18292" r="38815" t="5399"/>
          <a:stretch/>
        </p:blipFill>
        <p:spPr>
          <a:xfrm>
            <a:off x="1902931" y="2215464"/>
            <a:ext cx="4034117" cy="3934011"/>
          </a:xfrm>
          <a:prstGeom prst="rect">
            <a:avLst/>
          </a:prstGeom>
          <a:noFill/>
          <a:ln>
            <a:noFill/>
          </a:ln>
        </p:spPr>
      </p:pic>
      <p:sp>
        <p:nvSpPr>
          <p:cNvPr id="107" name="Google Shape;107;p76"/>
          <p:cNvSpPr txBox="1"/>
          <p:nvPr/>
        </p:nvSpPr>
        <p:spPr>
          <a:xfrm>
            <a:off x="6837656" y="3074475"/>
            <a:ext cx="4874968" cy="2215991"/>
          </a:xfrm>
          <a:prstGeom prst="rect">
            <a:avLst/>
          </a:prstGeom>
          <a:blipFill rotWithShape="1">
            <a:blip r:embed="rId5">
              <a:alphaModFix/>
            </a:blip>
            <a:stretch>
              <a:fillRect b="0" l="-1124" r="0" t="-137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7"/>
          <p:cNvSpPr txBox="1"/>
          <p:nvPr>
            <p:ph type="ctrTitle"/>
          </p:nvPr>
        </p:nvSpPr>
        <p:spPr>
          <a:xfrm>
            <a:off x="1216616" y="116057"/>
            <a:ext cx="4257822" cy="4978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Font typeface="Calibri"/>
              <a:buNone/>
            </a:pPr>
            <a:r>
              <a:rPr b="1" lang="es-BO" sz="1800" u="sng"/>
              <a:t>Obtención de la función de transferencia</a:t>
            </a:r>
            <a:endParaRPr/>
          </a:p>
        </p:txBody>
      </p:sp>
      <p:sp>
        <p:nvSpPr>
          <p:cNvPr id="113" name="Google Shape;113;p77"/>
          <p:cNvSpPr txBox="1"/>
          <p:nvPr>
            <p:ph idx="1" type="subTitle"/>
          </p:nvPr>
        </p:nvSpPr>
        <p:spPr>
          <a:xfrm>
            <a:off x="1199456" y="1052736"/>
            <a:ext cx="4752528" cy="5689207"/>
          </a:xfrm>
          <a:prstGeom prst="rect">
            <a:avLst/>
          </a:prstGeom>
          <a:blipFill rotWithShape="1">
            <a:blip r:embed="rId3">
              <a:alphaModFix/>
            </a:blip>
            <a:stretch>
              <a:fillRect b="0" l="-896" r="0" t="-534"/>
            </a:stretch>
          </a:blip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200"/>
              <a:buNone/>
            </a:pPr>
            <a:r>
              <a:rPr lang="es-BO"/>
              <a:t> </a:t>
            </a:r>
            <a:endParaRPr/>
          </a:p>
        </p:txBody>
      </p:sp>
      <p:sp>
        <p:nvSpPr>
          <p:cNvPr id="114" name="Google Shape;114;p77"/>
          <p:cNvSpPr txBox="1"/>
          <p:nvPr/>
        </p:nvSpPr>
        <p:spPr>
          <a:xfrm>
            <a:off x="6240016" y="1052736"/>
            <a:ext cx="5752907" cy="5689207"/>
          </a:xfrm>
          <a:prstGeom prst="rect">
            <a:avLst/>
          </a:prstGeom>
          <a:blipFill rotWithShape="1">
            <a:blip r:embed="rId4">
              <a:alphaModFix/>
            </a:blip>
            <a:stretch>
              <a:fillRect b="0" l="-739" r="-950" t="-53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5" name="Google Shape;115;p77"/>
          <p:cNvSpPr/>
          <p:nvPr/>
        </p:nvSpPr>
        <p:spPr>
          <a:xfrm>
            <a:off x="7680176" y="3573016"/>
            <a:ext cx="2880320" cy="1152128"/>
          </a:xfrm>
          <a:prstGeom prst="rect">
            <a:avLst/>
          </a:prstGeom>
          <a:noFill/>
          <a:ln cap="flat" cmpd="sng" w="381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16" name="Google Shape;116;p77"/>
          <p:cNvCxnSpPr/>
          <p:nvPr/>
        </p:nvCxnSpPr>
        <p:spPr>
          <a:xfrm>
            <a:off x="6096000" y="954202"/>
            <a:ext cx="0" cy="5903798"/>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8"/>
          <p:cNvSpPr txBox="1"/>
          <p:nvPr>
            <p:ph idx="1" type="subTitle"/>
          </p:nvPr>
        </p:nvSpPr>
        <p:spPr>
          <a:xfrm>
            <a:off x="983432" y="532737"/>
            <a:ext cx="5976664" cy="6136623"/>
          </a:xfrm>
          <a:prstGeom prst="rect">
            <a:avLst/>
          </a:prstGeom>
          <a:blipFill rotWithShape="1">
            <a:blip r:embed="rId3">
              <a:alphaModFix/>
            </a:blip>
            <a:stretch>
              <a:fillRect b="0" l="-812" r="0" t="-394"/>
            </a:stretch>
          </a:blip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200"/>
              <a:buNone/>
            </a:pPr>
            <a:r>
              <a:rPr lang="es-BO"/>
              <a:t> </a:t>
            </a:r>
            <a:endParaRPr/>
          </a:p>
        </p:txBody>
      </p:sp>
      <p:sp>
        <p:nvSpPr>
          <p:cNvPr id="122" name="Google Shape;122;p78"/>
          <p:cNvSpPr/>
          <p:nvPr/>
        </p:nvSpPr>
        <p:spPr>
          <a:xfrm>
            <a:off x="2135560" y="4716941"/>
            <a:ext cx="2448272" cy="844843"/>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78"/>
          <p:cNvSpPr txBox="1"/>
          <p:nvPr/>
        </p:nvSpPr>
        <p:spPr>
          <a:xfrm>
            <a:off x="1919536" y="5550082"/>
            <a:ext cx="341906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BO" sz="1600" u="none" cap="none" strike="noStrike">
                <a:solidFill>
                  <a:schemeClr val="dk1"/>
                </a:solidFill>
                <a:latin typeface="Calibri"/>
                <a:ea typeface="Calibri"/>
                <a:cs typeface="Calibri"/>
                <a:sym typeface="Calibri"/>
              </a:rPr>
              <a:t>Función de transferencia analítica</a:t>
            </a:r>
            <a:endParaRPr b="0" i="0" sz="1600" u="none" cap="none" strike="noStrike">
              <a:solidFill>
                <a:schemeClr val="dk1"/>
              </a:solidFill>
              <a:latin typeface="Calibri"/>
              <a:ea typeface="Calibri"/>
              <a:cs typeface="Calibri"/>
              <a:sym typeface="Calibri"/>
            </a:endParaRPr>
          </a:p>
        </p:txBody>
      </p:sp>
      <p:grpSp>
        <p:nvGrpSpPr>
          <p:cNvPr id="124" name="Google Shape;124;p78"/>
          <p:cNvGrpSpPr/>
          <p:nvPr/>
        </p:nvGrpSpPr>
        <p:grpSpPr>
          <a:xfrm>
            <a:off x="7392144" y="620688"/>
            <a:ext cx="3312368" cy="4608512"/>
            <a:chOff x="7536160" y="1052736"/>
            <a:chExt cx="2213936" cy="3093525"/>
          </a:xfrm>
        </p:grpSpPr>
        <p:pic>
          <p:nvPicPr>
            <p:cNvPr id="125" name="Google Shape;125;p78"/>
            <p:cNvPicPr preferRelativeResize="0"/>
            <p:nvPr/>
          </p:nvPicPr>
          <p:blipFill rotWithShape="1">
            <a:blip r:embed="rId4">
              <a:alphaModFix/>
            </a:blip>
            <a:srcRect b="5502" l="0" r="0" t="5432"/>
            <a:stretch/>
          </p:blipFill>
          <p:spPr>
            <a:xfrm>
              <a:off x="7536160" y="1052736"/>
              <a:ext cx="1882168" cy="3093525"/>
            </a:xfrm>
            <a:prstGeom prst="rect">
              <a:avLst/>
            </a:prstGeom>
            <a:noFill/>
            <a:ln>
              <a:noFill/>
            </a:ln>
          </p:spPr>
        </p:pic>
        <p:grpSp>
          <p:nvGrpSpPr>
            <p:cNvPr id="126" name="Google Shape;126;p78"/>
            <p:cNvGrpSpPr/>
            <p:nvPr/>
          </p:nvGrpSpPr>
          <p:grpSpPr>
            <a:xfrm>
              <a:off x="8616280" y="2708920"/>
              <a:ext cx="1133816" cy="1334680"/>
              <a:chOff x="1241653" y="1868258"/>
              <a:chExt cx="1208767" cy="1546442"/>
            </a:xfrm>
          </p:grpSpPr>
          <p:sp>
            <p:nvSpPr>
              <p:cNvPr id="127" name="Google Shape;127;p78"/>
              <p:cNvSpPr txBox="1"/>
              <p:nvPr/>
            </p:nvSpPr>
            <p:spPr>
              <a:xfrm>
                <a:off x="1241653" y="2925115"/>
                <a:ext cx="850900" cy="489585"/>
              </a:xfrm>
              <a:prstGeom prst="rect">
                <a:avLst/>
              </a:prstGeom>
              <a:noFill/>
              <a:ln cap="flat" cmpd="sng" w="9525">
                <a:solidFill>
                  <a:srgbClr val="000000">
                    <a:alpha val="0"/>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nvGrpSpPr>
              <p:cNvPr id="128" name="Google Shape;128;p78"/>
              <p:cNvGrpSpPr/>
              <p:nvPr/>
            </p:nvGrpSpPr>
            <p:grpSpPr>
              <a:xfrm>
                <a:off x="1986378" y="1868258"/>
                <a:ext cx="464042" cy="1023354"/>
                <a:chOff x="3818769" y="3183356"/>
                <a:chExt cx="892111" cy="1743710"/>
              </a:xfrm>
            </p:grpSpPr>
            <p:cxnSp>
              <p:nvCxnSpPr>
                <p:cNvPr id="129" name="Google Shape;129;p78"/>
                <p:cNvCxnSpPr/>
                <p:nvPr/>
              </p:nvCxnSpPr>
              <p:spPr>
                <a:xfrm>
                  <a:off x="3912260" y="3183356"/>
                  <a:ext cx="20955" cy="1743710"/>
                </a:xfrm>
                <a:prstGeom prst="straightConnector1">
                  <a:avLst/>
                </a:prstGeom>
                <a:noFill/>
                <a:ln cap="flat" cmpd="sng" w="9525">
                  <a:solidFill>
                    <a:srgbClr val="000000"/>
                  </a:solidFill>
                  <a:prstDash val="solid"/>
                  <a:round/>
                  <a:headEnd len="med" w="med" type="triangle"/>
                  <a:tailEnd len="med" w="med" type="triangle"/>
                </a:ln>
              </p:spPr>
            </p:cxnSp>
            <p:sp>
              <p:nvSpPr>
                <p:cNvPr id="130" name="Google Shape;130;p78"/>
                <p:cNvSpPr txBox="1"/>
                <p:nvPr/>
              </p:nvSpPr>
              <p:spPr>
                <a:xfrm>
                  <a:off x="3818769" y="3700698"/>
                  <a:ext cx="892111" cy="599554"/>
                </a:xfrm>
                <a:prstGeom prst="rect">
                  <a:avLst/>
                </a:prstGeom>
                <a:noFill/>
                <a:ln cap="flat" cmpd="sng" w="9525">
                  <a:solidFill>
                    <a:srgbClr val="000000">
                      <a:alpha val="0"/>
                    </a:srgbClr>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grpSp>
      </p:grpSp>
      <p:sp>
        <p:nvSpPr>
          <p:cNvPr id="131" name="Google Shape;131;p78"/>
          <p:cNvSpPr txBox="1"/>
          <p:nvPr/>
        </p:nvSpPr>
        <p:spPr>
          <a:xfrm>
            <a:off x="7680176" y="5370602"/>
            <a:ext cx="316835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1" lang="es-BO" sz="1600" u="none" cap="none" strike="noStrike">
                <a:solidFill>
                  <a:schemeClr val="dk1"/>
                </a:solidFill>
                <a:latin typeface="Calibri"/>
                <a:ea typeface="Calibri"/>
                <a:cs typeface="Calibri"/>
                <a:sym typeface="Calibri"/>
              </a:rPr>
              <a:t>Vista frontal del tanque superior</a:t>
            </a:r>
            <a:endParaRPr b="0" i="1" sz="1600" u="none" cap="none" strike="noStrike">
              <a:solidFill>
                <a:schemeClr val="dk1"/>
              </a:solidFill>
              <a:latin typeface="Calibri"/>
              <a:ea typeface="Calibri"/>
              <a:cs typeface="Calibri"/>
              <a:sym typeface="Calibri"/>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9"/>
          <p:cNvSpPr txBox="1"/>
          <p:nvPr>
            <p:ph idx="1" type="subTitle"/>
          </p:nvPr>
        </p:nvSpPr>
        <p:spPr>
          <a:xfrm>
            <a:off x="1055440" y="341905"/>
            <a:ext cx="4824536" cy="5907819"/>
          </a:xfrm>
          <a:prstGeom prst="rect">
            <a:avLst/>
          </a:prstGeom>
          <a:blipFill rotWithShape="1">
            <a:blip r:embed="rId3">
              <a:alphaModFix/>
            </a:blip>
            <a:stretch>
              <a:fillRect b="0" l="-1008" r="-1006" t="-411"/>
            </a:stretch>
          </a:blip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200"/>
              <a:buNone/>
            </a:pPr>
            <a:r>
              <a:rPr lang="es-BO"/>
              <a:t> </a:t>
            </a:r>
            <a:endParaRPr/>
          </a:p>
        </p:txBody>
      </p:sp>
      <p:graphicFrame>
        <p:nvGraphicFramePr>
          <p:cNvPr id="137" name="Google Shape;137;p79"/>
          <p:cNvGraphicFramePr/>
          <p:nvPr/>
        </p:nvGraphicFramePr>
        <p:xfrm>
          <a:off x="6527224" y="332656"/>
          <a:ext cx="5234904" cy="2949387"/>
        </p:xfrm>
        <a:graphic>
          <a:graphicData uri="http://schemas.openxmlformats.org/drawingml/2006/chart">
            <c:chart r:id="rId4"/>
          </a:graphicData>
        </a:graphic>
      </p:graphicFrame>
      <p:sp>
        <p:nvSpPr>
          <p:cNvPr id="138" name="Google Shape;138;p79"/>
          <p:cNvSpPr txBox="1"/>
          <p:nvPr/>
        </p:nvSpPr>
        <p:spPr>
          <a:xfrm>
            <a:off x="1919536" y="3360121"/>
            <a:ext cx="2952328" cy="733149"/>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39" name="Google Shape;139;p79"/>
          <p:cNvSpPr/>
          <p:nvPr/>
        </p:nvSpPr>
        <p:spPr>
          <a:xfrm>
            <a:off x="1919536" y="3284984"/>
            <a:ext cx="2880320" cy="864095"/>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0" name="Google Shape;140;p79"/>
          <p:cNvPicPr preferRelativeResize="0"/>
          <p:nvPr/>
        </p:nvPicPr>
        <p:blipFill rotWithShape="1">
          <a:blip r:embed="rId6">
            <a:alphaModFix/>
          </a:blip>
          <a:srcRect b="0" l="6386" r="6001" t="0"/>
          <a:stretch/>
        </p:blipFill>
        <p:spPr>
          <a:xfrm>
            <a:off x="6528048" y="3360121"/>
            <a:ext cx="5234904" cy="3165223"/>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80"/>
          <p:cNvCxnSpPr/>
          <p:nvPr/>
        </p:nvCxnSpPr>
        <p:spPr>
          <a:xfrm rot="10800000">
            <a:off x="9624392" y="4577960"/>
            <a:ext cx="0" cy="761367"/>
          </a:xfrm>
          <a:prstGeom prst="straightConnector1">
            <a:avLst/>
          </a:prstGeom>
          <a:noFill/>
          <a:ln cap="flat" cmpd="sng" w="28575">
            <a:solidFill>
              <a:srgbClr val="FF0000"/>
            </a:solidFill>
            <a:prstDash val="solid"/>
            <a:round/>
            <a:headEnd len="sm" w="sm" type="none"/>
            <a:tailEnd len="sm" w="sm" type="none"/>
          </a:ln>
          <a:effectLst>
            <a:outerShdw blurRad="40000" rotWithShape="0" dir="5400000" dist="23000">
              <a:srgbClr val="000000">
                <a:alpha val="34509"/>
              </a:srgbClr>
            </a:outerShdw>
          </a:effectLst>
        </p:spPr>
      </p:cxnSp>
      <p:cxnSp>
        <p:nvCxnSpPr>
          <p:cNvPr id="147" name="Google Shape;147;p80"/>
          <p:cNvCxnSpPr/>
          <p:nvPr/>
        </p:nvCxnSpPr>
        <p:spPr>
          <a:xfrm rot="10800000">
            <a:off x="9552384" y="4578472"/>
            <a:ext cx="0" cy="761367"/>
          </a:xfrm>
          <a:prstGeom prst="straightConnector1">
            <a:avLst/>
          </a:prstGeom>
          <a:noFill/>
          <a:ln cap="flat" cmpd="sng" w="28575">
            <a:solidFill>
              <a:srgbClr val="FF0000"/>
            </a:solidFill>
            <a:prstDash val="solid"/>
            <a:round/>
            <a:headEnd len="sm" w="sm" type="none"/>
            <a:tailEnd len="sm" w="sm" type="none"/>
          </a:ln>
          <a:effectLst>
            <a:outerShdw blurRad="40000" rotWithShape="0" dir="5400000" dist="23000">
              <a:srgbClr val="000000">
                <a:alpha val="34509"/>
              </a:srgbClr>
            </a:outerShdw>
          </a:effectLst>
        </p:spPr>
      </p:cxnSp>
      <p:cxnSp>
        <p:nvCxnSpPr>
          <p:cNvPr id="148" name="Google Shape;148;p80"/>
          <p:cNvCxnSpPr/>
          <p:nvPr/>
        </p:nvCxnSpPr>
        <p:spPr>
          <a:xfrm rot="10800000">
            <a:off x="9468219" y="4578488"/>
            <a:ext cx="0" cy="761367"/>
          </a:xfrm>
          <a:prstGeom prst="straightConnector1">
            <a:avLst/>
          </a:prstGeom>
          <a:noFill/>
          <a:ln cap="flat" cmpd="sng" w="28575">
            <a:solidFill>
              <a:srgbClr val="FF0000"/>
            </a:solidFill>
            <a:prstDash val="solid"/>
            <a:round/>
            <a:headEnd len="sm" w="sm" type="none"/>
            <a:tailEnd len="sm" w="sm" type="none"/>
          </a:ln>
          <a:effectLst>
            <a:outerShdw blurRad="40000" rotWithShape="0" dir="5400000" dist="23000">
              <a:srgbClr val="000000">
                <a:alpha val="34509"/>
              </a:srgbClr>
            </a:outerShdw>
          </a:effectLst>
        </p:spPr>
      </p:cxnSp>
      <p:cxnSp>
        <p:nvCxnSpPr>
          <p:cNvPr id="149" name="Google Shape;149;p80"/>
          <p:cNvCxnSpPr/>
          <p:nvPr/>
        </p:nvCxnSpPr>
        <p:spPr>
          <a:xfrm rot="10800000">
            <a:off x="6096001" y="3695863"/>
            <a:ext cx="3168351"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509"/>
              </a:srgbClr>
            </a:outerShdw>
          </a:effectLst>
        </p:spPr>
      </p:cxnSp>
      <p:cxnSp>
        <p:nvCxnSpPr>
          <p:cNvPr id="150" name="Google Shape;150;p80"/>
          <p:cNvCxnSpPr/>
          <p:nvPr/>
        </p:nvCxnSpPr>
        <p:spPr>
          <a:xfrm rot="10800000">
            <a:off x="5995864" y="3789040"/>
            <a:ext cx="3268488" cy="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509"/>
              </a:srgbClr>
            </a:outerShdw>
          </a:effectLst>
        </p:spPr>
      </p:cxnSp>
      <p:pic>
        <p:nvPicPr>
          <p:cNvPr descr="Ver las imágenes de origen" id="151" name="Google Shape;151;p80"/>
          <p:cNvPicPr preferRelativeResize="0"/>
          <p:nvPr/>
        </p:nvPicPr>
        <p:blipFill rotWithShape="1">
          <a:blip r:embed="rId3">
            <a:alphaModFix/>
          </a:blip>
          <a:srcRect b="0" l="23750" r="19583" t="0"/>
          <a:stretch/>
        </p:blipFill>
        <p:spPr>
          <a:xfrm>
            <a:off x="9123951" y="3426683"/>
            <a:ext cx="814798" cy="1246587"/>
          </a:xfrm>
          <a:prstGeom prst="rect">
            <a:avLst/>
          </a:prstGeom>
          <a:noFill/>
          <a:ln>
            <a:noFill/>
          </a:ln>
        </p:spPr>
      </p:pic>
      <p:pic>
        <p:nvPicPr>
          <p:cNvPr descr="Electrobomba Centrifuga CM 100 1HP Marca Pentax" id="152" name="Google Shape;152;p80"/>
          <p:cNvPicPr preferRelativeResize="0"/>
          <p:nvPr/>
        </p:nvPicPr>
        <p:blipFill rotWithShape="1">
          <a:blip r:embed="rId4">
            <a:alphaModFix/>
          </a:blip>
          <a:srcRect b="0" l="0" r="0" t="0"/>
          <a:stretch/>
        </p:blipFill>
        <p:spPr>
          <a:xfrm>
            <a:off x="7915261" y="4918621"/>
            <a:ext cx="2448272" cy="2054800"/>
          </a:xfrm>
          <a:prstGeom prst="rect">
            <a:avLst/>
          </a:prstGeom>
          <a:noFill/>
          <a:ln>
            <a:noFill/>
          </a:ln>
        </p:spPr>
      </p:pic>
      <p:pic>
        <p:nvPicPr>
          <p:cNvPr id="153" name="Google Shape;153;p80"/>
          <p:cNvPicPr preferRelativeResize="0"/>
          <p:nvPr/>
        </p:nvPicPr>
        <p:blipFill rotWithShape="1">
          <a:blip r:embed="rId5">
            <a:alphaModFix/>
          </a:blip>
          <a:srcRect b="22700" l="37155" r="37124" t="21231"/>
          <a:stretch/>
        </p:blipFill>
        <p:spPr>
          <a:xfrm>
            <a:off x="5638350" y="4211579"/>
            <a:ext cx="569411" cy="698191"/>
          </a:xfrm>
          <a:prstGeom prst="rect">
            <a:avLst/>
          </a:prstGeom>
          <a:noFill/>
          <a:ln>
            <a:noFill/>
          </a:ln>
        </p:spPr>
      </p:pic>
      <p:pic>
        <p:nvPicPr>
          <p:cNvPr id="154" name="Google Shape;154;p80"/>
          <p:cNvPicPr preferRelativeResize="0"/>
          <p:nvPr/>
        </p:nvPicPr>
        <p:blipFill rotWithShape="1">
          <a:blip r:embed="rId6">
            <a:alphaModFix/>
          </a:blip>
          <a:srcRect b="34201" l="46097" r="3269" t="5917"/>
          <a:stretch/>
        </p:blipFill>
        <p:spPr>
          <a:xfrm>
            <a:off x="5689014" y="1362882"/>
            <a:ext cx="2538491" cy="1492371"/>
          </a:xfrm>
          <a:prstGeom prst="rect">
            <a:avLst/>
          </a:prstGeom>
          <a:noFill/>
          <a:ln>
            <a:noFill/>
          </a:ln>
        </p:spPr>
      </p:pic>
      <p:grpSp>
        <p:nvGrpSpPr>
          <p:cNvPr id="155" name="Google Shape;155;p80"/>
          <p:cNvGrpSpPr/>
          <p:nvPr/>
        </p:nvGrpSpPr>
        <p:grpSpPr>
          <a:xfrm>
            <a:off x="2513809" y="1056868"/>
            <a:ext cx="5246919" cy="615132"/>
            <a:chOff x="2513809" y="1227578"/>
            <a:chExt cx="5246919" cy="444421"/>
          </a:xfrm>
        </p:grpSpPr>
        <p:cxnSp>
          <p:nvCxnSpPr>
            <p:cNvPr id="156" name="Google Shape;156;p80"/>
            <p:cNvCxnSpPr/>
            <p:nvPr/>
          </p:nvCxnSpPr>
          <p:spPr>
            <a:xfrm>
              <a:off x="2513809" y="1227578"/>
              <a:ext cx="5238375" cy="0"/>
            </a:xfrm>
            <a:prstGeom prst="straightConnector1">
              <a:avLst/>
            </a:prstGeom>
            <a:noFill/>
            <a:ln cap="flat" cmpd="sng" w="12700">
              <a:solidFill>
                <a:srgbClr val="00B050"/>
              </a:solidFill>
              <a:prstDash val="solid"/>
              <a:round/>
              <a:headEnd len="sm" w="sm" type="none"/>
              <a:tailEnd len="sm" w="sm" type="none"/>
            </a:ln>
            <a:effectLst>
              <a:outerShdw blurRad="40000" rotWithShape="0" dir="5400000" dist="23000">
                <a:srgbClr val="000000">
                  <a:alpha val="34509"/>
                </a:srgbClr>
              </a:outerShdw>
            </a:effectLst>
          </p:spPr>
        </p:cxnSp>
        <p:cxnSp>
          <p:nvCxnSpPr>
            <p:cNvPr id="157" name="Google Shape;157;p80"/>
            <p:cNvCxnSpPr/>
            <p:nvPr/>
          </p:nvCxnSpPr>
          <p:spPr>
            <a:xfrm>
              <a:off x="2513809" y="1227578"/>
              <a:ext cx="0" cy="444421"/>
            </a:xfrm>
            <a:prstGeom prst="straightConnector1">
              <a:avLst/>
            </a:prstGeom>
            <a:noFill/>
            <a:ln cap="flat" cmpd="sng" w="12700">
              <a:solidFill>
                <a:srgbClr val="00B050"/>
              </a:solidFill>
              <a:prstDash val="solid"/>
              <a:round/>
              <a:headEnd len="sm" w="sm" type="none"/>
              <a:tailEnd len="sm" w="sm" type="none"/>
            </a:ln>
            <a:effectLst>
              <a:outerShdw blurRad="40000" rotWithShape="0" dir="5400000" dist="23000">
                <a:srgbClr val="000000">
                  <a:alpha val="34509"/>
                </a:srgbClr>
              </a:outerShdw>
            </a:effectLst>
          </p:spPr>
        </p:cxnSp>
        <p:cxnSp>
          <p:nvCxnSpPr>
            <p:cNvPr id="158" name="Google Shape;158;p80"/>
            <p:cNvCxnSpPr/>
            <p:nvPr/>
          </p:nvCxnSpPr>
          <p:spPr>
            <a:xfrm>
              <a:off x="7760728" y="1231661"/>
              <a:ext cx="0" cy="355211"/>
            </a:xfrm>
            <a:prstGeom prst="straightConnector1">
              <a:avLst/>
            </a:prstGeom>
            <a:noFill/>
            <a:ln cap="flat" cmpd="sng" w="12700">
              <a:solidFill>
                <a:srgbClr val="00B050"/>
              </a:solidFill>
              <a:prstDash val="solid"/>
              <a:round/>
              <a:headEnd len="sm" w="sm" type="none"/>
              <a:tailEnd len="sm" w="sm" type="none"/>
            </a:ln>
            <a:effectLst>
              <a:outerShdw blurRad="40000" rotWithShape="0" dir="5400000" dist="23000">
                <a:srgbClr val="000000">
                  <a:alpha val="34509"/>
                </a:srgbClr>
              </a:outerShdw>
            </a:effectLst>
          </p:spPr>
        </p:cxnSp>
      </p:grpSp>
      <p:cxnSp>
        <p:nvCxnSpPr>
          <p:cNvPr id="159" name="Google Shape;159;p80"/>
          <p:cNvCxnSpPr/>
          <p:nvPr/>
        </p:nvCxnSpPr>
        <p:spPr>
          <a:xfrm rot="10800000">
            <a:off x="3040877" y="3933056"/>
            <a:ext cx="360040" cy="1"/>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509"/>
              </a:srgbClr>
            </a:outerShdw>
          </a:effectLst>
        </p:spPr>
      </p:cxnSp>
      <p:sp>
        <p:nvSpPr>
          <p:cNvPr id="160" name="Google Shape;160;p80"/>
          <p:cNvSpPr txBox="1"/>
          <p:nvPr/>
        </p:nvSpPr>
        <p:spPr>
          <a:xfrm>
            <a:off x="587388" y="260648"/>
            <a:ext cx="756084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Elementos a utilizar para el control de nivel</a:t>
            </a:r>
            <a:endParaRPr b="0" i="0" sz="2800" u="none" cap="none" strike="noStrike">
              <a:solidFill>
                <a:schemeClr val="dk1"/>
              </a:solidFill>
              <a:latin typeface="Calibri"/>
              <a:ea typeface="Calibri"/>
              <a:cs typeface="Calibri"/>
              <a:sym typeface="Calibri"/>
            </a:endParaRPr>
          </a:p>
        </p:txBody>
      </p:sp>
      <p:cxnSp>
        <p:nvCxnSpPr>
          <p:cNvPr id="161" name="Google Shape;161;p80"/>
          <p:cNvCxnSpPr/>
          <p:nvPr/>
        </p:nvCxnSpPr>
        <p:spPr>
          <a:xfrm rot="10800000">
            <a:off x="6212325" y="2708920"/>
            <a:ext cx="0" cy="432049"/>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509"/>
              </a:srgbClr>
            </a:outerShdw>
          </a:effectLst>
        </p:spPr>
      </p:cxnSp>
      <p:pic>
        <p:nvPicPr>
          <p:cNvPr descr="Ver las imágenes de origen" id="162" name="Google Shape;162;p80"/>
          <p:cNvPicPr preferRelativeResize="0"/>
          <p:nvPr/>
        </p:nvPicPr>
        <p:blipFill rotWithShape="1">
          <a:blip r:embed="rId3">
            <a:alphaModFix/>
          </a:blip>
          <a:srcRect b="0" l="23750" r="19583" t="0"/>
          <a:stretch/>
        </p:blipFill>
        <p:spPr>
          <a:xfrm>
            <a:off x="9123951" y="3413459"/>
            <a:ext cx="814798" cy="1246587"/>
          </a:xfrm>
          <a:prstGeom prst="rect">
            <a:avLst/>
          </a:prstGeom>
          <a:noFill/>
          <a:ln>
            <a:noFill/>
          </a:ln>
        </p:spPr>
      </p:pic>
      <p:pic>
        <p:nvPicPr>
          <p:cNvPr id="163" name="Google Shape;163;p80"/>
          <p:cNvPicPr preferRelativeResize="0"/>
          <p:nvPr/>
        </p:nvPicPr>
        <p:blipFill rotWithShape="1">
          <a:blip r:embed="rId7">
            <a:alphaModFix/>
          </a:blip>
          <a:srcRect b="0" l="0" r="0" t="0"/>
          <a:stretch/>
        </p:blipFill>
        <p:spPr>
          <a:xfrm>
            <a:off x="8949202" y="95432"/>
            <a:ext cx="781168" cy="1696654"/>
          </a:xfrm>
          <a:prstGeom prst="rect">
            <a:avLst/>
          </a:prstGeom>
          <a:noFill/>
          <a:ln>
            <a:noFill/>
          </a:ln>
        </p:spPr>
      </p:pic>
      <p:cxnSp>
        <p:nvCxnSpPr>
          <p:cNvPr id="164" name="Google Shape;164;p80"/>
          <p:cNvCxnSpPr/>
          <p:nvPr/>
        </p:nvCxnSpPr>
        <p:spPr>
          <a:xfrm>
            <a:off x="3101304" y="6093296"/>
            <a:ext cx="5302901" cy="0"/>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509"/>
              </a:srgbClr>
            </a:outerShdw>
          </a:effectLst>
        </p:spPr>
      </p:cxnSp>
      <p:grpSp>
        <p:nvGrpSpPr>
          <p:cNvPr id="165" name="Google Shape;165;p80"/>
          <p:cNvGrpSpPr/>
          <p:nvPr/>
        </p:nvGrpSpPr>
        <p:grpSpPr>
          <a:xfrm>
            <a:off x="6187376" y="4775797"/>
            <a:ext cx="2468250" cy="439475"/>
            <a:chOff x="6192459" y="4797152"/>
            <a:chExt cx="2468250" cy="439475"/>
          </a:xfrm>
        </p:grpSpPr>
        <p:cxnSp>
          <p:nvCxnSpPr>
            <p:cNvPr id="166" name="Google Shape;166;p80"/>
            <p:cNvCxnSpPr/>
            <p:nvPr/>
          </p:nvCxnSpPr>
          <p:spPr>
            <a:xfrm>
              <a:off x="8616280" y="4797152"/>
              <a:ext cx="0" cy="439475"/>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509"/>
                </a:srgbClr>
              </a:outerShdw>
            </a:effectLst>
          </p:spPr>
        </p:cxnSp>
        <p:cxnSp>
          <p:nvCxnSpPr>
            <p:cNvPr id="167" name="Google Shape;167;p80"/>
            <p:cNvCxnSpPr/>
            <p:nvPr/>
          </p:nvCxnSpPr>
          <p:spPr>
            <a:xfrm flipH="1" rot="10800000">
              <a:off x="6192459" y="4831170"/>
              <a:ext cx="2468250" cy="3338"/>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509"/>
                </a:srgbClr>
              </a:outerShdw>
            </a:effectLst>
          </p:spPr>
        </p:cxnSp>
      </p:grpSp>
      <p:cxnSp>
        <p:nvCxnSpPr>
          <p:cNvPr id="168" name="Google Shape;168;p80"/>
          <p:cNvCxnSpPr/>
          <p:nvPr/>
        </p:nvCxnSpPr>
        <p:spPr>
          <a:xfrm>
            <a:off x="3316674" y="4797152"/>
            <a:ext cx="2402413" cy="2"/>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509"/>
              </a:srgbClr>
            </a:outerShdw>
          </a:effectLst>
        </p:spPr>
      </p:cxnSp>
      <p:cxnSp>
        <p:nvCxnSpPr>
          <p:cNvPr id="169" name="Google Shape;169;p80"/>
          <p:cNvCxnSpPr/>
          <p:nvPr/>
        </p:nvCxnSpPr>
        <p:spPr>
          <a:xfrm rot="10800000">
            <a:off x="3359696" y="3933056"/>
            <a:ext cx="0" cy="841109"/>
          </a:xfrm>
          <a:prstGeom prst="straightConnector1">
            <a:avLst/>
          </a:prstGeom>
          <a:noFill/>
          <a:ln cap="flat" cmpd="sng" w="92075">
            <a:solidFill>
              <a:srgbClr val="DDD9C3"/>
            </a:solidFill>
            <a:prstDash val="solid"/>
            <a:round/>
            <a:headEnd len="sm" w="sm" type="none"/>
            <a:tailEnd len="sm" w="sm" type="none"/>
          </a:ln>
          <a:effectLst>
            <a:outerShdw blurRad="40000" rotWithShape="0" dir="5400000" dist="23000">
              <a:srgbClr val="000000">
                <a:alpha val="34509"/>
              </a:srgbClr>
            </a:outerShdw>
          </a:effectLst>
        </p:spPr>
      </p:cxnSp>
      <p:cxnSp>
        <p:nvCxnSpPr>
          <p:cNvPr id="170" name="Google Shape;170;p80"/>
          <p:cNvCxnSpPr/>
          <p:nvPr/>
        </p:nvCxnSpPr>
        <p:spPr>
          <a:xfrm rot="10800000">
            <a:off x="6096000" y="2752523"/>
            <a:ext cx="0" cy="943340"/>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509"/>
              </a:srgbClr>
            </a:outerShdw>
          </a:effectLst>
        </p:spPr>
      </p:cxnSp>
      <p:cxnSp>
        <p:nvCxnSpPr>
          <p:cNvPr id="171" name="Google Shape;171;p80"/>
          <p:cNvCxnSpPr/>
          <p:nvPr/>
        </p:nvCxnSpPr>
        <p:spPr>
          <a:xfrm rot="10800000">
            <a:off x="9264352" y="1672000"/>
            <a:ext cx="0" cy="1396960"/>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509"/>
              </a:srgbClr>
            </a:outerShdw>
          </a:effectLst>
        </p:spPr>
      </p:cxnSp>
      <p:cxnSp>
        <p:nvCxnSpPr>
          <p:cNvPr id="172" name="Google Shape;172;p80"/>
          <p:cNvCxnSpPr/>
          <p:nvPr/>
        </p:nvCxnSpPr>
        <p:spPr>
          <a:xfrm rot="10800000">
            <a:off x="9408368" y="1672000"/>
            <a:ext cx="0" cy="1468968"/>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509"/>
              </a:srgbClr>
            </a:outerShdw>
          </a:effectLst>
        </p:spPr>
      </p:cxnSp>
      <p:cxnSp>
        <p:nvCxnSpPr>
          <p:cNvPr id="173" name="Google Shape;173;p80"/>
          <p:cNvCxnSpPr/>
          <p:nvPr/>
        </p:nvCxnSpPr>
        <p:spPr>
          <a:xfrm rot="10800000">
            <a:off x="6207762" y="3140968"/>
            <a:ext cx="3200606" cy="0"/>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509"/>
              </a:srgbClr>
            </a:outerShdw>
          </a:effectLst>
        </p:spPr>
      </p:cxnSp>
      <p:cxnSp>
        <p:nvCxnSpPr>
          <p:cNvPr id="174" name="Google Shape;174;p80"/>
          <p:cNvCxnSpPr/>
          <p:nvPr/>
        </p:nvCxnSpPr>
        <p:spPr>
          <a:xfrm rot="10800000">
            <a:off x="6384032" y="2708920"/>
            <a:ext cx="0" cy="360041"/>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509"/>
              </a:srgbClr>
            </a:outerShdw>
          </a:effectLst>
        </p:spPr>
      </p:cxnSp>
      <p:cxnSp>
        <p:nvCxnSpPr>
          <p:cNvPr id="175" name="Google Shape;175;p80"/>
          <p:cNvCxnSpPr/>
          <p:nvPr/>
        </p:nvCxnSpPr>
        <p:spPr>
          <a:xfrm rot="10800000">
            <a:off x="6384032" y="3068960"/>
            <a:ext cx="2880320" cy="0"/>
          </a:xfrm>
          <a:prstGeom prst="straightConnector1">
            <a:avLst/>
          </a:prstGeom>
          <a:noFill/>
          <a:ln cap="flat" cmpd="sng" w="28575">
            <a:solidFill>
              <a:srgbClr val="538CD5"/>
            </a:solidFill>
            <a:prstDash val="solid"/>
            <a:round/>
            <a:headEnd len="sm" w="sm" type="none"/>
            <a:tailEnd len="sm" w="sm" type="none"/>
          </a:ln>
          <a:effectLst>
            <a:outerShdw blurRad="40000" rotWithShape="0" dir="5400000" dist="23000">
              <a:srgbClr val="000000">
                <a:alpha val="34509"/>
              </a:srgbClr>
            </a:outerShdw>
          </a:effectLst>
        </p:spPr>
      </p:cxnSp>
      <p:grpSp>
        <p:nvGrpSpPr>
          <p:cNvPr id="176" name="Google Shape;176;p80"/>
          <p:cNvGrpSpPr/>
          <p:nvPr/>
        </p:nvGrpSpPr>
        <p:grpSpPr>
          <a:xfrm>
            <a:off x="2471318" y="975859"/>
            <a:ext cx="5401034" cy="615132"/>
            <a:chOff x="2513809" y="1227578"/>
            <a:chExt cx="5401034" cy="444421"/>
          </a:xfrm>
        </p:grpSpPr>
        <p:cxnSp>
          <p:nvCxnSpPr>
            <p:cNvPr id="177" name="Google Shape;177;p80"/>
            <p:cNvCxnSpPr/>
            <p:nvPr/>
          </p:nvCxnSpPr>
          <p:spPr>
            <a:xfrm>
              <a:off x="2513809" y="1227578"/>
              <a:ext cx="5401034" cy="0"/>
            </a:xfrm>
            <a:prstGeom prst="straightConnector1">
              <a:avLst/>
            </a:prstGeom>
            <a:noFill/>
            <a:ln cap="flat" cmpd="sng" w="12700">
              <a:solidFill>
                <a:schemeClr val="dk1"/>
              </a:solidFill>
              <a:prstDash val="solid"/>
              <a:round/>
              <a:headEnd len="sm" w="sm" type="none"/>
              <a:tailEnd len="sm" w="sm" type="none"/>
            </a:ln>
            <a:effectLst>
              <a:outerShdw blurRad="40000" rotWithShape="0" dir="5400000" dist="23000">
                <a:srgbClr val="000000">
                  <a:alpha val="34509"/>
                </a:srgbClr>
              </a:outerShdw>
            </a:effectLst>
          </p:spPr>
        </p:cxnSp>
        <p:cxnSp>
          <p:nvCxnSpPr>
            <p:cNvPr id="178" name="Google Shape;178;p80"/>
            <p:cNvCxnSpPr/>
            <p:nvPr/>
          </p:nvCxnSpPr>
          <p:spPr>
            <a:xfrm>
              <a:off x="2513809" y="1227578"/>
              <a:ext cx="0" cy="444421"/>
            </a:xfrm>
            <a:prstGeom prst="straightConnector1">
              <a:avLst/>
            </a:prstGeom>
            <a:noFill/>
            <a:ln cap="flat" cmpd="sng" w="12700">
              <a:solidFill>
                <a:schemeClr val="dk1"/>
              </a:solidFill>
              <a:prstDash val="solid"/>
              <a:round/>
              <a:headEnd len="sm" w="sm" type="none"/>
              <a:tailEnd len="sm" w="sm" type="none"/>
            </a:ln>
            <a:effectLst>
              <a:outerShdw blurRad="40000" rotWithShape="0" dir="5400000" dist="23000">
                <a:srgbClr val="000000">
                  <a:alpha val="34509"/>
                </a:srgbClr>
              </a:outerShdw>
            </a:effectLst>
          </p:spPr>
        </p:cxnSp>
        <p:cxnSp>
          <p:nvCxnSpPr>
            <p:cNvPr id="179" name="Google Shape;179;p80"/>
            <p:cNvCxnSpPr/>
            <p:nvPr/>
          </p:nvCxnSpPr>
          <p:spPr>
            <a:xfrm>
              <a:off x="7914843" y="1227578"/>
              <a:ext cx="0" cy="355211"/>
            </a:xfrm>
            <a:prstGeom prst="straightConnector1">
              <a:avLst/>
            </a:prstGeom>
            <a:noFill/>
            <a:ln cap="flat" cmpd="sng" w="12700">
              <a:solidFill>
                <a:schemeClr val="dk1"/>
              </a:solidFill>
              <a:prstDash val="solid"/>
              <a:round/>
              <a:headEnd len="sm" w="sm" type="none"/>
              <a:tailEnd len="sm" w="sm" type="none"/>
            </a:ln>
            <a:effectLst>
              <a:outerShdw blurRad="40000" rotWithShape="0" dir="5400000" dist="23000">
                <a:srgbClr val="000000">
                  <a:alpha val="34509"/>
                </a:srgbClr>
              </a:outerShdw>
            </a:effectLst>
          </p:spPr>
        </p:cxnSp>
      </p:grpSp>
      <p:cxnSp>
        <p:nvCxnSpPr>
          <p:cNvPr id="180" name="Google Shape;180;p80"/>
          <p:cNvCxnSpPr/>
          <p:nvPr/>
        </p:nvCxnSpPr>
        <p:spPr>
          <a:xfrm rot="10800000">
            <a:off x="5995863" y="2763129"/>
            <a:ext cx="0" cy="1025911"/>
          </a:xfrm>
          <a:prstGeom prst="straightConnector1">
            <a:avLst/>
          </a:prstGeom>
          <a:noFill/>
          <a:ln cap="flat" cmpd="sng" w="38100">
            <a:solidFill>
              <a:srgbClr val="FF0000"/>
            </a:solidFill>
            <a:prstDash val="solid"/>
            <a:round/>
            <a:headEnd len="sm" w="sm" type="none"/>
            <a:tailEnd len="sm" w="sm" type="none"/>
          </a:ln>
          <a:effectLst>
            <a:outerShdw blurRad="40000" rotWithShape="0" dir="5400000" dist="23000">
              <a:srgbClr val="000000">
                <a:alpha val="34509"/>
              </a:srgbClr>
            </a:outerShdw>
          </a:effectLst>
        </p:spPr>
      </p:cxnSp>
      <p:pic>
        <p:nvPicPr>
          <p:cNvPr id="181" name="Google Shape;181;p80"/>
          <p:cNvPicPr preferRelativeResize="0"/>
          <p:nvPr/>
        </p:nvPicPr>
        <p:blipFill rotWithShape="1">
          <a:blip r:embed="rId6">
            <a:alphaModFix/>
          </a:blip>
          <a:srcRect b="34201" l="46097" r="3269" t="5917"/>
          <a:stretch/>
        </p:blipFill>
        <p:spPr>
          <a:xfrm>
            <a:off x="5689014" y="1342766"/>
            <a:ext cx="2538491" cy="1492371"/>
          </a:xfrm>
          <a:prstGeom prst="rect">
            <a:avLst/>
          </a:prstGeom>
          <a:noFill/>
          <a:ln>
            <a:noFill/>
          </a:ln>
        </p:spPr>
      </p:pic>
      <p:pic>
        <p:nvPicPr>
          <p:cNvPr id="182" name="Google Shape;182;p80"/>
          <p:cNvPicPr preferRelativeResize="0"/>
          <p:nvPr/>
        </p:nvPicPr>
        <p:blipFill rotWithShape="1">
          <a:blip r:embed="rId8">
            <a:alphaModFix/>
          </a:blip>
          <a:srcRect b="8164" l="40575" r="36131" t="29955"/>
          <a:stretch/>
        </p:blipFill>
        <p:spPr>
          <a:xfrm>
            <a:off x="1734136" y="4353610"/>
            <a:ext cx="1612773" cy="2409909"/>
          </a:xfrm>
          <a:prstGeom prst="rect">
            <a:avLst/>
          </a:prstGeom>
          <a:noFill/>
          <a:ln>
            <a:noFill/>
          </a:ln>
        </p:spPr>
      </p:pic>
      <p:pic>
        <p:nvPicPr>
          <p:cNvPr id="183" name="Google Shape;183;p80"/>
          <p:cNvPicPr preferRelativeResize="0"/>
          <p:nvPr/>
        </p:nvPicPr>
        <p:blipFill rotWithShape="1">
          <a:blip r:embed="rId9">
            <a:alphaModFix/>
          </a:blip>
          <a:srcRect b="5504" l="0" r="0" t="19958"/>
          <a:stretch/>
        </p:blipFill>
        <p:spPr>
          <a:xfrm>
            <a:off x="1614629" y="2451123"/>
            <a:ext cx="1612772" cy="2208923"/>
          </a:xfrm>
          <a:prstGeom prst="rect">
            <a:avLst/>
          </a:prstGeom>
          <a:noFill/>
          <a:ln>
            <a:noFill/>
          </a:ln>
        </p:spPr>
      </p:pic>
      <p:pic>
        <p:nvPicPr>
          <p:cNvPr id="184" name="Google Shape;184;p80"/>
          <p:cNvPicPr preferRelativeResize="0"/>
          <p:nvPr/>
        </p:nvPicPr>
        <p:blipFill rotWithShape="1">
          <a:blip r:embed="rId6">
            <a:alphaModFix/>
          </a:blip>
          <a:srcRect b="5150" l="9429" r="76392" t="23434"/>
          <a:stretch/>
        </p:blipFill>
        <p:spPr>
          <a:xfrm>
            <a:off x="2309834" y="1601466"/>
            <a:ext cx="335161" cy="839180"/>
          </a:xfrm>
          <a:prstGeom prst="rect">
            <a:avLst/>
          </a:prstGeom>
          <a:noFill/>
          <a:ln>
            <a:noFill/>
          </a:ln>
        </p:spPr>
      </p:pic>
      <p:pic>
        <p:nvPicPr>
          <p:cNvPr id="185" name="Google Shape;185;p80"/>
          <p:cNvPicPr preferRelativeResize="0"/>
          <p:nvPr/>
        </p:nvPicPr>
        <p:blipFill rotWithShape="1">
          <a:blip r:embed="rId6">
            <a:alphaModFix/>
          </a:blip>
          <a:srcRect b="5150" l="9429" r="76392" t="23434"/>
          <a:stretch/>
        </p:blipFill>
        <p:spPr>
          <a:xfrm>
            <a:off x="2314004" y="1615945"/>
            <a:ext cx="335161" cy="839180"/>
          </a:xfrm>
          <a:prstGeom prst="rect">
            <a:avLst/>
          </a:prstGeom>
          <a:noFill/>
          <a:ln>
            <a:noFill/>
          </a:ln>
        </p:spPr>
      </p:pic>
      <p:pic>
        <p:nvPicPr>
          <p:cNvPr id="186" name="Google Shape;186;p80"/>
          <p:cNvPicPr preferRelativeResize="0"/>
          <p:nvPr/>
        </p:nvPicPr>
        <p:blipFill rotWithShape="1">
          <a:blip r:embed="rId9">
            <a:alphaModFix/>
          </a:blip>
          <a:srcRect b="5504" l="0" r="0" t="19958"/>
          <a:stretch/>
        </p:blipFill>
        <p:spPr>
          <a:xfrm>
            <a:off x="1614628" y="2451122"/>
            <a:ext cx="1612772" cy="2208923"/>
          </a:xfrm>
          <a:prstGeom prst="rect">
            <a:avLst/>
          </a:prstGeom>
          <a:noFill/>
          <a:ln>
            <a:noFill/>
          </a:ln>
        </p:spPr>
      </p:pic>
      <p:pic>
        <p:nvPicPr>
          <p:cNvPr id="187" name="Google Shape;187;p80"/>
          <p:cNvPicPr preferRelativeResize="0"/>
          <p:nvPr/>
        </p:nvPicPr>
        <p:blipFill rotWithShape="1">
          <a:blip r:embed="rId8">
            <a:alphaModFix/>
          </a:blip>
          <a:srcRect b="8164" l="40575" r="36131" t="29955"/>
          <a:stretch/>
        </p:blipFill>
        <p:spPr>
          <a:xfrm>
            <a:off x="1742218" y="4353610"/>
            <a:ext cx="1612773" cy="2409909"/>
          </a:xfrm>
          <a:prstGeom prst="rect">
            <a:avLst/>
          </a:prstGeom>
          <a:noFill/>
          <a:ln>
            <a:noFill/>
          </a:ln>
        </p:spPr>
      </p:pic>
      <p:pic>
        <p:nvPicPr>
          <p:cNvPr id="188" name="Google Shape;188;p80"/>
          <p:cNvPicPr preferRelativeResize="0"/>
          <p:nvPr/>
        </p:nvPicPr>
        <p:blipFill rotWithShape="1">
          <a:blip r:embed="rId10">
            <a:alphaModFix/>
          </a:blip>
          <a:srcRect b="22700" l="37155" r="37124" t="21231"/>
          <a:stretch/>
        </p:blipFill>
        <p:spPr>
          <a:xfrm>
            <a:off x="5638351" y="4216791"/>
            <a:ext cx="569411" cy="698191"/>
          </a:xfrm>
          <a:prstGeom prst="rect">
            <a:avLst/>
          </a:prstGeom>
          <a:noFill/>
          <a:ln>
            <a:noFill/>
          </a:ln>
        </p:spPr>
      </p:pic>
      <p:pic>
        <p:nvPicPr>
          <p:cNvPr descr="Electrobomba Centrifuga CM 100 1HP Marca Pentax" id="189" name="Google Shape;189;p80"/>
          <p:cNvPicPr preferRelativeResize="0"/>
          <p:nvPr/>
        </p:nvPicPr>
        <p:blipFill rotWithShape="1">
          <a:blip r:embed="rId4">
            <a:alphaModFix/>
          </a:blip>
          <a:srcRect b="0" l="0" r="0" t="0"/>
          <a:stretch/>
        </p:blipFill>
        <p:spPr>
          <a:xfrm>
            <a:off x="7923343" y="4918621"/>
            <a:ext cx="2448272" cy="205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1"/>
                                        </p:tgtEl>
                                      </p:cBhvr>
                                    </p:animEffect>
                                    <p:set>
                                      <p:cBhvr>
                                        <p:cTn dur="1" fill="hold">
                                          <p:stCondLst>
                                            <p:cond delay="500"/>
                                          </p:stCondLst>
                                        </p:cTn>
                                        <p:tgtEl>
                                          <p:spTgt spid="1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6"/>
                                        </p:tgtEl>
                                      </p:cBhvr>
                                    </p:animEffect>
                                    <p:set>
                                      <p:cBhvr>
                                        <p:cTn dur="1" fill="hold">
                                          <p:stCondLst>
                                            <p:cond delay="500"/>
                                          </p:stCondLst>
                                        </p:cTn>
                                        <p:tgtEl>
                                          <p:spTgt spid="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5"/>
                                        </p:tgtEl>
                                      </p:cBhvr>
                                    </p:animEffect>
                                    <p:set>
                                      <p:cBhvr>
                                        <p:cTn dur="1" fill="hold">
                                          <p:stCondLst>
                                            <p:cond delay="500"/>
                                          </p:stCondLst>
                                        </p:cTn>
                                        <p:tgtEl>
                                          <p:spTgt spid="1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7"/>
                                        </p:tgtEl>
                                      </p:cBhvr>
                                    </p:animEffect>
                                    <p:set>
                                      <p:cBhvr>
                                        <p:cTn dur="1" fill="hold">
                                          <p:stCondLst>
                                            <p:cond delay="500"/>
                                          </p:stCondLst>
                                        </p:cTn>
                                        <p:tgtEl>
                                          <p:spTgt spid="18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8"/>
                                        </p:tgtEl>
                                      </p:cBhvr>
                                    </p:animEffect>
                                    <p:set>
                                      <p:cBhvr>
                                        <p:cTn dur="1" fill="hold">
                                          <p:stCondLst>
                                            <p:cond delay="500"/>
                                          </p:stCondLst>
                                        </p:cTn>
                                        <p:tgtEl>
                                          <p:spTgt spid="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9"/>
                                        </p:tgtEl>
                                      </p:cBhvr>
                                    </p:animEffect>
                                    <p:set>
                                      <p:cBhvr>
                                        <p:cTn dur="1" fill="hold">
                                          <p:stCondLst>
                                            <p:cond delay="500"/>
                                          </p:stCondLst>
                                        </p:cTn>
                                        <p:tgtEl>
                                          <p:spTgt spid="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62"/>
                                        </p:tgtEl>
                                      </p:cBhvr>
                                    </p:animEffect>
                                    <p:set>
                                      <p:cBhvr>
                                        <p:cTn dur="1" fill="hold">
                                          <p:stCondLst>
                                            <p:cond delay="500"/>
                                          </p:stCondLst>
                                        </p:cTn>
                                        <p:tgtEl>
                                          <p:spTgt spid="16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1"/>
          <p:cNvSpPr txBox="1"/>
          <p:nvPr/>
        </p:nvSpPr>
        <p:spPr>
          <a:xfrm>
            <a:off x="4511824" y="2996952"/>
            <a:ext cx="432048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CONTROLADOR PI</a:t>
            </a:r>
            <a:endParaRPr b="0" i="0" sz="3600" u="none" cap="none" strike="noStrike">
              <a:solidFill>
                <a:schemeClr val="dk1"/>
              </a:solidFill>
              <a:latin typeface="Calibri"/>
              <a:ea typeface="Calibri"/>
              <a:cs typeface="Calibri"/>
              <a:sym typeface="Calibri"/>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82"/>
          <p:cNvSpPr txBox="1"/>
          <p:nvPr/>
        </p:nvSpPr>
        <p:spPr>
          <a:xfrm>
            <a:off x="2639616" y="692696"/>
            <a:ext cx="756084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OBTENCIÓN DEL CONTROLADOR </a:t>
            </a:r>
            <a:endParaRPr b="0" i="0" sz="3600" u="none" cap="none" strike="noStrike">
              <a:solidFill>
                <a:schemeClr val="dk1"/>
              </a:solidFill>
              <a:latin typeface="Calibri"/>
              <a:ea typeface="Calibri"/>
              <a:cs typeface="Calibri"/>
              <a:sym typeface="Calibri"/>
            </a:endParaRPr>
          </a:p>
        </p:txBody>
      </p:sp>
      <p:sp>
        <p:nvSpPr>
          <p:cNvPr id="200" name="Google Shape;200;p82"/>
          <p:cNvSpPr txBox="1"/>
          <p:nvPr/>
        </p:nvSpPr>
        <p:spPr>
          <a:xfrm>
            <a:off x="1703512" y="2060848"/>
            <a:ext cx="7725436" cy="52322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00000"/>
              </a:lnSpc>
              <a:spcBef>
                <a:spcPts val="0"/>
              </a:spcBef>
              <a:spcAft>
                <a:spcPts val="0"/>
              </a:spcAft>
              <a:buClr>
                <a:schemeClr val="dk1"/>
              </a:buClr>
              <a:buSzPts val="2800"/>
              <a:buFont typeface="Noto Sans Symbols"/>
              <a:buChar char="▪"/>
            </a:pPr>
            <a:r>
              <a:rPr b="0" i="0" lang="es-BO" sz="2800" u="none" cap="none" strike="noStrike">
                <a:solidFill>
                  <a:schemeClr val="dk1"/>
                </a:solidFill>
                <a:latin typeface="Calibri"/>
                <a:ea typeface="Calibri"/>
                <a:cs typeface="Calibri"/>
                <a:sym typeface="Calibri"/>
              </a:rPr>
              <a:t>Diseño y simulación del controlador (Analítico)</a:t>
            </a:r>
            <a:endParaRPr b="0" i="0" sz="1400" u="none" cap="none" strike="noStrike">
              <a:solidFill>
                <a:srgbClr val="000000"/>
              </a:solidFill>
              <a:latin typeface="Arial"/>
              <a:ea typeface="Arial"/>
              <a:cs typeface="Arial"/>
              <a:sym typeface="Arial"/>
            </a:endParaRPr>
          </a:p>
        </p:txBody>
      </p:sp>
      <p:sp>
        <p:nvSpPr>
          <p:cNvPr id="201" name="Google Shape;201;p82"/>
          <p:cNvSpPr txBox="1"/>
          <p:nvPr/>
        </p:nvSpPr>
        <p:spPr>
          <a:xfrm>
            <a:off x="1735359" y="3602242"/>
            <a:ext cx="6075638" cy="52322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00000"/>
              </a:lnSpc>
              <a:spcBef>
                <a:spcPts val="0"/>
              </a:spcBef>
              <a:spcAft>
                <a:spcPts val="0"/>
              </a:spcAft>
              <a:buClr>
                <a:schemeClr val="dk1"/>
              </a:buClr>
              <a:buSzPts val="2800"/>
              <a:buFont typeface="Noto Sans Symbols"/>
              <a:buChar char="▪"/>
            </a:pPr>
            <a:r>
              <a:rPr b="0" i="0" lang="es-BO" sz="2800" u="none" cap="none" strike="noStrike">
                <a:solidFill>
                  <a:schemeClr val="dk1"/>
                </a:solidFill>
                <a:latin typeface="Calibri"/>
                <a:ea typeface="Calibri"/>
                <a:cs typeface="Calibri"/>
                <a:sym typeface="Calibri"/>
              </a:rPr>
              <a:t>Implementación del controlador</a:t>
            </a:r>
            <a:endParaRPr b="0" i="0" sz="2800" u="none" cap="none" strike="noStrike">
              <a:solidFill>
                <a:schemeClr val="dk1"/>
              </a:solidFill>
              <a:latin typeface="Calibri"/>
              <a:ea typeface="Calibri"/>
              <a:cs typeface="Calibri"/>
              <a:sym typeface="Calibri"/>
            </a:endParaRPr>
          </a:p>
        </p:txBody>
      </p:sp>
      <p:sp>
        <p:nvSpPr>
          <p:cNvPr id="202" name="Google Shape;202;p82"/>
          <p:cNvSpPr txBox="1"/>
          <p:nvPr/>
        </p:nvSpPr>
        <p:spPr>
          <a:xfrm>
            <a:off x="1735359" y="4373700"/>
            <a:ext cx="6075638" cy="52322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00000"/>
              </a:lnSpc>
              <a:spcBef>
                <a:spcPts val="0"/>
              </a:spcBef>
              <a:spcAft>
                <a:spcPts val="0"/>
              </a:spcAft>
              <a:buClr>
                <a:schemeClr val="dk1"/>
              </a:buClr>
              <a:buSzPts val="2800"/>
              <a:buFont typeface="Noto Sans Symbols"/>
              <a:buChar char="▪"/>
            </a:pPr>
            <a:r>
              <a:rPr b="0" i="0" lang="es-BO" sz="2800" u="none" cap="none" strike="noStrike">
                <a:solidFill>
                  <a:schemeClr val="dk1"/>
                </a:solidFill>
                <a:latin typeface="Calibri"/>
                <a:ea typeface="Calibri"/>
                <a:cs typeface="Calibri"/>
                <a:sym typeface="Calibri"/>
              </a:rPr>
              <a:t>Pruebas del controlador</a:t>
            </a:r>
            <a:endParaRPr b="0" i="0" sz="2800" u="none" cap="none" strike="noStrike">
              <a:solidFill>
                <a:schemeClr val="dk1"/>
              </a:solidFill>
              <a:latin typeface="Calibri"/>
              <a:ea typeface="Calibri"/>
              <a:cs typeface="Calibri"/>
              <a:sym typeface="Calibri"/>
            </a:endParaRPr>
          </a:p>
        </p:txBody>
      </p:sp>
      <p:sp>
        <p:nvSpPr>
          <p:cNvPr id="203" name="Google Shape;203;p82"/>
          <p:cNvSpPr txBox="1"/>
          <p:nvPr/>
        </p:nvSpPr>
        <p:spPr>
          <a:xfrm>
            <a:off x="1703511" y="2830784"/>
            <a:ext cx="9238277" cy="52322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00000"/>
              </a:lnSpc>
              <a:spcBef>
                <a:spcPts val="0"/>
              </a:spcBef>
              <a:spcAft>
                <a:spcPts val="0"/>
              </a:spcAft>
              <a:buClr>
                <a:schemeClr val="dk1"/>
              </a:buClr>
              <a:buSzPts val="2800"/>
              <a:buFont typeface="Noto Sans Symbols"/>
              <a:buChar char="▪"/>
            </a:pPr>
            <a:r>
              <a:rPr b="0" i="0" lang="es-BO" sz="2800" u="none" cap="none" strike="noStrike">
                <a:solidFill>
                  <a:schemeClr val="dk1"/>
                </a:solidFill>
                <a:latin typeface="Calibri"/>
                <a:ea typeface="Calibri"/>
                <a:cs typeface="Calibri"/>
                <a:sym typeface="Calibri"/>
              </a:rPr>
              <a:t>Consideraciones a tomar para la implementación</a:t>
            </a:r>
            <a:endParaRPr b="0" i="0" sz="2800" u="none" cap="none" strike="noStrike">
              <a:solidFill>
                <a:schemeClr val="dk1"/>
              </a:solidFill>
              <a:latin typeface="Calibri"/>
              <a:ea typeface="Calibri"/>
              <a:cs typeface="Calibri"/>
              <a:sym typeface="Calibri"/>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83"/>
          <p:cNvSpPr txBox="1"/>
          <p:nvPr/>
        </p:nvSpPr>
        <p:spPr>
          <a:xfrm>
            <a:off x="587388" y="936348"/>
            <a:ext cx="76328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Tiempos de establecimiento a diferentes alturas sin controlador</a:t>
            </a:r>
            <a:endParaRPr b="0" i="0" sz="1400" u="none" cap="none" strike="noStrike">
              <a:solidFill>
                <a:srgbClr val="000000"/>
              </a:solidFill>
              <a:latin typeface="Arial"/>
              <a:ea typeface="Arial"/>
              <a:cs typeface="Arial"/>
              <a:sym typeface="Arial"/>
            </a:endParaRPr>
          </a:p>
        </p:txBody>
      </p:sp>
      <p:sp>
        <p:nvSpPr>
          <p:cNvPr id="209" name="Google Shape;209;p83"/>
          <p:cNvSpPr txBox="1"/>
          <p:nvPr/>
        </p:nvSpPr>
        <p:spPr>
          <a:xfrm>
            <a:off x="587388" y="260648"/>
            <a:ext cx="756084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OBTENCIÓN DEL CONTROLADOR </a:t>
            </a:r>
            <a:endParaRPr b="0" i="0" sz="3600" u="none" cap="none" strike="noStrike">
              <a:solidFill>
                <a:schemeClr val="dk1"/>
              </a:solidFill>
              <a:latin typeface="Calibri"/>
              <a:ea typeface="Calibri"/>
              <a:cs typeface="Calibri"/>
              <a:sym typeface="Calibri"/>
            </a:endParaRPr>
          </a:p>
        </p:txBody>
      </p:sp>
      <p:sp>
        <p:nvSpPr>
          <p:cNvPr id="210" name="Google Shape;210;p83"/>
          <p:cNvSpPr txBox="1"/>
          <p:nvPr/>
        </p:nvSpPr>
        <p:spPr>
          <a:xfrm>
            <a:off x="6414736" y="1989789"/>
            <a:ext cx="5205697" cy="923330"/>
          </a:xfrm>
          <a:prstGeom prst="rect">
            <a:avLst/>
          </a:prstGeom>
          <a:blipFill rotWithShape="1">
            <a:blip r:embed="rId3">
              <a:alphaModFix/>
            </a:blip>
            <a:stretch>
              <a:fillRect b="-4603" l="-933" r="0" t="-32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11" name="Google Shape;211;p83"/>
          <p:cNvSpPr txBox="1"/>
          <p:nvPr/>
        </p:nvSpPr>
        <p:spPr>
          <a:xfrm>
            <a:off x="6528048" y="4221088"/>
            <a:ext cx="520569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0000"/>
                </a:solidFill>
                <a:latin typeface="Calibri"/>
                <a:ea typeface="Calibri"/>
                <a:cs typeface="Calibri"/>
                <a:sym typeface="Calibri"/>
              </a:rPr>
              <a:t>Como </a:t>
            </a:r>
            <a:r>
              <a:rPr b="1" i="0" lang="es-BO" sz="1800" u="none" cap="none" strike="noStrike">
                <a:solidFill>
                  <a:srgbClr val="FF0000"/>
                </a:solidFill>
                <a:latin typeface="Calibri"/>
                <a:ea typeface="Calibri"/>
                <a:cs typeface="Calibri"/>
                <a:sym typeface="Calibri"/>
              </a:rPr>
              <a:t>tiempo máximo </a:t>
            </a:r>
            <a:r>
              <a:rPr b="0" i="0" lang="es-BO" sz="1800" u="none" cap="none" strike="noStrike">
                <a:solidFill>
                  <a:srgbClr val="FF0000"/>
                </a:solidFill>
                <a:latin typeface="Calibri"/>
                <a:ea typeface="Calibri"/>
                <a:cs typeface="Calibri"/>
                <a:sym typeface="Calibri"/>
              </a:rPr>
              <a:t>sin limites.</a:t>
            </a:r>
            <a:endParaRPr b="0" i="0" sz="1400" u="none" cap="none" strike="noStrike">
              <a:solidFill>
                <a:srgbClr val="000000"/>
              </a:solidFill>
              <a:latin typeface="Arial"/>
              <a:ea typeface="Arial"/>
              <a:cs typeface="Arial"/>
              <a:sym typeface="Arial"/>
            </a:endParaRPr>
          </a:p>
        </p:txBody>
      </p:sp>
      <p:sp>
        <p:nvSpPr>
          <p:cNvPr id="212" name="Google Shape;212;p83"/>
          <p:cNvSpPr txBox="1"/>
          <p:nvPr/>
        </p:nvSpPr>
        <p:spPr>
          <a:xfrm>
            <a:off x="6384032" y="3311820"/>
            <a:ext cx="482453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FF"/>
                </a:solidFill>
                <a:latin typeface="Calibri"/>
                <a:ea typeface="Calibri"/>
                <a:cs typeface="Calibri"/>
                <a:sym typeface="Calibri"/>
              </a:rPr>
              <a:t>Para el diseño del controlador se tomara en un intermedio  de las mediciones</a:t>
            </a:r>
            <a:endParaRPr b="0" i="0" sz="1400" u="none" cap="none" strike="noStrike">
              <a:solidFill>
                <a:srgbClr val="000000"/>
              </a:solidFill>
              <a:latin typeface="Arial"/>
              <a:ea typeface="Arial"/>
              <a:cs typeface="Arial"/>
              <a:sym typeface="Arial"/>
            </a:endParaRPr>
          </a:p>
        </p:txBody>
      </p:sp>
      <p:graphicFrame>
        <p:nvGraphicFramePr>
          <p:cNvPr id="213" name="Google Shape;213;p83"/>
          <p:cNvGraphicFramePr/>
          <p:nvPr/>
        </p:nvGraphicFramePr>
        <p:xfrm>
          <a:off x="695400" y="2276872"/>
          <a:ext cx="3000000" cy="3000000"/>
        </p:xfrm>
        <a:graphic>
          <a:graphicData uri="http://schemas.openxmlformats.org/drawingml/2006/table">
            <a:tbl>
              <a:tblPr>
                <a:noFill/>
                <a:tableStyleId>{B701597D-D528-486F-94E8-1363BCE59FF6}</a:tableStyleId>
              </a:tblPr>
              <a:tblGrid>
                <a:gridCol w="802475"/>
                <a:gridCol w="2065375"/>
                <a:gridCol w="1236600"/>
                <a:gridCol w="1368150"/>
              </a:tblGrid>
              <a:tr h="597525">
                <a:tc>
                  <a:txBody>
                    <a:bodyPr/>
                    <a:lstStyle/>
                    <a:p>
                      <a:pPr indent="0" lvl="0" marL="0" marR="0" rtl="0" algn="ctr">
                        <a:lnSpc>
                          <a:spcPct val="100000"/>
                        </a:lnSpc>
                        <a:spcBef>
                          <a:spcPts val="0"/>
                        </a:spcBef>
                        <a:spcAft>
                          <a:spcPts val="0"/>
                        </a:spcAft>
                        <a:buClr>
                          <a:srgbClr val="000000"/>
                        </a:buClr>
                        <a:buSzPts val="1400"/>
                        <a:buFont typeface="Arial"/>
                        <a:buNone/>
                      </a:pPr>
                      <a:r>
                        <a:rPr b="1" i="0" lang="es-BO" sz="1400" u="none" cap="none" strike="noStrike">
                          <a:solidFill>
                            <a:srgbClr val="000000"/>
                          </a:solidFill>
                          <a:latin typeface="Calibri"/>
                          <a:ea typeface="Calibri"/>
                          <a:cs typeface="Calibri"/>
                          <a:sym typeface="Calibri"/>
                        </a:rPr>
                        <a:t>Altura [cm]</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i="0" lang="es-BO" sz="1400" u="none" cap="none" strike="noStrike">
                          <a:solidFill>
                            <a:srgbClr val="000000"/>
                          </a:solidFill>
                          <a:latin typeface="Calibri"/>
                          <a:ea typeface="Calibri"/>
                          <a:cs typeface="Calibri"/>
                          <a:sym typeface="Calibri"/>
                        </a:rPr>
                        <a:t>Tiempo de establecimiento [minutos: segundos]</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i="0" lang="es-BO" sz="1400" u="none" cap="none" strike="noStrike">
                          <a:solidFill>
                            <a:srgbClr val="000000"/>
                          </a:solidFill>
                          <a:latin typeface="Calibri"/>
                          <a:ea typeface="Calibri"/>
                          <a:cs typeface="Calibri"/>
                          <a:sym typeface="Calibri"/>
                        </a:rPr>
                        <a:t>Frecuencia (Hz)</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i="0" lang="es-BO" sz="1400" u="none" cap="none" strike="noStrike">
                          <a:solidFill>
                            <a:srgbClr val="000000"/>
                          </a:solidFill>
                          <a:latin typeface="Calibri"/>
                          <a:ea typeface="Calibri"/>
                          <a:cs typeface="Calibri"/>
                          <a:sym typeface="Calibri"/>
                        </a:rPr>
                        <a:t>Caudal de entrada (litros/min)</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BC2E6"/>
                    </a:solidFill>
                  </a:tcPr>
                </a:tc>
              </a:tr>
              <a:tr h="326950">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39,6</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6:40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40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20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37,3</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12:20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33,1</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19,4</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16,7</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16:00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25</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13,5</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12,3</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21:20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20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8,6</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EBF7"/>
                    </a:solidFill>
                  </a:tcPr>
                </a:tc>
              </a:tr>
              <a:tr h="326950">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8,6</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28:30</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17</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s-BO" sz="1600" u="none" cap="none" strike="noStrike">
                          <a:solidFill>
                            <a:srgbClr val="000000"/>
                          </a:solidFill>
                          <a:latin typeface="Calibri"/>
                          <a:ea typeface="Calibri"/>
                          <a:cs typeface="Calibri"/>
                          <a:sym typeface="Calibri"/>
                        </a:rPr>
                        <a:t>6,4</a:t>
                      </a:r>
                      <a:endParaRPr sz="1400" u="none" cap="none" strike="noStrike"/>
                    </a:p>
                  </a:txBody>
                  <a:tcPr marT="7625" marB="0" marR="7625" marL="762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DEBF7"/>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84"/>
          <p:cNvSpPr txBox="1"/>
          <p:nvPr>
            <p:ph type="title"/>
          </p:nvPr>
        </p:nvSpPr>
        <p:spPr>
          <a:xfrm>
            <a:off x="414494" y="778975"/>
            <a:ext cx="10515600" cy="583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Font typeface="Calibri"/>
              <a:buNone/>
            </a:pPr>
            <a:r>
              <a:rPr b="1" lang="es-BO" sz="1800">
                <a:latin typeface="Calibri"/>
                <a:ea typeface="Calibri"/>
                <a:cs typeface="Calibri"/>
                <a:sym typeface="Calibri"/>
              </a:rPr>
              <a:t>REALIZANDO CÁLCULOS</a:t>
            </a:r>
            <a:endParaRPr/>
          </a:p>
        </p:txBody>
      </p:sp>
      <p:sp>
        <p:nvSpPr>
          <p:cNvPr id="220" name="Google Shape;220;p84"/>
          <p:cNvSpPr txBox="1"/>
          <p:nvPr>
            <p:ph idx="1" type="body"/>
          </p:nvPr>
        </p:nvSpPr>
        <p:spPr>
          <a:xfrm>
            <a:off x="656897" y="2174061"/>
            <a:ext cx="4810246" cy="435133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3200"/>
              <a:buChar char="•"/>
            </a:pPr>
            <a:r>
              <a:rPr lang="es-BO"/>
              <a:t> </a:t>
            </a:r>
            <a:endParaRPr/>
          </a:p>
        </p:txBody>
      </p:sp>
      <p:sp>
        <p:nvSpPr>
          <p:cNvPr id="221" name="Google Shape;221;p84"/>
          <p:cNvSpPr txBox="1"/>
          <p:nvPr/>
        </p:nvSpPr>
        <p:spPr>
          <a:xfrm>
            <a:off x="7182059" y="5376854"/>
            <a:ext cx="3748035" cy="906145"/>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22" name="Google Shape;222;p84"/>
          <p:cNvSpPr txBox="1"/>
          <p:nvPr/>
        </p:nvSpPr>
        <p:spPr>
          <a:xfrm>
            <a:off x="6765889" y="2174061"/>
            <a:ext cx="3881175" cy="84619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23" name="Google Shape;223;p84"/>
          <p:cNvSpPr txBox="1"/>
          <p:nvPr/>
        </p:nvSpPr>
        <p:spPr>
          <a:xfrm>
            <a:off x="6765889" y="4911515"/>
            <a:ext cx="4373545" cy="369332"/>
          </a:xfrm>
          <a:prstGeom prst="rect">
            <a:avLst/>
          </a:prstGeom>
          <a:blipFill rotWithShape="1">
            <a:blip r:embed="rId6">
              <a:alphaModFix/>
            </a:blip>
            <a:stretch>
              <a:fillRect b="-133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24" name="Google Shape;224;p84"/>
          <p:cNvSpPr txBox="1"/>
          <p:nvPr/>
        </p:nvSpPr>
        <p:spPr>
          <a:xfrm>
            <a:off x="6724857" y="3461907"/>
            <a:ext cx="2841171" cy="369332"/>
          </a:xfrm>
          <a:prstGeom prst="rect">
            <a:avLst/>
          </a:prstGeom>
          <a:blipFill rotWithShape="1">
            <a:blip r:embed="rId7">
              <a:alphaModFix/>
            </a:blip>
            <a:stretch>
              <a:fillRect b="-133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25" name="Google Shape;225;p84"/>
          <p:cNvSpPr txBox="1"/>
          <p:nvPr/>
        </p:nvSpPr>
        <p:spPr>
          <a:xfrm>
            <a:off x="6724858" y="1667227"/>
            <a:ext cx="2841171" cy="369332"/>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26" name="Google Shape;226;p84"/>
          <p:cNvSpPr txBox="1"/>
          <p:nvPr/>
        </p:nvSpPr>
        <p:spPr>
          <a:xfrm>
            <a:off x="6724858" y="4100531"/>
            <a:ext cx="5076929" cy="461665"/>
          </a:xfrm>
          <a:prstGeom prst="rect">
            <a:avLst/>
          </a:prstGeom>
          <a:blipFill rotWithShape="1">
            <a:blip r:embed="rId9">
              <a:alphaModFix/>
            </a:blip>
            <a:stretch>
              <a:fillRect b="-1330" l="-23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27" name="Google Shape;227;p84"/>
          <p:cNvSpPr txBox="1"/>
          <p:nvPr/>
        </p:nvSpPr>
        <p:spPr>
          <a:xfrm>
            <a:off x="414494" y="186517"/>
            <a:ext cx="1144476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OBTENCIÓN FUNCION DE TRANSFERENCIA EXPERIMENTAL</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85"/>
          <p:cNvSpPr txBox="1"/>
          <p:nvPr/>
        </p:nvSpPr>
        <p:spPr>
          <a:xfrm>
            <a:off x="382760" y="1755407"/>
            <a:ext cx="5364480" cy="119167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33" name="Google Shape;233;p85"/>
          <p:cNvSpPr txBox="1"/>
          <p:nvPr/>
        </p:nvSpPr>
        <p:spPr>
          <a:xfrm>
            <a:off x="838200" y="1209187"/>
            <a:ext cx="10515600" cy="42657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Calibri"/>
              <a:buNone/>
            </a:pPr>
            <a:r>
              <a:rPr b="0" i="0" lang="es-BO" sz="2000" u="none" cap="none" strike="noStrike">
                <a:solidFill>
                  <a:schemeClr val="dk1"/>
                </a:solidFill>
                <a:latin typeface="Calibri"/>
                <a:ea typeface="Calibri"/>
                <a:cs typeface="Calibri"/>
                <a:sym typeface="Calibri"/>
              </a:rPr>
              <a:t>Tomando en cuenta el caudal de entrada</a:t>
            </a:r>
            <a:endParaRPr b="0" i="0" sz="1400" u="none" cap="none" strike="noStrike">
              <a:solidFill>
                <a:srgbClr val="000000"/>
              </a:solidFill>
              <a:latin typeface="Arial"/>
              <a:ea typeface="Arial"/>
              <a:cs typeface="Arial"/>
              <a:sym typeface="Arial"/>
            </a:endParaRPr>
          </a:p>
        </p:txBody>
      </p:sp>
      <p:pic>
        <p:nvPicPr>
          <p:cNvPr id="234" name="Google Shape;234;p85"/>
          <p:cNvPicPr preferRelativeResize="0"/>
          <p:nvPr/>
        </p:nvPicPr>
        <p:blipFill rotWithShape="1">
          <a:blip r:embed="rId4">
            <a:alphaModFix/>
          </a:blip>
          <a:srcRect b="0" l="0" r="0" t="0"/>
          <a:stretch/>
        </p:blipFill>
        <p:spPr>
          <a:xfrm>
            <a:off x="5456870" y="1209187"/>
            <a:ext cx="6352370" cy="4764277"/>
          </a:xfrm>
          <a:prstGeom prst="rect">
            <a:avLst/>
          </a:prstGeom>
          <a:noFill/>
          <a:ln>
            <a:noFill/>
          </a:ln>
        </p:spPr>
      </p:pic>
      <p:pic>
        <p:nvPicPr>
          <p:cNvPr id="235" name="Google Shape;235;p85"/>
          <p:cNvPicPr preferRelativeResize="0"/>
          <p:nvPr/>
        </p:nvPicPr>
        <p:blipFill rotWithShape="1">
          <a:blip r:embed="rId5">
            <a:alphaModFix/>
          </a:blip>
          <a:srcRect b="7407" l="23736" r="59533" t="68982"/>
          <a:stretch/>
        </p:blipFill>
        <p:spPr>
          <a:xfrm>
            <a:off x="1921641" y="3136133"/>
            <a:ext cx="2861435" cy="2187137"/>
          </a:xfrm>
          <a:prstGeom prst="rect">
            <a:avLst/>
          </a:prstGeom>
          <a:noFill/>
          <a:ln>
            <a:noFill/>
          </a:ln>
        </p:spPr>
      </p:pic>
      <p:sp>
        <p:nvSpPr>
          <p:cNvPr id="236" name="Google Shape;236;p85"/>
          <p:cNvSpPr txBox="1"/>
          <p:nvPr/>
        </p:nvSpPr>
        <p:spPr>
          <a:xfrm>
            <a:off x="332745" y="219999"/>
            <a:ext cx="1177437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OBTENCIÓN FUNCION DE TRANSFERENCIA EXPERIMENTAL</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86"/>
          <p:cNvSpPr txBox="1"/>
          <p:nvPr/>
        </p:nvSpPr>
        <p:spPr>
          <a:xfrm>
            <a:off x="1641004" y="1527140"/>
            <a:ext cx="2952328" cy="72962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2" name="Google Shape;242;p86"/>
          <p:cNvSpPr/>
          <p:nvPr/>
        </p:nvSpPr>
        <p:spPr>
          <a:xfrm>
            <a:off x="2021620" y="1489571"/>
            <a:ext cx="2286768" cy="808286"/>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86"/>
          <p:cNvSpPr txBox="1"/>
          <p:nvPr/>
        </p:nvSpPr>
        <p:spPr>
          <a:xfrm>
            <a:off x="3493539" y="-1045"/>
            <a:ext cx="577265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DISEÑO DEL CONTROLADOR</a:t>
            </a:r>
            <a:endParaRPr b="0" i="0" sz="3600" u="none" cap="none" strike="noStrike">
              <a:solidFill>
                <a:schemeClr val="dk1"/>
              </a:solidFill>
              <a:latin typeface="Calibri"/>
              <a:ea typeface="Calibri"/>
              <a:cs typeface="Calibri"/>
              <a:sym typeface="Calibri"/>
            </a:endParaRPr>
          </a:p>
        </p:txBody>
      </p:sp>
      <p:sp>
        <p:nvSpPr>
          <p:cNvPr id="244" name="Google Shape;244;p86"/>
          <p:cNvSpPr txBox="1"/>
          <p:nvPr/>
        </p:nvSpPr>
        <p:spPr>
          <a:xfrm>
            <a:off x="5301757" y="456783"/>
            <a:ext cx="22969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(Método truxal)</a:t>
            </a:r>
            <a:endParaRPr b="0" i="0" sz="1400" u="none" cap="none" strike="noStrike">
              <a:solidFill>
                <a:srgbClr val="000000"/>
              </a:solidFill>
              <a:latin typeface="Arial"/>
              <a:ea typeface="Arial"/>
              <a:cs typeface="Arial"/>
              <a:sym typeface="Arial"/>
            </a:endParaRPr>
          </a:p>
        </p:txBody>
      </p:sp>
      <p:sp>
        <p:nvSpPr>
          <p:cNvPr id="245" name="Google Shape;245;p86"/>
          <p:cNvSpPr txBox="1"/>
          <p:nvPr/>
        </p:nvSpPr>
        <p:spPr>
          <a:xfrm>
            <a:off x="7218052" y="1407261"/>
            <a:ext cx="2952328" cy="675698"/>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Google Shape;246;p86"/>
          <p:cNvSpPr/>
          <p:nvPr/>
        </p:nvSpPr>
        <p:spPr>
          <a:xfrm>
            <a:off x="7598670" y="1369692"/>
            <a:ext cx="2137419" cy="808286"/>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p86"/>
          <p:cNvSpPr txBox="1"/>
          <p:nvPr/>
        </p:nvSpPr>
        <p:spPr>
          <a:xfrm>
            <a:off x="892468" y="933660"/>
            <a:ext cx="48560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Función de transferencia a lazo abierto</a:t>
            </a:r>
            <a:endParaRPr b="0" i="0" sz="1400" u="none" cap="none" strike="noStrike">
              <a:solidFill>
                <a:srgbClr val="000000"/>
              </a:solidFill>
              <a:latin typeface="Arial"/>
              <a:ea typeface="Arial"/>
              <a:cs typeface="Arial"/>
              <a:sym typeface="Arial"/>
            </a:endParaRPr>
          </a:p>
        </p:txBody>
      </p:sp>
      <p:sp>
        <p:nvSpPr>
          <p:cNvPr id="248" name="Google Shape;248;p86"/>
          <p:cNvSpPr txBox="1"/>
          <p:nvPr/>
        </p:nvSpPr>
        <p:spPr>
          <a:xfrm>
            <a:off x="4272384" y="2980759"/>
            <a:ext cx="2952328" cy="76014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9" name="Google Shape;249;p86"/>
          <p:cNvSpPr/>
          <p:nvPr/>
        </p:nvSpPr>
        <p:spPr>
          <a:xfrm>
            <a:off x="4308388" y="2943190"/>
            <a:ext cx="2880320" cy="808286"/>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250" name="Google Shape;250;p86"/>
          <p:cNvCxnSpPr>
            <a:stCxn id="246" idx="2"/>
            <a:endCxn id="249" idx="0"/>
          </p:cNvCxnSpPr>
          <p:nvPr/>
        </p:nvCxnSpPr>
        <p:spPr>
          <a:xfrm flipH="1">
            <a:off x="5748680" y="2177978"/>
            <a:ext cx="2918700" cy="765300"/>
          </a:xfrm>
          <a:prstGeom prst="straightConnector1">
            <a:avLst/>
          </a:prstGeom>
          <a:noFill/>
          <a:ln cap="flat" cmpd="sng" w="38100">
            <a:solidFill>
              <a:schemeClr val="dk1"/>
            </a:solidFill>
            <a:prstDash val="solid"/>
            <a:round/>
            <a:headEnd len="sm" w="sm" type="none"/>
            <a:tailEnd len="med" w="med" type="triangle"/>
          </a:ln>
        </p:spPr>
      </p:cxnSp>
      <p:cxnSp>
        <p:nvCxnSpPr>
          <p:cNvPr id="251" name="Google Shape;251;p86"/>
          <p:cNvCxnSpPr>
            <a:stCxn id="242" idx="2"/>
            <a:endCxn id="249" idx="0"/>
          </p:cNvCxnSpPr>
          <p:nvPr/>
        </p:nvCxnSpPr>
        <p:spPr>
          <a:xfrm>
            <a:off x="3165004" y="2297857"/>
            <a:ext cx="2583600" cy="645300"/>
          </a:xfrm>
          <a:prstGeom prst="straightConnector1">
            <a:avLst/>
          </a:prstGeom>
          <a:noFill/>
          <a:ln cap="flat" cmpd="sng" w="38100">
            <a:solidFill>
              <a:schemeClr val="dk1"/>
            </a:solidFill>
            <a:prstDash val="solid"/>
            <a:round/>
            <a:headEnd len="sm" w="sm" type="none"/>
            <a:tailEnd len="med" w="med" type="triangle"/>
          </a:ln>
        </p:spPr>
      </p:cxnSp>
      <p:sp>
        <p:nvSpPr>
          <p:cNvPr id="252" name="Google Shape;252;p86"/>
          <p:cNvSpPr txBox="1"/>
          <p:nvPr/>
        </p:nvSpPr>
        <p:spPr>
          <a:xfrm>
            <a:off x="4073332" y="4187161"/>
            <a:ext cx="2952328" cy="703078"/>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53" name="Google Shape;253;p86"/>
          <p:cNvSpPr txBox="1"/>
          <p:nvPr/>
        </p:nvSpPr>
        <p:spPr>
          <a:xfrm>
            <a:off x="4369458" y="5308276"/>
            <a:ext cx="4228966" cy="53694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54" name="Google Shape;254;p86"/>
          <p:cNvSpPr txBox="1"/>
          <p:nvPr/>
        </p:nvSpPr>
        <p:spPr>
          <a:xfrm>
            <a:off x="3986373" y="5637675"/>
            <a:ext cx="2952328" cy="394210"/>
          </a:xfrm>
          <a:prstGeom prst="rect">
            <a:avLst/>
          </a:prstGeom>
          <a:blipFill rotWithShape="1">
            <a:blip r:embed="rId8">
              <a:alphaModFix/>
            </a:blip>
            <a:stretch>
              <a:fillRect b="-6248"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55" name="Google Shape;255;p86"/>
          <p:cNvSpPr txBox="1"/>
          <p:nvPr/>
        </p:nvSpPr>
        <p:spPr>
          <a:xfrm>
            <a:off x="4903702" y="5662553"/>
            <a:ext cx="2952328" cy="369332"/>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56" name="Google Shape;256;p86"/>
          <p:cNvSpPr txBox="1"/>
          <p:nvPr/>
        </p:nvSpPr>
        <p:spPr>
          <a:xfrm>
            <a:off x="7058468" y="941107"/>
            <a:ext cx="35941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Función de transferencia Objetivo</a:t>
            </a:r>
            <a:endParaRPr b="0" i="0" sz="1400" u="none" cap="none" strike="noStrike">
              <a:solidFill>
                <a:srgbClr val="000000"/>
              </a:solidFill>
              <a:latin typeface="Arial"/>
              <a:ea typeface="Arial"/>
              <a:cs typeface="Arial"/>
              <a:sym typeface="Arial"/>
            </a:endParaRPr>
          </a:p>
        </p:txBody>
      </p:sp>
      <p:sp>
        <p:nvSpPr>
          <p:cNvPr id="257" name="Google Shape;257;p86"/>
          <p:cNvSpPr/>
          <p:nvPr/>
        </p:nvSpPr>
        <p:spPr>
          <a:xfrm>
            <a:off x="4439082" y="5255324"/>
            <a:ext cx="3002360" cy="885211"/>
          </a:xfrm>
          <a:prstGeom prst="roundRect">
            <a:avLst>
              <a:gd fmla="val 16667" name="adj"/>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58" name="Google Shape;258;p86"/>
          <p:cNvPicPr preferRelativeResize="0"/>
          <p:nvPr/>
        </p:nvPicPr>
        <p:blipFill rotWithShape="1">
          <a:blip r:embed="rId10">
            <a:alphaModFix/>
          </a:blip>
          <a:srcRect b="0" l="6250" r="4735" t="5239"/>
          <a:stretch/>
        </p:blipFill>
        <p:spPr>
          <a:xfrm>
            <a:off x="7788523" y="2441839"/>
            <a:ext cx="4068145" cy="3248131"/>
          </a:xfrm>
          <a:prstGeom prst="rect">
            <a:avLst/>
          </a:prstGeom>
          <a:noFill/>
          <a:ln>
            <a:noFill/>
          </a:ln>
        </p:spPr>
      </p:pic>
      <p:sp>
        <p:nvSpPr>
          <p:cNvPr id="259" name="Google Shape;259;p86"/>
          <p:cNvSpPr txBox="1"/>
          <p:nvPr/>
        </p:nvSpPr>
        <p:spPr>
          <a:xfrm>
            <a:off x="802972" y="5745380"/>
            <a:ext cx="265842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Tiempo de asentamiento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ts =465 = seg = 7,7 min </a:t>
            </a:r>
            <a:endParaRPr b="0" i="0" sz="1400" u="none" cap="none" strike="noStrike">
              <a:solidFill>
                <a:srgbClr val="000000"/>
              </a:solidFill>
              <a:latin typeface="Arial"/>
              <a:ea typeface="Arial"/>
              <a:cs typeface="Arial"/>
              <a:sym typeface="Arial"/>
            </a:endParaRPr>
          </a:p>
        </p:txBody>
      </p:sp>
      <p:sp>
        <p:nvSpPr>
          <p:cNvPr id="260" name="Google Shape;260;p86"/>
          <p:cNvSpPr txBox="1"/>
          <p:nvPr/>
        </p:nvSpPr>
        <p:spPr>
          <a:xfrm>
            <a:off x="8456083" y="5685148"/>
            <a:ext cx="3068380" cy="646331"/>
          </a:xfrm>
          <a:prstGeom prst="rect">
            <a:avLst/>
          </a:prstGeom>
          <a:blipFill rotWithShape="1">
            <a:blip r:embed="rId11">
              <a:alphaModFix/>
            </a:blip>
            <a:stretch>
              <a:fillRect b="-14149" l="-1587" r="0" t="-56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61" name="Google Shape;261;p86"/>
          <p:cNvSpPr txBox="1"/>
          <p:nvPr/>
        </p:nvSpPr>
        <p:spPr>
          <a:xfrm>
            <a:off x="4223306" y="1516071"/>
            <a:ext cx="1824858" cy="691600"/>
          </a:xfrm>
          <a:prstGeom prst="rect">
            <a:avLst/>
          </a:pr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62" name="Google Shape;262;p86"/>
          <p:cNvSpPr txBox="1"/>
          <p:nvPr/>
        </p:nvSpPr>
        <p:spPr>
          <a:xfrm>
            <a:off x="9740226" y="1372120"/>
            <a:ext cx="1824858" cy="659348"/>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63" name="Google Shape;263;p86"/>
          <p:cNvSpPr txBox="1"/>
          <p:nvPr/>
        </p:nvSpPr>
        <p:spPr>
          <a:xfrm>
            <a:off x="4749079" y="6162891"/>
            <a:ext cx="2129632" cy="369332"/>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64" name="Google Shape;264;p86"/>
          <p:cNvPicPr preferRelativeResize="0"/>
          <p:nvPr/>
        </p:nvPicPr>
        <p:blipFill rotWithShape="1">
          <a:blip r:embed="rId15">
            <a:alphaModFix/>
          </a:blip>
          <a:srcRect b="0" l="5698" r="0" t="0"/>
          <a:stretch/>
        </p:blipFill>
        <p:spPr>
          <a:xfrm>
            <a:off x="407368" y="2723627"/>
            <a:ext cx="3799404" cy="302175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87"/>
          <p:cNvSpPr txBox="1"/>
          <p:nvPr/>
        </p:nvSpPr>
        <p:spPr>
          <a:xfrm>
            <a:off x="551384" y="116632"/>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DISEÑO DEL CONTROLADOR – ENFOQUE CONTINUO</a:t>
            </a:r>
            <a:endParaRPr b="0" i="0" sz="2800" u="none" cap="none" strike="noStrike">
              <a:solidFill>
                <a:schemeClr val="dk1"/>
              </a:solidFill>
              <a:latin typeface="Calibri"/>
              <a:ea typeface="Calibri"/>
              <a:cs typeface="Calibri"/>
              <a:sym typeface="Calibri"/>
            </a:endParaRPr>
          </a:p>
        </p:txBody>
      </p:sp>
      <p:sp>
        <p:nvSpPr>
          <p:cNvPr id="270" name="Google Shape;270;p87"/>
          <p:cNvSpPr txBox="1"/>
          <p:nvPr/>
        </p:nvSpPr>
        <p:spPr>
          <a:xfrm>
            <a:off x="1055440" y="760211"/>
            <a:ext cx="2448272" cy="70307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1" name="Google Shape;271;p87"/>
          <p:cNvSpPr txBox="1"/>
          <p:nvPr/>
        </p:nvSpPr>
        <p:spPr>
          <a:xfrm>
            <a:off x="560014" y="1493867"/>
            <a:ext cx="3910001"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Si consideramos que pose </a:t>
            </a:r>
            <a:r>
              <a:rPr b="1" i="1" lang="es-BO" sz="1800" u="none" cap="none" strike="noStrike">
                <a:solidFill>
                  <a:srgbClr val="0000FF"/>
                </a:solidFill>
                <a:latin typeface="Calibri"/>
                <a:ea typeface="Calibri"/>
                <a:cs typeface="Calibri"/>
                <a:sym typeface="Calibri"/>
              </a:rPr>
              <a:t>10 muestras </a:t>
            </a:r>
            <a:r>
              <a:rPr b="1" i="1" lang="es-BO" sz="1800" u="none" cap="none" strike="noStrike">
                <a:solidFill>
                  <a:schemeClr val="dk1"/>
                </a:solidFill>
                <a:latin typeface="Calibri"/>
                <a:ea typeface="Calibri"/>
                <a:cs typeface="Calibri"/>
                <a:sym typeface="Calibri"/>
              </a:rPr>
              <a:t>por constante de tiempo</a:t>
            </a:r>
            <a:endParaRPr b="0" i="0" sz="1400" u="none" cap="none" strike="noStrike">
              <a:solidFill>
                <a:srgbClr val="000000"/>
              </a:solidFill>
              <a:latin typeface="Arial"/>
              <a:ea typeface="Arial"/>
              <a:cs typeface="Arial"/>
              <a:sym typeface="Arial"/>
            </a:endParaRPr>
          </a:p>
        </p:txBody>
      </p:sp>
      <p:sp>
        <p:nvSpPr>
          <p:cNvPr id="272" name="Google Shape;272;p87"/>
          <p:cNvSpPr txBox="1"/>
          <p:nvPr/>
        </p:nvSpPr>
        <p:spPr>
          <a:xfrm>
            <a:off x="623778" y="2140198"/>
            <a:ext cx="2952328" cy="627031"/>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3" name="Google Shape;273;p87"/>
          <p:cNvSpPr txBox="1"/>
          <p:nvPr/>
        </p:nvSpPr>
        <p:spPr>
          <a:xfrm>
            <a:off x="623778" y="2850325"/>
            <a:ext cx="2952328" cy="69711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4" name="Google Shape;274;p87"/>
          <p:cNvSpPr txBox="1"/>
          <p:nvPr/>
        </p:nvSpPr>
        <p:spPr>
          <a:xfrm>
            <a:off x="902017" y="4295261"/>
            <a:ext cx="3060989" cy="400110"/>
          </a:xfrm>
          <a:prstGeom prst="rect">
            <a:avLst/>
          </a:prstGeom>
          <a:blipFill rotWithShape="1">
            <a:blip r:embed="rId6">
              <a:alphaModFix/>
            </a:blip>
            <a:stretch>
              <a:fillRect b="-9227"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5" name="Google Shape;275;p87"/>
          <p:cNvSpPr txBox="1"/>
          <p:nvPr/>
        </p:nvSpPr>
        <p:spPr>
          <a:xfrm>
            <a:off x="551384" y="3648930"/>
            <a:ext cx="3910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Periodo de muestreo máximo para que la señal no quede desvirtuada</a:t>
            </a:r>
            <a:endParaRPr b="0" i="0" sz="1800" u="none" cap="none" strike="noStrike">
              <a:solidFill>
                <a:schemeClr val="dk1"/>
              </a:solidFill>
              <a:latin typeface="Calibri"/>
              <a:ea typeface="Calibri"/>
              <a:cs typeface="Calibri"/>
              <a:sym typeface="Calibri"/>
            </a:endParaRPr>
          </a:p>
        </p:txBody>
      </p:sp>
      <p:sp>
        <p:nvSpPr>
          <p:cNvPr id="276" name="Google Shape;276;p87"/>
          <p:cNvSpPr txBox="1"/>
          <p:nvPr/>
        </p:nvSpPr>
        <p:spPr>
          <a:xfrm>
            <a:off x="477511" y="4826110"/>
            <a:ext cx="3910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Periodo mínimo que podemos tomar en base al modulo de expansión </a:t>
            </a:r>
            <a:endParaRPr b="0" i="0" sz="1800" u="none" cap="none" strike="noStrike">
              <a:solidFill>
                <a:schemeClr val="dk1"/>
              </a:solidFill>
              <a:latin typeface="Calibri"/>
              <a:ea typeface="Calibri"/>
              <a:cs typeface="Calibri"/>
              <a:sym typeface="Calibri"/>
            </a:endParaRPr>
          </a:p>
        </p:txBody>
      </p:sp>
      <p:sp>
        <p:nvSpPr>
          <p:cNvPr id="277" name="Google Shape;277;p87"/>
          <p:cNvSpPr txBox="1"/>
          <p:nvPr/>
        </p:nvSpPr>
        <p:spPr>
          <a:xfrm>
            <a:off x="573872" y="5649547"/>
            <a:ext cx="3411408" cy="400110"/>
          </a:xfrm>
          <a:prstGeom prst="rect">
            <a:avLst/>
          </a:prstGeom>
          <a:blipFill rotWithShape="1">
            <a:blip r:embed="rId7">
              <a:alphaModFix/>
            </a:blip>
            <a:stretch>
              <a:fillRect b="-1535"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8" name="Google Shape;278;p87"/>
          <p:cNvSpPr txBox="1"/>
          <p:nvPr/>
        </p:nvSpPr>
        <p:spPr>
          <a:xfrm>
            <a:off x="5659110" y="1001624"/>
            <a:ext cx="5689609"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Si consideramos que el periodo es suficientemente pequeño como para aproximar que la señal discreta es equivalente al continuo</a:t>
            </a:r>
            <a:endParaRPr b="0" i="0" sz="1800" u="none" cap="none" strike="noStrike">
              <a:solidFill>
                <a:schemeClr val="dk1"/>
              </a:solidFill>
              <a:latin typeface="Calibri"/>
              <a:ea typeface="Calibri"/>
              <a:cs typeface="Calibri"/>
              <a:sym typeface="Calibri"/>
            </a:endParaRPr>
          </a:p>
        </p:txBody>
      </p:sp>
      <p:sp>
        <p:nvSpPr>
          <p:cNvPr id="279" name="Google Shape;279;p87"/>
          <p:cNvSpPr txBox="1"/>
          <p:nvPr/>
        </p:nvSpPr>
        <p:spPr>
          <a:xfrm>
            <a:off x="5659109" y="2140198"/>
            <a:ext cx="568960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Entonces podemos decir que, la ecuación a utilizar es la siguiente</a:t>
            </a:r>
            <a:endParaRPr b="0" i="0" sz="1800" u="none" cap="none" strike="noStrike">
              <a:solidFill>
                <a:schemeClr val="dk1"/>
              </a:solidFill>
              <a:latin typeface="Calibri"/>
              <a:ea typeface="Calibri"/>
              <a:cs typeface="Calibri"/>
              <a:sym typeface="Calibri"/>
            </a:endParaRPr>
          </a:p>
        </p:txBody>
      </p:sp>
      <p:sp>
        <p:nvSpPr>
          <p:cNvPr id="280" name="Google Shape;280;p87"/>
          <p:cNvSpPr txBox="1"/>
          <p:nvPr/>
        </p:nvSpPr>
        <p:spPr>
          <a:xfrm>
            <a:off x="5374511" y="3070940"/>
            <a:ext cx="6096000" cy="70872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81" name="Google Shape;281;p87"/>
          <p:cNvSpPr txBox="1"/>
          <p:nvPr/>
        </p:nvSpPr>
        <p:spPr>
          <a:xfrm>
            <a:off x="5659109" y="3879405"/>
            <a:ext cx="568960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Por lo tanto podemos usar el bloque PID , del PLC micrologix 1100</a:t>
            </a:r>
            <a:endParaRPr b="0" i="0" sz="1800" u="none" cap="none" strike="noStrike">
              <a:solidFill>
                <a:schemeClr val="dk1"/>
              </a:solidFill>
              <a:latin typeface="Calibri"/>
              <a:ea typeface="Calibri"/>
              <a:cs typeface="Calibri"/>
              <a:sym typeface="Calibri"/>
            </a:endParaRPr>
          </a:p>
        </p:txBody>
      </p:sp>
      <p:pic>
        <p:nvPicPr>
          <p:cNvPr id="282" name="Google Shape;282;p87"/>
          <p:cNvPicPr preferRelativeResize="0"/>
          <p:nvPr/>
        </p:nvPicPr>
        <p:blipFill rotWithShape="1">
          <a:blip r:embed="rId9">
            <a:alphaModFix/>
          </a:blip>
          <a:srcRect b="17214" l="22641" r="57347" t="62244"/>
          <a:stretch/>
        </p:blipFill>
        <p:spPr>
          <a:xfrm>
            <a:off x="6754048" y="4495316"/>
            <a:ext cx="3336925" cy="18199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88"/>
          <p:cNvSpPr txBox="1"/>
          <p:nvPr/>
        </p:nvSpPr>
        <p:spPr>
          <a:xfrm>
            <a:off x="551384" y="116632"/>
            <a:ext cx="1123324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Tomando las siguientes consideraciones en base al tiempo de muestreo y el bucle de actualización del bloque PID.</a:t>
            </a:r>
            <a:endParaRPr b="0" i="0" sz="2800" u="none" cap="none" strike="noStrike">
              <a:solidFill>
                <a:schemeClr val="dk1"/>
              </a:solidFill>
              <a:latin typeface="Calibri"/>
              <a:ea typeface="Calibri"/>
              <a:cs typeface="Calibri"/>
              <a:sym typeface="Calibri"/>
            </a:endParaRPr>
          </a:p>
        </p:txBody>
      </p:sp>
      <p:sp>
        <p:nvSpPr>
          <p:cNvPr id="288" name="Google Shape;288;p88"/>
          <p:cNvSpPr txBox="1"/>
          <p:nvPr/>
        </p:nvSpPr>
        <p:spPr>
          <a:xfrm>
            <a:off x="551384" y="1316289"/>
            <a:ext cx="609407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Notas del manual (Micrologix 1100)	</a:t>
            </a:r>
            <a:endParaRPr b="0" i="0" sz="1800" u="none" cap="none" strike="noStrike">
              <a:solidFill>
                <a:schemeClr val="dk1"/>
              </a:solidFill>
              <a:latin typeface="Calibri"/>
              <a:ea typeface="Calibri"/>
              <a:cs typeface="Calibri"/>
              <a:sym typeface="Calibri"/>
            </a:endParaRPr>
          </a:p>
        </p:txBody>
      </p:sp>
      <p:sp>
        <p:nvSpPr>
          <p:cNvPr id="289" name="Google Shape;289;p88"/>
          <p:cNvSpPr txBox="1"/>
          <p:nvPr/>
        </p:nvSpPr>
        <p:spPr>
          <a:xfrm>
            <a:off x="551384" y="1931171"/>
            <a:ext cx="4813096" cy="4085157"/>
          </a:xfrm>
          <a:prstGeom prst="rect">
            <a:avLst/>
          </a:prstGeom>
          <a:blipFill rotWithShape="1">
            <a:blip r:embed="rId3">
              <a:alphaModFix/>
            </a:blip>
            <a:stretch>
              <a:fillRect b="0" l="-1009" r="-1009" t="-8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90" name="Google Shape;290;p88"/>
          <p:cNvSpPr txBox="1"/>
          <p:nvPr/>
        </p:nvSpPr>
        <p:spPr>
          <a:xfrm>
            <a:off x="5804104" y="1174601"/>
            <a:ext cx="609407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Entonces	</a:t>
            </a:r>
            <a:endParaRPr b="0" i="0" sz="1800" u="none" cap="none" strike="noStrike">
              <a:solidFill>
                <a:schemeClr val="dk1"/>
              </a:solidFill>
              <a:latin typeface="Calibri"/>
              <a:ea typeface="Calibri"/>
              <a:cs typeface="Calibri"/>
              <a:sym typeface="Calibri"/>
            </a:endParaRPr>
          </a:p>
        </p:txBody>
      </p:sp>
      <p:sp>
        <p:nvSpPr>
          <p:cNvPr id="291" name="Google Shape;291;p88"/>
          <p:cNvSpPr txBox="1"/>
          <p:nvPr/>
        </p:nvSpPr>
        <p:spPr>
          <a:xfrm>
            <a:off x="5740404" y="1623730"/>
            <a:ext cx="1960876"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92" name="Google Shape;292;p88"/>
          <p:cNvSpPr txBox="1"/>
          <p:nvPr/>
        </p:nvSpPr>
        <p:spPr>
          <a:xfrm>
            <a:off x="5740403" y="2092098"/>
            <a:ext cx="5192204" cy="369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93" name="Google Shape;293;p88"/>
          <p:cNvPicPr preferRelativeResize="0"/>
          <p:nvPr/>
        </p:nvPicPr>
        <p:blipFill rotWithShape="1">
          <a:blip r:embed="rId6">
            <a:alphaModFix/>
          </a:blip>
          <a:srcRect b="30667" l="37417" r="38667" t="37054"/>
          <a:stretch/>
        </p:blipFill>
        <p:spPr>
          <a:xfrm>
            <a:off x="5673207" y="2659502"/>
            <a:ext cx="5259400" cy="3992734"/>
          </a:xfrm>
          <a:prstGeom prst="rect">
            <a:avLst/>
          </a:prstGeom>
          <a:noFill/>
          <a:ln>
            <a:noFill/>
          </a:ln>
        </p:spPr>
      </p:pic>
      <p:sp>
        <p:nvSpPr>
          <p:cNvPr id="294" name="Google Shape;294;p88"/>
          <p:cNvSpPr/>
          <p:nvPr/>
        </p:nvSpPr>
        <p:spPr>
          <a:xfrm>
            <a:off x="6969760" y="4053840"/>
            <a:ext cx="822960" cy="284480"/>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89"/>
          <p:cNvSpPr txBox="1"/>
          <p:nvPr/>
        </p:nvSpPr>
        <p:spPr>
          <a:xfrm>
            <a:off x="424547" y="239667"/>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La ecuación PI  a implementarse es.</a:t>
            </a:r>
            <a:endParaRPr b="0" i="0" sz="2800" u="none" cap="none" strike="noStrike">
              <a:solidFill>
                <a:schemeClr val="dk1"/>
              </a:solidFill>
              <a:latin typeface="Calibri"/>
              <a:ea typeface="Calibri"/>
              <a:cs typeface="Calibri"/>
              <a:sym typeface="Calibri"/>
            </a:endParaRPr>
          </a:p>
        </p:txBody>
      </p:sp>
      <p:sp>
        <p:nvSpPr>
          <p:cNvPr id="300" name="Google Shape;300;p89"/>
          <p:cNvSpPr txBox="1"/>
          <p:nvPr/>
        </p:nvSpPr>
        <p:spPr>
          <a:xfrm>
            <a:off x="-168696" y="808666"/>
            <a:ext cx="6634610" cy="77726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01" name="Google Shape;301;p89"/>
          <p:cNvSpPr txBox="1"/>
          <p:nvPr/>
        </p:nvSpPr>
        <p:spPr>
          <a:xfrm>
            <a:off x="417031" y="1473478"/>
            <a:ext cx="1175211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Consideraciones para la adaptación de señales por Hardware entrada y salida</a:t>
            </a:r>
            <a:endParaRPr b="0" i="0" sz="1400" u="none" cap="none" strike="noStrike">
              <a:solidFill>
                <a:srgbClr val="000000"/>
              </a:solidFill>
              <a:latin typeface="Arial"/>
              <a:ea typeface="Arial"/>
              <a:cs typeface="Arial"/>
              <a:sym typeface="Arial"/>
            </a:endParaRPr>
          </a:p>
        </p:txBody>
      </p:sp>
      <p:sp>
        <p:nvSpPr>
          <p:cNvPr id="302" name="Google Shape;302;p89"/>
          <p:cNvSpPr txBox="1"/>
          <p:nvPr/>
        </p:nvSpPr>
        <p:spPr>
          <a:xfrm>
            <a:off x="608438" y="3788253"/>
            <a:ext cx="4241270"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BO" sz="1800" u="none" cap="none" strike="noStrike">
                <a:solidFill>
                  <a:schemeClr val="dk1"/>
                </a:solidFill>
                <a:latin typeface="Calibri"/>
                <a:ea typeface="Calibri"/>
                <a:cs typeface="Calibri"/>
                <a:sym typeface="Calibri"/>
              </a:rPr>
              <a:t>Puesto que el Controlador Lógico Programable (PLC), Trabaja con señales digitales, Esta adaptación se realiza con una resolución determinada (</a:t>
            </a:r>
            <a:r>
              <a:rPr b="1" i="0" lang="es-BO" sz="1800" u="none" cap="none" strike="noStrike">
                <a:solidFill>
                  <a:schemeClr val="dk1"/>
                </a:solidFill>
                <a:latin typeface="Calibri"/>
                <a:ea typeface="Calibri"/>
                <a:cs typeface="Calibri"/>
                <a:sym typeface="Calibri"/>
              </a:rPr>
              <a:t>ver adaptación de señales)</a:t>
            </a:r>
            <a:endParaRPr b="0" i="0" sz="1800" u="none" cap="none" strike="noStrike">
              <a:solidFill>
                <a:schemeClr val="dk1"/>
              </a:solidFill>
              <a:latin typeface="Calibri"/>
              <a:ea typeface="Calibri"/>
              <a:cs typeface="Calibri"/>
              <a:sym typeface="Calibri"/>
            </a:endParaRPr>
          </a:p>
        </p:txBody>
      </p:sp>
      <p:sp>
        <p:nvSpPr>
          <p:cNvPr id="303" name="Google Shape;303;p89"/>
          <p:cNvSpPr txBox="1"/>
          <p:nvPr/>
        </p:nvSpPr>
        <p:spPr>
          <a:xfrm>
            <a:off x="511282" y="2307995"/>
            <a:ext cx="4241270"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BO" sz="1800" u="none" cap="none" strike="noStrike">
                <a:solidFill>
                  <a:schemeClr val="dk1"/>
                </a:solidFill>
                <a:latin typeface="Calibri"/>
                <a:ea typeface="Calibri"/>
                <a:cs typeface="Calibri"/>
                <a:sym typeface="Calibri"/>
              </a:rPr>
              <a:t>Se define la entrada analógica y salida analógica del modulo de expansión 1762, además de los elementos conectados.</a:t>
            </a:r>
            <a:endParaRPr b="0" i="0" sz="1400" u="none" cap="none" strike="noStrike">
              <a:solidFill>
                <a:srgbClr val="000000"/>
              </a:solidFill>
              <a:latin typeface="Arial"/>
              <a:ea typeface="Arial"/>
              <a:cs typeface="Arial"/>
              <a:sym typeface="Arial"/>
            </a:endParaRPr>
          </a:p>
        </p:txBody>
      </p:sp>
      <p:grpSp>
        <p:nvGrpSpPr>
          <p:cNvPr id="304" name="Google Shape;304;p89"/>
          <p:cNvGrpSpPr/>
          <p:nvPr/>
        </p:nvGrpSpPr>
        <p:grpSpPr>
          <a:xfrm>
            <a:off x="4849707" y="2055633"/>
            <a:ext cx="6354205" cy="3802556"/>
            <a:chOff x="4784422" y="1924525"/>
            <a:chExt cx="6185560" cy="3945553"/>
          </a:xfrm>
        </p:grpSpPr>
        <p:pic>
          <p:nvPicPr>
            <p:cNvPr id="305" name="Google Shape;305;p89"/>
            <p:cNvPicPr preferRelativeResize="0"/>
            <p:nvPr/>
          </p:nvPicPr>
          <p:blipFill rotWithShape="1">
            <a:blip r:embed="rId4">
              <a:alphaModFix/>
            </a:blip>
            <a:srcRect b="6607" l="29233" r="17248" t="39068"/>
            <a:stretch/>
          </p:blipFill>
          <p:spPr>
            <a:xfrm>
              <a:off x="4941536" y="1924525"/>
              <a:ext cx="6028446" cy="3281551"/>
            </a:xfrm>
            <a:prstGeom prst="rect">
              <a:avLst/>
            </a:prstGeom>
            <a:noFill/>
            <a:ln>
              <a:noFill/>
            </a:ln>
          </p:spPr>
        </p:pic>
        <p:pic>
          <p:nvPicPr>
            <p:cNvPr id="306" name="Google Shape;306;p89"/>
            <p:cNvPicPr preferRelativeResize="0"/>
            <p:nvPr/>
          </p:nvPicPr>
          <p:blipFill rotWithShape="1">
            <a:blip r:embed="rId5">
              <a:alphaModFix/>
            </a:blip>
            <a:srcRect b="0" l="28990" r="29112" t="8244"/>
            <a:stretch/>
          </p:blipFill>
          <p:spPr>
            <a:xfrm rot="5400000">
              <a:off x="5605159" y="4483555"/>
              <a:ext cx="565785" cy="2207260"/>
            </a:xfrm>
            <a:prstGeom prst="rect">
              <a:avLst/>
            </a:prstGeom>
            <a:noFill/>
            <a:ln>
              <a:noFill/>
            </a:ln>
          </p:spPr>
        </p:pic>
        <p:pic>
          <p:nvPicPr>
            <p:cNvPr descr="Ver las imágenes de origen" id="307" name="Google Shape;307;p89"/>
            <p:cNvPicPr preferRelativeResize="0"/>
            <p:nvPr/>
          </p:nvPicPr>
          <p:blipFill rotWithShape="1">
            <a:blip r:embed="rId6">
              <a:alphaModFix/>
            </a:blip>
            <a:srcRect b="0" l="23750" r="19583" t="0"/>
            <a:stretch/>
          </p:blipFill>
          <p:spPr>
            <a:xfrm>
              <a:off x="9478598" y="3861256"/>
              <a:ext cx="1304290" cy="1725930"/>
            </a:xfrm>
            <a:prstGeom prst="rect">
              <a:avLst/>
            </a:prstGeom>
            <a:noFill/>
            <a:ln>
              <a:noFill/>
            </a:ln>
          </p:spPr>
        </p:pic>
      </p:grpSp>
      <p:grpSp>
        <p:nvGrpSpPr>
          <p:cNvPr id="308" name="Google Shape;308;p89"/>
          <p:cNvGrpSpPr/>
          <p:nvPr/>
        </p:nvGrpSpPr>
        <p:grpSpPr>
          <a:xfrm>
            <a:off x="5011107" y="2135697"/>
            <a:ext cx="6646688" cy="3688590"/>
            <a:chOff x="3275015" y="2221037"/>
            <a:chExt cx="5631282" cy="3182787"/>
          </a:xfrm>
        </p:grpSpPr>
        <p:grpSp>
          <p:nvGrpSpPr>
            <p:cNvPr id="309" name="Google Shape;309;p89"/>
            <p:cNvGrpSpPr/>
            <p:nvPr/>
          </p:nvGrpSpPr>
          <p:grpSpPr>
            <a:xfrm>
              <a:off x="4926846" y="3030953"/>
              <a:ext cx="3979451" cy="2372871"/>
              <a:chOff x="4926846" y="3030953"/>
              <a:chExt cx="3979451" cy="2372871"/>
            </a:xfrm>
          </p:grpSpPr>
          <p:sp>
            <p:nvSpPr>
              <p:cNvPr id="310" name="Google Shape;310;p89"/>
              <p:cNvSpPr txBox="1"/>
              <p:nvPr/>
            </p:nvSpPr>
            <p:spPr>
              <a:xfrm>
                <a:off x="4926846" y="4962569"/>
                <a:ext cx="1806575" cy="441255"/>
              </a:xfrm>
              <a:prstGeom prst="rect">
                <a:avLst/>
              </a:prstGeom>
              <a:gradFill>
                <a:gsLst>
                  <a:gs pos="0">
                    <a:srgbClr val="81D2FF"/>
                  </a:gs>
                  <a:gs pos="50000">
                    <a:srgbClr val="B3E1FF"/>
                  </a:gs>
                  <a:gs pos="100000">
                    <a:srgbClr val="DAEFFF"/>
                  </a:gs>
                </a:gsLst>
                <a:lin ang="16200000" scaled="0"/>
              </a:gradFill>
              <a:ln cap="flat" cmpd="sng" w="9525">
                <a:solidFill>
                  <a:srgbClr val="E5DFE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Sensor ultrasónico</a:t>
                </a:r>
                <a:endParaRPr b="0" i="0" sz="1400" u="none" cap="none" strike="noStrike">
                  <a:solidFill>
                    <a:srgbClr val="000000"/>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salida de corriente 4-20 mA</a:t>
                </a:r>
                <a:endParaRPr b="0" i="0" sz="1400" u="none" cap="none" strike="noStrike">
                  <a:solidFill>
                    <a:srgbClr val="000000"/>
                  </a:solidFill>
                  <a:latin typeface="Arial"/>
                  <a:ea typeface="Arial"/>
                  <a:cs typeface="Arial"/>
                  <a:sym typeface="Arial"/>
                </a:endParaRPr>
              </a:p>
            </p:txBody>
          </p:sp>
          <p:sp>
            <p:nvSpPr>
              <p:cNvPr id="311" name="Google Shape;311;p89"/>
              <p:cNvSpPr txBox="1"/>
              <p:nvPr/>
            </p:nvSpPr>
            <p:spPr>
              <a:xfrm>
                <a:off x="6853977" y="3030953"/>
                <a:ext cx="2052320" cy="369333"/>
              </a:xfrm>
              <a:prstGeom prst="rect">
                <a:avLst/>
              </a:prstGeom>
              <a:gradFill>
                <a:gsLst>
                  <a:gs pos="0">
                    <a:srgbClr val="F4F8FB"/>
                  </a:gs>
                  <a:gs pos="74000">
                    <a:srgbClr val="AEC5E1"/>
                  </a:gs>
                  <a:gs pos="83000">
                    <a:srgbClr val="AEC5E1"/>
                  </a:gs>
                  <a:gs pos="100000">
                    <a:srgbClr val="C8D8EB"/>
                  </a:gs>
                </a:gsLst>
                <a:lin ang="5400000" scaled="0"/>
              </a:gradFill>
              <a:ln cap="flat" cmpd="sng" w="19050">
                <a:solidFill>
                  <a:srgbClr val="DAE5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Variador de frecuencia</a:t>
                </a:r>
                <a:endParaRPr b="0" i="0" sz="1400" u="none" cap="none" strike="noStrike">
                  <a:solidFill>
                    <a:srgbClr val="000000"/>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Entrada de corriente 4-20 mA</a:t>
                </a:r>
                <a:endParaRPr b="0" i="0" sz="1400" u="none" cap="none" strike="noStrike">
                  <a:solidFill>
                    <a:srgbClr val="000000"/>
                  </a:solidFill>
                  <a:latin typeface="Arial"/>
                  <a:ea typeface="Arial"/>
                  <a:cs typeface="Arial"/>
                  <a:sym typeface="Arial"/>
                </a:endParaRPr>
              </a:p>
            </p:txBody>
          </p:sp>
        </p:grpSp>
        <p:sp>
          <p:nvSpPr>
            <p:cNvPr id="312" name="Google Shape;312;p89"/>
            <p:cNvSpPr txBox="1"/>
            <p:nvPr/>
          </p:nvSpPr>
          <p:spPr>
            <a:xfrm>
              <a:off x="6774169" y="2221037"/>
              <a:ext cx="2052320" cy="430350"/>
            </a:xfrm>
            <a:prstGeom prst="rect">
              <a:avLst/>
            </a:prstGeom>
            <a:gradFill>
              <a:gsLst>
                <a:gs pos="0">
                  <a:srgbClr val="8CDE9E"/>
                </a:gs>
                <a:gs pos="50000">
                  <a:srgbClr val="BAE8C3"/>
                </a:gs>
                <a:gs pos="100000">
                  <a:srgbClr val="DEF2E1"/>
                </a:gs>
              </a:gsLst>
              <a:lin ang="0" scaled="0"/>
            </a:gradFill>
            <a:ln cap="flat" cmpd="sng" w="19050">
              <a:solidFill>
                <a:srgbClr val="DAE5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Modulo de expansión</a:t>
              </a:r>
              <a:endParaRPr b="0" i="0" sz="1400" u="none" cap="none" strike="noStrike">
                <a:solidFill>
                  <a:srgbClr val="000000"/>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Salida de corriente 4-20 mA</a:t>
              </a:r>
              <a:endParaRPr b="0" i="0" sz="1400" u="none" cap="none" strike="noStrike">
                <a:solidFill>
                  <a:srgbClr val="000000"/>
                </a:solidFill>
                <a:latin typeface="Arial"/>
                <a:ea typeface="Arial"/>
                <a:cs typeface="Arial"/>
                <a:sym typeface="Arial"/>
              </a:endParaRPr>
            </a:p>
          </p:txBody>
        </p:sp>
        <p:sp>
          <p:nvSpPr>
            <p:cNvPr id="313" name="Google Shape;313;p89"/>
            <p:cNvSpPr txBox="1"/>
            <p:nvPr/>
          </p:nvSpPr>
          <p:spPr>
            <a:xfrm>
              <a:off x="3275015" y="2248952"/>
              <a:ext cx="2052320" cy="402436"/>
            </a:xfrm>
            <a:prstGeom prst="rect">
              <a:avLst/>
            </a:prstGeom>
            <a:gradFill>
              <a:gsLst>
                <a:gs pos="0">
                  <a:srgbClr val="8CDE9E"/>
                </a:gs>
                <a:gs pos="50000">
                  <a:srgbClr val="BAE8C3"/>
                </a:gs>
                <a:gs pos="100000">
                  <a:srgbClr val="DEF2E1"/>
                </a:gs>
              </a:gsLst>
              <a:lin ang="0" scaled="0"/>
            </a:gradFill>
            <a:ln cap="flat" cmpd="sng" w="19050">
              <a:solidFill>
                <a:srgbClr val="DAE5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Modulo de expansión</a:t>
              </a:r>
              <a:endParaRPr b="0" i="0" sz="1400" u="none" cap="none" strike="noStrike">
                <a:solidFill>
                  <a:srgbClr val="000000"/>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1100"/>
                <a:buFont typeface="Arial"/>
                <a:buNone/>
              </a:pPr>
              <a:r>
                <a:rPr b="0" i="0" lang="es-BO" sz="1100" u="none" cap="none" strike="noStrike">
                  <a:solidFill>
                    <a:schemeClr val="dk1"/>
                  </a:solidFill>
                  <a:latin typeface="Calibri"/>
                  <a:ea typeface="Calibri"/>
                  <a:cs typeface="Calibri"/>
                  <a:sym typeface="Calibri"/>
                </a:rPr>
                <a:t>Entrada de corriente 4-20 mA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p90"/>
          <p:cNvGrpSpPr/>
          <p:nvPr/>
        </p:nvGrpSpPr>
        <p:grpSpPr>
          <a:xfrm>
            <a:off x="545569" y="1369432"/>
            <a:ext cx="11261522" cy="4736728"/>
            <a:chOff x="491866" y="2140780"/>
            <a:chExt cx="11261522" cy="4362976"/>
          </a:xfrm>
        </p:grpSpPr>
        <p:grpSp>
          <p:nvGrpSpPr>
            <p:cNvPr id="319" name="Google Shape;319;p90"/>
            <p:cNvGrpSpPr/>
            <p:nvPr/>
          </p:nvGrpSpPr>
          <p:grpSpPr>
            <a:xfrm>
              <a:off x="769700" y="2191603"/>
              <a:ext cx="9897209" cy="4312153"/>
              <a:chOff x="195971" y="922747"/>
              <a:chExt cx="10831653" cy="5416435"/>
            </a:xfrm>
          </p:grpSpPr>
          <p:pic>
            <p:nvPicPr>
              <p:cNvPr id="320" name="Google Shape;320;p90"/>
              <p:cNvPicPr preferRelativeResize="0"/>
              <p:nvPr/>
            </p:nvPicPr>
            <p:blipFill rotWithShape="1">
              <a:blip r:embed="rId3">
                <a:alphaModFix/>
              </a:blip>
              <a:srcRect b="0" l="0" r="0" t="0"/>
              <a:stretch/>
            </p:blipFill>
            <p:spPr>
              <a:xfrm>
                <a:off x="195971" y="922747"/>
                <a:ext cx="10831653" cy="2486622"/>
              </a:xfrm>
              <a:prstGeom prst="rect">
                <a:avLst/>
              </a:prstGeom>
              <a:noFill/>
              <a:ln>
                <a:noFill/>
              </a:ln>
            </p:spPr>
          </p:pic>
          <p:sp>
            <p:nvSpPr>
              <p:cNvPr id="321" name="Google Shape;321;p90"/>
              <p:cNvSpPr txBox="1"/>
              <p:nvPr/>
            </p:nvSpPr>
            <p:spPr>
              <a:xfrm>
                <a:off x="3797796" y="4204116"/>
                <a:ext cx="6365920" cy="150771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Tomar en cuenta que no es la única configuración para la toma de datos en Modulo de expansión, en este caso como se esta utilizando el bloque PID, por lo tanto se usara el </a:t>
                </a:r>
                <a:r>
                  <a:rPr b="1" i="1" lang="es-BO" sz="1800" u="none" cap="none" strike="noStrike">
                    <a:solidFill>
                      <a:schemeClr val="dk1"/>
                    </a:solidFill>
                    <a:latin typeface="Calibri"/>
                    <a:ea typeface="Calibri"/>
                    <a:cs typeface="Calibri"/>
                    <a:sym typeface="Calibri"/>
                  </a:rPr>
                  <a:t>Escalado for PID</a:t>
                </a:r>
                <a:endParaRPr b="0" i="0" sz="1800" u="none" cap="none" strike="noStrike">
                  <a:solidFill>
                    <a:schemeClr val="dk1"/>
                  </a:solidFill>
                  <a:latin typeface="Calibri"/>
                  <a:ea typeface="Calibri"/>
                  <a:cs typeface="Calibri"/>
                  <a:sym typeface="Calibri"/>
                </a:endParaRPr>
              </a:p>
            </p:txBody>
          </p:sp>
          <p:pic>
            <p:nvPicPr>
              <p:cNvPr id="322" name="Google Shape;322;p90"/>
              <p:cNvPicPr preferRelativeResize="0"/>
              <p:nvPr/>
            </p:nvPicPr>
            <p:blipFill rotWithShape="1">
              <a:blip r:embed="rId4">
                <a:alphaModFix/>
              </a:blip>
              <a:srcRect b="0" l="0" r="0" t="0"/>
              <a:stretch/>
            </p:blipFill>
            <p:spPr>
              <a:xfrm>
                <a:off x="666997" y="3632476"/>
                <a:ext cx="3130798" cy="2706706"/>
              </a:xfrm>
              <a:prstGeom prst="rect">
                <a:avLst/>
              </a:prstGeom>
              <a:noFill/>
              <a:ln>
                <a:noFill/>
              </a:ln>
            </p:spPr>
          </p:pic>
        </p:grpSp>
        <p:sp>
          <p:nvSpPr>
            <p:cNvPr id="323" name="Google Shape;323;p90"/>
            <p:cNvSpPr txBox="1"/>
            <p:nvPr/>
          </p:nvSpPr>
          <p:spPr>
            <a:xfrm>
              <a:off x="9724456" y="2926922"/>
              <a:ext cx="10189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Entrada</a:t>
              </a:r>
              <a:endParaRPr b="0" i="0" sz="1800" u="none" cap="none" strike="noStrike">
                <a:solidFill>
                  <a:schemeClr val="dk1"/>
                </a:solidFill>
                <a:latin typeface="Calibri"/>
                <a:ea typeface="Calibri"/>
                <a:cs typeface="Calibri"/>
                <a:sym typeface="Calibri"/>
              </a:endParaRPr>
            </a:p>
          </p:txBody>
        </p:sp>
        <p:pic>
          <p:nvPicPr>
            <p:cNvPr id="324" name="Google Shape;324;p90"/>
            <p:cNvPicPr preferRelativeResize="0"/>
            <p:nvPr/>
          </p:nvPicPr>
          <p:blipFill rotWithShape="1">
            <a:blip r:embed="rId3">
              <a:alphaModFix/>
            </a:blip>
            <a:srcRect b="30091" l="0" r="86388" t="29444"/>
            <a:stretch/>
          </p:blipFill>
          <p:spPr>
            <a:xfrm>
              <a:off x="9766324" y="2699929"/>
              <a:ext cx="1347153" cy="801016"/>
            </a:xfrm>
            <a:prstGeom prst="rect">
              <a:avLst/>
            </a:prstGeom>
            <a:noFill/>
            <a:ln>
              <a:noFill/>
            </a:ln>
          </p:spPr>
        </p:pic>
        <p:sp>
          <p:nvSpPr>
            <p:cNvPr id="325" name="Google Shape;325;p90"/>
            <p:cNvSpPr txBox="1"/>
            <p:nvPr/>
          </p:nvSpPr>
          <p:spPr>
            <a:xfrm>
              <a:off x="491866" y="2557590"/>
              <a:ext cx="10189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Entrada</a:t>
              </a:r>
              <a:endParaRPr b="1" i="0" sz="1800" u="none" cap="none" strike="noStrike">
                <a:solidFill>
                  <a:schemeClr val="dk1"/>
                </a:solidFill>
                <a:latin typeface="Calibri"/>
                <a:ea typeface="Calibri"/>
                <a:cs typeface="Calibri"/>
                <a:sym typeface="Calibri"/>
              </a:endParaRPr>
            </a:p>
          </p:txBody>
        </p:sp>
        <p:sp>
          <p:nvSpPr>
            <p:cNvPr id="326" name="Google Shape;326;p90"/>
            <p:cNvSpPr txBox="1"/>
            <p:nvPr/>
          </p:nvSpPr>
          <p:spPr>
            <a:xfrm>
              <a:off x="10734481" y="2424581"/>
              <a:ext cx="10189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Salida</a:t>
              </a:r>
              <a:endParaRPr b="1" i="0" sz="1800" u="none" cap="none" strike="noStrike">
                <a:solidFill>
                  <a:schemeClr val="dk1"/>
                </a:solidFill>
                <a:latin typeface="Calibri"/>
                <a:ea typeface="Calibri"/>
                <a:cs typeface="Calibri"/>
                <a:sym typeface="Calibri"/>
              </a:endParaRPr>
            </a:p>
          </p:txBody>
        </p:sp>
        <p:sp>
          <p:nvSpPr>
            <p:cNvPr id="327" name="Google Shape;327;p90"/>
            <p:cNvSpPr/>
            <p:nvPr/>
          </p:nvSpPr>
          <p:spPr>
            <a:xfrm>
              <a:off x="1355061" y="2140780"/>
              <a:ext cx="9311848" cy="2154873"/>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28" name="Google Shape;328;p90"/>
          <p:cNvSpPr txBox="1"/>
          <p:nvPr/>
        </p:nvSpPr>
        <p:spPr>
          <a:xfrm>
            <a:off x="134927" y="330472"/>
            <a:ext cx="1175211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Consideraciones para la adaptación de señales por Hardware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91"/>
          <p:cNvSpPr txBox="1"/>
          <p:nvPr/>
        </p:nvSpPr>
        <p:spPr>
          <a:xfrm>
            <a:off x="874138" y="825428"/>
            <a:ext cx="487340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BO" sz="2000" u="none" cap="none" strike="noStrike">
                <a:solidFill>
                  <a:schemeClr val="dk1"/>
                </a:solidFill>
                <a:latin typeface="Calibri"/>
                <a:ea typeface="Calibri"/>
                <a:cs typeface="Calibri"/>
                <a:sym typeface="Calibri"/>
              </a:rPr>
              <a:t>Bloque PID – Micrologix 1100 </a:t>
            </a:r>
            <a:endParaRPr b="0" i="0" sz="1400" u="none" cap="none" strike="noStrike">
              <a:solidFill>
                <a:srgbClr val="000000"/>
              </a:solidFill>
              <a:latin typeface="Arial"/>
              <a:ea typeface="Arial"/>
              <a:cs typeface="Arial"/>
              <a:sym typeface="Arial"/>
            </a:endParaRPr>
          </a:p>
        </p:txBody>
      </p:sp>
      <p:sp>
        <p:nvSpPr>
          <p:cNvPr id="334" name="Google Shape;334;p91"/>
          <p:cNvSpPr txBox="1"/>
          <p:nvPr/>
        </p:nvSpPr>
        <p:spPr>
          <a:xfrm>
            <a:off x="943194" y="1323275"/>
            <a:ext cx="10265374" cy="33855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BO" sz="1600" u="none" cap="none" strike="noStrike">
                <a:solidFill>
                  <a:schemeClr val="dk1"/>
                </a:solidFill>
                <a:latin typeface="Calibri"/>
                <a:ea typeface="Calibri"/>
                <a:cs typeface="Calibri"/>
                <a:sym typeface="Calibri"/>
              </a:rPr>
              <a:t>El software Rslogix 500, cuenta con la instrucción PID, Para facilitar la implementación del control.</a:t>
            </a:r>
            <a:endParaRPr b="0" i="0" sz="1400" u="none" cap="none" strike="noStrike">
              <a:solidFill>
                <a:srgbClr val="000000"/>
              </a:solidFill>
              <a:latin typeface="Arial"/>
              <a:ea typeface="Arial"/>
              <a:cs typeface="Arial"/>
              <a:sym typeface="Arial"/>
            </a:endParaRPr>
          </a:p>
        </p:txBody>
      </p:sp>
      <p:sp>
        <p:nvSpPr>
          <p:cNvPr id="335" name="Google Shape;335;p91"/>
          <p:cNvSpPr txBox="1"/>
          <p:nvPr/>
        </p:nvSpPr>
        <p:spPr>
          <a:xfrm>
            <a:off x="943194" y="1715257"/>
            <a:ext cx="10265374"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BO" sz="1600" u="none" cap="none" strike="noStrike">
                <a:solidFill>
                  <a:schemeClr val="dk1"/>
                </a:solidFill>
                <a:latin typeface="Calibri"/>
                <a:ea typeface="Calibri"/>
                <a:cs typeface="Calibri"/>
                <a:sym typeface="Calibri"/>
              </a:rPr>
              <a:t>La instrucción PID controla un circuito cerrado, utilizando entradas de un modulo de entrada</a:t>
            </a:r>
            <a:r>
              <a:rPr b="1" i="0" lang="es-BO" sz="1600" u="none" cap="none" strike="noStrike">
                <a:solidFill>
                  <a:schemeClr val="dk1"/>
                </a:solidFill>
                <a:latin typeface="Calibri"/>
                <a:ea typeface="Calibri"/>
                <a:cs typeface="Calibri"/>
                <a:sym typeface="Calibri"/>
              </a:rPr>
              <a:t> </a:t>
            </a:r>
            <a:r>
              <a:rPr b="0" i="0" lang="es-BO" sz="1600" u="none" cap="none" strike="noStrike">
                <a:solidFill>
                  <a:schemeClr val="dk1"/>
                </a:solidFill>
                <a:latin typeface="Calibri"/>
                <a:ea typeface="Calibri"/>
                <a:cs typeface="Calibri"/>
                <a:sym typeface="Calibri"/>
              </a:rPr>
              <a:t>analógica y proporciona una salida al modulo analógico como respuesta, para mantener efectivamente una variable de proceso en un punto de ajuste deseado.</a:t>
            </a:r>
            <a:endParaRPr b="0" i="0" sz="1400" u="none" cap="none" strike="noStrike">
              <a:solidFill>
                <a:srgbClr val="000000"/>
              </a:solidFill>
              <a:latin typeface="Arial"/>
              <a:ea typeface="Arial"/>
              <a:cs typeface="Arial"/>
              <a:sym typeface="Arial"/>
            </a:endParaRPr>
          </a:p>
        </p:txBody>
      </p:sp>
      <p:sp>
        <p:nvSpPr>
          <p:cNvPr id="336" name="Google Shape;336;p91"/>
          <p:cNvSpPr txBox="1"/>
          <p:nvPr/>
        </p:nvSpPr>
        <p:spPr>
          <a:xfrm>
            <a:off x="551384" y="116632"/>
            <a:ext cx="923827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CONSIDERACIONES A TOMAR PARA LA IMPLEMENTACIÓN</a:t>
            </a:r>
            <a:endParaRPr b="1" i="0" sz="2800" u="none" cap="none" strike="noStrike">
              <a:solidFill>
                <a:schemeClr val="dk1"/>
              </a:solidFill>
              <a:latin typeface="Calibri"/>
              <a:ea typeface="Calibri"/>
              <a:cs typeface="Calibri"/>
              <a:sym typeface="Calibri"/>
            </a:endParaRPr>
          </a:p>
        </p:txBody>
      </p:sp>
      <p:sp>
        <p:nvSpPr>
          <p:cNvPr id="337" name="Google Shape;337;p91"/>
          <p:cNvSpPr txBox="1"/>
          <p:nvPr/>
        </p:nvSpPr>
        <p:spPr>
          <a:xfrm>
            <a:off x="1127448" y="3911637"/>
            <a:ext cx="383102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BO" sz="2000" u="none" cap="none" strike="noStrike">
                <a:solidFill>
                  <a:schemeClr val="dk1"/>
                </a:solidFill>
                <a:latin typeface="Calibri"/>
                <a:ea typeface="Calibri"/>
                <a:cs typeface="Calibri"/>
                <a:sym typeface="Calibri"/>
              </a:rPr>
              <a:t>Ecuación PID</a:t>
            </a:r>
            <a:endParaRPr b="0" i="0" sz="1400" u="none" cap="none" strike="noStrike">
              <a:solidFill>
                <a:srgbClr val="000000"/>
              </a:solidFill>
              <a:latin typeface="Arial"/>
              <a:ea typeface="Arial"/>
              <a:cs typeface="Arial"/>
              <a:sym typeface="Arial"/>
            </a:endParaRPr>
          </a:p>
        </p:txBody>
      </p:sp>
      <p:sp>
        <p:nvSpPr>
          <p:cNvPr id="338" name="Google Shape;338;p91"/>
          <p:cNvSpPr txBox="1"/>
          <p:nvPr/>
        </p:nvSpPr>
        <p:spPr>
          <a:xfrm>
            <a:off x="3155255" y="4213395"/>
            <a:ext cx="5184576" cy="7087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39" name="Google Shape;339;p91"/>
          <p:cNvSpPr/>
          <p:nvPr/>
        </p:nvSpPr>
        <p:spPr>
          <a:xfrm>
            <a:off x="7426960" y="3911637"/>
            <a:ext cx="1168400" cy="1102277"/>
          </a:xfrm>
          <a:prstGeom prst="ellipse">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40" name="Google Shape;340;p91"/>
          <p:cNvCxnSpPr>
            <a:stCxn id="339" idx="7"/>
          </p:cNvCxnSpPr>
          <p:nvPr/>
        </p:nvCxnSpPr>
        <p:spPr>
          <a:xfrm flipH="1" rot="10800000">
            <a:off x="8424252" y="3598762"/>
            <a:ext cx="546900" cy="474300"/>
          </a:xfrm>
          <a:prstGeom prst="straightConnector1">
            <a:avLst/>
          </a:prstGeom>
          <a:noFill/>
          <a:ln cap="flat" cmpd="sng" w="9525">
            <a:solidFill>
              <a:schemeClr val="dk1"/>
            </a:solidFill>
            <a:prstDash val="solid"/>
            <a:round/>
            <a:headEnd len="sm" w="sm" type="none"/>
            <a:tailEnd len="med" w="med" type="triangle"/>
          </a:ln>
        </p:spPr>
      </p:cxnSp>
      <p:sp>
        <p:nvSpPr>
          <p:cNvPr id="341" name="Google Shape;341;p91"/>
          <p:cNvSpPr txBox="1"/>
          <p:nvPr/>
        </p:nvSpPr>
        <p:spPr>
          <a:xfrm>
            <a:off x="8697766" y="3210547"/>
            <a:ext cx="239904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BO" sz="1600" u="none" cap="none" strike="noStrike">
                <a:solidFill>
                  <a:schemeClr val="dk1"/>
                </a:solidFill>
                <a:latin typeface="Calibri"/>
                <a:ea typeface="Calibri"/>
                <a:cs typeface="Calibri"/>
                <a:sym typeface="Calibri"/>
              </a:rPr>
              <a:t>Ley de control inicial</a:t>
            </a:r>
            <a:endParaRPr b="0" i="0" sz="1400" u="none" cap="none" strike="noStrike">
              <a:solidFill>
                <a:srgbClr val="000000"/>
              </a:solidFill>
              <a:latin typeface="Arial"/>
              <a:ea typeface="Arial"/>
              <a:cs typeface="Arial"/>
              <a:sym typeface="Arial"/>
            </a:endParaRPr>
          </a:p>
        </p:txBody>
      </p:sp>
      <p:sp>
        <p:nvSpPr>
          <p:cNvPr id="342" name="Google Shape;342;p91"/>
          <p:cNvSpPr/>
          <p:nvPr/>
        </p:nvSpPr>
        <p:spPr>
          <a:xfrm>
            <a:off x="6225804" y="4188531"/>
            <a:ext cx="629481" cy="708720"/>
          </a:xfrm>
          <a:prstGeom prst="ellipse">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43" name="Google Shape;343;p91"/>
          <p:cNvCxnSpPr/>
          <p:nvPr/>
        </p:nvCxnSpPr>
        <p:spPr>
          <a:xfrm flipH="1" rot="10800000">
            <a:off x="6684867" y="3799153"/>
            <a:ext cx="547028" cy="474183"/>
          </a:xfrm>
          <a:prstGeom prst="straightConnector1">
            <a:avLst/>
          </a:prstGeom>
          <a:noFill/>
          <a:ln cap="flat" cmpd="sng" w="9525">
            <a:solidFill>
              <a:schemeClr val="dk1"/>
            </a:solidFill>
            <a:prstDash val="solid"/>
            <a:round/>
            <a:headEnd len="sm" w="sm" type="none"/>
            <a:tailEnd len="med" w="med" type="triangle"/>
          </a:ln>
        </p:spPr>
      </p:cxnSp>
      <p:sp>
        <p:nvSpPr>
          <p:cNvPr id="344" name="Google Shape;344;p91"/>
          <p:cNvSpPr txBox="1"/>
          <p:nvPr/>
        </p:nvSpPr>
        <p:spPr>
          <a:xfrm>
            <a:off x="7052965" y="3429602"/>
            <a:ext cx="74799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BO" sz="1600" u="none" cap="none" strike="noStrike">
                <a:solidFill>
                  <a:schemeClr val="dk1"/>
                </a:solidFill>
                <a:latin typeface="Calibri"/>
                <a:ea typeface="Calibri"/>
                <a:cs typeface="Calibri"/>
                <a:sym typeface="Calibri"/>
              </a:rPr>
              <a:t>Td=0</a:t>
            </a:r>
            <a:endParaRPr b="0" i="0" sz="1400" u="none" cap="none" strike="noStrike">
              <a:solidFill>
                <a:srgbClr val="000000"/>
              </a:solidFill>
              <a:latin typeface="Arial"/>
              <a:ea typeface="Arial"/>
              <a:cs typeface="Arial"/>
              <a:sym typeface="Arial"/>
            </a:endParaRPr>
          </a:p>
        </p:txBody>
      </p:sp>
      <p:pic>
        <p:nvPicPr>
          <p:cNvPr id="345" name="Google Shape;345;p91"/>
          <p:cNvPicPr preferRelativeResize="0"/>
          <p:nvPr/>
        </p:nvPicPr>
        <p:blipFill rotWithShape="1">
          <a:blip r:embed="rId4">
            <a:alphaModFix/>
          </a:blip>
          <a:srcRect b="15471" l="79698" r="6124" t="69830"/>
          <a:stretch/>
        </p:blipFill>
        <p:spPr>
          <a:xfrm>
            <a:off x="3940983" y="2415408"/>
            <a:ext cx="2626794" cy="1461158"/>
          </a:xfrm>
          <a:prstGeom prst="rect">
            <a:avLst/>
          </a:prstGeom>
          <a:noFill/>
          <a:ln>
            <a:noFill/>
          </a:ln>
        </p:spPr>
      </p:pic>
      <p:pic>
        <p:nvPicPr>
          <p:cNvPr id="346" name="Google Shape;346;p91"/>
          <p:cNvPicPr preferRelativeResize="0"/>
          <p:nvPr/>
        </p:nvPicPr>
        <p:blipFill rotWithShape="1">
          <a:blip r:embed="rId5">
            <a:alphaModFix/>
          </a:blip>
          <a:srcRect b="0" l="0" r="0" t="0"/>
          <a:stretch/>
        </p:blipFill>
        <p:spPr>
          <a:xfrm>
            <a:off x="2443861" y="5095826"/>
            <a:ext cx="6527419" cy="1415035"/>
          </a:xfrm>
          <a:prstGeom prst="rect">
            <a:avLst/>
          </a:prstGeom>
          <a:noFill/>
          <a:ln>
            <a:noFill/>
          </a:ln>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92"/>
          <p:cNvPicPr preferRelativeResize="0"/>
          <p:nvPr/>
        </p:nvPicPr>
        <p:blipFill rotWithShape="1">
          <a:blip r:embed="rId3">
            <a:alphaModFix/>
          </a:blip>
          <a:srcRect b="0" l="0" r="0" t="0"/>
          <a:stretch/>
        </p:blipFill>
        <p:spPr>
          <a:xfrm>
            <a:off x="4488929" y="1239717"/>
            <a:ext cx="3753438" cy="2840079"/>
          </a:xfrm>
          <a:prstGeom prst="rect">
            <a:avLst/>
          </a:prstGeom>
          <a:noFill/>
          <a:ln>
            <a:noFill/>
          </a:ln>
        </p:spPr>
      </p:pic>
      <p:sp>
        <p:nvSpPr>
          <p:cNvPr id="352" name="Google Shape;352;p92"/>
          <p:cNvSpPr txBox="1"/>
          <p:nvPr/>
        </p:nvSpPr>
        <p:spPr>
          <a:xfrm>
            <a:off x="479376" y="188640"/>
            <a:ext cx="923827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IMPLEMENTACIÓN DEL CONTROLADOR PI</a:t>
            </a:r>
            <a:endParaRPr b="0" i="0" sz="1400" u="none" cap="none" strike="noStrike">
              <a:solidFill>
                <a:srgbClr val="000000"/>
              </a:solidFill>
              <a:latin typeface="Arial"/>
              <a:ea typeface="Arial"/>
              <a:cs typeface="Arial"/>
              <a:sym typeface="Arial"/>
            </a:endParaRPr>
          </a:p>
        </p:txBody>
      </p:sp>
      <p:sp>
        <p:nvSpPr>
          <p:cNvPr id="353" name="Google Shape;353;p92"/>
          <p:cNvSpPr txBox="1"/>
          <p:nvPr/>
        </p:nvSpPr>
        <p:spPr>
          <a:xfrm>
            <a:off x="495152" y="741549"/>
            <a:ext cx="798182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s-BO" sz="2000" u="none" cap="none" strike="noStrike">
                <a:solidFill>
                  <a:schemeClr val="dk1"/>
                </a:solidFill>
                <a:latin typeface="Calibri"/>
                <a:ea typeface="Calibri"/>
                <a:cs typeface="Calibri"/>
                <a:sym typeface="Calibri"/>
              </a:rPr>
              <a:t>Configuración de parámetros importantes del Bloque PID</a:t>
            </a:r>
            <a:endParaRPr b="0" i="0" sz="1400" u="none" cap="none" strike="noStrike">
              <a:solidFill>
                <a:srgbClr val="000000"/>
              </a:solidFill>
              <a:latin typeface="Arial"/>
              <a:ea typeface="Arial"/>
              <a:cs typeface="Arial"/>
              <a:sym typeface="Arial"/>
            </a:endParaRPr>
          </a:p>
        </p:txBody>
      </p:sp>
      <p:grpSp>
        <p:nvGrpSpPr>
          <p:cNvPr id="354" name="Google Shape;354;p92"/>
          <p:cNvGrpSpPr/>
          <p:nvPr/>
        </p:nvGrpSpPr>
        <p:grpSpPr>
          <a:xfrm>
            <a:off x="1930323" y="1195692"/>
            <a:ext cx="8971532" cy="2165918"/>
            <a:chOff x="1273894" y="1747242"/>
            <a:chExt cx="9799033" cy="2756102"/>
          </a:xfrm>
        </p:grpSpPr>
        <p:sp>
          <p:nvSpPr>
            <p:cNvPr id="355" name="Google Shape;355;p92"/>
            <p:cNvSpPr/>
            <p:nvPr/>
          </p:nvSpPr>
          <p:spPr>
            <a:xfrm>
              <a:off x="4105833" y="2313109"/>
              <a:ext cx="1584176" cy="703275"/>
            </a:xfrm>
            <a:prstGeom prst="rect">
              <a:avLst/>
            </a:prstGeom>
            <a:noFill/>
            <a:ln cap="flat" cmpd="sng" w="381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p92"/>
            <p:cNvSpPr/>
            <p:nvPr/>
          </p:nvSpPr>
          <p:spPr>
            <a:xfrm>
              <a:off x="5786673" y="2313108"/>
              <a:ext cx="1703536" cy="991307"/>
            </a:xfrm>
            <a:prstGeom prst="rect">
              <a:avLst/>
            </a:prstGeom>
            <a:noFill/>
            <a:ln cap="flat" cmpd="sng" w="3810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7" name="Google Shape;357;p92"/>
            <p:cNvSpPr/>
            <p:nvPr/>
          </p:nvSpPr>
          <p:spPr>
            <a:xfrm>
              <a:off x="5846353" y="3753267"/>
              <a:ext cx="1703536" cy="487254"/>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8" name="Google Shape;358;p92"/>
            <p:cNvSpPr/>
            <p:nvPr/>
          </p:nvSpPr>
          <p:spPr>
            <a:xfrm>
              <a:off x="4083137" y="3105197"/>
              <a:ext cx="1606872" cy="199218"/>
            </a:xfrm>
            <a:prstGeom prst="rect">
              <a:avLst/>
            </a:prstGeom>
            <a:noFill/>
            <a:ln cap="flat" cmpd="sng" w="381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9" name="Google Shape;359;p92"/>
            <p:cNvSpPr txBox="1"/>
            <p:nvPr/>
          </p:nvSpPr>
          <p:spPr>
            <a:xfrm>
              <a:off x="1513350" y="1747242"/>
              <a:ext cx="2319470" cy="1214088"/>
            </a:xfrm>
            <a:prstGeom prst="rect">
              <a:avLst/>
            </a:prstGeom>
            <a:solidFill>
              <a:srgbClr val="00B0F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Constantes PID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Kc</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Ki=1/Ti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Kd=1/Td</a:t>
              </a:r>
              <a:endParaRPr b="0" i="0" sz="1400" u="none" cap="none" strike="noStrike">
                <a:solidFill>
                  <a:schemeClr val="dk1"/>
                </a:solidFill>
                <a:latin typeface="Calibri"/>
                <a:ea typeface="Calibri"/>
                <a:cs typeface="Calibri"/>
                <a:sym typeface="Calibri"/>
              </a:endParaRPr>
            </a:p>
          </p:txBody>
        </p:sp>
        <p:cxnSp>
          <p:nvCxnSpPr>
            <p:cNvPr id="360" name="Google Shape;360;p92"/>
            <p:cNvCxnSpPr>
              <a:stCxn id="359" idx="3"/>
              <a:endCxn id="355" idx="1"/>
            </p:cNvCxnSpPr>
            <p:nvPr/>
          </p:nvCxnSpPr>
          <p:spPr>
            <a:xfrm>
              <a:off x="3832820" y="2354286"/>
              <a:ext cx="273000" cy="310500"/>
            </a:xfrm>
            <a:prstGeom prst="straightConnector1">
              <a:avLst/>
            </a:prstGeom>
            <a:noFill/>
            <a:ln cap="flat" cmpd="sng" w="38100">
              <a:solidFill>
                <a:srgbClr val="00B0F0"/>
              </a:solidFill>
              <a:prstDash val="solid"/>
              <a:round/>
              <a:headEnd len="sm" w="sm" type="none"/>
              <a:tailEnd len="med" w="med" type="triangle"/>
            </a:ln>
          </p:spPr>
        </p:cxnSp>
        <p:sp>
          <p:nvSpPr>
            <p:cNvPr id="361" name="Google Shape;361;p92"/>
            <p:cNvSpPr txBox="1"/>
            <p:nvPr/>
          </p:nvSpPr>
          <p:spPr>
            <a:xfrm>
              <a:off x="1273894" y="3097329"/>
              <a:ext cx="2640898" cy="665790"/>
            </a:xfrm>
            <a:prstGeom prst="rect">
              <a:avLst/>
            </a:pr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Bucle de actualización para la ejecución de la instrucción PID</a:t>
              </a:r>
              <a:endParaRPr b="0" i="0" sz="1400" u="none" cap="none" strike="noStrike">
                <a:solidFill>
                  <a:schemeClr val="dk1"/>
                </a:solidFill>
                <a:latin typeface="Calibri"/>
                <a:ea typeface="Calibri"/>
                <a:cs typeface="Calibri"/>
                <a:sym typeface="Calibri"/>
              </a:endParaRPr>
            </a:p>
          </p:txBody>
        </p:sp>
        <p:cxnSp>
          <p:nvCxnSpPr>
            <p:cNvPr id="362" name="Google Shape;362;p92"/>
            <p:cNvCxnSpPr>
              <a:stCxn id="361" idx="3"/>
              <a:endCxn id="358" idx="1"/>
            </p:cNvCxnSpPr>
            <p:nvPr/>
          </p:nvCxnSpPr>
          <p:spPr>
            <a:xfrm flipH="1" rot="10800000">
              <a:off x="3914792" y="3204924"/>
              <a:ext cx="168300" cy="225300"/>
            </a:xfrm>
            <a:prstGeom prst="straightConnector1">
              <a:avLst/>
            </a:prstGeom>
            <a:noFill/>
            <a:ln cap="flat" cmpd="sng" w="38100">
              <a:solidFill>
                <a:srgbClr val="FFC000"/>
              </a:solidFill>
              <a:prstDash val="solid"/>
              <a:round/>
              <a:headEnd len="sm" w="sm" type="none"/>
              <a:tailEnd len="med" w="med" type="triangle"/>
            </a:ln>
          </p:spPr>
        </p:cxnSp>
        <p:sp>
          <p:nvSpPr>
            <p:cNvPr id="363" name="Google Shape;363;p92"/>
            <p:cNvSpPr txBox="1"/>
            <p:nvPr/>
          </p:nvSpPr>
          <p:spPr>
            <a:xfrm>
              <a:off x="8359179" y="1803263"/>
              <a:ext cx="2713748" cy="1214088"/>
            </a:xfrm>
            <a:prstGeom prst="rect">
              <a:avLst/>
            </a:prstGeom>
            <a:solidFill>
              <a:srgbClr val="00B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Configuración del punto de referencia.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Permite el escalamiento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(Smax y Smin)</a:t>
              </a:r>
              <a:endParaRPr b="0" i="0" sz="1400" u="none" cap="none" strike="noStrike">
                <a:solidFill>
                  <a:schemeClr val="dk1"/>
                </a:solidFill>
                <a:latin typeface="Calibri"/>
                <a:ea typeface="Calibri"/>
                <a:cs typeface="Calibri"/>
                <a:sym typeface="Calibri"/>
              </a:endParaRPr>
            </a:p>
          </p:txBody>
        </p:sp>
        <p:cxnSp>
          <p:nvCxnSpPr>
            <p:cNvPr id="364" name="Google Shape;364;p92"/>
            <p:cNvCxnSpPr>
              <a:stCxn id="363" idx="1"/>
              <a:endCxn id="356" idx="3"/>
            </p:cNvCxnSpPr>
            <p:nvPr/>
          </p:nvCxnSpPr>
          <p:spPr>
            <a:xfrm flipH="1">
              <a:off x="7490079" y="2410307"/>
              <a:ext cx="869100" cy="398400"/>
            </a:xfrm>
            <a:prstGeom prst="straightConnector1">
              <a:avLst/>
            </a:prstGeom>
            <a:noFill/>
            <a:ln cap="flat" cmpd="sng" w="38100">
              <a:solidFill>
                <a:srgbClr val="00B050"/>
              </a:solidFill>
              <a:prstDash val="solid"/>
              <a:round/>
              <a:headEnd len="sm" w="sm" type="none"/>
              <a:tailEnd len="med" w="med" type="triangle"/>
            </a:ln>
          </p:spPr>
        </p:cxnSp>
        <p:cxnSp>
          <p:nvCxnSpPr>
            <p:cNvPr id="365" name="Google Shape;365;p92"/>
            <p:cNvCxnSpPr>
              <a:stCxn id="366" idx="1"/>
              <a:endCxn id="357" idx="3"/>
            </p:cNvCxnSpPr>
            <p:nvPr/>
          </p:nvCxnSpPr>
          <p:spPr>
            <a:xfrm rot="10800000">
              <a:off x="7549779" y="3996774"/>
              <a:ext cx="809400" cy="36600"/>
            </a:xfrm>
            <a:prstGeom prst="straightConnector1">
              <a:avLst/>
            </a:prstGeom>
            <a:noFill/>
            <a:ln cap="flat" cmpd="sng" w="38100">
              <a:solidFill>
                <a:srgbClr val="FF0000"/>
              </a:solidFill>
              <a:prstDash val="solid"/>
              <a:round/>
              <a:headEnd len="sm" w="sm" type="none"/>
              <a:tailEnd len="med" w="med" type="triangle"/>
            </a:ln>
          </p:spPr>
        </p:cxnSp>
        <p:sp>
          <p:nvSpPr>
            <p:cNvPr id="366" name="Google Shape;366;p92"/>
            <p:cNvSpPr txBox="1"/>
            <p:nvPr/>
          </p:nvSpPr>
          <p:spPr>
            <a:xfrm>
              <a:off x="8359179" y="3563404"/>
              <a:ext cx="2136182" cy="939940"/>
            </a:xfrm>
            <a:prstGeom prst="rect">
              <a:avLst/>
            </a:prstGeom>
            <a:solidFill>
              <a:srgbClr val="FF0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s-BO" sz="1400" u="none" cap="none" strike="noStrike">
                  <a:solidFill>
                    <a:schemeClr val="dk1"/>
                  </a:solidFill>
                  <a:latin typeface="Calibri"/>
                  <a:ea typeface="Calibri"/>
                  <a:cs typeface="Calibri"/>
                  <a:sym typeface="Calibri"/>
                </a:rPr>
                <a:t>Limitación de la variable de control en porcentaje (0 a 100%)</a:t>
              </a:r>
              <a:endParaRPr b="0" i="0" sz="1400" u="none" cap="none" strike="noStrike">
                <a:solidFill>
                  <a:schemeClr val="dk1"/>
                </a:solidFill>
                <a:latin typeface="Calibri"/>
                <a:ea typeface="Calibri"/>
                <a:cs typeface="Calibri"/>
                <a:sym typeface="Calibri"/>
              </a:endParaRPr>
            </a:p>
          </p:txBody>
        </p:sp>
      </p:grpSp>
      <p:sp>
        <p:nvSpPr>
          <p:cNvPr id="367" name="Google Shape;367;p92"/>
          <p:cNvSpPr txBox="1"/>
          <p:nvPr/>
        </p:nvSpPr>
        <p:spPr>
          <a:xfrm>
            <a:off x="542158" y="3623498"/>
            <a:ext cx="3233695" cy="132343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es-BO" sz="1600" u="none" cap="none" strike="noStrike">
                <a:solidFill>
                  <a:schemeClr val="dk1"/>
                </a:solidFill>
                <a:latin typeface="Calibri"/>
                <a:ea typeface="Calibri"/>
                <a:cs typeface="Calibri"/>
                <a:sym typeface="Calibri"/>
              </a:rPr>
              <a:t>Nota: </a:t>
            </a:r>
            <a:r>
              <a:rPr b="0" i="0" lang="es-BO" sz="1600" u="none" cap="none" strike="noStrike">
                <a:solidFill>
                  <a:schemeClr val="dk1"/>
                </a:solidFill>
                <a:latin typeface="Calibri"/>
                <a:ea typeface="Calibri"/>
                <a:cs typeface="Calibri"/>
                <a:sym typeface="Calibri"/>
              </a:rPr>
              <a:t>Tomar en cuenta que las ganancias </a:t>
            </a:r>
            <a:r>
              <a:rPr b="0" i="0" lang="es-BO" sz="1600" u="none" cap="none" strike="noStrike">
                <a:solidFill>
                  <a:srgbClr val="0070C0"/>
                </a:solidFill>
                <a:latin typeface="Calibri"/>
                <a:ea typeface="Calibri"/>
                <a:cs typeface="Calibri"/>
                <a:sym typeface="Calibri"/>
              </a:rPr>
              <a:t>Kc, Ti y Td</a:t>
            </a:r>
            <a:r>
              <a:rPr b="0" i="0" lang="es-BO" sz="1600" u="none" cap="none" strike="noStrike">
                <a:solidFill>
                  <a:schemeClr val="dk1"/>
                </a:solidFill>
                <a:latin typeface="Calibri"/>
                <a:ea typeface="Calibri"/>
                <a:cs typeface="Calibri"/>
                <a:sym typeface="Calibri"/>
              </a:rPr>
              <a:t>, tiene una resolución de 15 bits con un bit de precisión decimal, además de ser positivos en el rango de 0 a 32767</a:t>
            </a:r>
            <a:endParaRPr b="0" i="0" sz="1400" u="none" cap="none" strike="noStrike">
              <a:solidFill>
                <a:srgbClr val="000000"/>
              </a:solidFill>
              <a:latin typeface="Arial"/>
              <a:ea typeface="Arial"/>
              <a:cs typeface="Arial"/>
              <a:sym typeface="Arial"/>
            </a:endParaRPr>
          </a:p>
        </p:txBody>
      </p:sp>
      <p:grpSp>
        <p:nvGrpSpPr>
          <p:cNvPr id="368" name="Google Shape;368;p92"/>
          <p:cNvGrpSpPr/>
          <p:nvPr/>
        </p:nvGrpSpPr>
        <p:grpSpPr>
          <a:xfrm>
            <a:off x="3957199" y="4295320"/>
            <a:ext cx="7240649" cy="2169100"/>
            <a:chOff x="5120641" y="2924875"/>
            <a:chExt cx="7240649" cy="2169100"/>
          </a:xfrm>
        </p:grpSpPr>
        <p:pic>
          <p:nvPicPr>
            <p:cNvPr id="369" name="Google Shape;369;p92"/>
            <p:cNvPicPr preferRelativeResize="0"/>
            <p:nvPr/>
          </p:nvPicPr>
          <p:blipFill rotWithShape="1">
            <a:blip r:embed="rId4">
              <a:alphaModFix/>
            </a:blip>
            <a:srcRect b="0" l="0" r="0" t="0"/>
            <a:stretch/>
          </p:blipFill>
          <p:spPr>
            <a:xfrm>
              <a:off x="5180255" y="2924875"/>
              <a:ext cx="7181035" cy="2169100"/>
            </a:xfrm>
            <a:prstGeom prst="rect">
              <a:avLst/>
            </a:prstGeom>
            <a:noFill/>
            <a:ln>
              <a:noFill/>
            </a:ln>
          </p:spPr>
        </p:pic>
        <p:sp>
          <p:nvSpPr>
            <p:cNvPr id="370" name="Google Shape;370;p92"/>
            <p:cNvSpPr/>
            <p:nvPr/>
          </p:nvSpPr>
          <p:spPr>
            <a:xfrm>
              <a:off x="5201921" y="3637280"/>
              <a:ext cx="995680" cy="12192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1" name="Google Shape;371;p92"/>
            <p:cNvSpPr txBox="1"/>
            <p:nvPr/>
          </p:nvSpPr>
          <p:spPr>
            <a:xfrm>
              <a:off x="5120641" y="3583247"/>
              <a:ext cx="1630679"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s-BO" sz="900" u="none" cap="none" strike="noStrike">
                  <a:solidFill>
                    <a:schemeClr val="dk1"/>
                  </a:solidFill>
                  <a:latin typeface="Calibri"/>
                  <a:ea typeface="Calibri"/>
                  <a:cs typeface="Calibri"/>
                  <a:sym typeface="Calibri"/>
                </a:rPr>
                <a:t>PV-Variable de proceso</a:t>
              </a:r>
              <a:endParaRPr b="0" i="0" sz="1400" u="none" cap="none" strike="noStrike">
                <a:solidFill>
                  <a:srgbClr val="000000"/>
                </a:solidFill>
                <a:latin typeface="Arial"/>
                <a:ea typeface="Arial"/>
                <a:cs typeface="Arial"/>
                <a:sym typeface="Arial"/>
              </a:endParaRPr>
            </a:p>
          </p:txBody>
        </p:sp>
      </p:grpSp>
      <p:pic>
        <p:nvPicPr>
          <p:cNvPr id="372" name="Google Shape;372;p92"/>
          <p:cNvPicPr preferRelativeResize="0"/>
          <p:nvPr/>
        </p:nvPicPr>
        <p:blipFill rotWithShape="1">
          <a:blip r:embed="rId5">
            <a:alphaModFix/>
          </a:blip>
          <a:srcRect b="0" l="0" r="0" t="0"/>
          <a:stretch/>
        </p:blipFill>
        <p:spPr>
          <a:xfrm>
            <a:off x="1036479" y="5006366"/>
            <a:ext cx="1847850" cy="1200150"/>
          </a:xfrm>
          <a:prstGeom prst="rect">
            <a:avLst/>
          </a:prstGeom>
          <a:noFill/>
          <a:ln>
            <a:noFill/>
          </a:ln>
        </p:spPr>
      </p:pic>
      <p:cxnSp>
        <p:nvCxnSpPr>
          <p:cNvPr id="373" name="Google Shape;373;p92"/>
          <p:cNvCxnSpPr>
            <a:stCxn id="359" idx="1"/>
          </p:cNvCxnSpPr>
          <p:nvPr/>
        </p:nvCxnSpPr>
        <p:spPr>
          <a:xfrm flipH="1">
            <a:off x="1798258" y="1672745"/>
            <a:ext cx="351300" cy="1950900"/>
          </a:xfrm>
          <a:prstGeom prst="bentConnector2">
            <a:avLst/>
          </a:prstGeom>
          <a:noFill/>
          <a:ln cap="flat" cmpd="sng" w="9525">
            <a:solidFill>
              <a:srgbClr val="0000FF"/>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93"/>
          <p:cNvPicPr preferRelativeResize="0"/>
          <p:nvPr/>
        </p:nvPicPr>
        <p:blipFill rotWithShape="1">
          <a:blip r:embed="rId3">
            <a:alphaModFix/>
          </a:blip>
          <a:srcRect b="18653" l="11917" r="1832" t="16375"/>
          <a:stretch/>
        </p:blipFill>
        <p:spPr>
          <a:xfrm>
            <a:off x="530416" y="1628800"/>
            <a:ext cx="11228647" cy="4643344"/>
          </a:xfrm>
          <a:prstGeom prst="rect">
            <a:avLst/>
          </a:prstGeom>
          <a:noFill/>
          <a:ln>
            <a:noFill/>
          </a:ln>
        </p:spPr>
      </p:pic>
      <p:sp>
        <p:nvSpPr>
          <p:cNvPr id="379" name="Google Shape;379;p93"/>
          <p:cNvSpPr txBox="1"/>
          <p:nvPr/>
        </p:nvSpPr>
        <p:spPr>
          <a:xfrm>
            <a:off x="623392" y="192575"/>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PROGRAMA LADDER EN RSLOGIX MICRO ENGLISH</a:t>
            </a:r>
            <a:endParaRPr b="0" i="0" sz="1400" u="none" cap="none" strike="noStrike">
              <a:solidFill>
                <a:srgbClr val="000000"/>
              </a:solidFill>
              <a:latin typeface="Arial"/>
              <a:ea typeface="Arial"/>
              <a:cs typeface="Arial"/>
              <a:sym typeface="Arial"/>
            </a:endParaRPr>
          </a:p>
        </p:txBody>
      </p:sp>
      <p:sp>
        <p:nvSpPr>
          <p:cNvPr id="380" name="Google Shape;380;p93"/>
          <p:cNvSpPr txBox="1"/>
          <p:nvPr/>
        </p:nvSpPr>
        <p:spPr>
          <a:xfrm>
            <a:off x="623392" y="715795"/>
            <a:ext cx="11042696" cy="6403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El siguiente programa replica las consideraciones necesarias para implementar el PID, añadiendo algunas precauciones de entrada y salida, como se indica en la descripción de cada instrucción usada.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94"/>
          <p:cNvPicPr preferRelativeResize="0"/>
          <p:nvPr/>
        </p:nvPicPr>
        <p:blipFill rotWithShape="1">
          <a:blip r:embed="rId3">
            <a:alphaModFix/>
          </a:blip>
          <a:srcRect b="6958" l="8242" r="1756" t="12894"/>
          <a:stretch/>
        </p:blipFill>
        <p:spPr>
          <a:xfrm>
            <a:off x="609598" y="901839"/>
            <a:ext cx="10972801" cy="5496449"/>
          </a:xfrm>
          <a:prstGeom prst="rect">
            <a:avLst/>
          </a:prstGeom>
          <a:noFill/>
          <a:ln>
            <a:noFill/>
          </a:ln>
        </p:spPr>
      </p:pic>
      <p:sp>
        <p:nvSpPr>
          <p:cNvPr id="386" name="Google Shape;386;p94"/>
          <p:cNvSpPr txBox="1"/>
          <p:nvPr/>
        </p:nvSpPr>
        <p:spPr>
          <a:xfrm>
            <a:off x="479374" y="198102"/>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PROGRAMA LADDER EN RSLOGIX MICRO ENGLISH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95"/>
          <p:cNvPicPr preferRelativeResize="0"/>
          <p:nvPr/>
        </p:nvPicPr>
        <p:blipFill rotWithShape="1">
          <a:blip r:embed="rId3">
            <a:alphaModFix/>
          </a:blip>
          <a:srcRect b="4909" l="8242" r="0" t="12748"/>
          <a:stretch/>
        </p:blipFill>
        <p:spPr>
          <a:xfrm>
            <a:off x="653142" y="864159"/>
            <a:ext cx="11187165" cy="5647174"/>
          </a:xfrm>
          <a:prstGeom prst="rect">
            <a:avLst/>
          </a:prstGeom>
          <a:noFill/>
          <a:ln>
            <a:noFill/>
          </a:ln>
        </p:spPr>
      </p:pic>
      <p:sp>
        <p:nvSpPr>
          <p:cNvPr id="392" name="Google Shape;392;p95"/>
          <p:cNvSpPr txBox="1"/>
          <p:nvPr/>
        </p:nvSpPr>
        <p:spPr>
          <a:xfrm>
            <a:off x="479376" y="208151"/>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PROGRAMA LADDER EN RSLOGIX MICRO ENGLISH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6"/>
          <p:cNvSpPr txBox="1"/>
          <p:nvPr/>
        </p:nvSpPr>
        <p:spPr>
          <a:xfrm>
            <a:off x="623010" y="277901"/>
            <a:ext cx="938315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BO" sz="2400" u="none" cap="none" strike="noStrike">
                <a:solidFill>
                  <a:schemeClr val="dk1"/>
                </a:solidFill>
                <a:latin typeface="Calibri"/>
                <a:ea typeface="Calibri"/>
                <a:cs typeface="Calibri"/>
                <a:sym typeface="Calibri"/>
              </a:rPr>
              <a:t>PRUEBAS DEL CONTROLADOR PI SIN PERTURBACIÓN</a:t>
            </a:r>
            <a:endParaRPr b="0" i="0" sz="1400" u="none" cap="none" strike="noStrike">
              <a:solidFill>
                <a:srgbClr val="000000"/>
              </a:solidFill>
              <a:latin typeface="Arial"/>
              <a:ea typeface="Arial"/>
              <a:cs typeface="Arial"/>
              <a:sym typeface="Arial"/>
            </a:endParaRPr>
          </a:p>
        </p:txBody>
      </p:sp>
      <p:sp>
        <p:nvSpPr>
          <p:cNvPr id="399" name="Google Shape;399;p96"/>
          <p:cNvSpPr txBox="1"/>
          <p:nvPr/>
        </p:nvSpPr>
        <p:spPr>
          <a:xfrm>
            <a:off x="580580" y="729442"/>
            <a:ext cx="10988410" cy="485902"/>
          </a:xfrm>
          <a:prstGeom prst="rect">
            <a:avLst/>
          </a:prstGeom>
          <a:blipFill rotWithShape="1">
            <a:blip r:embed="rId3">
              <a:alphaModFix/>
            </a:blip>
            <a:stretch>
              <a:fillRect b="-8856" l="-442"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nvGrpSpPr>
          <p:cNvPr id="400" name="Google Shape;400;p96"/>
          <p:cNvGrpSpPr/>
          <p:nvPr/>
        </p:nvGrpSpPr>
        <p:grpSpPr>
          <a:xfrm>
            <a:off x="785350" y="1412776"/>
            <a:ext cx="10621300" cy="5272902"/>
            <a:chOff x="773531" y="1519044"/>
            <a:chExt cx="7364314" cy="3718914"/>
          </a:xfrm>
        </p:grpSpPr>
        <p:pic>
          <p:nvPicPr>
            <p:cNvPr id="401" name="Google Shape;401;p96"/>
            <p:cNvPicPr preferRelativeResize="0"/>
            <p:nvPr/>
          </p:nvPicPr>
          <p:blipFill rotWithShape="1">
            <a:blip r:embed="rId4">
              <a:alphaModFix/>
            </a:blip>
            <a:srcRect b="6800" l="0" r="10926" t="10237"/>
            <a:stretch/>
          </p:blipFill>
          <p:spPr>
            <a:xfrm>
              <a:off x="773531" y="1519044"/>
              <a:ext cx="7364314" cy="3718914"/>
            </a:xfrm>
            <a:prstGeom prst="rect">
              <a:avLst/>
            </a:prstGeom>
            <a:noFill/>
            <a:ln>
              <a:noFill/>
            </a:ln>
          </p:spPr>
        </p:pic>
        <p:sp>
          <p:nvSpPr>
            <p:cNvPr id="402" name="Google Shape;402;p96"/>
            <p:cNvSpPr txBox="1"/>
            <p:nvPr/>
          </p:nvSpPr>
          <p:spPr>
            <a:xfrm>
              <a:off x="3718374" y="2267406"/>
              <a:ext cx="3011984" cy="260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FF00"/>
                  </a:solidFill>
                  <a:latin typeface="Calibri"/>
                  <a:ea typeface="Calibri"/>
                  <a:cs typeface="Calibri"/>
                  <a:sym typeface="Calibri"/>
                </a:rPr>
                <a:t>Variable de control (salida de control PI)</a:t>
              </a:r>
              <a:endParaRPr b="0" i="0" sz="1400" u="none" cap="none" strike="noStrike">
                <a:solidFill>
                  <a:srgbClr val="000000"/>
                </a:solidFill>
                <a:latin typeface="Arial"/>
                <a:ea typeface="Arial"/>
                <a:cs typeface="Arial"/>
                <a:sym typeface="Arial"/>
              </a:endParaRPr>
            </a:p>
          </p:txBody>
        </p:sp>
        <p:sp>
          <p:nvSpPr>
            <p:cNvPr id="403" name="Google Shape;403;p96"/>
            <p:cNvSpPr txBox="1"/>
            <p:nvPr/>
          </p:nvSpPr>
          <p:spPr>
            <a:xfrm>
              <a:off x="3661762" y="4223636"/>
              <a:ext cx="3709565" cy="260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FF00"/>
                  </a:solidFill>
                  <a:latin typeface="Calibri"/>
                  <a:ea typeface="Calibri"/>
                  <a:cs typeface="Calibri"/>
                  <a:sym typeface="Calibri"/>
                </a:rPr>
                <a:t>Variable de proceso (medición de altura del sensor)</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7"/>
          <p:cNvSpPr txBox="1"/>
          <p:nvPr/>
        </p:nvSpPr>
        <p:spPr>
          <a:xfrm>
            <a:off x="581957" y="276563"/>
            <a:ext cx="978431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PRUEBAS DEL CONTROLADOR CON PERTURBACIÓN</a:t>
            </a:r>
            <a:endParaRPr b="0" i="0" sz="1400" u="none" cap="none" strike="noStrike">
              <a:solidFill>
                <a:srgbClr val="000000"/>
              </a:solidFill>
              <a:latin typeface="Arial"/>
              <a:ea typeface="Arial"/>
              <a:cs typeface="Arial"/>
              <a:sym typeface="Arial"/>
            </a:endParaRPr>
          </a:p>
        </p:txBody>
      </p:sp>
      <p:sp>
        <p:nvSpPr>
          <p:cNvPr id="409" name="Google Shape;409;p97"/>
          <p:cNvSpPr txBox="1"/>
          <p:nvPr/>
        </p:nvSpPr>
        <p:spPr>
          <a:xfrm>
            <a:off x="580580" y="729442"/>
            <a:ext cx="109884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BO" sz="1800" u="none" cap="none" strike="noStrike">
                <a:solidFill>
                  <a:schemeClr val="dk1"/>
                </a:solidFill>
                <a:latin typeface="Calibri"/>
                <a:ea typeface="Calibri"/>
                <a:cs typeface="Calibri"/>
                <a:sym typeface="Calibri"/>
              </a:rPr>
              <a:t>Perturbación a la salida </a:t>
            </a:r>
            <a:r>
              <a:rPr b="0" i="0" lang="es-BO" sz="1800" u="none" cap="none" strike="noStrike">
                <a:solidFill>
                  <a:schemeClr val="dk1"/>
                </a:solidFill>
                <a:latin typeface="Calibri"/>
                <a:ea typeface="Calibri"/>
                <a:cs typeface="Calibri"/>
                <a:sym typeface="Calibri"/>
              </a:rPr>
              <a:t>→ abrir o cerrar la válvula de bola secundaria (</a:t>
            </a:r>
            <a:r>
              <a:rPr b="1" i="0" lang="es-BO" sz="1800" u="none" cap="none" strike="noStrike">
                <a:solidFill>
                  <a:srgbClr val="0000FF"/>
                </a:solidFill>
                <a:latin typeface="Calibri"/>
                <a:ea typeface="Calibri"/>
                <a:cs typeface="Calibri"/>
                <a:sym typeface="Calibri"/>
              </a:rPr>
              <a:t>Perturbación 1</a:t>
            </a:r>
            <a:r>
              <a:rPr b="0" i="0" lang="es-BO"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10" name="Google Shape;410;p97"/>
          <p:cNvSpPr txBox="1"/>
          <p:nvPr/>
        </p:nvSpPr>
        <p:spPr>
          <a:xfrm>
            <a:off x="601795" y="1089307"/>
            <a:ext cx="109884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BO" sz="1800" u="none" cap="none" strike="noStrike">
                <a:solidFill>
                  <a:schemeClr val="dk1"/>
                </a:solidFill>
                <a:latin typeface="Calibri"/>
                <a:ea typeface="Calibri"/>
                <a:cs typeface="Calibri"/>
                <a:sym typeface="Calibri"/>
              </a:rPr>
              <a:t>Ruido de medición </a:t>
            </a:r>
            <a:r>
              <a:rPr b="0" i="0" lang="es-BO" sz="1800" u="none" cap="none" strike="noStrike">
                <a:solidFill>
                  <a:schemeClr val="dk1"/>
                </a:solidFill>
                <a:latin typeface="Calibri"/>
                <a:ea typeface="Calibri"/>
                <a:cs typeface="Calibri"/>
                <a:sym typeface="Calibri"/>
              </a:rPr>
              <a:t>→ Pasar un objeto físico en el rango de detección del sensor de nivel (</a:t>
            </a:r>
            <a:r>
              <a:rPr b="1" i="0" lang="es-BO" sz="1800" u="none" cap="none" strike="noStrike">
                <a:solidFill>
                  <a:srgbClr val="0000FF"/>
                </a:solidFill>
                <a:latin typeface="Calibri"/>
                <a:ea typeface="Calibri"/>
                <a:cs typeface="Calibri"/>
                <a:sym typeface="Calibri"/>
              </a:rPr>
              <a:t>Ruido de medición</a:t>
            </a:r>
            <a:r>
              <a:rPr b="0" i="0" lang="es-BO"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nvGrpSpPr>
          <p:cNvPr id="411" name="Google Shape;411;p97"/>
          <p:cNvGrpSpPr/>
          <p:nvPr/>
        </p:nvGrpSpPr>
        <p:grpSpPr>
          <a:xfrm>
            <a:off x="918868" y="1651903"/>
            <a:ext cx="10311833" cy="4929534"/>
            <a:chOff x="669575" y="1458638"/>
            <a:chExt cx="8540549" cy="4269061"/>
          </a:xfrm>
        </p:grpSpPr>
        <p:pic>
          <p:nvPicPr>
            <p:cNvPr id="412" name="Google Shape;412;p97"/>
            <p:cNvPicPr preferRelativeResize="0"/>
            <p:nvPr/>
          </p:nvPicPr>
          <p:blipFill rotWithShape="1">
            <a:blip r:embed="rId3">
              <a:alphaModFix/>
            </a:blip>
            <a:srcRect b="9833" l="0" r="10726" t="10836"/>
            <a:stretch/>
          </p:blipFill>
          <p:spPr>
            <a:xfrm>
              <a:off x="669575" y="1458638"/>
              <a:ext cx="8540549" cy="4269061"/>
            </a:xfrm>
            <a:prstGeom prst="rect">
              <a:avLst/>
            </a:prstGeom>
            <a:noFill/>
            <a:ln>
              <a:noFill/>
            </a:ln>
          </p:spPr>
        </p:pic>
        <p:sp>
          <p:nvSpPr>
            <p:cNvPr id="413" name="Google Shape;413;p97"/>
            <p:cNvSpPr txBox="1"/>
            <p:nvPr/>
          </p:nvSpPr>
          <p:spPr>
            <a:xfrm>
              <a:off x="1105453" y="2279472"/>
              <a:ext cx="2540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FF00"/>
                  </a:solidFill>
                  <a:latin typeface="Calibri"/>
                  <a:ea typeface="Calibri"/>
                  <a:cs typeface="Calibri"/>
                  <a:sym typeface="Calibri"/>
                </a:rPr>
                <a:t>Variable de control</a:t>
              </a:r>
              <a:endParaRPr b="0" i="0" sz="1400" u="none" cap="none" strike="noStrike">
                <a:solidFill>
                  <a:srgbClr val="000000"/>
                </a:solidFill>
                <a:latin typeface="Arial"/>
                <a:ea typeface="Arial"/>
                <a:cs typeface="Arial"/>
                <a:sym typeface="Arial"/>
              </a:endParaRPr>
            </a:p>
          </p:txBody>
        </p:sp>
        <p:sp>
          <p:nvSpPr>
            <p:cNvPr id="414" name="Google Shape;414;p97"/>
            <p:cNvSpPr txBox="1"/>
            <p:nvPr/>
          </p:nvSpPr>
          <p:spPr>
            <a:xfrm>
              <a:off x="1013813" y="4550000"/>
              <a:ext cx="2540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FF00"/>
                  </a:solidFill>
                  <a:latin typeface="Calibri"/>
                  <a:ea typeface="Calibri"/>
                  <a:cs typeface="Calibri"/>
                  <a:sym typeface="Calibri"/>
                </a:rPr>
                <a:t>Variable de proceso</a:t>
              </a:r>
              <a:endParaRPr b="0" i="0" sz="1400" u="none" cap="none" strike="noStrike">
                <a:solidFill>
                  <a:srgbClr val="000000"/>
                </a:solidFill>
                <a:latin typeface="Arial"/>
                <a:ea typeface="Arial"/>
                <a:cs typeface="Arial"/>
                <a:sym typeface="Arial"/>
              </a:endParaRPr>
            </a:p>
          </p:txBody>
        </p:sp>
        <p:sp>
          <p:nvSpPr>
            <p:cNvPr id="415" name="Google Shape;415;p97"/>
            <p:cNvSpPr/>
            <p:nvPr/>
          </p:nvSpPr>
          <p:spPr>
            <a:xfrm rot="6739015">
              <a:off x="4489935" y="3956036"/>
              <a:ext cx="454225" cy="1187928"/>
            </a:xfrm>
            <a:prstGeom prst="leftBrace">
              <a:avLst>
                <a:gd fmla="val 0" name="adj1"/>
                <a:gd fmla="val 50000" name="adj2"/>
              </a:avLst>
            </a:prstGeom>
            <a:noFill/>
            <a:ln cap="flat" cmpd="sng" w="9525">
              <a:solidFill>
                <a:srgbClr val="7C5F9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97"/>
            <p:cNvSpPr txBox="1"/>
            <p:nvPr/>
          </p:nvSpPr>
          <p:spPr>
            <a:xfrm rot="1455683">
              <a:off x="4228326" y="4180537"/>
              <a:ext cx="2540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FF00"/>
                  </a:solidFill>
                  <a:latin typeface="Calibri"/>
                  <a:ea typeface="Calibri"/>
                  <a:cs typeface="Calibri"/>
                  <a:sym typeface="Calibri"/>
                </a:rPr>
                <a:t>Perturbación 1</a:t>
              </a:r>
              <a:endParaRPr b="0" i="0" sz="1400" u="none" cap="none" strike="noStrike">
                <a:solidFill>
                  <a:srgbClr val="000000"/>
                </a:solidFill>
                <a:latin typeface="Arial"/>
                <a:ea typeface="Arial"/>
                <a:cs typeface="Arial"/>
                <a:sym typeface="Arial"/>
              </a:endParaRPr>
            </a:p>
          </p:txBody>
        </p:sp>
        <p:cxnSp>
          <p:nvCxnSpPr>
            <p:cNvPr id="417" name="Google Shape;417;p97"/>
            <p:cNvCxnSpPr/>
            <p:nvPr/>
          </p:nvCxnSpPr>
          <p:spPr>
            <a:xfrm flipH="1" rot="10800000">
              <a:off x="6540500" y="4003586"/>
              <a:ext cx="584200" cy="361617"/>
            </a:xfrm>
            <a:prstGeom prst="straightConnector1">
              <a:avLst/>
            </a:prstGeom>
            <a:noFill/>
            <a:ln cap="flat" cmpd="sng" w="38100">
              <a:solidFill>
                <a:schemeClr val="accent4"/>
              </a:solidFill>
              <a:prstDash val="solid"/>
              <a:round/>
              <a:headEnd len="sm" w="sm" type="none"/>
              <a:tailEnd len="med" w="med" type="triangle"/>
            </a:ln>
            <a:effectLst>
              <a:outerShdw blurRad="40000" rotWithShape="0" dir="5400000" dist="23000">
                <a:srgbClr val="000000">
                  <a:alpha val="34509"/>
                </a:srgbClr>
              </a:outerShdw>
            </a:effectLst>
          </p:spPr>
        </p:cxnSp>
        <p:sp>
          <p:nvSpPr>
            <p:cNvPr id="418" name="Google Shape;418;p97"/>
            <p:cNvSpPr txBox="1"/>
            <p:nvPr/>
          </p:nvSpPr>
          <p:spPr>
            <a:xfrm>
              <a:off x="6339112" y="3617200"/>
              <a:ext cx="2540000" cy="3198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FFFF00"/>
                  </a:solidFill>
                  <a:latin typeface="Calibri"/>
                  <a:ea typeface="Calibri"/>
                  <a:cs typeface="Calibri"/>
                  <a:sym typeface="Calibri"/>
                </a:rPr>
                <a:t>Ruido de medición</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8"/>
          <p:cNvSpPr txBox="1"/>
          <p:nvPr/>
        </p:nvSpPr>
        <p:spPr>
          <a:xfrm>
            <a:off x="1272744" y="3012232"/>
            <a:ext cx="112332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BO" sz="3600" u="none" cap="none" strike="noStrike">
                <a:solidFill>
                  <a:schemeClr val="dk1"/>
                </a:solidFill>
                <a:latin typeface="Calibri"/>
                <a:ea typeface="Calibri"/>
                <a:cs typeface="Calibri"/>
                <a:sym typeface="Calibri"/>
              </a:rPr>
              <a:t>DISEÑO DEL CONTROLADOR – DISCRETO</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9"/>
          <p:cNvSpPr txBox="1"/>
          <p:nvPr/>
        </p:nvSpPr>
        <p:spPr>
          <a:xfrm>
            <a:off x="551384" y="116632"/>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Diseño del controlador – Función de transferencia a lazo abierto discreto</a:t>
            </a:r>
            <a:endParaRPr b="0" i="0" sz="2800" u="none" cap="none" strike="noStrike">
              <a:solidFill>
                <a:schemeClr val="dk1"/>
              </a:solidFill>
              <a:latin typeface="Calibri"/>
              <a:ea typeface="Calibri"/>
              <a:cs typeface="Calibri"/>
              <a:sym typeface="Calibri"/>
            </a:endParaRPr>
          </a:p>
        </p:txBody>
      </p:sp>
      <p:sp>
        <p:nvSpPr>
          <p:cNvPr id="429" name="Google Shape;429;p99"/>
          <p:cNvSpPr txBox="1"/>
          <p:nvPr/>
        </p:nvSpPr>
        <p:spPr>
          <a:xfrm>
            <a:off x="1379476" y="872889"/>
            <a:ext cx="2448272" cy="70307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30" name="Google Shape;430;p99"/>
          <p:cNvSpPr txBox="1"/>
          <p:nvPr/>
        </p:nvSpPr>
        <p:spPr>
          <a:xfrm>
            <a:off x="491906" y="1843423"/>
            <a:ext cx="3910001"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Si consideramos que pose </a:t>
            </a:r>
            <a:r>
              <a:rPr b="1" i="1" lang="es-BO" sz="1800" u="none" cap="none" strike="noStrike">
                <a:solidFill>
                  <a:srgbClr val="0000FF"/>
                </a:solidFill>
                <a:latin typeface="Calibri"/>
                <a:ea typeface="Calibri"/>
                <a:cs typeface="Calibri"/>
                <a:sym typeface="Calibri"/>
              </a:rPr>
              <a:t>10 muestras </a:t>
            </a:r>
            <a:r>
              <a:rPr b="1" i="1" lang="es-BO" sz="1800" u="none" cap="none" strike="noStrike">
                <a:solidFill>
                  <a:schemeClr val="dk1"/>
                </a:solidFill>
                <a:latin typeface="Calibri"/>
                <a:ea typeface="Calibri"/>
                <a:cs typeface="Calibri"/>
                <a:sym typeface="Calibri"/>
              </a:rPr>
              <a:t>por constante de tiempo</a:t>
            </a:r>
            <a:endParaRPr b="0" i="0" sz="1400" u="none" cap="none" strike="noStrike">
              <a:solidFill>
                <a:srgbClr val="000000"/>
              </a:solidFill>
              <a:latin typeface="Arial"/>
              <a:ea typeface="Arial"/>
              <a:cs typeface="Arial"/>
              <a:sym typeface="Arial"/>
            </a:endParaRPr>
          </a:p>
        </p:txBody>
      </p:sp>
      <p:sp>
        <p:nvSpPr>
          <p:cNvPr id="431" name="Google Shape;431;p99"/>
          <p:cNvSpPr txBox="1"/>
          <p:nvPr/>
        </p:nvSpPr>
        <p:spPr>
          <a:xfrm>
            <a:off x="331793" y="2869509"/>
            <a:ext cx="2952328" cy="627031"/>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32" name="Google Shape;432;p99"/>
          <p:cNvSpPr txBox="1"/>
          <p:nvPr/>
        </p:nvSpPr>
        <p:spPr>
          <a:xfrm>
            <a:off x="551384" y="3748517"/>
            <a:ext cx="2952328" cy="69711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33" name="Google Shape;433;p99"/>
          <p:cNvSpPr txBox="1"/>
          <p:nvPr/>
        </p:nvSpPr>
        <p:spPr>
          <a:xfrm>
            <a:off x="1161496" y="5251858"/>
            <a:ext cx="2088232" cy="400110"/>
          </a:xfrm>
          <a:prstGeom prst="rect">
            <a:avLst/>
          </a:prstGeom>
          <a:blipFill rotWithShape="1">
            <a:blip r:embed="rId6">
              <a:alphaModFix/>
            </a:blip>
            <a:stretch>
              <a:fillRect b="-9227"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34" name="Google Shape;434;p99"/>
          <p:cNvSpPr txBox="1"/>
          <p:nvPr/>
        </p:nvSpPr>
        <p:spPr>
          <a:xfrm>
            <a:off x="491906" y="4502822"/>
            <a:ext cx="22197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Periodo de muestreo</a:t>
            </a:r>
            <a:endParaRPr b="0" i="0" sz="1800" u="none" cap="none" strike="noStrike">
              <a:solidFill>
                <a:schemeClr val="dk1"/>
              </a:solidFill>
              <a:latin typeface="Calibri"/>
              <a:ea typeface="Calibri"/>
              <a:cs typeface="Calibri"/>
              <a:sym typeface="Calibri"/>
            </a:endParaRPr>
          </a:p>
        </p:txBody>
      </p:sp>
      <p:sp>
        <p:nvSpPr>
          <p:cNvPr id="435" name="Google Shape;435;p99"/>
          <p:cNvSpPr txBox="1"/>
          <p:nvPr/>
        </p:nvSpPr>
        <p:spPr>
          <a:xfrm>
            <a:off x="7503060" y="845488"/>
            <a:ext cx="2448272" cy="709361"/>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36" name="Google Shape;436;p99"/>
          <p:cNvSpPr txBox="1"/>
          <p:nvPr/>
        </p:nvSpPr>
        <p:spPr>
          <a:xfrm>
            <a:off x="7680176" y="5796097"/>
            <a:ext cx="265842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Tiempo de asentamiento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ts = 765 seg = 7,7 min </a:t>
            </a:r>
            <a:endParaRPr b="0" i="0" sz="1400" u="none" cap="none" strike="noStrike">
              <a:solidFill>
                <a:srgbClr val="000000"/>
              </a:solidFill>
              <a:latin typeface="Arial"/>
              <a:ea typeface="Arial"/>
              <a:cs typeface="Arial"/>
              <a:sym typeface="Arial"/>
            </a:endParaRPr>
          </a:p>
        </p:txBody>
      </p:sp>
      <p:pic>
        <p:nvPicPr>
          <p:cNvPr id="437" name="Google Shape;437;p99"/>
          <p:cNvPicPr preferRelativeResize="0"/>
          <p:nvPr/>
        </p:nvPicPr>
        <p:blipFill rotWithShape="1">
          <a:blip r:embed="rId8">
            <a:alphaModFix/>
          </a:blip>
          <a:srcRect b="0" l="0" r="0" t="0"/>
          <a:stretch/>
        </p:blipFill>
        <p:spPr>
          <a:xfrm>
            <a:off x="6168008" y="1575967"/>
            <a:ext cx="5334000" cy="4000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00"/>
          <p:cNvSpPr txBox="1"/>
          <p:nvPr/>
        </p:nvSpPr>
        <p:spPr>
          <a:xfrm>
            <a:off x="551384" y="116632"/>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Diseño del controlador – Discretización de Reguladores Continuos</a:t>
            </a:r>
            <a:endParaRPr b="0" i="0" sz="2800" u="none" cap="none" strike="noStrike">
              <a:solidFill>
                <a:schemeClr val="dk1"/>
              </a:solidFill>
              <a:latin typeface="Calibri"/>
              <a:ea typeface="Calibri"/>
              <a:cs typeface="Calibri"/>
              <a:sym typeface="Calibri"/>
            </a:endParaRPr>
          </a:p>
        </p:txBody>
      </p:sp>
      <p:sp>
        <p:nvSpPr>
          <p:cNvPr id="443" name="Google Shape;443;p100"/>
          <p:cNvSpPr txBox="1"/>
          <p:nvPr/>
        </p:nvSpPr>
        <p:spPr>
          <a:xfrm>
            <a:off x="423873" y="822025"/>
            <a:ext cx="496855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Recalculando las ganancias del controlador PID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1" lang="es-BO" sz="1800" u="none" cap="none" strike="noStrike">
                <a:solidFill>
                  <a:schemeClr val="dk1"/>
                </a:solidFill>
                <a:latin typeface="Calibri"/>
                <a:ea typeface="Calibri"/>
                <a:cs typeface="Calibri"/>
                <a:sym typeface="Calibri"/>
              </a:rPr>
              <a:t>Para tiempo discreto</a:t>
            </a:r>
            <a:endParaRPr b="0" i="0" sz="1400" u="none" cap="none" strike="noStrike">
              <a:solidFill>
                <a:srgbClr val="000000"/>
              </a:solidFill>
              <a:latin typeface="Arial"/>
              <a:ea typeface="Arial"/>
              <a:cs typeface="Arial"/>
              <a:sym typeface="Arial"/>
            </a:endParaRPr>
          </a:p>
        </p:txBody>
      </p:sp>
      <p:sp>
        <p:nvSpPr>
          <p:cNvPr id="444" name="Google Shape;444;p100"/>
          <p:cNvSpPr txBox="1"/>
          <p:nvPr/>
        </p:nvSpPr>
        <p:spPr>
          <a:xfrm>
            <a:off x="710767" y="1878973"/>
            <a:ext cx="5056936" cy="478272"/>
          </a:xfrm>
          <a:prstGeom prst="rect">
            <a:avLst/>
          </a:prstGeom>
          <a:blipFill rotWithShape="1">
            <a:blip r:embed="rId3">
              <a:alphaModFix/>
            </a:blip>
            <a:stretch>
              <a:fillRect b="-7593" l="0" r="0" t="-37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45" name="Google Shape;445;p100"/>
          <p:cNvSpPr txBox="1"/>
          <p:nvPr/>
        </p:nvSpPr>
        <p:spPr>
          <a:xfrm>
            <a:off x="710767" y="1511170"/>
            <a:ext cx="2664296" cy="360612"/>
          </a:xfrm>
          <a:prstGeom prst="rect">
            <a:avLst/>
          </a:prstGeom>
          <a:blipFill rotWithShape="1">
            <a:blip r:embed="rId4">
              <a:alphaModFix/>
            </a:blip>
            <a:stretch>
              <a:fillRect b="-1692"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46" name="Google Shape;446;p100"/>
          <p:cNvSpPr txBox="1"/>
          <p:nvPr/>
        </p:nvSpPr>
        <p:spPr>
          <a:xfrm>
            <a:off x="423873" y="3234017"/>
            <a:ext cx="5056936"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Hallando las constantes del Controlador PID digital:</a:t>
            </a:r>
            <a:endParaRPr b="0" i="0" sz="1400" u="none" cap="none" strike="noStrike">
              <a:solidFill>
                <a:srgbClr val="000000"/>
              </a:solidFill>
              <a:latin typeface="Arial"/>
              <a:ea typeface="Arial"/>
              <a:cs typeface="Arial"/>
              <a:sym typeface="Arial"/>
            </a:endParaRPr>
          </a:p>
        </p:txBody>
      </p:sp>
      <p:sp>
        <p:nvSpPr>
          <p:cNvPr id="447" name="Google Shape;447;p100"/>
          <p:cNvSpPr txBox="1"/>
          <p:nvPr/>
        </p:nvSpPr>
        <p:spPr>
          <a:xfrm>
            <a:off x="783056" y="4601871"/>
            <a:ext cx="3637182" cy="645561"/>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48" name="Google Shape;448;p100"/>
          <p:cNvSpPr txBox="1"/>
          <p:nvPr/>
        </p:nvSpPr>
        <p:spPr>
          <a:xfrm>
            <a:off x="1190031" y="2740726"/>
            <a:ext cx="2088232" cy="338554"/>
          </a:xfrm>
          <a:prstGeom prst="rect">
            <a:avLst/>
          </a:prstGeom>
          <a:blipFill rotWithShape="1">
            <a:blip r:embed="rId6">
              <a:alphaModFix/>
            </a:blip>
            <a:stretch>
              <a:fillRect b="-363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49" name="Google Shape;449;p100"/>
          <p:cNvSpPr txBox="1"/>
          <p:nvPr/>
        </p:nvSpPr>
        <p:spPr>
          <a:xfrm>
            <a:off x="826919" y="3672501"/>
            <a:ext cx="3637182" cy="645561"/>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0" name="Google Shape;450;p100"/>
          <p:cNvSpPr txBox="1"/>
          <p:nvPr/>
        </p:nvSpPr>
        <p:spPr>
          <a:xfrm>
            <a:off x="818602" y="4289129"/>
            <a:ext cx="3637182" cy="360612"/>
          </a:xfrm>
          <a:prstGeom prst="rect">
            <a:avLst/>
          </a:prstGeom>
          <a:blipFill rotWithShape="1">
            <a:blip r:embed="rId8">
              <a:alphaModFix/>
            </a:blip>
            <a:stretch>
              <a:fillRect b="-508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1" name="Google Shape;451;p100"/>
          <p:cNvSpPr txBox="1"/>
          <p:nvPr/>
        </p:nvSpPr>
        <p:spPr>
          <a:xfrm>
            <a:off x="558563" y="2352295"/>
            <a:ext cx="1003096" cy="338554"/>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2" name="Google Shape;452;p100"/>
          <p:cNvSpPr txBox="1"/>
          <p:nvPr/>
        </p:nvSpPr>
        <p:spPr>
          <a:xfrm>
            <a:off x="6096000" y="1279181"/>
            <a:ext cx="4968552" cy="645561"/>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3" name="Google Shape;453;p100"/>
          <p:cNvSpPr txBox="1"/>
          <p:nvPr/>
        </p:nvSpPr>
        <p:spPr>
          <a:xfrm>
            <a:off x="6087156" y="2001462"/>
            <a:ext cx="5943600" cy="645561"/>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4" name="Google Shape;454;p100"/>
          <p:cNvSpPr txBox="1"/>
          <p:nvPr/>
        </p:nvSpPr>
        <p:spPr>
          <a:xfrm>
            <a:off x="6168008" y="2716522"/>
            <a:ext cx="5943600" cy="338554"/>
          </a:xfrm>
          <a:prstGeom prst="rect">
            <a:avLst/>
          </a:prstGeom>
          <a:blipFill rotWithShape="1">
            <a:blip r:embed="rId12">
              <a:alphaModFix/>
            </a:blip>
            <a:stretch>
              <a:fillRect b="-363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5" name="Google Shape;455;p100"/>
          <p:cNvSpPr txBox="1"/>
          <p:nvPr/>
        </p:nvSpPr>
        <p:spPr>
          <a:xfrm>
            <a:off x="652985" y="5864856"/>
            <a:ext cx="10513168" cy="430887"/>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6" name="Google Shape;456;p100"/>
          <p:cNvSpPr txBox="1"/>
          <p:nvPr/>
        </p:nvSpPr>
        <p:spPr>
          <a:xfrm>
            <a:off x="2747628" y="5339417"/>
            <a:ext cx="6021768"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La ley de control a la salida del PID entonces es:</a:t>
            </a:r>
            <a:endParaRPr b="0" i="0" sz="1400" u="none" cap="none" strike="noStrike">
              <a:solidFill>
                <a:srgbClr val="000000"/>
              </a:solidFill>
              <a:latin typeface="Arial"/>
              <a:ea typeface="Arial"/>
              <a:cs typeface="Arial"/>
              <a:sym typeface="Arial"/>
            </a:endParaRPr>
          </a:p>
        </p:txBody>
      </p:sp>
      <p:grpSp>
        <p:nvGrpSpPr>
          <p:cNvPr id="457" name="Google Shape;457;p100"/>
          <p:cNvGrpSpPr/>
          <p:nvPr/>
        </p:nvGrpSpPr>
        <p:grpSpPr>
          <a:xfrm>
            <a:off x="6772628" y="3234017"/>
            <a:ext cx="3307590" cy="1806789"/>
            <a:chOff x="5267450" y="3124575"/>
            <a:chExt cx="3307590" cy="1806789"/>
          </a:xfrm>
        </p:grpSpPr>
        <p:sp>
          <p:nvSpPr>
            <p:cNvPr id="458" name="Google Shape;458;p100"/>
            <p:cNvSpPr txBox="1"/>
            <p:nvPr/>
          </p:nvSpPr>
          <p:spPr>
            <a:xfrm>
              <a:off x="5527928" y="3317329"/>
              <a:ext cx="2092960" cy="646331"/>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59" name="Google Shape;459;p100"/>
            <p:cNvSpPr txBox="1"/>
            <p:nvPr/>
          </p:nvSpPr>
          <p:spPr>
            <a:xfrm>
              <a:off x="5758512" y="3718615"/>
              <a:ext cx="1808480" cy="369332"/>
            </a:xfrm>
            <a:prstGeom prst="rect">
              <a:avLst/>
            </a:prstGeom>
            <a:blipFill rotWithShape="1">
              <a:blip r:embed="rId15">
                <a:alphaModFix/>
              </a:blip>
              <a:stretch>
                <a:fillRect b="-4915"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60" name="Google Shape;460;p100"/>
            <p:cNvSpPr txBox="1"/>
            <p:nvPr/>
          </p:nvSpPr>
          <p:spPr>
            <a:xfrm>
              <a:off x="5670168" y="4155103"/>
              <a:ext cx="1808480" cy="369332"/>
            </a:xfrm>
            <a:prstGeom prst="rect">
              <a:avLst/>
            </a:prstGeom>
            <a:blipFill rotWithShape="1">
              <a:blip r:embed="rId16">
                <a:alphaModFix/>
              </a:blip>
              <a:stretch>
                <a:fillRect b="-666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61" name="Google Shape;461;p100"/>
            <p:cNvSpPr/>
            <p:nvPr/>
          </p:nvSpPr>
          <p:spPr>
            <a:xfrm>
              <a:off x="5267450" y="3124575"/>
              <a:ext cx="3307590" cy="1806789"/>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01"/>
          <p:cNvSpPr txBox="1"/>
          <p:nvPr/>
        </p:nvSpPr>
        <p:spPr>
          <a:xfrm>
            <a:off x="479376" y="153472"/>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Realizando simulación en Matlab – Script(</a:t>
            </a:r>
            <a:r>
              <a:rPr b="1" i="0" lang="es-BO" sz="2800" u="none" cap="none" strike="noStrike">
                <a:solidFill>
                  <a:srgbClr val="0000FF"/>
                </a:solidFill>
                <a:latin typeface="Calibri"/>
                <a:ea typeface="Calibri"/>
                <a:cs typeface="Calibri"/>
                <a:sym typeface="Calibri"/>
              </a:rPr>
              <a:t>ControlPI.m</a:t>
            </a:r>
            <a:r>
              <a:rPr b="1" i="0" lang="es-BO"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467" name="Google Shape;467;p101"/>
          <p:cNvSpPr txBox="1"/>
          <p:nvPr/>
        </p:nvSpPr>
        <p:spPr>
          <a:xfrm>
            <a:off x="8212435" y="1065311"/>
            <a:ext cx="3788221"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rgbClr val="0000FF"/>
                </a:solidFill>
                <a:latin typeface="Calibri"/>
                <a:ea typeface="Calibri"/>
                <a:cs typeface="Calibri"/>
                <a:sym typeface="Calibri"/>
              </a:rPr>
              <a:t>Línea azul</a:t>
            </a:r>
            <a:r>
              <a:rPr b="0" i="1" lang="es-BO" sz="1800" u="none" cap="none" strike="noStrike">
                <a:solidFill>
                  <a:schemeClr val="dk1"/>
                </a:solidFill>
                <a:latin typeface="Calibri"/>
                <a:ea typeface="Calibri"/>
                <a:cs typeface="Calibri"/>
                <a:sym typeface="Calibri"/>
              </a:rPr>
              <a:t>, respuesta a lazo abierto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Línea negra, respuesta a lazo cerrado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1" lang="es-BO" sz="1800" u="none" cap="none" strike="noStrike">
                <a:solidFill>
                  <a:srgbClr val="FF0000"/>
                </a:solidFill>
                <a:latin typeface="Calibri"/>
                <a:ea typeface="Calibri"/>
                <a:cs typeface="Calibri"/>
                <a:sym typeface="Calibri"/>
              </a:rPr>
              <a:t>Línea roja</a:t>
            </a:r>
            <a:r>
              <a:rPr b="0" i="1" lang="es-BO" sz="1800" u="none" cap="none" strike="noStrike">
                <a:solidFill>
                  <a:schemeClr val="dk1"/>
                </a:solidFill>
                <a:latin typeface="Calibri"/>
                <a:ea typeface="Calibri"/>
                <a:cs typeface="Calibri"/>
                <a:sym typeface="Calibri"/>
              </a:rPr>
              <a:t>, referencia </a:t>
            </a:r>
            <a:endParaRPr b="0" i="0" sz="1400" u="none" cap="none" strike="noStrike">
              <a:solidFill>
                <a:srgbClr val="000000"/>
              </a:solidFill>
              <a:latin typeface="Arial"/>
              <a:ea typeface="Arial"/>
              <a:cs typeface="Arial"/>
              <a:sym typeface="Arial"/>
            </a:endParaRPr>
          </a:p>
        </p:txBody>
      </p:sp>
      <p:sp>
        <p:nvSpPr>
          <p:cNvPr id="468" name="Google Shape;468;p101"/>
          <p:cNvSpPr txBox="1"/>
          <p:nvPr/>
        </p:nvSpPr>
        <p:spPr>
          <a:xfrm>
            <a:off x="8255185" y="2538179"/>
            <a:ext cx="352944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rgbClr val="00FF00"/>
                </a:solidFill>
                <a:latin typeface="Calibri"/>
                <a:ea typeface="Calibri"/>
                <a:cs typeface="Calibri"/>
                <a:sym typeface="Calibri"/>
              </a:rPr>
              <a:t>Línea verde</a:t>
            </a:r>
            <a:r>
              <a:rPr b="0" i="1" lang="es-BO" sz="1800" u="none" cap="none" strike="noStrike">
                <a:solidFill>
                  <a:schemeClr val="dk1"/>
                </a:solidFill>
                <a:latin typeface="Calibri"/>
                <a:ea typeface="Calibri"/>
                <a:cs typeface="Calibri"/>
                <a:sym typeface="Calibri"/>
              </a:rPr>
              <a:t>, control sin tomar en cuenta</a:t>
            </a:r>
            <a:endParaRPr b="0" i="0" sz="1400" u="none" cap="none" strike="noStrike">
              <a:solidFill>
                <a:srgbClr val="000000"/>
              </a:solidFill>
              <a:latin typeface="Arial"/>
              <a:ea typeface="Arial"/>
              <a:cs typeface="Arial"/>
              <a:sym typeface="Arial"/>
            </a:endParaRPr>
          </a:p>
        </p:txBody>
      </p:sp>
      <p:sp>
        <p:nvSpPr>
          <p:cNvPr id="469" name="Google Shape;469;p101"/>
          <p:cNvSpPr txBox="1"/>
          <p:nvPr/>
        </p:nvSpPr>
        <p:spPr>
          <a:xfrm>
            <a:off x="8212435" y="3879661"/>
            <a:ext cx="33017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rgbClr val="FF0000"/>
                </a:solidFill>
                <a:latin typeface="Calibri"/>
                <a:ea typeface="Calibri"/>
                <a:cs typeface="Calibri"/>
                <a:sym typeface="Calibri"/>
              </a:rPr>
              <a:t>Línea roja</a:t>
            </a:r>
            <a:r>
              <a:rPr b="0" i="1" lang="es-BO" sz="1800" u="none" cap="none" strike="noStrike">
                <a:solidFill>
                  <a:schemeClr val="dk1"/>
                </a:solidFill>
                <a:latin typeface="Calibri"/>
                <a:ea typeface="Calibri"/>
                <a:cs typeface="Calibri"/>
                <a:sym typeface="Calibri"/>
              </a:rPr>
              <a:t>, integral de error</a:t>
            </a:r>
            <a:endParaRPr b="0" i="0" sz="1400" u="none" cap="none" strike="noStrike">
              <a:solidFill>
                <a:srgbClr val="000000"/>
              </a:solidFill>
              <a:latin typeface="Arial"/>
              <a:ea typeface="Arial"/>
              <a:cs typeface="Arial"/>
              <a:sym typeface="Arial"/>
            </a:endParaRPr>
          </a:p>
        </p:txBody>
      </p:sp>
      <p:sp>
        <p:nvSpPr>
          <p:cNvPr id="470" name="Google Shape;470;p101"/>
          <p:cNvSpPr txBox="1"/>
          <p:nvPr/>
        </p:nvSpPr>
        <p:spPr>
          <a:xfrm>
            <a:off x="708877" y="5259541"/>
            <a:ext cx="10805321"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Con el control se pretende que a cualquier nivel de referencia dada, este cumpla el tiempo de establecimiento deseado. Si se toma idealmente los elementos de control, es decir no tiene limitaciones cumplirá con el objetivo del diseño como el caso mostrado en la grafica.</a:t>
            </a:r>
            <a:endParaRPr b="0" i="0" sz="1400" u="none" cap="none" strike="noStrike">
              <a:solidFill>
                <a:srgbClr val="000000"/>
              </a:solidFill>
              <a:latin typeface="Arial"/>
              <a:ea typeface="Arial"/>
              <a:cs typeface="Arial"/>
              <a:sym typeface="Arial"/>
            </a:endParaRPr>
          </a:p>
        </p:txBody>
      </p:sp>
      <p:pic>
        <p:nvPicPr>
          <p:cNvPr id="471" name="Google Shape;471;p101"/>
          <p:cNvPicPr preferRelativeResize="0"/>
          <p:nvPr/>
        </p:nvPicPr>
        <p:blipFill rotWithShape="1">
          <a:blip r:embed="rId3">
            <a:alphaModFix/>
          </a:blip>
          <a:srcRect b="0" l="0" r="0" t="0"/>
          <a:stretch/>
        </p:blipFill>
        <p:spPr>
          <a:xfrm>
            <a:off x="-312712" y="548680"/>
            <a:ext cx="9435401" cy="484331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102"/>
          <p:cNvSpPr txBox="1"/>
          <p:nvPr/>
        </p:nvSpPr>
        <p:spPr>
          <a:xfrm>
            <a:off x="129353" y="165651"/>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Realizando simulación en Matlab- Considerando la saturación del actuador</a:t>
            </a:r>
            <a:endParaRPr b="0" i="0" sz="2800" u="none" cap="none" strike="noStrike">
              <a:solidFill>
                <a:schemeClr val="dk1"/>
              </a:solidFill>
              <a:latin typeface="Calibri"/>
              <a:ea typeface="Calibri"/>
              <a:cs typeface="Calibri"/>
              <a:sym typeface="Calibri"/>
            </a:endParaRPr>
          </a:p>
        </p:txBody>
      </p:sp>
      <p:pic>
        <p:nvPicPr>
          <p:cNvPr id="477" name="Google Shape;477;p102"/>
          <p:cNvPicPr preferRelativeResize="0"/>
          <p:nvPr/>
        </p:nvPicPr>
        <p:blipFill rotWithShape="1">
          <a:blip r:embed="rId3">
            <a:alphaModFix/>
          </a:blip>
          <a:srcRect b="0" l="0" r="0" t="0"/>
          <a:stretch/>
        </p:blipFill>
        <p:spPr>
          <a:xfrm>
            <a:off x="300175" y="527539"/>
            <a:ext cx="10625487" cy="5179925"/>
          </a:xfrm>
          <a:prstGeom prst="rect">
            <a:avLst/>
          </a:prstGeom>
          <a:noFill/>
          <a:ln>
            <a:noFill/>
          </a:ln>
        </p:spPr>
      </p:pic>
      <p:sp>
        <p:nvSpPr>
          <p:cNvPr id="478" name="Google Shape;478;p102"/>
          <p:cNvSpPr txBox="1"/>
          <p:nvPr/>
        </p:nvSpPr>
        <p:spPr>
          <a:xfrm>
            <a:off x="756139" y="5522798"/>
            <a:ext cx="1077728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rgbClr val="00FF00"/>
                </a:solidFill>
                <a:latin typeface="Calibri"/>
                <a:ea typeface="Calibri"/>
                <a:cs typeface="Calibri"/>
                <a:sym typeface="Calibri"/>
              </a:rPr>
              <a:t>La señal de control </a:t>
            </a:r>
            <a:r>
              <a:rPr b="0" i="1" lang="es-BO" sz="1800" u="none" cap="none" strike="noStrike">
                <a:solidFill>
                  <a:schemeClr val="dk1"/>
                </a:solidFill>
                <a:latin typeface="Calibri"/>
                <a:ea typeface="Calibri"/>
                <a:cs typeface="Calibri"/>
                <a:sym typeface="Calibri"/>
              </a:rPr>
              <a:t>por la saturación en este caso de 40 Hz, produce que la acción integral se sobre cargue y por consiguiente la respuesta no es la deseada</a:t>
            </a:r>
            <a:endParaRPr b="0" i="0" sz="1800" u="none" cap="none" strike="noStrike">
              <a:solidFill>
                <a:srgbClr val="00FF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3"/>
          <p:cNvSpPr txBox="1"/>
          <p:nvPr/>
        </p:nvSpPr>
        <p:spPr>
          <a:xfrm>
            <a:off x="129353" y="165651"/>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Realizando simulación en Matlab- Metodo Anti Wind  Up</a:t>
            </a:r>
            <a:endParaRPr b="0" i="0" sz="2800" u="none" cap="none" strike="noStrike">
              <a:solidFill>
                <a:schemeClr val="dk1"/>
              </a:solidFill>
              <a:latin typeface="Calibri"/>
              <a:ea typeface="Calibri"/>
              <a:cs typeface="Calibri"/>
              <a:sym typeface="Calibri"/>
            </a:endParaRPr>
          </a:p>
        </p:txBody>
      </p:sp>
      <p:pic>
        <p:nvPicPr>
          <p:cNvPr id="484" name="Google Shape;484;p103"/>
          <p:cNvPicPr preferRelativeResize="0"/>
          <p:nvPr/>
        </p:nvPicPr>
        <p:blipFill rotWithShape="1">
          <a:blip r:embed="rId3">
            <a:alphaModFix/>
          </a:blip>
          <a:srcRect b="0" l="0" r="0" t="0"/>
          <a:stretch/>
        </p:blipFill>
        <p:spPr>
          <a:xfrm>
            <a:off x="0" y="427261"/>
            <a:ext cx="11305684" cy="5511521"/>
          </a:xfrm>
          <a:prstGeom prst="rect">
            <a:avLst/>
          </a:prstGeom>
          <a:noFill/>
          <a:ln>
            <a:noFill/>
          </a:ln>
        </p:spPr>
      </p:pic>
      <p:sp>
        <p:nvSpPr>
          <p:cNvPr id="485" name="Google Shape;485;p103"/>
          <p:cNvSpPr txBox="1"/>
          <p:nvPr/>
        </p:nvSpPr>
        <p:spPr>
          <a:xfrm>
            <a:off x="756139" y="5522798"/>
            <a:ext cx="1077728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Cuando la </a:t>
            </a:r>
            <a:r>
              <a:rPr b="1" i="1" lang="es-BO" sz="1800" u="none" cap="none" strike="noStrike">
                <a:solidFill>
                  <a:schemeClr val="dk1"/>
                </a:solidFill>
                <a:latin typeface="Calibri"/>
                <a:ea typeface="Calibri"/>
                <a:cs typeface="Calibri"/>
                <a:sym typeface="Calibri"/>
              </a:rPr>
              <a:t>respuesta a lazo cerrado </a:t>
            </a:r>
            <a:r>
              <a:rPr b="0" i="1" lang="es-BO" sz="1800" u="none" cap="none" strike="noStrike">
                <a:solidFill>
                  <a:schemeClr val="dk1"/>
                </a:solidFill>
                <a:latin typeface="Calibri"/>
                <a:ea typeface="Calibri"/>
                <a:cs typeface="Calibri"/>
                <a:sym typeface="Calibri"/>
              </a:rPr>
              <a:t>alcanza la </a:t>
            </a:r>
            <a:r>
              <a:rPr b="0" i="1" lang="es-BO" sz="1800" u="none" cap="none" strike="noStrike">
                <a:solidFill>
                  <a:srgbClr val="FF0000"/>
                </a:solidFill>
                <a:latin typeface="Calibri"/>
                <a:ea typeface="Calibri"/>
                <a:cs typeface="Calibri"/>
                <a:sym typeface="Calibri"/>
              </a:rPr>
              <a:t>referencia</a:t>
            </a:r>
            <a:r>
              <a:rPr b="0" i="1" lang="es-BO" sz="1800" u="none" cap="none" strike="noStrike">
                <a:solidFill>
                  <a:schemeClr val="dk1"/>
                </a:solidFill>
                <a:latin typeface="Calibri"/>
                <a:ea typeface="Calibri"/>
                <a:cs typeface="Calibri"/>
                <a:sym typeface="Calibri"/>
              </a:rPr>
              <a:t>, la acción integral no aumentara mas de lo debido por efecto de la </a:t>
            </a:r>
            <a:r>
              <a:rPr b="0" i="1" lang="es-BO" sz="1800" u="none" cap="none" strike="noStrike">
                <a:solidFill>
                  <a:srgbClr val="00FF00"/>
                </a:solidFill>
                <a:latin typeface="Calibri"/>
                <a:ea typeface="Calibri"/>
                <a:cs typeface="Calibri"/>
                <a:sym typeface="Calibri"/>
              </a:rPr>
              <a:t>saturación</a:t>
            </a:r>
            <a:r>
              <a:rPr b="0" i="1" lang="es-BO" sz="1800" u="none" cap="none" strike="noStrike">
                <a:solidFill>
                  <a:schemeClr val="dk1"/>
                </a:solidFill>
                <a:latin typeface="Calibri"/>
                <a:ea typeface="Calibri"/>
                <a:cs typeface="Calibri"/>
                <a:sym typeface="Calibri"/>
              </a:rPr>
              <a:t>, así corrigiendo la respuesta deseada.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104"/>
          <p:cNvPicPr preferRelativeResize="0"/>
          <p:nvPr/>
        </p:nvPicPr>
        <p:blipFill rotWithShape="1">
          <a:blip r:embed="rId3">
            <a:alphaModFix/>
          </a:blip>
          <a:srcRect b="18070" l="6885" r="11609" t="30182"/>
          <a:stretch/>
        </p:blipFill>
        <p:spPr>
          <a:xfrm>
            <a:off x="767408" y="1943397"/>
            <a:ext cx="10537682" cy="3588921"/>
          </a:xfrm>
          <a:prstGeom prst="rect">
            <a:avLst/>
          </a:prstGeom>
          <a:noFill/>
          <a:ln>
            <a:noFill/>
          </a:ln>
        </p:spPr>
      </p:pic>
      <p:sp>
        <p:nvSpPr>
          <p:cNvPr id="491" name="Google Shape;491;p104"/>
          <p:cNvSpPr txBox="1"/>
          <p:nvPr/>
        </p:nvSpPr>
        <p:spPr>
          <a:xfrm>
            <a:off x="540271" y="404590"/>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Diseño del controlador – Anti wind up – Diagrama de bloques </a:t>
            </a:r>
            <a:endParaRPr b="0" i="0" sz="2800" u="none" cap="none" strike="noStrike">
              <a:solidFill>
                <a:schemeClr val="dk1"/>
              </a:solidFill>
              <a:latin typeface="Calibri"/>
              <a:ea typeface="Calibri"/>
              <a:cs typeface="Calibri"/>
              <a:sym typeface="Calibri"/>
            </a:endParaRPr>
          </a:p>
        </p:txBody>
      </p:sp>
      <p:sp>
        <p:nvSpPr>
          <p:cNvPr id="492" name="Google Shape;492;p104"/>
          <p:cNvSpPr txBox="1"/>
          <p:nvPr/>
        </p:nvSpPr>
        <p:spPr>
          <a:xfrm>
            <a:off x="551384" y="1002516"/>
            <a:ext cx="10297144"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Es necesario considerar que el actuador no siempre responderá a la ley de control, como se menciono anteriormente. </a:t>
            </a:r>
            <a:endParaRPr b="0" i="0" sz="1400" u="none" cap="none" strike="noStrike">
              <a:solidFill>
                <a:srgbClr val="000000"/>
              </a:solidFill>
              <a:latin typeface="Arial"/>
              <a:ea typeface="Arial"/>
              <a:cs typeface="Arial"/>
              <a:sym typeface="Arial"/>
            </a:endParaRPr>
          </a:p>
        </p:txBody>
      </p:sp>
      <p:sp>
        <p:nvSpPr>
          <p:cNvPr id="493" name="Google Shape;493;p104"/>
          <p:cNvSpPr txBox="1"/>
          <p:nvPr/>
        </p:nvSpPr>
        <p:spPr>
          <a:xfrm>
            <a:off x="551384" y="1620232"/>
            <a:ext cx="102971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Una forma de resolver este problema es avisar al controlador de no cargar mas acción integral por que esta saturado.</a:t>
            </a:r>
            <a:endParaRPr b="0" i="0" sz="1400" u="none" cap="none" strike="noStrike">
              <a:solidFill>
                <a:srgbClr val="000000"/>
              </a:solidFill>
              <a:latin typeface="Arial"/>
              <a:ea typeface="Arial"/>
              <a:cs typeface="Arial"/>
              <a:sym typeface="Arial"/>
            </a:endParaRPr>
          </a:p>
        </p:txBody>
      </p:sp>
      <p:sp>
        <p:nvSpPr>
          <p:cNvPr id="494" name="Google Shape;494;p104"/>
          <p:cNvSpPr txBox="1"/>
          <p:nvPr/>
        </p:nvSpPr>
        <p:spPr>
          <a:xfrm>
            <a:off x="540271" y="5445442"/>
            <a:ext cx="102971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Esto se logra añadiendo un comparador antes de la entrada del proceso y sumando a la constate integral, lo que ara que si hay diferencia o suma compense ese incremento de la acción integral.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05"/>
          <p:cNvSpPr txBox="1"/>
          <p:nvPr/>
        </p:nvSpPr>
        <p:spPr>
          <a:xfrm>
            <a:off x="540271" y="404590"/>
            <a:ext cx="1123324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COMPARACION PID CONTINUO - DISCRETO</a:t>
            </a:r>
            <a:endParaRPr b="0" i="0" sz="2800" u="none" cap="none" strike="noStrike">
              <a:solidFill>
                <a:schemeClr val="dk1"/>
              </a:solidFill>
              <a:latin typeface="Calibri"/>
              <a:ea typeface="Calibri"/>
              <a:cs typeface="Calibri"/>
              <a:sym typeface="Calibri"/>
            </a:endParaRPr>
          </a:p>
        </p:txBody>
      </p:sp>
      <p:sp>
        <p:nvSpPr>
          <p:cNvPr id="500" name="Google Shape;500;p105"/>
          <p:cNvSpPr txBox="1"/>
          <p:nvPr/>
        </p:nvSpPr>
        <p:spPr>
          <a:xfrm>
            <a:off x="1487228" y="1119253"/>
            <a:ext cx="7837642" cy="90108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1" name="Google Shape;501;p105"/>
          <p:cNvSpPr txBox="1"/>
          <p:nvPr/>
        </p:nvSpPr>
        <p:spPr>
          <a:xfrm>
            <a:off x="149465" y="2319520"/>
            <a:ext cx="10513168" cy="369332"/>
          </a:xfrm>
          <a:prstGeom prst="rect">
            <a:avLst/>
          </a:prstGeom>
          <a:blipFill rotWithShape="1">
            <a:blip r:embed="rId4">
              <a:alphaModFix/>
            </a:blip>
            <a:stretch>
              <a:fillRect b="-24587"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nvGrpSpPr>
          <p:cNvPr id="502" name="Google Shape;502;p105"/>
          <p:cNvGrpSpPr/>
          <p:nvPr/>
        </p:nvGrpSpPr>
        <p:grpSpPr>
          <a:xfrm>
            <a:off x="4088033" y="2842132"/>
            <a:ext cx="3307590" cy="1806789"/>
            <a:chOff x="5267450" y="3124575"/>
            <a:chExt cx="3307590" cy="1806789"/>
          </a:xfrm>
        </p:grpSpPr>
        <p:sp>
          <p:nvSpPr>
            <p:cNvPr id="503" name="Google Shape;503;p105"/>
            <p:cNvSpPr txBox="1"/>
            <p:nvPr/>
          </p:nvSpPr>
          <p:spPr>
            <a:xfrm>
              <a:off x="5527928" y="3317329"/>
              <a:ext cx="2092960" cy="646331"/>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4" name="Google Shape;504;p105"/>
            <p:cNvSpPr txBox="1"/>
            <p:nvPr/>
          </p:nvSpPr>
          <p:spPr>
            <a:xfrm>
              <a:off x="5758512" y="3718615"/>
              <a:ext cx="1808480" cy="369332"/>
            </a:xfrm>
            <a:prstGeom prst="rect">
              <a:avLst/>
            </a:prstGeom>
            <a:blipFill rotWithShape="1">
              <a:blip r:embed="rId6">
                <a:alphaModFix/>
              </a:blip>
              <a:stretch>
                <a:fillRect b="-666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5" name="Google Shape;505;p105"/>
            <p:cNvSpPr txBox="1"/>
            <p:nvPr/>
          </p:nvSpPr>
          <p:spPr>
            <a:xfrm>
              <a:off x="5670168" y="4155103"/>
              <a:ext cx="1808480" cy="369332"/>
            </a:xfrm>
            <a:prstGeom prst="rect">
              <a:avLst/>
            </a:prstGeom>
            <a:blipFill rotWithShape="1">
              <a:blip r:embed="rId7">
                <a:alphaModFix/>
              </a:blip>
              <a:stretch>
                <a:fillRect b="-6664"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BO"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6" name="Google Shape;506;p105"/>
            <p:cNvSpPr/>
            <p:nvPr/>
          </p:nvSpPr>
          <p:spPr>
            <a:xfrm>
              <a:off x="5267450" y="3124575"/>
              <a:ext cx="3307590" cy="1806789"/>
            </a:xfrm>
            <a:prstGeom prst="rect">
              <a:avLst/>
            </a:prstGeom>
            <a:noFill/>
            <a:ln cap="flat" cmpd="sng" w="2540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507" name="Google Shape;507;p105"/>
          <p:cNvSpPr txBox="1"/>
          <p:nvPr/>
        </p:nvSpPr>
        <p:spPr>
          <a:xfrm>
            <a:off x="778918" y="4716077"/>
            <a:ext cx="1104062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Este controlador en tiempo discreto no se podría implementar con el bloque PID, ya fue se menciono anteriormente esta limitado a numero positivos.</a:t>
            </a:r>
            <a:endParaRPr b="0" i="0" sz="1800" u="none" cap="none" strike="noStrike">
              <a:solidFill>
                <a:schemeClr val="dk1"/>
              </a:solidFill>
              <a:latin typeface="Calibri"/>
              <a:ea typeface="Calibri"/>
              <a:cs typeface="Calibri"/>
              <a:sym typeface="Calibri"/>
            </a:endParaRPr>
          </a:p>
        </p:txBody>
      </p:sp>
      <p:sp>
        <p:nvSpPr>
          <p:cNvPr id="508" name="Google Shape;508;p105"/>
          <p:cNvSpPr txBox="1"/>
          <p:nvPr/>
        </p:nvSpPr>
        <p:spPr>
          <a:xfrm>
            <a:off x="778918" y="5485435"/>
            <a:ext cx="1104062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s-BO" sz="1800" u="none" cap="none" strike="noStrike">
                <a:solidFill>
                  <a:schemeClr val="dk1"/>
                </a:solidFill>
                <a:latin typeface="Calibri"/>
                <a:ea typeface="Calibri"/>
                <a:cs typeface="Calibri"/>
                <a:sym typeface="Calibri"/>
              </a:rPr>
              <a:t>La implementación seria estrictamente usando las instrucciones disponibles en el programa </a:t>
            </a:r>
            <a:r>
              <a:rPr b="1" i="1" lang="es-BO" sz="1800" u="none" cap="none" strike="noStrike">
                <a:solidFill>
                  <a:schemeClr val="dk1"/>
                </a:solidFill>
                <a:latin typeface="Calibri"/>
                <a:ea typeface="Calibri"/>
                <a:cs typeface="Calibri"/>
                <a:sym typeface="Calibri"/>
              </a:rPr>
              <a:t>Rslogix Micro English</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106"/>
          <p:cNvPicPr preferRelativeResize="0"/>
          <p:nvPr/>
        </p:nvPicPr>
        <p:blipFill rotWithShape="1">
          <a:blip r:embed="rId3">
            <a:alphaModFix/>
          </a:blip>
          <a:srcRect b="16401" l="32872" r="21059" t="24800"/>
          <a:stretch/>
        </p:blipFill>
        <p:spPr>
          <a:xfrm>
            <a:off x="2315580" y="1124744"/>
            <a:ext cx="7560840" cy="5428295"/>
          </a:xfrm>
          <a:prstGeom prst="rect">
            <a:avLst/>
          </a:prstGeom>
          <a:noFill/>
          <a:ln cap="flat" cmpd="sng" w="38100">
            <a:solidFill>
              <a:schemeClr val="dk1"/>
            </a:solidFill>
            <a:prstDash val="solid"/>
            <a:round/>
            <a:headEnd len="sm" w="sm" type="none"/>
            <a:tailEnd len="sm" w="sm" type="none"/>
          </a:ln>
        </p:spPr>
      </p:pic>
      <p:sp>
        <p:nvSpPr>
          <p:cNvPr id="514" name="Google Shape;514;p106"/>
          <p:cNvSpPr txBox="1"/>
          <p:nvPr/>
        </p:nvSpPr>
        <p:spPr>
          <a:xfrm>
            <a:off x="386542" y="278793"/>
            <a:ext cx="923827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BO" sz="2800" u="none" cap="none" strike="noStrike">
                <a:solidFill>
                  <a:schemeClr val="dk1"/>
                </a:solidFill>
                <a:latin typeface="Calibri"/>
                <a:ea typeface="Calibri"/>
                <a:cs typeface="Calibri"/>
                <a:sym typeface="Calibri"/>
              </a:rPr>
              <a:t>INTERFAZ GRAFICA PARA HMI COMPACT 600 ALLEN BRADLEY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107"/>
          <p:cNvSpPr txBox="1"/>
          <p:nvPr>
            <p:ph type="title"/>
          </p:nvPr>
        </p:nvSpPr>
        <p:spPr>
          <a:xfrm>
            <a:off x="1487488" y="490732"/>
            <a:ext cx="9887857" cy="63795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alibri"/>
              <a:buNone/>
            </a:pPr>
            <a:r>
              <a:rPr b="1" lang="es-BO" sz="2800"/>
              <a:t>CONCLUSIONES</a:t>
            </a:r>
            <a:endParaRPr/>
          </a:p>
        </p:txBody>
      </p:sp>
      <p:sp>
        <p:nvSpPr>
          <p:cNvPr id="520" name="Google Shape;520;p107"/>
          <p:cNvSpPr txBox="1"/>
          <p:nvPr>
            <p:ph idx="1" type="body"/>
          </p:nvPr>
        </p:nvSpPr>
        <p:spPr>
          <a:xfrm>
            <a:off x="1343472" y="1556792"/>
            <a:ext cx="9786257" cy="4842999"/>
          </a:xfrm>
          <a:prstGeom prst="rect">
            <a:avLst/>
          </a:prstGeom>
          <a:noFill/>
          <a:ln>
            <a:noFill/>
          </a:ln>
        </p:spPr>
        <p:txBody>
          <a:bodyPr anchorCtr="0" anchor="t" bIns="45700" lIns="91425" spcFirstLastPara="1" rIns="91425" wrap="square" tIns="45700">
            <a:normAutofit fontScale="25000" lnSpcReduction="20000"/>
          </a:bodyPr>
          <a:lstStyle/>
          <a:p>
            <a:pPr indent="-342900" lvl="0" marL="342900" rtl="0" algn="just">
              <a:lnSpc>
                <a:spcPct val="107000"/>
              </a:lnSpc>
              <a:spcBef>
                <a:spcPts val="0"/>
              </a:spcBef>
              <a:spcAft>
                <a:spcPts val="0"/>
              </a:spcAft>
              <a:buClr>
                <a:schemeClr val="dk1"/>
              </a:buClr>
              <a:buSzPct val="100000"/>
              <a:buFont typeface="Noto Sans Symbols"/>
              <a:buChar char="⮚"/>
            </a:pPr>
            <a:r>
              <a:rPr lang="es-BO" sz="6400">
                <a:latin typeface="Calibri"/>
                <a:ea typeface="Calibri"/>
                <a:cs typeface="Calibri"/>
                <a:sym typeface="Calibri"/>
              </a:rPr>
              <a:t>Durante el proceso se desarrollaron habilidades y destrezas sobre la instrumentación con el fin de poder reconocer, adaptar y caracterizar sensores y/o actuadores, los cuales abundan en el área profesional y son de vital importancia poder conocerlos y manipularlos.</a:t>
            </a:r>
            <a:endParaRPr sz="6400">
              <a:latin typeface="Calibri"/>
              <a:ea typeface="Calibri"/>
              <a:cs typeface="Calibri"/>
              <a:sym typeface="Calibri"/>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A través del software RSLogix Micro se pudo implementar el controlador PI propuesto.</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La robustez del sistema con el controlador es dependiente de la magnitud de la perturbación, como ya de indicará en las observaciones.</a:t>
            </a:r>
            <a:endParaRPr/>
          </a:p>
          <a:p>
            <a:pPr indent="0" lvl="0" marL="0" rtl="0" algn="just">
              <a:lnSpc>
                <a:spcPct val="107000"/>
              </a:lnSpc>
              <a:spcBef>
                <a:spcPts val="1200"/>
              </a:spcBef>
              <a:spcAft>
                <a:spcPts val="0"/>
              </a:spcAft>
              <a:buClr>
                <a:schemeClr val="dk1"/>
              </a:buClr>
              <a:buSzPct val="100000"/>
              <a:buNone/>
            </a:pPr>
            <a:r>
              <a:rPr b="1" lang="es-BO" sz="8000">
                <a:latin typeface="Calibri"/>
                <a:ea typeface="Calibri"/>
                <a:cs typeface="Calibri"/>
                <a:sym typeface="Calibri"/>
              </a:rPr>
              <a:t>OBSERVACIONES</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Tómese en cuenta que el control del sistema está limitado por la saturación del actuador, para nuestro caso, el conjunto del variador de frecuencia con la bomba de agua.</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La altura máxima que alcanza el agua del tanque superior para la frecuencia de saturación del variador de frecuencia (40 Hz) es de 37cm.</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Los tiempos de asentamiento para distintos niveles de altura puede variar de acuerdo a la linealización realizada de forma analítica y la propia saturación del actuador. </a:t>
            </a:r>
            <a:endParaRPr/>
          </a:p>
          <a:p>
            <a:pPr indent="-342900" lvl="0" marL="342900" rtl="0" algn="just">
              <a:lnSpc>
                <a:spcPct val="107000"/>
              </a:lnSpc>
              <a:spcBef>
                <a:spcPts val="1120"/>
              </a:spcBef>
              <a:spcAft>
                <a:spcPts val="0"/>
              </a:spcAft>
              <a:buClr>
                <a:schemeClr val="dk1"/>
              </a:buClr>
              <a:buSzPct val="100000"/>
              <a:buFont typeface="Noto Sans Symbols"/>
              <a:buChar char="⮚"/>
            </a:pPr>
            <a:r>
              <a:rPr lang="es-BO" sz="6400">
                <a:latin typeface="Calibri"/>
                <a:ea typeface="Calibri"/>
                <a:cs typeface="Calibri"/>
                <a:sym typeface="Calibri"/>
              </a:rPr>
              <a:t>La robustez del sistema tiene el limitante de la saturación del actuador, por lo que para perturbaciones que requieran mayor caudal al proporcionado por el variador de frecuencia a 40Hz se imposibilita el control adecuado, entrando el sistema en pérdida inevitable.</a:t>
            </a:r>
            <a:endParaRPr/>
          </a:p>
          <a:p>
            <a:pPr indent="-292100" lvl="0" marL="342900" rtl="0" algn="ctr">
              <a:lnSpc>
                <a:spcPct val="100000"/>
              </a:lnSpc>
              <a:spcBef>
                <a:spcPts val="96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2012-03-05T15:50:43Z</dcterms:created>
  <dc:creator>dosies</dc:creator>
</cp:coreProperties>
</file>